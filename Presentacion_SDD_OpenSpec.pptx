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589608bcf74a84" /><Relationship Type="http://schemas.openxmlformats.org/officeDocument/2006/relationships/extended-properties" Target="/docProps/app.xml" Id="R1223b236759b4524" /><Relationship Type="http://schemas.openxmlformats.org/officeDocument/2006/relationships/officeDocument" Target="/ppt/presentation.xml" Id="R7cf1dc34571f42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4c77ffa3c24b71"/>
  </p:sldMasterIdLst>
  <p:notesMasterIdLst>
    <p:notesMasterId xmlns:r="http://schemas.openxmlformats.org/officeDocument/2006/relationships" r:id="R92fbabca466c4590"/>
  </p:notesMasterIdLst>
  <p:sldIdLst>
    <p:sldId xmlns:r="http://schemas.openxmlformats.org/officeDocument/2006/relationships" id="256" r:id="Rfe9265789b6a4d74"/>
    <p:sldId xmlns:r="http://schemas.openxmlformats.org/officeDocument/2006/relationships" id="257" r:id="R8343f5b0a82947ab"/>
    <p:sldId xmlns:r="http://schemas.openxmlformats.org/officeDocument/2006/relationships" id="258" r:id="Rc6569c5352744f30"/>
    <p:sldId xmlns:r="http://schemas.openxmlformats.org/officeDocument/2006/relationships" id="259" r:id="R72a1f2e42ba448f0"/>
    <p:sldId xmlns:r="http://schemas.openxmlformats.org/officeDocument/2006/relationships" id="260" r:id="R5dd0bead13604de9"/>
    <p:sldId xmlns:r="http://schemas.openxmlformats.org/officeDocument/2006/relationships" id="261" r:id="Rd8bee842e9a1439b"/>
    <p:sldId xmlns:r="http://schemas.openxmlformats.org/officeDocument/2006/relationships" id="262" r:id="R9a202fb574ef42fe"/>
    <p:sldId xmlns:r="http://schemas.openxmlformats.org/officeDocument/2006/relationships" id="263" r:id="Rf344dfaf87ca4e5e"/>
    <p:sldId xmlns:r="http://schemas.openxmlformats.org/officeDocument/2006/relationships" id="264" r:id="Ra34c56afba3f469f"/>
    <p:sldId xmlns:r="http://schemas.openxmlformats.org/officeDocument/2006/relationships" id="265" r:id="R6886f32264fb40c9"/>
    <p:sldId xmlns:r="http://schemas.openxmlformats.org/officeDocument/2006/relationships" id="266" r:id="Rdcff4e1a429d42e9"/>
    <p:sldId xmlns:r="http://schemas.openxmlformats.org/officeDocument/2006/relationships" id="267" r:id="R3742278a189a43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8aeedfd62d4572" /><Relationship Type="http://schemas.openxmlformats.org/officeDocument/2006/relationships/slideMaster" Target="/ppt/slideMasters/slideMaster1.xml" Id="Ra14c77ffa3c24b71" /><Relationship Type="http://schemas.openxmlformats.org/officeDocument/2006/relationships/notesMaster" Target="/ppt/notesMasters/notesMaster1.xml" Id="R92fbabca466c4590" /><Relationship Type="http://schemas.openxmlformats.org/officeDocument/2006/relationships/presProps" Target="/ppt/presProps.xml" Id="Rdf31aad53fa64376" /><Relationship Type="http://schemas.openxmlformats.org/officeDocument/2006/relationships/viewProps" Target="/ppt/viewProps.xml" Id="Rded00f2a10bf4f5f" /><Relationship Type="http://schemas.openxmlformats.org/officeDocument/2006/relationships/tableStyles" Target="/ppt/tableStyles.xml" Id="R553627a0c0b04eef" /><Relationship Type="http://schemas.openxmlformats.org/officeDocument/2006/relationships/slide" Target="/ppt/slides/slide1.xml" Id="Rfe9265789b6a4d74" /><Relationship Type="http://schemas.openxmlformats.org/officeDocument/2006/relationships/slide" Target="/ppt/slides/slide2.xml" Id="R8343f5b0a82947ab" /><Relationship Type="http://schemas.openxmlformats.org/officeDocument/2006/relationships/slide" Target="/ppt/slides/slide3.xml" Id="Rc6569c5352744f30" /><Relationship Type="http://schemas.openxmlformats.org/officeDocument/2006/relationships/slide" Target="/ppt/slides/slide4.xml" Id="R72a1f2e42ba448f0" /><Relationship Type="http://schemas.openxmlformats.org/officeDocument/2006/relationships/slide" Target="/ppt/slides/slide5.xml" Id="R5dd0bead13604de9" /><Relationship Type="http://schemas.openxmlformats.org/officeDocument/2006/relationships/slide" Target="/ppt/slides/slide6.xml" Id="Rd8bee842e9a1439b" /><Relationship Type="http://schemas.openxmlformats.org/officeDocument/2006/relationships/slide" Target="/ppt/slides/slide7.xml" Id="R9a202fb574ef42fe" /><Relationship Type="http://schemas.openxmlformats.org/officeDocument/2006/relationships/slide" Target="/ppt/slides/slide8.xml" Id="Rf344dfaf87ca4e5e" /><Relationship Type="http://schemas.openxmlformats.org/officeDocument/2006/relationships/slide" Target="/ppt/slides/slide9.xml" Id="Ra34c56afba3f469f" /><Relationship Type="http://schemas.openxmlformats.org/officeDocument/2006/relationships/slide" Target="/ppt/slides/slide10.xml" Id="R6886f32264fb40c9" /><Relationship Type="http://schemas.openxmlformats.org/officeDocument/2006/relationships/slide" Target="/ppt/slides/slide11.xml" Id="Rdcff4e1a429d42e9" /><Relationship Type="http://schemas.openxmlformats.org/officeDocument/2006/relationships/slide" Target="/ppt/slides/slide12.xml" Id="R3742278a189a43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1762b8c0b346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TUYA Colombia">
      <a:dk1>
        <a:sysClr val="windowText" lastClr="000000"/>
      </a:dk1>
      <a:lt1>
        <a:sysClr val="window" lastClr="FFFFFF"/>
      </a:lt1>
      <a:dk2>
        <a:srgbClr val="211915"/>
      </a:dk2>
      <a:lt2>
        <a:srgbClr val="F3F1F0"/>
      </a:lt2>
      <a:accent1>
        <a:srgbClr val="ED1C29"/>
      </a:accent1>
      <a:accent2>
        <a:srgbClr val="211915"/>
      </a:accent2>
      <a:accent3>
        <a:srgbClr val="7A7A7A"/>
      </a:accent3>
      <a:accent4>
        <a:srgbClr val="77C3CD"/>
      </a:accent4>
      <a:accent5>
        <a:srgbClr val="9CCB49"/>
      </a:accent5>
      <a:accent6>
        <a:srgbClr val="C9E4DC"/>
      </a:accent6>
      <a:hlink>
        <a:srgbClr val="ED1C29"/>
      </a:hlink>
      <a:folHlink>
        <a:srgbClr val="B71C2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UYA Colombi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fdfcbdbcb84f7c" /><Relationship Type="http://schemas.openxmlformats.org/officeDocument/2006/relationships/notesMaster" Target="/ppt/notesMasters/notesMaster1.xml" Id="Rcccf7a1723ac41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d45c052eb54e30" /><Relationship Type="http://schemas.openxmlformats.org/officeDocument/2006/relationships/notesMaster" Target="/ppt/notesMasters/notesMaster1.xml" Id="Re17a98147e4641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1ceaa7f40e486c" /><Relationship Type="http://schemas.openxmlformats.org/officeDocument/2006/relationships/notesMaster" Target="/ppt/notesMasters/notesMaster1.xml" Id="R50a66760893743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42e089d3b4469a" /><Relationship Type="http://schemas.openxmlformats.org/officeDocument/2006/relationships/notesMaster" Target="/ppt/notesMasters/notesMaster1.xml" Id="R78dc9f763c7941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348937b3134a97" /><Relationship Type="http://schemas.openxmlformats.org/officeDocument/2006/relationships/notesMaster" Target="/ppt/notesMasters/notesMaster1.xml" Id="R4d711fb5feb14f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b09fbe08bf411e" /><Relationship Type="http://schemas.openxmlformats.org/officeDocument/2006/relationships/notesMaster" Target="/ppt/notesMasters/notesMaster1.xml" Id="R968cada91a0548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247cb02ff94b4d" /><Relationship Type="http://schemas.openxmlformats.org/officeDocument/2006/relationships/notesMaster" Target="/ppt/notesMasters/notesMaster1.xml" Id="R25b5e9f729d245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2c877d136c4da4" /><Relationship Type="http://schemas.openxmlformats.org/officeDocument/2006/relationships/notesMaster" Target="/ppt/notesMasters/notesMaster1.xml" Id="R3ba472a3c55a41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d02883684f4be3" /><Relationship Type="http://schemas.openxmlformats.org/officeDocument/2006/relationships/notesMaster" Target="/ppt/notesMasters/notesMaster1.xml" Id="Rd67287339b124d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900b584b624e5a" /><Relationship Type="http://schemas.openxmlformats.org/officeDocument/2006/relationships/notesMaster" Target="/ppt/notesMasters/notesMaster1.xml" Id="R9f77bd3b97fa40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edebed1dba4009" /><Relationship Type="http://schemas.openxmlformats.org/officeDocument/2006/relationships/notesMaster" Target="/ppt/notesMasters/notesMaster1.xml" Id="R9eb437ed9f044ec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64d56b18b243f3" /><Relationship Type="http://schemas.openxmlformats.org/officeDocument/2006/relationships/notesMaster" Target="/ppt/notesMasters/notesMaster1.xml" Id="R7079d6f2348a43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https://openspec.dev/</a:t>
            </a:r>
          </a:p>
          <a:p xmlns:a="http://schemas.openxmlformats.org/drawingml/2006/main">
            <a:r>
              <a:t>- https://openspec.dev/docs/overview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https://openspec.dev/</a:t>
            </a:r>
          </a:p>
          <a:p xmlns:a="http://schemas.openxmlformats.org/drawingml/2006/main">
            <a:r>
              <a:t>- https://openspec.dev/docs/overview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https://openspec.dev/docs/overview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https://openspec.dev/docs/overview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https://openspec.dev/docs/overview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https://openspec.dev/docs/overview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https://openspec.dev/</a:t>
            </a:r>
          </a:p>
          <a:p xmlns:a="http://schemas.openxmlformats.org/drawingml/2006/main">
            <a:r>
              <a:t>- https://openspec.dev/docs/overview</a:t>
            </a:r>
          </a:p>
          <a:p xmlns:a="http://schemas.openxmlformats.org/drawingml/2006/main">
            <a:r>
              <a:t>- https://github.com/Fission-AI/OpenSpec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https://openspec.dev/docs/overview</a:t>
            </a:r>
          </a:p>
          <a:p xmlns:a="http://schemas.openxmlformats.org/drawingml/2006/main">
            <a:r>
              <a:t>- https://openspec.dev/docs/reference/cli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https://openspec.dev/docs/overview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https://openspec.dev/docs/opsx</a:t>
            </a:r>
          </a:p>
          <a:p xmlns:a="http://schemas.openxmlformats.org/drawingml/2006/main">
            <a:r>
              <a:t>- https://openspec.dev/docs/reference/cli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https://openspec.dev/docs/overview</a:t>
            </a:r>
          </a:p>
          <a:p xmlns:a="http://schemas.openxmlformats.org/drawingml/2006/main">
            <a:r>
              <a:t>- https://openspec.dev/docs/opsx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d45611c1ae46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516747bcda49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ee40b4c0b4449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CONTENT">
    <p:bg>
      <p:bgPr>
        <a:solidFill xmlns:a="http://schemas.openxmlformats.org/drawingml/2006/main">
          <a:srgbClr val="FB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07EB1B0-9209-4743-A5FD-8504D5188A2F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85800" y="658368"/>
            <a:ext cx="107899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marL="0" indent="0"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COVER">
    <p:bg>
      <p:bgPr>
        <a:solidFill xmlns:a="http://schemas.openxmlformats.org/drawingml/2006/main">
          <a:srgbClr val="2119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DA7C326-F063-4B6C-AAAF-5C8667C1C18F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777240" y="2331720"/>
            <a:ext cx="7680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marL="0" indent="0">
              <a:buNone/>
            </a:p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29b5e7266b4e9a" /><Relationship Type="http://schemas.openxmlformats.org/officeDocument/2006/relationships/slideLayout" Target="/ppt/slideLayouts/slideLayout1.xml" Id="R9ab710e9180742aa" /><Relationship Type="http://schemas.openxmlformats.org/officeDocument/2006/relationships/slideLayout" Target="/ppt/slideLayouts/slideLayout2.xml" Id="R0cdbcd4a18d24f0a" /><Relationship Type="http://schemas.openxmlformats.org/officeDocument/2006/relationships/slideLayout" Target="/ppt/slideLayouts/slideLayout3.xml" Id="Re2463dadebae419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b710e9180742aa"/>
    <p:sldLayoutId xmlns:r="http://schemas.openxmlformats.org/officeDocument/2006/relationships" id="2147483650" r:id="R0cdbcd4a18d24f0a"/>
    <p:sldLayoutId xmlns:r="http://schemas.openxmlformats.org/officeDocument/2006/relationships" id="2147483651" r:id="Re2463dadebae419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TUYA Colombia">
      <a:dk1>
        <a:sysClr val="windowText" lastClr="000000"/>
      </a:dk1>
      <a:lt1>
        <a:sysClr val="window" lastClr="FFFFFF"/>
      </a:lt1>
      <a:dk2>
        <a:srgbClr val="211915"/>
      </a:dk2>
      <a:lt2>
        <a:srgbClr val="F3F1F0"/>
      </a:lt2>
      <a:accent1>
        <a:srgbClr val="ED1C29"/>
      </a:accent1>
      <a:accent2>
        <a:srgbClr val="211915"/>
      </a:accent2>
      <a:accent3>
        <a:srgbClr val="7A7A7A"/>
      </a:accent3>
      <a:accent4>
        <a:srgbClr val="77C3CD"/>
      </a:accent4>
      <a:accent5>
        <a:srgbClr val="9CCB49"/>
      </a:accent5>
      <a:accent6>
        <a:srgbClr val="C9E4DC"/>
      </a:accent6>
      <a:hlink>
        <a:srgbClr val="ED1C29"/>
      </a:hlink>
      <a:folHlink>
        <a:srgbClr val="B71C2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UYA Colombi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54db4ba2a8f419a" /><Relationship Type="http://schemas.openxmlformats.org/officeDocument/2006/relationships/image" Target="/ppt/media/image.png" Id="R8c49cc2666464384" /><Relationship Type="http://schemas.openxmlformats.org/officeDocument/2006/relationships/notesSlide" Target="/ppt/notesSlides/notesSlide1.xml" Id="Rcd0a60d63a9249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9af318495349ff" /><Relationship Type="http://schemas.openxmlformats.org/officeDocument/2006/relationships/image" Target="/ppt/media/image.png" Id="Ra1dc390f9b3e4043" /><Relationship Type="http://schemas.openxmlformats.org/officeDocument/2006/relationships/notesSlide" Target="/ppt/notesSlides/notesSlide2.xml" Id="Rc279615f0b1246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0adee1b8154681" /><Relationship Type="http://schemas.openxmlformats.org/officeDocument/2006/relationships/image" Target="/ppt/media/image.png" Id="R68fc6c0afd3a4db1" /><Relationship Type="http://schemas.openxmlformats.org/officeDocument/2006/relationships/notesSlide" Target="/ppt/notesSlides/notesSlide3.xml" Id="R68e03a28e58146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1f3dbe5c6a43a7" /><Relationship Type="http://schemas.openxmlformats.org/officeDocument/2006/relationships/image" Target="/ppt/media/image.png" Id="Rb9d4a2172e784882" /><Relationship Type="http://schemas.openxmlformats.org/officeDocument/2006/relationships/notesSlide" Target="/ppt/notesSlides/notesSlide4.xml" Id="R4151eda327874a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ded848cf98447b" /><Relationship Type="http://schemas.openxmlformats.org/officeDocument/2006/relationships/image" Target="/ppt/media/image.png" Id="R33b46ca03839457a" /><Relationship Type="http://schemas.openxmlformats.org/officeDocument/2006/relationships/notesSlide" Target="/ppt/notesSlides/notesSlide5.xml" Id="Rf26c66c677a14f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363e2032654a47" /><Relationship Type="http://schemas.openxmlformats.org/officeDocument/2006/relationships/image" Target="/ppt/media/image.png" Id="R23e9c0caf28f462a" /><Relationship Type="http://schemas.openxmlformats.org/officeDocument/2006/relationships/notesSlide" Target="/ppt/notesSlides/notesSlide6.xml" Id="R0b217b7c67d441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17b5c5d57e4006" /><Relationship Type="http://schemas.openxmlformats.org/officeDocument/2006/relationships/image" Target="/ppt/media/image.png" Id="Re8ba93f4afae4d2b" /><Relationship Type="http://schemas.openxmlformats.org/officeDocument/2006/relationships/notesSlide" Target="/ppt/notesSlides/notesSlide7.xml" Id="R6493081fe08644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6c836d84644d4a" /><Relationship Type="http://schemas.openxmlformats.org/officeDocument/2006/relationships/image" Target="/ppt/media/image.png" Id="R2007866e1d3d45dc" /><Relationship Type="http://schemas.openxmlformats.org/officeDocument/2006/relationships/notesSlide" Target="/ppt/notesSlides/notesSlide8.xml" Id="Rf51dcccd362f42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d70230a86e43db" /><Relationship Type="http://schemas.openxmlformats.org/officeDocument/2006/relationships/image" Target="/ppt/media/image.png" Id="R7b51456694f64ed6" /><Relationship Type="http://schemas.openxmlformats.org/officeDocument/2006/relationships/notesSlide" Target="/ppt/notesSlides/notesSlide9.xml" Id="R7674d5e5904d48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2264ffefdc46d9" /><Relationship Type="http://schemas.openxmlformats.org/officeDocument/2006/relationships/image" Target="/ppt/media/image.png" Id="R1cf1f4a46dfc4b8d" /><Relationship Type="http://schemas.openxmlformats.org/officeDocument/2006/relationships/notesSlide" Target="/ppt/notesSlides/notesSlide10.xml" Id="R30e2672d620746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07e9ca8e594f90" /><Relationship Type="http://schemas.openxmlformats.org/officeDocument/2006/relationships/image" Target="/ppt/media/image.png" Id="Re60f233e6d3a4057" /><Relationship Type="http://schemas.openxmlformats.org/officeDocument/2006/relationships/notesSlide" Target="/ppt/notesSlides/notesSlide11.xml" Id="Rb0cf61efd6f943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bda3a4ade84ed5" /><Relationship Type="http://schemas.openxmlformats.org/officeDocument/2006/relationships/image" Target="/ppt/media/image.png" Id="R1263d57b01be45df" /><Relationship Type="http://schemas.openxmlformats.org/officeDocument/2006/relationships/notesSlide" Target="/ppt/notesSlides/notesSlide12.xml" Id="R197920841d284f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D1C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4A7FF53-E78D-4830-9BA8-B8E75FBE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47088"/>
            <a:ext cx="7315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DESARROLLO DE SOFTWARE  ·  2026</a:t>
            </a:r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5D9BD458-659F-4214-9D81-FF6E9AA3F414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777240" y="2331720"/>
            <a:ext cx="7680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1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Spec-Driven Development</a:t>
            </a:r>
          </a:p>
          <a:p xmlns:a="http://schemas.openxmlformats.org/drawingml/2006/main">
            <a:pPr marL="0" indent="0" algn="l">
              <a:buNone/>
            </a:pPr>
            <a:r>
              <a:rPr sz="31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con OpenSpec</a:t>
            </a:r>
          </a:p>
        </p:txBody>
      </p:sp>
      <p:sp>
        <p:nvSpPr>
          <p:cNvPr id="6" name="accent">
            <a:extLst xmlns:a="http://schemas.openxmlformats.org/drawingml/2006/main">
              <a:ext uri="{FF2B5EF4-FFF2-40B4-BE49-F238E27FC236}">
                <a16:creationId xmlns:a16="http://schemas.microsoft.com/office/drawing/2014/main" id="{0734481B-9832-426D-830A-FBB69D42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24528"/>
            <a:ext cx="10515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78C9822-7C11-461A-B4C7-8C0A464B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407408"/>
            <a:ext cx="7498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>
                <a:solidFill>
                  <a:srgbClr val="E7E2DF"/>
                </a:solidFill>
                <a:latin typeface="Calibri"/>
                <a:ea typeface="Calibri"/>
                <a:cs typeface="Calibri"/>
              </a:rPr>
              <a:t>De la intención al código verificable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3730261-8883-470D-936E-A3EE4308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138928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Tuya      Presentación introductoria      Ingeniería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FDE7B6D-7954-4AF2-89FA-15912E1E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6272784"/>
            <a:ext cx="2880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9A928C"/>
                </a:solidFill>
                <a:latin typeface="Trebuchet MS"/>
                <a:ea typeface="Trebuchet MS"/>
                <a:cs typeface="Trebuchet MS"/>
              </a:rPr>
              <a:t>SDD  ·  OpenSpec</a:t>
            </a:r>
          </a:p>
        </p:txBody>
      </p:sp>
      <p:sp>
        <p:nvSpPr>
          <p:cNvPr id="20" name="Logo Card">
            <a:extLst xmlns:a="http://schemas.openxmlformats.org/drawingml/2006/main">
              <a:ext uri="{FF2B5EF4-FFF2-40B4-BE49-F238E27FC236}">
                <a16:creationId xmlns:a16="http://schemas.microsoft.com/office/drawing/2014/main" id="{20EA5C85-926F-40D8-9F8F-441A18E9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0000"/>
            <a:ext cx="2438400" cy="12801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9" name="Imagen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49cc26664643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2160" y="660080"/>
            <a:ext cx="1800000" cy="90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9844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kicker mark">
            <a:extLst xmlns:a="http://schemas.openxmlformats.org/drawingml/2006/main">
              <a:ext uri="{FF2B5EF4-FFF2-40B4-BE49-F238E27FC236}">
                <a16:creationId xmlns:a16="http://schemas.microsoft.com/office/drawing/2014/main" id="{72AF9BA9-F448-411A-B07F-0A037785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336"/>
            <a:ext cx="146304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F891A50-D715-41F9-AD02-24B46594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10896"/>
            <a:ext cx="9601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POR QUÉ HABLAR DE SDD</a:t>
            </a:r>
          </a:p>
        </p:txBody>
      </p:sp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F6126F55-5357-47C1-B5E8-471338E5356D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85800" y="658368"/>
            <a:ext cx="107899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La velocidad no corrige la ambigüedad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94E96F1C-3911-4FBE-9E08-3EBDD7B0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356616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op accent">
            <a:extLst xmlns:a="http://schemas.openxmlformats.org/drawingml/2006/main">
              <a:ext uri="{FF2B5EF4-FFF2-40B4-BE49-F238E27FC236}">
                <a16:creationId xmlns:a16="http://schemas.microsoft.com/office/drawing/2014/main" id="{882C0C02-CEAA-40D5-9832-CF56BB32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356616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4595E41-56BB-481D-A0E2-6A2361DF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1929384"/>
            <a:ext cx="31272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1 · EL CAMBIO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37D1C1-BE16-4ACB-9BE9-EDB2FE7D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350008"/>
            <a:ext cx="312724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IA GENERATIVA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1467A77-3031-458E-BF18-D5548B97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569464"/>
            <a:ext cx="3127248" cy="624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Los asistentes producen código en minutos y aceleran el ciclo de entrega.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EA193B5-1D05-4A7C-8256-7E3AAFE1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3249168"/>
            <a:ext cx="312724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CONTEXTO EFÍMERO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6D4476B-3039-41E5-8261-3A3A4822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3468624"/>
            <a:ext cx="3127248" cy="624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Una conversación no conserva por sí sola decisiones, restricciones y criterios.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3C91CE8-32A8-4866-9E25-41897F4F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148328"/>
            <a:ext cx="312724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RESULTADO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631DE1B-58BA-4DBD-B2DC-34A56AA7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367784"/>
            <a:ext cx="3127248" cy="624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Más velocidad con una intención difusa también acelera el retrabajo.</a:t>
            </a:r>
          </a:p>
        </p:txBody>
      </p:sp>
      <p:sp>
        <p:nvSpPr>
          <p:cNvPr id="14" name="card">
            <a:extLst xmlns:a="http://schemas.openxmlformats.org/drawingml/2006/main">
              <a:ext uri="{FF2B5EF4-FFF2-40B4-BE49-F238E27FC236}">
                <a16:creationId xmlns:a16="http://schemas.microsoft.com/office/drawing/2014/main" id="{93568998-6BDF-47B1-AD92-AC5C351F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691640"/>
            <a:ext cx="356616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op accent">
            <a:extLst xmlns:a="http://schemas.openxmlformats.org/drawingml/2006/main">
              <a:ext uri="{FF2B5EF4-FFF2-40B4-BE49-F238E27FC236}">
                <a16:creationId xmlns:a16="http://schemas.microsoft.com/office/drawing/2014/main" id="{1FA8A581-AB63-4A44-A274-01BC1D0F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691640"/>
            <a:ext cx="356616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4CF4FC0-CCCC-45A3-8690-389CA407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1929384"/>
            <a:ext cx="31272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2 · RIESGOS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7349509-82EE-4D49-84F2-AAD7DEBB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2350008"/>
            <a:ext cx="312724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AMBIGÜEDAD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F7DBB80-9961-4667-8CB8-BA40B28F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2569464"/>
            <a:ext cx="3127248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El agente completa vacíos con supuestos.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230093B-CC1D-4A3D-83FC-4B53BC5A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3024378"/>
            <a:ext cx="312724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PÉRDIDA DE CONTEXTO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C127060-6941-40EF-B34C-2725DB38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3243834"/>
            <a:ext cx="3127248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Las decisiones quedan dispersas entre chats y personas.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0CB8233-AA26-456F-AD4E-27D80A69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3698748"/>
            <a:ext cx="312724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INCONSISTENCIA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48425E6-B6E1-40C0-8F29-395772DC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3918204"/>
            <a:ext cx="3127248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Dos sesiones pueden producir soluciones distintas.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AB23232-CD78-4CE9-BD2A-7BEBF158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4373118"/>
            <a:ext cx="312724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REVISIÓN TARDÍA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F837921-85D7-4F26-A174-7198E5F8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4592574"/>
            <a:ext cx="3127248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La desalineación aparece cuando ya existe código.</a:t>
            </a:r>
          </a:p>
        </p:txBody>
      </p:sp>
      <p:sp>
        <p:nvSpPr>
          <p:cNvPr id="25" name="decision">
            <a:extLst xmlns:a="http://schemas.openxmlformats.org/drawingml/2006/main">
              <a:ext uri="{FF2B5EF4-FFF2-40B4-BE49-F238E27FC236}">
                <a16:creationId xmlns:a16="http://schemas.microsoft.com/office/drawing/2014/main" id="{47B537A7-558B-4CCB-977F-953BD85C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691640"/>
            <a:ext cx="349300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accent top">
            <a:extLst xmlns:a="http://schemas.openxmlformats.org/drawingml/2006/main">
              <a:ext uri="{FF2B5EF4-FFF2-40B4-BE49-F238E27FC236}">
                <a16:creationId xmlns:a16="http://schemas.microsoft.com/office/drawing/2014/main" id="{E4A4D048-5780-4318-900A-EE7122C6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691640"/>
            <a:ext cx="3493008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2BE04F1-6041-4DC7-BCD3-71740F9B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1911096"/>
            <a:ext cx="30540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3 · RESPUESTA SDD</a:t>
            </a:r>
          </a:p>
        </p:txBody>
      </p:sp>
      <p:sp>
        <p:nvSpPr>
          <p:cNvPr id="27" name="step badge">
            <a:extLst xmlns:a="http://schemas.openxmlformats.org/drawingml/2006/main">
              <a:ext uri="{FF2B5EF4-FFF2-40B4-BE49-F238E27FC236}">
                <a16:creationId xmlns:a16="http://schemas.microsoft.com/office/drawing/2014/main" id="{E1B5A9D7-DB06-4CD3-86E8-844A2B62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34086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800ED4A-687C-4CD8-B4B5-A3630A8E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34086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34412DD-B370-4458-9D5E-934BCA7B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112" y="2313432"/>
            <a:ext cx="27066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Escribir la intención</a:t>
            </a:r>
          </a:p>
        </p:txBody>
      </p:sp>
      <p:sp>
        <p:nvSpPr>
          <p:cNvPr id="30" name="step badge">
            <a:extLst xmlns:a="http://schemas.openxmlformats.org/drawingml/2006/main">
              <a:ext uri="{FF2B5EF4-FFF2-40B4-BE49-F238E27FC236}">
                <a16:creationId xmlns:a16="http://schemas.microsoft.com/office/drawing/2014/main" id="{69C1F99A-0B39-4C60-9A0C-41C328AF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78434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57C142F-B728-44F3-9AA5-C616A318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78434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EC65E2DC-63D6-497F-A26C-CE427A89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112" y="2756916"/>
            <a:ext cx="27066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Acordar requisitos</a:t>
            </a:r>
          </a:p>
        </p:txBody>
      </p:sp>
      <p:sp>
        <p:nvSpPr>
          <p:cNvPr id="33" name="step badge">
            <a:extLst xmlns:a="http://schemas.openxmlformats.org/drawingml/2006/main">
              <a:ext uri="{FF2B5EF4-FFF2-40B4-BE49-F238E27FC236}">
                <a16:creationId xmlns:a16="http://schemas.microsoft.com/office/drawing/2014/main" id="{F847D1BF-46BD-4DF2-B380-8B54F063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22783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562728BD-4EA5-4E11-94AE-DBCAE085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227832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5D94DD1A-A52A-404B-8B83-DAD493FD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112" y="3200400"/>
            <a:ext cx="27066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Revisar el diseño</a:t>
            </a:r>
          </a:p>
        </p:txBody>
      </p:sp>
      <p:sp>
        <p:nvSpPr>
          <p:cNvPr id="36" name="step badge">
            <a:extLst xmlns:a="http://schemas.openxmlformats.org/drawingml/2006/main">
              <a:ext uri="{FF2B5EF4-FFF2-40B4-BE49-F238E27FC236}">
                <a16:creationId xmlns:a16="http://schemas.microsoft.com/office/drawing/2014/main" id="{2D3D2BB4-A3F5-4288-A9BA-AC28AC1B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67131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EE1C9F26-6D73-4EA9-B804-11DE7072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67131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033B0C6D-5005-4354-8936-DE660FB3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112" y="3643884"/>
            <a:ext cx="27066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Dividir el trabajo</a:t>
            </a:r>
          </a:p>
        </p:txBody>
      </p:sp>
      <p:sp>
        <p:nvSpPr>
          <p:cNvPr id="39" name="step badge">
            <a:extLst xmlns:a="http://schemas.openxmlformats.org/drawingml/2006/main">
              <a:ext uri="{FF2B5EF4-FFF2-40B4-BE49-F238E27FC236}">
                <a16:creationId xmlns:a16="http://schemas.microsoft.com/office/drawing/2014/main" id="{606703D4-67A8-4AB6-9271-AAB02FD2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1148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A0E25D32-9570-49CC-ADD9-E4BFA14E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1148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5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5852369C-22DA-4169-8F2A-5CAFC2B3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112" y="4087368"/>
            <a:ext cx="27066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Implementar</a:t>
            </a:r>
          </a:p>
        </p:txBody>
      </p:sp>
      <p:sp>
        <p:nvSpPr>
          <p:cNvPr id="42" name="step badge">
            <a:extLst xmlns:a="http://schemas.openxmlformats.org/drawingml/2006/main">
              <a:ext uri="{FF2B5EF4-FFF2-40B4-BE49-F238E27FC236}">
                <a16:creationId xmlns:a16="http://schemas.microsoft.com/office/drawing/2014/main" id="{9AB619DA-18F9-4744-BCE1-4A98CC2E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55828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D6C229C8-3F34-448E-9D12-E48AF1B9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55828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6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0673B1AA-7AD2-4FB2-94BA-9FB551CA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112" y="4530852"/>
            <a:ext cx="27066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Validar el resultado</a:t>
            </a:r>
          </a:p>
        </p:txBody>
      </p:sp>
      <p:sp>
        <p:nvSpPr>
          <p:cNvPr id="45" name="message">
            <a:extLst xmlns:a="http://schemas.openxmlformats.org/drawingml/2006/main">
              <a:ext uri="{FF2B5EF4-FFF2-40B4-BE49-F238E27FC236}">
                <a16:creationId xmlns:a16="http://schemas.microsoft.com/office/drawing/2014/main" id="{AD8EEE29-46B5-4011-AF7D-6D8055F9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9240"/>
            <a:ext cx="10817352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  <a:ln xmlns:a="http://schemas.openxmlformats.org/drawingml/2006/main" w="12700">
            <a:solidFill>
              <a:srgbClr val="ED1C29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04AB54D3-41A6-45CA-AB4D-20E6FDF4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349240"/>
            <a:ext cx="10177272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SDD convierte la conversación en artefactos persistentes y revisables dentro del repositorio.</a:t>
            </a:r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ADB5F939-5084-4789-94EC-EB19110D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7376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Tuya   ·   Spec-Driven Development con OpenSpec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3330A4B2-386F-4148-97A7-5838B6CA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7376"/>
            <a:ext cx="53035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02</a:t>
            </a:r>
          </a:p>
        </p:txBody>
      </p:sp>
      <p:pic>
        <p:nvPicPr>
          <p:cNvPr id="110" name="Logo Tuy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dc390f9b3e40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52200" y="321276"/>
            <a:ext cx="640080" cy="3200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2548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kicker mark">
            <a:extLst xmlns:a="http://schemas.openxmlformats.org/drawingml/2006/main">
              <a:ext uri="{FF2B5EF4-FFF2-40B4-BE49-F238E27FC236}">
                <a16:creationId xmlns:a16="http://schemas.microsoft.com/office/drawing/2014/main" id="{AC9DAD3E-0907-44A4-BCB4-C21E8660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336"/>
            <a:ext cx="146304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EE9EF68-52AD-4741-927B-FED13C9B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10896"/>
            <a:ext cx="9601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EVOLUCIÓN DEL FLUJO</a:t>
            </a:r>
          </a:p>
        </p:txBody>
      </p:sp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47AA1763-8247-486C-8B8C-0F0107999DDF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85800" y="658368"/>
            <a:ext cx="107899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La IA necesita una intención estructurada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6FF760FE-AB4D-4A6D-9AEC-82C7138A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4208"/>
            <a:ext cx="1574292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tep badge">
            <a:extLst xmlns:a="http://schemas.openxmlformats.org/drawingml/2006/main">
              <a:ext uri="{FF2B5EF4-FFF2-40B4-BE49-F238E27FC236}">
                <a16:creationId xmlns:a16="http://schemas.microsoft.com/office/drawing/2014/main" id="{70BF8973-4495-4482-A242-B2E4A3F4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922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95B6DB6-5FD8-4D67-919F-4E18EE52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922" y="18470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A2D558-8831-4E69-B5EA-6C44CFBC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22576"/>
            <a:ext cx="1391412" cy="9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Desarrollo tradicional</a:t>
            </a:r>
          </a:p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Requisitos y diseño preceden a la implementación.</a:t>
            </a:r>
          </a:p>
        </p:txBody>
      </p:sp>
      <p:sp>
        <p:nvSpPr>
          <p:cNvPr id="9" name="flow connector">
            <a:extLst xmlns:a="http://schemas.openxmlformats.org/drawingml/2006/main">
              <a:ext uri="{FF2B5EF4-FFF2-40B4-BE49-F238E27FC236}">
                <a16:creationId xmlns:a16="http://schemas.microsoft.com/office/drawing/2014/main" id="{A7ECA0B9-B88B-49D8-9B18-9591C1A7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804" y="2235708"/>
            <a:ext cx="310896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card">
            <a:extLst xmlns:a="http://schemas.openxmlformats.org/drawingml/2006/main">
              <a:ext uri="{FF2B5EF4-FFF2-40B4-BE49-F238E27FC236}">
                <a16:creationId xmlns:a16="http://schemas.microsoft.com/office/drawing/2014/main" id="{457A94A0-AF80-44AE-AA96-AACC4874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412" y="1664208"/>
            <a:ext cx="1574292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8"/>
          </a:solidFill>
          <a:ln xmlns:a="http://schemas.openxmlformats.org/drawingml/2006/main" w="19050">
            <a:solidFill>
              <a:srgbClr val="ED1C29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tep badge">
            <a:extLst xmlns:a="http://schemas.openxmlformats.org/drawingml/2006/main">
              <a:ext uri="{FF2B5EF4-FFF2-40B4-BE49-F238E27FC236}">
                <a16:creationId xmlns:a16="http://schemas.microsoft.com/office/drawing/2014/main" id="{A0117F8E-9879-43D7-B890-88A136D5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534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CB23178-CD94-497D-8D20-A6D5246B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534" y="18470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454A0D3-2F2B-4595-B548-EC948D03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852" y="2322576"/>
            <a:ext cx="1391412" cy="9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Prompt directo</a:t>
            </a:r>
          </a:p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Una instrucción produce código de inmediato.</a:t>
            </a:r>
          </a:p>
        </p:txBody>
      </p:sp>
      <p:sp>
        <p:nvSpPr>
          <p:cNvPr id="14" name="flow connector">
            <a:extLst xmlns:a="http://schemas.openxmlformats.org/drawingml/2006/main">
              <a:ext uri="{FF2B5EF4-FFF2-40B4-BE49-F238E27FC236}">
                <a16:creationId xmlns:a16="http://schemas.microsoft.com/office/drawing/2014/main" id="{5F023CC2-EFC9-4C15-AEB4-505F0142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16" y="2235708"/>
            <a:ext cx="310896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tep">
            <a:extLst xmlns:a="http://schemas.openxmlformats.org/drawingml/2006/main">
              <a:ext uri="{FF2B5EF4-FFF2-40B4-BE49-F238E27FC236}">
                <a16:creationId xmlns:a16="http://schemas.microsoft.com/office/drawing/2014/main" id="{1AF97856-3AFF-4BE2-857A-B6F0424D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024" y="1664208"/>
            <a:ext cx="1574292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tep badge">
            <a:extLst xmlns:a="http://schemas.openxmlformats.org/drawingml/2006/main">
              <a:ext uri="{FF2B5EF4-FFF2-40B4-BE49-F238E27FC236}">
                <a16:creationId xmlns:a16="http://schemas.microsoft.com/office/drawing/2014/main" id="{7AD0C0F0-FE25-4EE7-B8F0-3D7D2FED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146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0FDEF82-6D36-4DA4-8A0E-6E4536E6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146" y="18470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CAE37BC-84BD-4E7C-B4B2-53B7C51F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464" y="2322576"/>
            <a:ext cx="1391412" cy="9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Ambigüedad emergente</a:t>
            </a:r>
          </a:p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Faltan decisiones, límites o criterios.</a:t>
            </a:r>
          </a:p>
        </p:txBody>
      </p:sp>
      <p:sp>
        <p:nvSpPr>
          <p:cNvPr id="19" name="flow connector">
            <a:extLst xmlns:a="http://schemas.openxmlformats.org/drawingml/2006/main">
              <a:ext uri="{FF2B5EF4-FFF2-40B4-BE49-F238E27FC236}">
                <a16:creationId xmlns:a16="http://schemas.microsoft.com/office/drawing/2014/main" id="{07E80574-A985-48CE-846E-4FD416A7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028" y="2235708"/>
            <a:ext cx="310896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tep">
            <a:extLst xmlns:a="http://schemas.openxmlformats.org/drawingml/2006/main">
              <a:ext uri="{FF2B5EF4-FFF2-40B4-BE49-F238E27FC236}">
                <a16:creationId xmlns:a16="http://schemas.microsoft.com/office/drawing/2014/main" id="{3F4C2B78-D89B-4951-9E2E-9F371349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1636" y="1664208"/>
            <a:ext cx="1574292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tep badge">
            <a:extLst xmlns:a="http://schemas.openxmlformats.org/drawingml/2006/main">
              <a:ext uri="{FF2B5EF4-FFF2-40B4-BE49-F238E27FC236}">
                <a16:creationId xmlns:a16="http://schemas.microsoft.com/office/drawing/2014/main" id="{D33D878F-83DB-441A-8C3B-F1DBF3C2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758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A22D211-4DE7-4189-BF4B-E4A08E8F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758" y="18470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D2404FD-3E29-4CC8-BB27-7FE516C8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076" y="2322576"/>
            <a:ext cx="1391412" cy="9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Especificación</a:t>
            </a:r>
          </a:p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La intención se vuelve explícita y revisable.</a:t>
            </a:r>
          </a:p>
        </p:txBody>
      </p:sp>
      <p:sp>
        <p:nvSpPr>
          <p:cNvPr id="24" name="flow connector">
            <a:extLst xmlns:a="http://schemas.openxmlformats.org/drawingml/2006/main">
              <a:ext uri="{FF2B5EF4-FFF2-40B4-BE49-F238E27FC236}">
                <a16:creationId xmlns:a16="http://schemas.microsoft.com/office/drawing/2014/main" id="{E8587949-679E-46AB-A2BC-8EBFA866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235708"/>
            <a:ext cx="310896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card">
            <a:extLst xmlns:a="http://schemas.openxmlformats.org/drawingml/2006/main">
              <a:ext uri="{FF2B5EF4-FFF2-40B4-BE49-F238E27FC236}">
                <a16:creationId xmlns:a16="http://schemas.microsoft.com/office/drawing/2014/main" id="{14FB4A65-48D1-4AC0-971B-E9133952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248" y="1664208"/>
            <a:ext cx="1574292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tep badge">
            <a:extLst xmlns:a="http://schemas.openxmlformats.org/drawingml/2006/main">
              <a:ext uri="{FF2B5EF4-FFF2-40B4-BE49-F238E27FC236}">
                <a16:creationId xmlns:a16="http://schemas.microsoft.com/office/drawing/2014/main" id="{01610762-BBB7-45B6-8B91-7E5A4FC5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537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373F2DF-0895-4171-B642-7EC73387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5370" y="18470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5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B266421-F858-49F4-B979-783A63EB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688" y="2322576"/>
            <a:ext cx="1391412" cy="9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Agente de IA</a:t>
            </a:r>
          </a:p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Implementa con contexto persistente.</a:t>
            </a:r>
          </a:p>
        </p:txBody>
      </p:sp>
      <p:sp>
        <p:nvSpPr>
          <p:cNvPr id="29" name="flow connector">
            <a:extLst xmlns:a="http://schemas.openxmlformats.org/drawingml/2006/main">
              <a:ext uri="{FF2B5EF4-FFF2-40B4-BE49-F238E27FC236}">
                <a16:creationId xmlns:a16="http://schemas.microsoft.com/office/drawing/2014/main" id="{28956DA3-3CB8-47F7-B587-871F5CE6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252" y="2235708"/>
            <a:ext cx="310896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card">
            <a:extLst xmlns:a="http://schemas.openxmlformats.org/drawingml/2006/main">
              <a:ext uri="{FF2B5EF4-FFF2-40B4-BE49-F238E27FC236}">
                <a16:creationId xmlns:a16="http://schemas.microsoft.com/office/drawing/2014/main" id="{02A6B0D5-9A1D-44E8-A1FF-0DD3C610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8860" y="1664208"/>
            <a:ext cx="1574292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tep badge">
            <a:extLst xmlns:a="http://schemas.openxmlformats.org/drawingml/2006/main">
              <a:ext uri="{FF2B5EF4-FFF2-40B4-BE49-F238E27FC236}">
                <a16:creationId xmlns:a16="http://schemas.microsoft.com/office/drawing/2014/main" id="{0EE72DCE-1A58-47B3-A089-CCFB9ACE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3982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7685AC9-1610-44C4-AFC8-1875CF0F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3982" y="18470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6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C587E40D-5697-4B05-96B2-1760D999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322576"/>
            <a:ext cx="1391412" cy="9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Validación</a:t>
            </a:r>
          </a:p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El equipo contrasta el resultado con lo acordado.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B9CB64E0-10AA-429E-B375-271716FA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156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7A716B"/>
                </a:solidFill>
                <a:latin typeface="Trebuchet MS"/>
                <a:ea typeface="Trebuchet MS"/>
                <a:cs typeface="Trebuchet MS"/>
              </a:rPr>
              <a:t>TRES FORMAS DE TRABAJAR</a:t>
            </a:r>
          </a:p>
        </p:txBody>
      </p:sp>
      <p:sp>
        <p:nvSpPr>
          <p:cNvPr id="35" name="card">
            <a:extLst xmlns:a="http://schemas.openxmlformats.org/drawingml/2006/main">
              <a:ext uri="{FF2B5EF4-FFF2-40B4-BE49-F238E27FC236}">
                <a16:creationId xmlns:a16="http://schemas.microsoft.com/office/drawing/2014/main" id="{D354F592-F461-48A6-AC2D-96A6FF4D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0752"/>
            <a:ext cx="3422904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F"/>
          </a:solidFill>
          <a:ln xmlns:a="http://schemas.openxmlformats.org/drawingml/2006/main" w="12700">
            <a:solidFill>
              <a:srgbClr val="E7E1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BC0BF082-201A-4A0B-B7F0-7F94164E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30752"/>
            <a:ext cx="305714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ANTES</a:t>
            </a:r>
          </a:p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Requisitos y decisiones distribuidos entre documentos, conversaciones y memoria del equipo.</a:t>
            </a:r>
          </a:p>
        </p:txBody>
      </p:sp>
      <p:sp>
        <p:nvSpPr>
          <p:cNvPr id="37" name="card">
            <a:extLst xmlns:a="http://schemas.openxmlformats.org/drawingml/2006/main">
              <a:ext uri="{FF2B5EF4-FFF2-40B4-BE49-F238E27FC236}">
                <a16:creationId xmlns:a16="http://schemas.microsoft.com/office/drawing/2014/main" id="{9B02785E-63F3-4D45-B712-F58D71F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024" y="3730752"/>
            <a:ext cx="3422904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F"/>
          </a:solidFill>
          <a:ln xmlns:a="http://schemas.openxmlformats.org/drawingml/2006/main" w="12700">
            <a:solidFill>
              <a:srgbClr val="E7E1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52969818-393C-4175-85FB-36FA13FA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904" y="3730752"/>
            <a:ext cx="305714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CON PROMPTING DIRECTO</a:t>
            </a:r>
          </a:p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La velocidad aumenta, pero el contexto puede perderse entre sesiones y personas.</a:t>
            </a:r>
          </a:p>
        </p:txBody>
      </p:sp>
      <p:sp>
        <p:nvSpPr>
          <p:cNvPr id="39" name="card">
            <a:extLst xmlns:a="http://schemas.openxmlformats.org/drawingml/2006/main">
              <a:ext uri="{FF2B5EF4-FFF2-40B4-BE49-F238E27FC236}">
                <a16:creationId xmlns:a16="http://schemas.microsoft.com/office/drawing/2014/main" id="{A7EB59BE-8D65-4007-91FF-25A8D8DA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248" y="3730752"/>
            <a:ext cx="3422904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F"/>
          </a:solidFill>
          <a:ln xmlns:a="http://schemas.openxmlformats.org/drawingml/2006/main" w="12700">
            <a:solidFill>
              <a:srgbClr val="E7E1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0FA9BE8-0B80-4084-9341-C454DB65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3128" y="3730752"/>
            <a:ext cx="305714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CON SDD</a:t>
            </a:r>
          </a:p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La especificación conecta la necesidad, las decisiones, las tareas y el código.</a:t>
            </a:r>
          </a:p>
        </p:txBody>
      </p:sp>
      <p:sp>
        <p:nvSpPr>
          <p:cNvPr id="41" name="note">
            <a:extLst xmlns:a="http://schemas.openxmlformats.org/drawingml/2006/main">
              <a:ext uri="{FF2B5EF4-FFF2-40B4-BE49-F238E27FC236}">
                <a16:creationId xmlns:a16="http://schemas.microsoft.com/office/drawing/2014/main" id="{6E251BB3-B792-42C2-977C-130D804E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4920"/>
            <a:ext cx="10817352" cy="10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2ED9C448-A07A-4C83-A960-C1143EBE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074920"/>
            <a:ext cx="10241280" cy="10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El cambio mental</a:t>
            </a:r>
            <a:r>
              <a:rPr sz="1200" b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   </a:t>
            </a:r>
            <a:r>
              <a:rPr sz="120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La IA deja de trabajar desde una instrucción aislada y empieza a ejecutar sobre acuerdos explícitos que el equipo puede revisar.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72064E91-4EAD-4B40-944D-B8AC8F1D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7376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Tuya   ·   Spec-Driven Development con OpenSpec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B39D01A2-FA60-4908-ABEF-D439926E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7376"/>
            <a:ext cx="53035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03</a:t>
            </a:r>
          </a:p>
        </p:txBody>
      </p:sp>
      <p:pic>
        <p:nvPicPr>
          <p:cNvPr id="89" name="Logo Tuy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c6c0afd3a4d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52200" y="321276"/>
            <a:ext cx="640080" cy="3200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0450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kicker mark">
            <a:extLst xmlns:a="http://schemas.openxmlformats.org/drawingml/2006/main">
              <a:ext uri="{FF2B5EF4-FFF2-40B4-BE49-F238E27FC236}">
                <a16:creationId xmlns:a16="http://schemas.microsoft.com/office/drawing/2014/main" id="{B2A96357-28B1-4520-8D5B-E2D34515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336"/>
            <a:ext cx="146304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0CC2283-4D93-469D-9F22-0D19B5B6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10896"/>
            <a:ext cx="9601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QUÉ ES SPEC-DRIVEN DEVELOPMENT</a:t>
            </a:r>
          </a:p>
        </p:txBody>
      </p:sp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D545AFBB-793F-41D0-A341-49FF6DD52CA4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85800" y="658368"/>
            <a:ext cx="107899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Primero se acuerda qué construir</a:t>
            </a:r>
          </a:p>
        </p:txBody>
      </p:sp>
      <p:sp>
        <p:nvSpPr>
          <p:cNvPr id="5" name="objetivo">
            <a:extLst xmlns:a="http://schemas.openxmlformats.org/drawingml/2006/main">
              <a:ext uri="{FF2B5EF4-FFF2-40B4-BE49-F238E27FC236}">
                <a16:creationId xmlns:a16="http://schemas.microsoft.com/office/drawing/2014/main" id="{9D5276C3-AA63-4121-89F2-925EDF95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7632"/>
            <a:ext cx="10817352" cy="932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8"/>
          </a:solidFill>
          <a:ln xmlns:a="http://schemas.openxmlformats.org/drawingml/2006/main" w="12700">
            <a:solidFill>
              <a:srgbClr val="F3C9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accent">
            <a:extLst xmlns:a="http://schemas.openxmlformats.org/drawingml/2006/main">
              <a:ext uri="{FF2B5EF4-FFF2-40B4-BE49-F238E27FC236}">
                <a16:creationId xmlns:a16="http://schemas.microsoft.com/office/drawing/2014/main" id="{D78573B3-2446-4F71-85F0-CAD552FC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7632"/>
            <a:ext cx="82296" cy="932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F76739B-2787-4693-AE18-F46573B4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627632"/>
            <a:ext cx="103327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DEFINICIÓN   SDD organiza la intención, las restricciones y los criterios de aceptación en artefactos que guían la implementación y la validación.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7466CBE-0734-448E-900E-24D8E96E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6352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7A716B"/>
                </a:solidFill>
                <a:latin typeface="Trebuchet MS"/>
                <a:ea typeface="Trebuchet MS"/>
                <a:cs typeface="Trebuchet MS"/>
              </a:rPr>
              <a:t>ELEMENTOS DEL ENFOQUE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D4174FAC-850A-4A7C-9F39-ED57E35B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958645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op accent">
            <a:extLst xmlns:a="http://schemas.openxmlformats.org/drawingml/2006/main">
              <a:ext uri="{FF2B5EF4-FFF2-40B4-BE49-F238E27FC236}">
                <a16:creationId xmlns:a16="http://schemas.microsoft.com/office/drawing/2014/main" id="{01107F62-EFE2-483A-A3DE-C7D61900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95864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0F24CF-2B93-410C-BEB1-A2B20FB2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456432"/>
            <a:ext cx="1629461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E4DAD6"/>
                </a:solidFill>
                <a:latin typeface="Trebuchet MS"/>
                <a:ea typeface="Trebuchet MS"/>
                <a:cs typeface="Trebuchet MS"/>
              </a:rPr>
              <a:t>01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DFF96A0-0DDE-447C-812B-C5F8A7D2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41648"/>
            <a:ext cx="1629461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Intención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76F8D5-0133-4F3F-AC17-91FDAEAA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681728"/>
            <a:ext cx="162946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i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Explica el problema, el objetivo y el alcance del cambio.</a:t>
            </a:r>
          </a:p>
        </p:txBody>
      </p:sp>
      <p:sp>
        <p:nvSpPr>
          <p:cNvPr id="14" name="card">
            <a:extLst xmlns:a="http://schemas.openxmlformats.org/drawingml/2006/main">
              <a:ext uri="{FF2B5EF4-FFF2-40B4-BE49-F238E27FC236}">
                <a16:creationId xmlns:a16="http://schemas.microsoft.com/office/drawing/2014/main" id="{2C505151-269F-4049-A369-1B0FA05A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477" y="3200400"/>
            <a:ext cx="1958645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op accent">
            <a:extLst xmlns:a="http://schemas.openxmlformats.org/drawingml/2006/main">
              <a:ext uri="{FF2B5EF4-FFF2-40B4-BE49-F238E27FC236}">
                <a16:creationId xmlns:a16="http://schemas.microsoft.com/office/drawing/2014/main" id="{89CCDA84-31AE-427C-AD76-85AF62B1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477" y="3200400"/>
            <a:ext cx="195864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A3C368F-11AE-47C7-BFF8-06B91D6C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069" y="3456432"/>
            <a:ext cx="1629461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E4DAD6"/>
                </a:solidFill>
                <a:latin typeface="Trebuchet MS"/>
                <a:ea typeface="Trebuchet MS"/>
                <a:cs typeface="Trebuchet MS"/>
              </a:rPr>
              <a:t>02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1A826B6-2825-4A68-B686-AEE9C6AD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069" y="4041648"/>
            <a:ext cx="1629461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Requisitos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7ECD19A-5E88-46DE-8239-B5165F9F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069" y="4681728"/>
            <a:ext cx="162946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Describe el comportamiento esperado y sus escenarios.</a:t>
            </a:r>
          </a:p>
        </p:txBody>
      </p:sp>
      <p:sp>
        <p:nvSpPr>
          <p:cNvPr id="19" name="card">
            <a:extLst xmlns:a="http://schemas.openxmlformats.org/drawingml/2006/main">
              <a:ext uri="{FF2B5EF4-FFF2-40B4-BE49-F238E27FC236}">
                <a16:creationId xmlns:a16="http://schemas.microsoft.com/office/drawing/2014/main" id="{25278D41-F3B3-427C-B8C4-2BA71FD5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154" y="3200400"/>
            <a:ext cx="1958645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op accent">
            <a:extLst xmlns:a="http://schemas.openxmlformats.org/drawingml/2006/main">
              <a:ext uri="{FF2B5EF4-FFF2-40B4-BE49-F238E27FC236}">
                <a16:creationId xmlns:a16="http://schemas.microsoft.com/office/drawing/2014/main" id="{9B64288D-A021-4D12-B634-E522A986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154" y="3200400"/>
            <a:ext cx="195864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B652E04-4293-475F-80BF-9BC22A46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746" y="3456432"/>
            <a:ext cx="1629461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E4DAD6"/>
                </a:solidFill>
                <a:latin typeface="Trebuchet MS"/>
                <a:ea typeface="Trebuchet MS"/>
                <a:cs typeface="Trebuchet MS"/>
              </a:rPr>
              <a:t>03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97FE43E-25CC-44FF-8813-5139DDC3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746" y="4041648"/>
            <a:ext cx="1629461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Diseño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C586F0B-3FC1-43CE-9818-55F71C0F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746" y="4681728"/>
            <a:ext cx="162946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Registra decisiones técnicas, restricciones e impactos.</a:t>
            </a:r>
          </a:p>
        </p:txBody>
      </p:sp>
      <p:sp>
        <p:nvSpPr>
          <p:cNvPr id="24" name="card">
            <a:extLst xmlns:a="http://schemas.openxmlformats.org/drawingml/2006/main">
              <a:ext uri="{FF2B5EF4-FFF2-40B4-BE49-F238E27FC236}">
                <a16:creationId xmlns:a16="http://schemas.microsoft.com/office/drawing/2014/main" id="{7FED6778-7290-4B93-A4B3-321B53FE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9830" y="3200400"/>
            <a:ext cx="1958645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op accent">
            <a:extLst xmlns:a="http://schemas.openxmlformats.org/drawingml/2006/main">
              <a:ext uri="{FF2B5EF4-FFF2-40B4-BE49-F238E27FC236}">
                <a16:creationId xmlns:a16="http://schemas.microsoft.com/office/drawing/2014/main" id="{8CC17711-AB3B-49FB-9E1B-40388B28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9830" y="3200400"/>
            <a:ext cx="195864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DD3305C-D31E-40F5-852B-B3790F93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422" y="3456432"/>
            <a:ext cx="1629461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E4DAD6"/>
                </a:solidFill>
                <a:latin typeface="Trebuchet MS"/>
                <a:ea typeface="Trebuchet MS"/>
                <a:cs typeface="Trebuchet MS"/>
              </a:rPr>
              <a:t>04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ED0EF49-3ADF-4DA1-84BF-E86DD4AB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422" y="4041648"/>
            <a:ext cx="1629461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Tareas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38BB710-B11E-4305-BDB8-AFC4C28D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422" y="4681728"/>
            <a:ext cx="162946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Divide el cambio en trabajo implementable y verificable.</a:t>
            </a:r>
          </a:p>
        </p:txBody>
      </p:sp>
      <p:sp>
        <p:nvSpPr>
          <p:cNvPr id="29" name="card">
            <a:extLst xmlns:a="http://schemas.openxmlformats.org/drawingml/2006/main">
              <a:ext uri="{FF2B5EF4-FFF2-40B4-BE49-F238E27FC236}">
                <a16:creationId xmlns:a16="http://schemas.microsoft.com/office/drawing/2014/main" id="{C6A1955F-B5B7-4289-A864-ABC9DAA0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507" y="3200400"/>
            <a:ext cx="1958645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op accent">
            <a:extLst xmlns:a="http://schemas.openxmlformats.org/drawingml/2006/main">
              <a:ext uri="{FF2B5EF4-FFF2-40B4-BE49-F238E27FC236}">
                <a16:creationId xmlns:a16="http://schemas.microsoft.com/office/drawing/2014/main" id="{6BC8F348-B26F-445E-A4A6-51DA020E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507" y="3200400"/>
            <a:ext cx="195864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0FC6882-BE8A-4B24-AF2B-0B07F7A5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099" y="3456432"/>
            <a:ext cx="1629461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E4DAD6"/>
                </a:solidFill>
                <a:latin typeface="Trebuchet MS"/>
                <a:ea typeface="Trebuchet MS"/>
                <a:cs typeface="Trebuchet MS"/>
              </a:rPr>
              <a:t>05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ED52ED73-46A0-4CB9-AC92-679F8FF0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099" y="4041648"/>
            <a:ext cx="1629461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Validación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AD24AC5E-8ACB-41B9-A65D-4F204E71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099" y="4681728"/>
            <a:ext cx="162946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i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Comprueba que el resultado cumpla lo acordado.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371CB33F-65EE-405B-8747-39763D5D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7376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Tuya   ·   Spec-Driven Development con OpenSpec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E0630BEA-8F47-4051-9104-1C24B09F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7376"/>
            <a:ext cx="53035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04</a:t>
            </a:r>
          </a:p>
        </p:txBody>
      </p:sp>
      <p:pic>
        <p:nvPicPr>
          <p:cNvPr id="71" name="Logo Tuy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4a2172e784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52200" y="321276"/>
            <a:ext cx="640080" cy="3200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7870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kicker mark">
            <a:extLst xmlns:a="http://schemas.openxmlformats.org/drawingml/2006/main">
              <a:ext uri="{FF2B5EF4-FFF2-40B4-BE49-F238E27FC236}">
                <a16:creationId xmlns:a16="http://schemas.microsoft.com/office/drawing/2014/main" id="{B2A96357-28B1-4520-8D5B-E2D34515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336"/>
            <a:ext cx="146304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0CC2283-4D93-469D-9F22-0D19B5B6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10896"/>
            <a:ext cx="9601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PRINCIPIOS DE SDD</a:t>
            </a:r>
          </a:p>
        </p:txBody>
      </p:sp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D545AFBB-793F-41D0-A341-49FF6DD52CA4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85800" y="658368"/>
            <a:ext cx="107899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La especificación guía, pero también evoluciona</a:t>
            </a:r>
          </a:p>
        </p:txBody>
      </p:sp>
      <p:sp>
        <p:nvSpPr>
          <p:cNvPr id="5" name="objetivo">
            <a:extLst xmlns:a="http://schemas.openxmlformats.org/drawingml/2006/main">
              <a:ext uri="{FF2B5EF4-FFF2-40B4-BE49-F238E27FC236}">
                <a16:creationId xmlns:a16="http://schemas.microsoft.com/office/drawing/2014/main" id="{9D5276C3-AA63-4121-89F2-925EDF95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7632"/>
            <a:ext cx="10817352" cy="932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8"/>
          </a:solidFill>
          <a:ln xmlns:a="http://schemas.openxmlformats.org/drawingml/2006/main" w="12700">
            <a:solidFill>
              <a:srgbClr val="F3C9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accent">
            <a:extLst xmlns:a="http://schemas.openxmlformats.org/drawingml/2006/main">
              <a:ext uri="{FF2B5EF4-FFF2-40B4-BE49-F238E27FC236}">
                <a16:creationId xmlns:a16="http://schemas.microsoft.com/office/drawing/2014/main" id="{D78573B3-2446-4F71-85F0-CAD552FC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7632"/>
            <a:ext cx="82296" cy="932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F76739B-2787-4693-AE18-F46573B4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627632"/>
            <a:ext cx="103327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PRINCIPIO CENTRAL   Las especificaciones son artefactos vivos: se revisan cuando aparecen hallazgos y conservan el acuerdo vigente del equipo.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7466CBE-0734-448E-900E-24D8E96E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6352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7A716B"/>
                </a:solidFill>
                <a:latin typeface="Trebuchet MS"/>
                <a:ea typeface="Trebuchet MS"/>
                <a:cs typeface="Trebuchet MS"/>
              </a:rPr>
              <a:t>CINCO PRINCIPIOS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D4174FAC-850A-4A7C-9F39-ED57E35B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958645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op accent">
            <a:extLst xmlns:a="http://schemas.openxmlformats.org/drawingml/2006/main">
              <a:ext uri="{FF2B5EF4-FFF2-40B4-BE49-F238E27FC236}">
                <a16:creationId xmlns:a16="http://schemas.microsoft.com/office/drawing/2014/main" id="{01107F62-EFE2-483A-A3DE-C7D61900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95864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0F24CF-2B93-410C-BEB1-A2B20FB2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456432"/>
            <a:ext cx="1629461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E4DAD6"/>
                </a:solidFill>
                <a:latin typeface="Trebuchet MS"/>
                <a:ea typeface="Trebuchet MS"/>
                <a:cs typeface="Trebuchet MS"/>
              </a:rPr>
              <a:t>01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DFF96A0-0DDE-447C-812B-C5F8A7D2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41648"/>
            <a:ext cx="1629461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Intención primero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76F8D5-0133-4F3F-AC17-91FDAEAA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681728"/>
            <a:ext cx="162946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i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Comenzar por el resultado esperado, no por el código.</a:t>
            </a:r>
          </a:p>
        </p:txBody>
      </p:sp>
      <p:sp>
        <p:nvSpPr>
          <p:cNvPr id="14" name="card">
            <a:extLst xmlns:a="http://schemas.openxmlformats.org/drawingml/2006/main">
              <a:ext uri="{FF2B5EF4-FFF2-40B4-BE49-F238E27FC236}">
                <a16:creationId xmlns:a16="http://schemas.microsoft.com/office/drawing/2014/main" id="{2C505151-269F-4049-A369-1B0FA05A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477" y="3200400"/>
            <a:ext cx="1958645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op accent">
            <a:extLst xmlns:a="http://schemas.openxmlformats.org/drawingml/2006/main">
              <a:ext uri="{FF2B5EF4-FFF2-40B4-BE49-F238E27FC236}">
                <a16:creationId xmlns:a16="http://schemas.microsoft.com/office/drawing/2014/main" id="{89CCDA84-31AE-427C-AD76-85AF62B1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477" y="3200400"/>
            <a:ext cx="195864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A3C368F-11AE-47C7-BFF8-06B91D6C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069" y="3456432"/>
            <a:ext cx="1629461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E4DAD6"/>
                </a:solidFill>
                <a:latin typeface="Trebuchet MS"/>
                <a:ea typeface="Trebuchet MS"/>
                <a:cs typeface="Trebuchet MS"/>
              </a:rPr>
              <a:t>02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1A826B6-2825-4A68-B686-AEE9C6AD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069" y="4041648"/>
            <a:ext cx="1629461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Fuente compartida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7ECD19A-5E88-46DE-8239-B5165F9F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069" y="4681728"/>
            <a:ext cx="162946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Mantener decisiones junto al código y bajo versión.</a:t>
            </a:r>
          </a:p>
        </p:txBody>
      </p:sp>
      <p:sp>
        <p:nvSpPr>
          <p:cNvPr id="19" name="card">
            <a:extLst xmlns:a="http://schemas.openxmlformats.org/drawingml/2006/main">
              <a:ext uri="{FF2B5EF4-FFF2-40B4-BE49-F238E27FC236}">
                <a16:creationId xmlns:a16="http://schemas.microsoft.com/office/drawing/2014/main" id="{25278D41-F3B3-427C-B8C4-2BA71FD5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154" y="3200400"/>
            <a:ext cx="1958645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op accent">
            <a:extLst xmlns:a="http://schemas.openxmlformats.org/drawingml/2006/main">
              <a:ext uri="{FF2B5EF4-FFF2-40B4-BE49-F238E27FC236}">
                <a16:creationId xmlns:a16="http://schemas.microsoft.com/office/drawing/2014/main" id="{9B64288D-A021-4D12-B634-E522A986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154" y="3200400"/>
            <a:ext cx="195864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B652E04-4293-475F-80BF-9BC22A46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746" y="3456432"/>
            <a:ext cx="1629461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E4DAD6"/>
                </a:solidFill>
                <a:latin typeface="Trebuchet MS"/>
                <a:ea typeface="Trebuchet MS"/>
                <a:cs typeface="Trebuchet MS"/>
              </a:rPr>
              <a:t>03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97FE43E-25CC-44FF-8813-5139DDC3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746" y="4041648"/>
            <a:ext cx="1629461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Revisión humana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C586F0B-3FC1-43CE-9818-55F71C0F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746" y="4681728"/>
            <a:ext cx="162946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Corregir ambigüedad antes de aceptar la solución.</a:t>
            </a:r>
          </a:p>
        </p:txBody>
      </p:sp>
      <p:sp>
        <p:nvSpPr>
          <p:cNvPr id="24" name="card">
            <a:extLst xmlns:a="http://schemas.openxmlformats.org/drawingml/2006/main">
              <a:ext uri="{FF2B5EF4-FFF2-40B4-BE49-F238E27FC236}">
                <a16:creationId xmlns:a16="http://schemas.microsoft.com/office/drawing/2014/main" id="{7FED6778-7290-4B93-A4B3-321B53FE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9830" y="3200400"/>
            <a:ext cx="1958645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op accent">
            <a:extLst xmlns:a="http://schemas.openxmlformats.org/drawingml/2006/main">
              <a:ext uri="{FF2B5EF4-FFF2-40B4-BE49-F238E27FC236}">
                <a16:creationId xmlns:a16="http://schemas.microsoft.com/office/drawing/2014/main" id="{8CC17711-AB3B-49FB-9E1B-40388B28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9830" y="3200400"/>
            <a:ext cx="195864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DD3305C-D31E-40F5-852B-B3790F93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422" y="3456432"/>
            <a:ext cx="1629461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E4DAD6"/>
                </a:solidFill>
                <a:latin typeface="Trebuchet MS"/>
                <a:ea typeface="Trebuchet MS"/>
                <a:cs typeface="Trebuchet MS"/>
              </a:rPr>
              <a:t>04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ED0EF49-3ADF-4DA1-84BF-E86DD4AB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422" y="4041648"/>
            <a:ext cx="1629461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Trazabilidad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38BB710-B11E-4305-BDB8-AFC4C28D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422" y="4681728"/>
            <a:ext cx="162946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Relacionar requisitos, diseño, tareas y resultado.</a:t>
            </a:r>
          </a:p>
        </p:txBody>
      </p:sp>
      <p:sp>
        <p:nvSpPr>
          <p:cNvPr id="29" name="card">
            <a:extLst xmlns:a="http://schemas.openxmlformats.org/drawingml/2006/main">
              <a:ext uri="{FF2B5EF4-FFF2-40B4-BE49-F238E27FC236}">
                <a16:creationId xmlns:a16="http://schemas.microsoft.com/office/drawing/2014/main" id="{C6A1955F-B5B7-4289-A864-ABC9DAA0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507" y="3200400"/>
            <a:ext cx="1958645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op accent">
            <a:extLst xmlns:a="http://schemas.openxmlformats.org/drawingml/2006/main">
              <a:ext uri="{FF2B5EF4-FFF2-40B4-BE49-F238E27FC236}">
                <a16:creationId xmlns:a16="http://schemas.microsoft.com/office/drawing/2014/main" id="{6BC8F348-B26F-445E-A4A6-51DA020E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507" y="3200400"/>
            <a:ext cx="195864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0FC6882-BE8A-4B24-AF2B-0B07F7A5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099" y="3456432"/>
            <a:ext cx="1629461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E4DAD6"/>
                </a:solidFill>
                <a:latin typeface="Trebuchet MS"/>
                <a:ea typeface="Trebuchet MS"/>
                <a:cs typeface="Trebuchet MS"/>
              </a:rPr>
              <a:t>05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ED52ED73-46A0-4CB9-AC92-679F8FF0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099" y="4041648"/>
            <a:ext cx="1629461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Iteración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AD24AC5E-8ACB-41B9-A65D-4F204E71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099" y="4681728"/>
            <a:ext cx="162946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i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Volver a los artefactos cuando cambia el entendimiento.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371CB33F-65EE-405B-8747-39763D5D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7376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Tuya   ·   Spec-Driven Development con OpenSpec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E0630BEA-8F47-4051-9104-1C24B09F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7376"/>
            <a:ext cx="53035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05</a:t>
            </a:r>
          </a:p>
        </p:txBody>
      </p:sp>
      <p:pic>
        <p:nvPicPr>
          <p:cNvPr id="71" name="Logo Tuy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b46ca0383945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52200" y="321276"/>
            <a:ext cx="640080" cy="3200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7870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kicker mark">
            <a:extLst xmlns:a="http://schemas.openxmlformats.org/drawingml/2006/main">
              <a:ext uri="{FF2B5EF4-FFF2-40B4-BE49-F238E27FC236}">
                <a16:creationId xmlns:a16="http://schemas.microsoft.com/office/drawing/2014/main" id="{2BA4F88A-FB2A-4175-BC0C-222A0DBC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336"/>
            <a:ext cx="146304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D551CED-6BA0-4111-B6E8-8700000D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10896"/>
            <a:ext cx="9601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PROMPTING DIRECTO VS. SDD</a:t>
            </a:r>
          </a:p>
        </p:txBody>
      </p:sp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A9179031-280F-4934-BBED-C3C49367CF4E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85800" y="658368"/>
            <a:ext cx="107899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El acuerdo debe vivir fuera del prompt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293135FE-3EF7-4B42-8B7B-8D2A4227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4208"/>
            <a:ext cx="3977640" cy="416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F"/>
          </a:solidFill>
          <a:ln xmlns:a="http://schemas.openxmlformats.org/drawingml/2006/main" w="12700">
            <a:solidFill>
              <a:srgbClr val="E7E1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C2B3DAC-1E78-46D0-AD2C-D631EF10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20240"/>
            <a:ext cx="3520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A · PROMPTING DIRECTO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0B7E5F2-5660-4977-8982-44D46BA4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231136"/>
            <a:ext cx="3520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7A716B"/>
                </a:solidFill>
                <a:latin typeface="Calibri"/>
                <a:ea typeface="Calibri"/>
                <a:cs typeface="Calibri"/>
              </a:rPr>
              <a:t>La conversación concentra el contexto</a:t>
            </a:r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0D5720C7-9D72-408F-A1DA-8B989F7A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670048"/>
            <a:ext cx="353872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E9E6A71-18ED-4033-A1AE-0E78D6F6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2779776"/>
            <a:ext cx="31729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7A716B"/>
                </a:solidFill>
                <a:latin typeface="Calibri"/>
                <a:ea typeface="Calibri"/>
                <a:cs typeface="Calibri"/>
              </a:rPr>
              <a:t>INSTRUCCIÓN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017FA85-4FE0-426D-BC7D-1DA11DD8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3054096"/>
            <a:ext cx="317296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El pedido vive en el chat o en un prompt aislado.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7767483B-8D72-4ECC-84D9-7EAA45C3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3694176"/>
            <a:ext cx="353872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55E2EBB-AEEF-4A3C-9723-2574DA2E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3803904"/>
            <a:ext cx="31729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7A716B"/>
                </a:solidFill>
                <a:latin typeface="Calibri"/>
                <a:ea typeface="Calibri"/>
                <a:cs typeface="Calibri"/>
              </a:rPr>
              <a:t>CONTEXTO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451924B-82A9-4993-A9F6-1C6CFEE6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4078224"/>
            <a:ext cx="317296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Las decisiones pueden perderse entre sesiones.</a:t>
            </a:r>
          </a:p>
        </p:txBody>
      </p:sp>
      <p:sp>
        <p:nvSpPr>
          <p:cNvPr id="14" name="card">
            <a:extLst xmlns:a="http://schemas.openxmlformats.org/drawingml/2006/main">
              <a:ext uri="{FF2B5EF4-FFF2-40B4-BE49-F238E27FC236}">
                <a16:creationId xmlns:a16="http://schemas.microsoft.com/office/drawing/2014/main" id="{B850DA43-9426-47C1-8629-EA5BB471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718304"/>
            <a:ext cx="353872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8BF0750-DA1D-44C3-B6AE-B7AE1B8E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4828032"/>
            <a:ext cx="31729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7A716B"/>
                </a:solidFill>
                <a:latin typeface="Calibri"/>
                <a:ea typeface="Calibri"/>
                <a:cs typeface="Calibri"/>
              </a:rPr>
              <a:t>REVISIÓN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88D0D90-AFD1-455F-AD1F-656C93E3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5102352"/>
            <a:ext cx="317296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Los problemas aparecen después de generar código.</a:t>
            </a:r>
          </a:p>
        </p:txBody>
      </p:sp>
      <p:sp>
        <p:nvSpPr>
          <p:cNvPr id="60" name="Nota consumo PoC">
            <a:extLst xmlns:a="http://schemas.openxmlformats.org/drawingml/2006/main">
              <a:ext uri="{FF2B5EF4-FFF2-40B4-BE49-F238E27FC236}">
                <a16:creationId xmlns:a16="http://schemas.microsoft.com/office/drawing/2014/main" id="{B84A378C-40B8-4C8B-8B86-0E36E2A6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0000"/>
            <a:ext cx="3977640" cy="5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i="1">
                <a:solidFill>
                  <a:srgbClr val="7A716B"/>
                </a:solidFill>
                <a:latin typeface="Calibri"/>
                <a:ea typeface="Calibri"/>
                <a:cs typeface="Calibri"/>
              </a:rPr>
              <a:t>Puede ser suficiente para cambios pequeños, reversibles y con criterios obvios.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F0D2762-E254-4054-B9CD-F2261B14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664208"/>
            <a:ext cx="656539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B · SPEC-DRIVEN DEVELOPMENT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B17D292-28FD-491B-99AF-A217B216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956816"/>
            <a:ext cx="65653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7A716B"/>
                </a:solidFill>
                <a:latin typeface="Calibri"/>
                <a:ea typeface="Calibri"/>
                <a:cs typeface="Calibri"/>
              </a:rPr>
              <a:t>Los acuerdos permanecen en el repositorio</a:t>
            </a:r>
          </a:p>
        </p:txBody>
      </p:sp>
      <p:sp>
        <p:nvSpPr>
          <p:cNvPr id="19" name="card">
            <a:extLst xmlns:a="http://schemas.openxmlformats.org/drawingml/2006/main">
              <a:ext uri="{FF2B5EF4-FFF2-40B4-BE49-F238E27FC236}">
                <a16:creationId xmlns:a16="http://schemas.microsoft.com/office/drawing/2014/main" id="{C3EBF177-4C67-466E-9C81-30D41052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377440"/>
            <a:ext cx="3145536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0627243-557B-482E-A721-A3CE4322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16" y="2578608"/>
            <a:ext cx="27066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ESPECIFICACIONES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C21D0BC-662C-4D19-881A-0372BA04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16" y="2907792"/>
            <a:ext cx="27066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Specs</a:t>
            </a:r>
          </a:p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revisables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C4DFBB9-81ED-4CCB-BB9E-10A09460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16" y="3547872"/>
            <a:ext cx="2706624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Requisitos y escenarios describen el comportamiento esperado.</a:t>
            </a:r>
          </a:p>
        </p:txBody>
      </p:sp>
      <p:sp>
        <p:nvSpPr>
          <p:cNvPr id="23" name="plan">
            <a:extLst xmlns:a="http://schemas.openxmlformats.org/drawingml/2006/main">
              <a:ext uri="{FF2B5EF4-FFF2-40B4-BE49-F238E27FC236}">
                <a16:creationId xmlns:a16="http://schemas.microsoft.com/office/drawing/2014/main" id="{A4DB92A0-AF6B-400A-810C-7B9779D3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2377440"/>
            <a:ext cx="3145536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67A517-E3D3-4653-BE87-CCD6E88A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578608"/>
            <a:ext cx="27066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ARTEFACTOS DE CAMBIO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6BDDD66-B9B5-4E1F-9574-B9CF6611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907792"/>
            <a:ext cx="27066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Cambio</a:t>
            </a:r>
          </a:p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estructurado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4C1BE5B-6816-41CC-A052-E8B3DAA1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3547872"/>
            <a:ext cx="2706624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Propuesta, diseño y tareas mantienen coherente el trabajo.</a:t>
            </a:r>
          </a:p>
        </p:txBody>
      </p:sp>
      <p:sp>
        <p:nvSpPr>
          <p:cNvPr id="27" name="card">
            <a:extLst xmlns:a="http://schemas.openxmlformats.org/drawingml/2006/main">
              <a:ext uri="{FF2B5EF4-FFF2-40B4-BE49-F238E27FC236}">
                <a16:creationId xmlns:a16="http://schemas.microsoft.com/office/drawing/2014/main" id="{276B9ADE-EF25-4883-9A85-A2478C57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4526280"/>
            <a:ext cx="6565392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8"/>
          </a:solidFill>
          <a:ln xmlns:a="http://schemas.openxmlformats.org/drawingml/2006/main" w="12700">
            <a:solidFill>
              <a:srgbClr val="F3C9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1053756-3E72-44E7-BE40-341B5062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16" y="4526280"/>
            <a:ext cx="61264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i="1">
                <a:solidFill>
                  <a:srgbClr val="7A716B"/>
                </a:solidFill>
                <a:latin typeface="Calibri"/>
                <a:ea typeface="Calibri"/>
                <a:cs typeface="Calibri"/>
              </a:rPr>
              <a:t>La implementación comienza con una intención revisada; si el entendimiento cambia, los artefactos también pueden cambiar.</a:t>
            </a:r>
          </a:p>
        </p:txBody>
      </p:sp>
      <p:sp>
        <p:nvSpPr>
          <p:cNvPr id="29" name="card">
            <a:extLst xmlns:a="http://schemas.openxmlformats.org/drawingml/2006/main">
              <a:ext uri="{FF2B5EF4-FFF2-40B4-BE49-F238E27FC236}">
                <a16:creationId xmlns:a16="http://schemas.microsoft.com/office/drawing/2014/main" id="{FD745089-7105-445D-AD46-AB186D86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5312664"/>
            <a:ext cx="3145536" cy="11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542A6B85-E45D-4FDA-B93C-38EADE20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5312664"/>
            <a:ext cx="2743200" cy="11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7A716B"/>
                </a:solidFill>
                <a:latin typeface="Trebuchet MS"/>
                <a:ea typeface="Trebuchet MS"/>
                <a:cs typeface="Trebuchet MS"/>
              </a:rPr>
              <a:t>TRAZABILIDAD</a:t>
            </a:r>
          </a:p>
          <a:p xmlns:a="http://schemas.openxmlformats.org/drawingml/2006/main">
            <a:pPr marL="0" indent="0" algn="l">
              <a:buNone/>
            </a:pPr>
            <a:r>
              <a:rPr sz="650" b="1">
                <a:solidFill>
                  <a:srgbClr val="7A716B"/>
                </a:solidFill>
                <a:latin typeface="Calibri"/>
                <a:ea typeface="Calibri"/>
                <a:cs typeface="Calibri"/>
              </a:rPr>
              <a:t>El equipo puede seguir la relación entre necesidad, requisito, decisión, tarea y resultado.</a:t>
            </a:r>
          </a:p>
          <a:p xmlns:a="http://schemas.openxmlformats.org/drawingml/2006/main">
            <a:pPr marL="0" indent="0" algn="l">
              <a:buNone/>
            </a:pPr>
            <a:r>
              <a:rPr sz="650" b="0">
                <a:solidFill>
                  <a:srgbClr val="7A716B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marL="0" indent="0" algn="l">
              <a:buNone/>
            </a:pPr>
            <a:r>
              <a:rPr sz="650" b="0">
                <a:solidFill>
                  <a:srgbClr val="7A716B"/>
                </a:solidFill>
                <a:latin typeface="Calibri"/>
                <a:ea typeface="Calibri"/>
                <a:cs typeface="Calibri"/>
              </a:rPr>
              <a:t>CONTEXTO PERSISTENTE</a:t>
            </a:r>
          </a:p>
          <a:p xmlns:a="http://schemas.openxmlformats.org/drawingml/2006/main">
            <a:pPr marL="0" indent="0" algn="l">
              <a:buNone/>
            </a:pPr>
            <a:r>
              <a:rPr sz="650" b="0">
                <a:solidFill>
                  <a:srgbClr val="7A716B"/>
                </a:solidFill>
                <a:latin typeface="Calibri"/>
                <a:ea typeface="Calibri"/>
                <a:cs typeface="Calibri"/>
              </a:rPr>
              <a:t>El siguiente agente o desarrollador retoma el trabajo sin reconstruir todo el razonamiento.</a:t>
            </a:r>
          </a:p>
        </p:txBody>
      </p:sp>
      <p:sp>
        <p:nvSpPr>
          <p:cNvPr id="31" name="card">
            <a:extLst xmlns:a="http://schemas.openxmlformats.org/drawingml/2006/main">
              <a:ext uri="{FF2B5EF4-FFF2-40B4-BE49-F238E27FC236}">
                <a16:creationId xmlns:a16="http://schemas.microsoft.com/office/drawing/2014/main" id="{2585954C-7BEF-481B-B2CE-B02E676E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5312663"/>
            <a:ext cx="3145536" cy="10149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2BF0DCD-B2AA-4DCA-8854-67867DA8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496" y="5312664"/>
            <a:ext cx="2761488" cy="11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REVISIÓN TEMPRANA</a:t>
            </a:r>
          </a:p>
          <a:p xmlns:a="http://schemas.openxmlformats.org/drawingml/2006/main">
            <a:pPr marL="0" indent="0" algn="l">
              <a:buNone/>
            </a:pPr>
            <a:r>
              <a:rPr sz="98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La desalineación se detecta en documentos pequeños antes de propagarse al código.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7DF6728-0224-43D2-9430-3DC34C93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7376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Tuya   ·   Spec-Driven Development con OpenSpec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47BE9AB-71DB-4DD0-A727-F20DBBD5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7376"/>
            <a:ext cx="53035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06</a:t>
            </a:r>
          </a:p>
        </p:txBody>
      </p:sp>
      <p:pic>
        <p:nvPicPr>
          <p:cNvPr id="96" name="Logo Tuy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9c0caf28f46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52200" y="321276"/>
            <a:ext cx="640080" cy="3200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8899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kicker mark">
            <a:extLst xmlns:a="http://schemas.openxmlformats.org/drawingml/2006/main">
              <a:ext uri="{FF2B5EF4-FFF2-40B4-BE49-F238E27FC236}">
                <a16:creationId xmlns:a16="http://schemas.microsoft.com/office/drawing/2014/main" id="{AC9DAD3E-0907-44A4-BCB4-C21E8660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336"/>
            <a:ext cx="146304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EE9EF68-52AD-4741-927B-FED13C9B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10896"/>
            <a:ext cx="9601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FLUJO CONCEPTUAL DE SDD</a:t>
            </a:r>
          </a:p>
        </p:txBody>
      </p:sp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47AA1763-8247-486C-8B8C-0F0107999DDF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85800" y="658368"/>
            <a:ext cx="107899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Cada etapa reduce una clase de incertidumbre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6FF760FE-AB4D-4A6D-9AEC-82C7138A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4208"/>
            <a:ext cx="1574292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tep badge">
            <a:extLst xmlns:a="http://schemas.openxmlformats.org/drawingml/2006/main">
              <a:ext uri="{FF2B5EF4-FFF2-40B4-BE49-F238E27FC236}">
                <a16:creationId xmlns:a16="http://schemas.microsoft.com/office/drawing/2014/main" id="{70BF8973-4495-4482-A242-B2E4A3F4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922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95B6DB6-5FD8-4D67-919F-4E18EE52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922" y="18470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A2D558-8831-4E69-B5EA-6C44CFBC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22576"/>
            <a:ext cx="1391412" cy="9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Necesidad</a:t>
            </a:r>
          </a:p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¿Qué problema debemos resolver?</a:t>
            </a:r>
          </a:p>
        </p:txBody>
      </p:sp>
      <p:sp>
        <p:nvSpPr>
          <p:cNvPr id="9" name="flow connector">
            <a:extLst xmlns:a="http://schemas.openxmlformats.org/drawingml/2006/main">
              <a:ext uri="{FF2B5EF4-FFF2-40B4-BE49-F238E27FC236}">
                <a16:creationId xmlns:a16="http://schemas.microsoft.com/office/drawing/2014/main" id="{A7ECA0B9-B88B-49D8-9B18-9591C1A7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804" y="2235708"/>
            <a:ext cx="310896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card">
            <a:extLst xmlns:a="http://schemas.openxmlformats.org/drawingml/2006/main">
              <a:ext uri="{FF2B5EF4-FFF2-40B4-BE49-F238E27FC236}">
                <a16:creationId xmlns:a16="http://schemas.microsoft.com/office/drawing/2014/main" id="{457A94A0-AF80-44AE-AA96-AACC4874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412" y="1664208"/>
            <a:ext cx="1574292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8"/>
          </a:solidFill>
          <a:ln xmlns:a="http://schemas.openxmlformats.org/drawingml/2006/main" w="19050">
            <a:solidFill>
              <a:srgbClr val="ED1C29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tep badge">
            <a:extLst xmlns:a="http://schemas.openxmlformats.org/drawingml/2006/main">
              <a:ext uri="{FF2B5EF4-FFF2-40B4-BE49-F238E27FC236}">
                <a16:creationId xmlns:a16="http://schemas.microsoft.com/office/drawing/2014/main" id="{A0117F8E-9879-43D7-B890-88A136D5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534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CB23178-CD94-497D-8D20-A6D5246B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534" y="18470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454A0D3-2F2B-4595-B548-EC948D03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852" y="2322576"/>
            <a:ext cx="1391412" cy="9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Especificación</a:t>
            </a:r>
          </a:p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¿Qué comportamiento esperamos?</a:t>
            </a:r>
          </a:p>
        </p:txBody>
      </p:sp>
      <p:sp>
        <p:nvSpPr>
          <p:cNvPr id="14" name="flow connector">
            <a:extLst xmlns:a="http://schemas.openxmlformats.org/drawingml/2006/main">
              <a:ext uri="{FF2B5EF4-FFF2-40B4-BE49-F238E27FC236}">
                <a16:creationId xmlns:a16="http://schemas.microsoft.com/office/drawing/2014/main" id="{5F023CC2-EFC9-4C15-AEB4-505F0142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16" y="2235708"/>
            <a:ext cx="310896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tep">
            <a:extLst xmlns:a="http://schemas.openxmlformats.org/drawingml/2006/main">
              <a:ext uri="{FF2B5EF4-FFF2-40B4-BE49-F238E27FC236}">
                <a16:creationId xmlns:a16="http://schemas.microsoft.com/office/drawing/2014/main" id="{1AF97856-3AFF-4BE2-857A-B6F0424D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024" y="1664208"/>
            <a:ext cx="1574292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tep badge">
            <a:extLst xmlns:a="http://schemas.openxmlformats.org/drawingml/2006/main">
              <a:ext uri="{FF2B5EF4-FFF2-40B4-BE49-F238E27FC236}">
                <a16:creationId xmlns:a16="http://schemas.microsoft.com/office/drawing/2014/main" id="{7AD0C0F0-FE25-4EE7-B8F0-3D7D2FED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146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0FDEF82-6D36-4DA4-8A0E-6E4536E6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146" y="18470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CAE37BC-84BD-4E7C-B4B2-53B7C51F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464" y="2322576"/>
            <a:ext cx="1391412" cy="9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Diseño</a:t>
            </a:r>
          </a:p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¿Cómo lo resolveremos?</a:t>
            </a:r>
          </a:p>
        </p:txBody>
      </p:sp>
      <p:sp>
        <p:nvSpPr>
          <p:cNvPr id="19" name="flow connector">
            <a:extLst xmlns:a="http://schemas.openxmlformats.org/drawingml/2006/main">
              <a:ext uri="{FF2B5EF4-FFF2-40B4-BE49-F238E27FC236}">
                <a16:creationId xmlns:a16="http://schemas.microsoft.com/office/drawing/2014/main" id="{07E80574-A985-48CE-846E-4FD416A7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028" y="2235708"/>
            <a:ext cx="310896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tep">
            <a:extLst xmlns:a="http://schemas.openxmlformats.org/drawingml/2006/main">
              <a:ext uri="{FF2B5EF4-FFF2-40B4-BE49-F238E27FC236}">
                <a16:creationId xmlns:a16="http://schemas.microsoft.com/office/drawing/2014/main" id="{3F4C2B78-D89B-4951-9E2E-9F371349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1636" y="1664208"/>
            <a:ext cx="1574292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tep badge">
            <a:extLst xmlns:a="http://schemas.openxmlformats.org/drawingml/2006/main">
              <a:ext uri="{FF2B5EF4-FFF2-40B4-BE49-F238E27FC236}">
                <a16:creationId xmlns:a16="http://schemas.microsoft.com/office/drawing/2014/main" id="{D33D878F-83DB-441A-8C3B-F1DBF3C2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758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A22D211-4DE7-4189-BF4B-E4A08E8F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758" y="18470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D2404FD-3E29-4CC8-BB27-7FE516C8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076" y="2322576"/>
            <a:ext cx="1391412" cy="9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Tareas</a:t>
            </a:r>
          </a:p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¿Qué trabajo concreto se realizará?</a:t>
            </a:r>
          </a:p>
        </p:txBody>
      </p:sp>
      <p:sp>
        <p:nvSpPr>
          <p:cNvPr id="24" name="flow connector">
            <a:extLst xmlns:a="http://schemas.openxmlformats.org/drawingml/2006/main">
              <a:ext uri="{FF2B5EF4-FFF2-40B4-BE49-F238E27FC236}">
                <a16:creationId xmlns:a16="http://schemas.microsoft.com/office/drawing/2014/main" id="{E8587949-679E-46AB-A2BC-8EBFA866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235708"/>
            <a:ext cx="310896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card">
            <a:extLst xmlns:a="http://schemas.openxmlformats.org/drawingml/2006/main">
              <a:ext uri="{FF2B5EF4-FFF2-40B4-BE49-F238E27FC236}">
                <a16:creationId xmlns:a16="http://schemas.microsoft.com/office/drawing/2014/main" id="{14FB4A65-48D1-4AC0-971B-E9133952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248" y="1664208"/>
            <a:ext cx="1574292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tep badge">
            <a:extLst xmlns:a="http://schemas.openxmlformats.org/drawingml/2006/main">
              <a:ext uri="{FF2B5EF4-FFF2-40B4-BE49-F238E27FC236}">
                <a16:creationId xmlns:a16="http://schemas.microsoft.com/office/drawing/2014/main" id="{01610762-BBB7-45B6-8B91-7E5A4FC5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537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373F2DF-0895-4171-B642-7EC73387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5370" y="18470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5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B266421-F858-49F4-B979-783A63EB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688" y="2322576"/>
            <a:ext cx="1391412" cy="9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Implementación</a:t>
            </a:r>
          </a:p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El agente ejecuta con contexto persistente.</a:t>
            </a:r>
          </a:p>
        </p:txBody>
      </p:sp>
      <p:sp>
        <p:nvSpPr>
          <p:cNvPr id="29" name="flow connector">
            <a:extLst xmlns:a="http://schemas.openxmlformats.org/drawingml/2006/main">
              <a:ext uri="{FF2B5EF4-FFF2-40B4-BE49-F238E27FC236}">
                <a16:creationId xmlns:a16="http://schemas.microsoft.com/office/drawing/2014/main" id="{28956DA3-3CB8-47F7-B587-871F5CE6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252" y="2235708"/>
            <a:ext cx="310896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card">
            <a:extLst xmlns:a="http://schemas.openxmlformats.org/drawingml/2006/main">
              <a:ext uri="{FF2B5EF4-FFF2-40B4-BE49-F238E27FC236}">
                <a16:creationId xmlns:a16="http://schemas.microsoft.com/office/drawing/2014/main" id="{02A6B0D5-9A1D-44E8-A1FF-0DD3C610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8860" y="1664208"/>
            <a:ext cx="1574292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tep badge">
            <a:extLst xmlns:a="http://schemas.openxmlformats.org/drawingml/2006/main">
              <a:ext uri="{FF2B5EF4-FFF2-40B4-BE49-F238E27FC236}">
                <a16:creationId xmlns:a16="http://schemas.microsoft.com/office/drawing/2014/main" id="{0EE72DCE-1A58-47B3-A089-CCFB9ACE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3982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7685AC9-1610-44C4-AFC8-1875CF0F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3982" y="18470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6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C587E40D-5697-4B05-96B2-1760D999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322576"/>
            <a:ext cx="1391412" cy="9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Validación</a:t>
            </a:r>
          </a:p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El equipo comprueba el resultado.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B9CB64E0-10AA-429E-B375-271716FA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156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7A716B"/>
                </a:solidFill>
                <a:latin typeface="Trebuchet MS"/>
                <a:ea typeface="Trebuchet MS"/>
                <a:cs typeface="Trebuchet MS"/>
              </a:rPr>
              <a:t>PROPIEDADES DEL FLUJO</a:t>
            </a:r>
          </a:p>
        </p:txBody>
      </p:sp>
      <p:sp>
        <p:nvSpPr>
          <p:cNvPr id="35" name="card">
            <a:extLst xmlns:a="http://schemas.openxmlformats.org/drawingml/2006/main">
              <a:ext uri="{FF2B5EF4-FFF2-40B4-BE49-F238E27FC236}">
                <a16:creationId xmlns:a16="http://schemas.microsoft.com/office/drawing/2014/main" id="{D354F592-F461-48A6-AC2D-96A6FF4D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0752"/>
            <a:ext cx="3422904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F"/>
          </a:solidFill>
          <a:ln xmlns:a="http://schemas.openxmlformats.org/drawingml/2006/main" w="12700">
            <a:solidFill>
              <a:srgbClr val="E7E1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BC0BF082-201A-4A0B-B7F0-7F94164E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30752"/>
            <a:ext cx="305714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RETROALIMENTACIÓN</a:t>
            </a:r>
          </a:p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Los hallazgos pueden llevar de vuelta a requisitos, diseño o tareas.</a:t>
            </a:r>
          </a:p>
        </p:txBody>
      </p:sp>
      <p:sp>
        <p:nvSpPr>
          <p:cNvPr id="37" name="card">
            <a:extLst xmlns:a="http://schemas.openxmlformats.org/drawingml/2006/main">
              <a:ext uri="{FF2B5EF4-FFF2-40B4-BE49-F238E27FC236}">
                <a16:creationId xmlns:a16="http://schemas.microsoft.com/office/drawing/2014/main" id="{9B02785E-63F3-4D45-B712-F58D71F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024" y="3730752"/>
            <a:ext cx="3422904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F"/>
          </a:solidFill>
          <a:ln xmlns:a="http://schemas.openxmlformats.org/drawingml/2006/main" w="12700">
            <a:solidFill>
              <a:srgbClr val="E7E1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52969818-393C-4175-85FB-36FA13FA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904" y="3730752"/>
            <a:ext cx="305714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TRAZABILIDAD</a:t>
            </a:r>
          </a:p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Cada etapa conserva la relación con la intención original.</a:t>
            </a:r>
          </a:p>
        </p:txBody>
      </p:sp>
      <p:sp>
        <p:nvSpPr>
          <p:cNvPr id="39" name="card">
            <a:extLst xmlns:a="http://schemas.openxmlformats.org/drawingml/2006/main">
              <a:ext uri="{FF2B5EF4-FFF2-40B4-BE49-F238E27FC236}">
                <a16:creationId xmlns:a16="http://schemas.microsoft.com/office/drawing/2014/main" id="{A7EB59BE-8D65-4007-91FF-25A8D8DA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248" y="3730752"/>
            <a:ext cx="3422904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F"/>
          </a:solidFill>
          <a:ln xmlns:a="http://schemas.openxmlformats.org/drawingml/2006/main" w="12700">
            <a:solidFill>
              <a:srgbClr val="E7E1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0FA9BE8-0B80-4084-9341-C454DB65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3128" y="3730752"/>
            <a:ext cx="305714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CONTROL HUMANO</a:t>
            </a:r>
          </a:p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El equipo revisa, valida y aprueba; el agente ejecuta.</a:t>
            </a:r>
          </a:p>
        </p:txBody>
      </p:sp>
      <p:sp>
        <p:nvSpPr>
          <p:cNvPr id="41" name="note">
            <a:extLst xmlns:a="http://schemas.openxmlformats.org/drawingml/2006/main">
              <a:ext uri="{FF2B5EF4-FFF2-40B4-BE49-F238E27FC236}">
                <a16:creationId xmlns:a16="http://schemas.microsoft.com/office/drawing/2014/main" id="{6E251BB3-B792-42C2-977C-130D804E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4920"/>
            <a:ext cx="10817352" cy="10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2ED9C448-A07A-4C83-A960-C1143EBE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074920"/>
            <a:ext cx="10241280" cy="10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No es un proceso rígido</a:t>
            </a:r>
            <a:r>
              <a:rPr sz="1200" b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   </a:t>
            </a:r>
            <a:r>
              <a:rPr sz="120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Las etapas organizan el razonamiento, pero el equipo puede regresar a cualquier artefacto cuando aparece nueva información.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72064E91-4EAD-4B40-944D-B8AC8F1D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7376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Tuya   ·   Spec-Driven Development con OpenSpec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B39D01A2-FA60-4908-ABEF-D439926E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7376"/>
            <a:ext cx="53035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07</a:t>
            </a:r>
          </a:p>
        </p:txBody>
      </p:sp>
      <p:pic>
        <p:nvPicPr>
          <p:cNvPr id="89" name="Logo Tuy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a93f4afae4d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52200" y="321276"/>
            <a:ext cx="640080" cy="3200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045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kicker mark">
            <a:extLst xmlns:a="http://schemas.openxmlformats.org/drawingml/2006/main">
              <a:ext uri="{FF2B5EF4-FFF2-40B4-BE49-F238E27FC236}">
                <a16:creationId xmlns:a16="http://schemas.microsoft.com/office/drawing/2014/main" id="{5101E5F1-B13F-4A25-8B87-E42331C7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336"/>
            <a:ext cx="146304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C7192FC-417F-4FDB-9265-A68CDB48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10896"/>
            <a:ext cx="9601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QUÉ ES OPENSPEC</a:t>
            </a:r>
          </a:p>
        </p:txBody>
      </p:sp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FA956225-C383-4A29-9727-38323B8DD836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85800" y="658368"/>
            <a:ext cx="107899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OpenSpec lleva SDD al repositorio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2C753CAE-05C1-4215-B731-A993614B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8720"/>
            <a:ext cx="10789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B615C"/>
                </a:solidFill>
                <a:latin typeface="Calibri"/>
                <a:ea typeface="Calibri"/>
                <a:cs typeface="Calibri"/>
              </a:rPr>
              <a:t>Un framework abierto y ligero para trabajar con agentes de codificación</a:t>
            </a:r>
          </a:p>
        </p:txBody>
      </p:sp>
      <p:sp>
        <p:nvSpPr>
          <p:cNvPr id="10" name="card inversion">
            <a:extLst xmlns:a="http://schemas.openxmlformats.org/drawingml/2006/main">
              <a:ext uri="{FF2B5EF4-FFF2-40B4-BE49-F238E27FC236}">
                <a16:creationId xmlns:a16="http://schemas.microsoft.com/office/drawing/2014/main" id="{CDA47E9C-5514-4B25-A93F-4CA6D0EA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000"/>
            <a:ext cx="5240000" cy="11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inversion">
            <a:extLst xmlns:a="http://schemas.openxmlformats.org/drawingml/2006/main">
              <a:ext uri="{FF2B5EF4-FFF2-40B4-BE49-F238E27FC236}">
                <a16:creationId xmlns:a16="http://schemas.microsoft.com/office/drawing/2014/main" id="{65FB7C42-FE71-4111-9E0B-F7EEF5CB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00" y="1720000"/>
            <a:ext cx="476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PROPÓSITO</a:t>
            </a:r>
          </a:p>
          <a:p xmlns:a="http://schemas.openxmlformats.org/drawingml/2006/main">
            <a:pPr marL="0" indent="0" algn="l">
              <a:spcBef>
                <a:spcPts val="700"/>
              </a:spcBef>
              <a:buNone/>
            </a:pPr>
            <a:r>
              <a:rPr sz="1050">
                <a:solidFill>
                  <a:srgbClr val="6B615C"/>
                </a:solidFill>
                <a:latin typeface="Calibri"/>
                <a:ea typeface="Calibri"/>
                <a:cs typeface="Calibri"/>
              </a:rPr>
              <a:t>Organizar cada cambio antes de implementar.</a:t>
            </a:r>
          </a:p>
          <a:p xmlns:a="http://schemas.openxmlformats.org/drawingml/2006/main">
            <a:pPr marL="0" indent="0" algn="l">
              <a:spcBef>
                <a:spcPts val="300"/>
              </a:spcBef>
              <a:buNone/>
            </a:pPr>
            <a:r>
              <a:rPr sz="1050">
                <a:solidFill>
                  <a:srgbClr val="6B615C"/>
                </a:solidFill>
                <a:latin typeface="Calibri"/>
                <a:ea typeface="Calibri"/>
                <a:cs typeface="Calibri"/>
              </a:rPr>
              <a:t>Mantener la intención junto al código.</a:t>
            </a:r>
          </a:p>
          <a:p xmlns:a="http://schemas.openxmlformats.org/drawingml/2006/main">
            <a:pPr marL="0" indent="0" algn="l">
              <a:spcBef>
                <a:spcPts val="300"/>
              </a:spcBef>
              <a:buNone/>
            </a:pPr>
            <a:r>
              <a:rPr sz="1050">
                <a:solidFill>
                  <a:srgbClr val="6B615C"/>
                </a:solidFill>
                <a:latin typeface="Calibri"/>
                <a:ea typeface="Calibri"/>
                <a:cs typeface="Calibri"/>
              </a:rPr>
              <a:t>Trabajar con agentes de codificación.</a:t>
            </a:r>
          </a:p>
        </p:txBody>
      </p:sp>
      <p:sp>
        <p:nvSpPr>
          <p:cNvPr id="12" name="card valor">
            <a:extLst xmlns:a="http://schemas.openxmlformats.org/drawingml/2006/main">
              <a:ext uri="{FF2B5EF4-FFF2-40B4-BE49-F238E27FC236}">
                <a16:creationId xmlns:a16="http://schemas.microsoft.com/office/drawing/2014/main" id="{5B4F4852-E305-41BB-9826-7B3CA91E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0000"/>
            <a:ext cx="5240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valor">
            <a:extLst xmlns:a="http://schemas.openxmlformats.org/drawingml/2006/main">
              <a:ext uri="{FF2B5EF4-FFF2-40B4-BE49-F238E27FC236}">
                <a16:creationId xmlns:a16="http://schemas.microsoft.com/office/drawing/2014/main" id="{DE0E8350-73DE-47C9-8CDB-7BEA54E7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00" y="2940000"/>
            <a:ext cx="4760000" cy="9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FUENTE DE VERDAD</a:t>
            </a:r>
          </a:p>
          <a:p xmlns:a="http://schemas.openxmlformats.org/drawingml/2006/main">
            <a:pPr marL="0" indent="0" algn="l">
              <a:spcBef>
                <a:spcPts val="600"/>
              </a:spcBef>
              <a:buNone/>
            </a:pPr>
            <a:r>
              <a:rPr sz="17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openspec/specs/</a:t>
            </a:r>
          </a:p>
          <a:p xmlns:a="http://schemas.openxmlformats.org/drawingml/2006/main">
            <a:pPr marL="0" indent="0" algn="l">
              <a:spcBef>
                <a:spcPts val="400"/>
              </a:spcBef>
              <a:buNone/>
            </a:pPr>
            <a:r>
              <a:rPr sz="900">
                <a:solidFill>
                  <a:srgbClr val="6B615C"/>
                </a:solidFill>
                <a:latin typeface="Calibri"/>
                <a:ea typeface="Calibri"/>
                <a:cs typeface="Calibri"/>
              </a:rPr>
              <a:t>Describe el comportamiento vigente del sistema, organizado por capacidad.</a:t>
            </a:r>
          </a:p>
        </p:txBody>
      </p:sp>
      <p:sp>
        <p:nvSpPr>
          <p:cNvPr id="14" name="card exec">
            <a:extLst xmlns:a="http://schemas.openxmlformats.org/drawingml/2006/main">
              <a:ext uri="{FF2B5EF4-FFF2-40B4-BE49-F238E27FC236}">
                <a16:creationId xmlns:a16="http://schemas.microsoft.com/office/drawing/2014/main" id="{7571C8A6-330C-49BC-98B8-0BA10306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0000"/>
            <a:ext cx="5240000" cy="12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8"/>
          </a:solidFill>
          <a:ln xmlns:a="http://schemas.openxmlformats.org/drawingml/2006/main" w="12700">
            <a:solidFill>
              <a:srgbClr val="F3C9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exec">
            <a:extLst xmlns:a="http://schemas.openxmlformats.org/drawingml/2006/main">
              <a:ext uri="{FF2B5EF4-FFF2-40B4-BE49-F238E27FC236}">
                <a16:creationId xmlns:a16="http://schemas.microsoft.com/office/drawing/2014/main" id="{DD7F8442-3CEF-47C1-87C9-DA7E3947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00" y="4220000"/>
            <a:ext cx="4760000" cy="101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BE121C"/>
                </a:solidFill>
                <a:latin typeface="Trebuchet MS"/>
                <a:ea typeface="Trebuchet MS"/>
                <a:cs typeface="Trebuchet MS"/>
              </a:rPr>
              <a:t>CAMBIO AISLADO</a:t>
            </a:r>
          </a:p>
          <a:p xmlns:a="http://schemas.openxmlformats.org/drawingml/2006/main">
            <a:pPr marL="0" indent="0" algn="l">
              <a:spcBef>
                <a:spcPts val="500"/>
              </a:spcBef>
              <a:buNone/>
            </a:pPr>
            <a:r>
              <a:rPr sz="900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Cada propuesta vive en openspec/changes/&lt;nombre&gt;/ con sus deltas, decisiones y tareas.</a:t>
            </a:r>
          </a:p>
        </p:txBody>
      </p:sp>
      <p:sp>
        <p:nvSpPr>
          <p:cNvPr id="16" name="Text ai credits">
            <a:extLst xmlns:a="http://schemas.openxmlformats.org/drawingml/2006/main">
              <a:ext uri="{FF2B5EF4-FFF2-40B4-BE49-F238E27FC236}">
                <a16:creationId xmlns:a16="http://schemas.microsoft.com/office/drawing/2014/main" id="{C905A6B1-A4D9-4574-9841-84FF77E9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0000"/>
            <a:ext cx="5240000" cy="8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9C938D"/>
                </a:solidFill>
                <a:latin typeface="Calibri"/>
                <a:ea typeface="Calibri"/>
                <a:cs typeface="Calibri"/>
              </a:rPr>
              <a:t>INTEGRACIÓN</a:t>
            </a:r>
          </a:p>
          <a:p xmlns:a="http://schemas.openxmlformats.org/drawingml/2006/main">
            <a:pPr marL="0" indent="0" algn="l">
              <a:spcBef>
                <a:spcPts val="300"/>
              </a:spcBef>
              <a:buNone/>
            </a:pPr>
            <a:r>
              <a:rPr sz="800">
                <a:solidFill>
                  <a:srgbClr val="6B615C"/>
                </a:solidFill>
                <a:latin typeface="Calibri"/>
                <a:ea typeface="Calibri"/>
                <a:cs typeface="Calibri"/>
              </a:rPr>
              <a:t>OpenSpec entrega contexto estructurado a asistentes de IA; el equipo mantiene la revisión y la aprobación.</a:t>
            </a:r>
          </a:p>
        </p:txBody>
      </p:sp>
      <p:sp>
        <p:nvSpPr>
          <p:cNvPr id="20" name="hero card">
            <a:extLst xmlns:a="http://schemas.openxmlformats.org/drawingml/2006/main">
              <a:ext uri="{FF2B5EF4-FFF2-40B4-BE49-F238E27FC236}">
                <a16:creationId xmlns:a16="http://schemas.microsoft.com/office/drawing/2014/main" id="{CC74213C-1FB3-4E38-9544-D8DC2E73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120" y="1600000"/>
            <a:ext cx="5303032" cy="17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  <a:effectLst xmlns:a="http://schemas.openxmlformats.org/drawingml/2006/main">
            <a:outerShdw blurRad="114300" dist="38100" dir="5400000" algn="bl" rotWithShape="0">
              <a:srgbClr val="6B615C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hero">
            <a:extLst xmlns:a="http://schemas.openxmlformats.org/drawingml/2006/main">
              <a:ext uri="{FF2B5EF4-FFF2-40B4-BE49-F238E27FC236}">
                <a16:creationId xmlns:a16="http://schemas.microsoft.com/office/drawing/2014/main" id="{EE9D2757-A9DD-4CA3-8679-EEB551C8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120" y="1720000"/>
            <a:ext cx="4823032" cy="1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IDEA CENTRAL</a:t>
            </a:r>
          </a:p>
          <a:p xmlns:a="http://schemas.openxmlformats.org/drawingml/2006/main">
            <a:pPr marL="0" indent="0" algn="l">
              <a:spcBef>
                <a:spcPts val="500"/>
              </a:spcBef>
              <a:buNone/>
            </a:pPr>
            <a:r>
              <a:rPr sz="24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El agente trabaja sobre acuerdos explícitos</a:t>
            </a:r>
          </a:p>
          <a:p xmlns:a="http://schemas.openxmlformats.org/drawingml/2006/main">
            <a:pPr marL="0" indent="0" algn="l">
              <a:spcBef>
                <a:spcPts val="500"/>
              </a:spcBef>
              <a:buNone/>
            </a:pPr>
            <a:r>
              <a:rPr sz="1000">
                <a:solidFill>
                  <a:srgbClr val="FBE0E2"/>
                </a:solidFill>
                <a:latin typeface="Calibri"/>
                <a:ea typeface="Calibri"/>
                <a:cs typeface="Calibri"/>
              </a:rPr>
              <a:t>El equipo puede leer, corregir y versionar la intención antes de aceptar el código.</a:t>
            </a:r>
          </a:p>
          <a:p xmlns:a="http://schemas.openxmlformats.org/drawingml/2006/main">
            <a:pPr marL="0" indent="0" algn="l">
              <a:spcBef>
                <a:spcPts val="400"/>
              </a:spcBef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Los artefactos evitan reconstruir el contexto en cada sesión.</a:t>
            </a:r>
          </a:p>
          <a:p xmlns:a="http://schemas.openxmlformats.org/drawingml/2006/main">
            <a:pPr marL="0" indent="0" algn="l">
              <a:spcBef>
                <a:spcPts val="400"/>
              </a:spcBef>
              <a:buNone/>
            </a:pPr>
            <a:r>
              <a:rPr sz="800" i="1">
                <a:solidFill>
                  <a:srgbClr val="FBE0E2"/>
                </a:solidFill>
                <a:latin typeface="Calibri"/>
                <a:ea typeface="Calibri"/>
                <a:cs typeface="Calibri"/>
              </a:rPr>
              <a:t>OpenSpec aporta estructura sin convertir cada cambio en un proceso rígido.</a:t>
            </a:r>
          </a:p>
        </p:txBody>
      </p:sp>
      <p:sp>
        <p:nvSpPr>
          <p:cNvPr id="22" name="sens card">
            <a:extLst xmlns:a="http://schemas.openxmlformats.org/drawingml/2006/main">
              <a:ext uri="{FF2B5EF4-FFF2-40B4-BE49-F238E27FC236}">
                <a16:creationId xmlns:a16="http://schemas.microsoft.com/office/drawing/2014/main" id="{54E73509-B3E1-4322-922E-26D57C90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120" y="3420000"/>
            <a:ext cx="5303032" cy="15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sens">
            <a:extLst xmlns:a="http://schemas.openxmlformats.org/drawingml/2006/main">
              <a:ext uri="{FF2B5EF4-FFF2-40B4-BE49-F238E27FC236}">
                <a16:creationId xmlns:a16="http://schemas.microsoft.com/office/drawing/2014/main" id="{E8AA1341-9AEE-430C-AA76-6A9448BD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120" y="3540000"/>
            <a:ext cx="4823032" cy="13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CUÁNDO APORTA MÁS</a:t>
            </a:r>
          </a:p>
          <a:p xmlns:a="http://schemas.openxmlformats.org/drawingml/2006/main">
            <a:pPr marL="0" indent="0" algn="l">
              <a:spcBef>
                <a:spcPts val="500"/>
              </a:spcBef>
              <a:buNone/>
            </a:pPr>
            <a:r>
              <a:rPr sz="1050" b="1">
                <a:solidFill>
                  <a:srgbClr val="9C938D"/>
                </a:solidFill>
                <a:latin typeface="Trebuchet MS"/>
                <a:ea typeface="Trebuchet MS"/>
                <a:cs typeface="Trebuchet MS"/>
              </a:rPr>
              <a:t>Nueva funcionalidad  ·  comportamiento por acordar</a:t>
            </a:r>
          </a:p>
          <a:p xmlns:a="http://schemas.openxmlformats.org/drawingml/2006/main">
            <a:pPr marL="0" indent="0" algn="l">
              <a:spcBef>
                <a:spcPts val="300"/>
              </a:spcBef>
              <a:buNone/>
            </a:pPr>
            <a:r>
              <a:rPr sz="105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Refactor significativo  ·  decisiones que revisar</a:t>
            </a:r>
          </a:p>
          <a:p xmlns:a="http://schemas.openxmlformats.org/drawingml/2006/main">
            <a:pPr marL="0" indent="0" algn="l">
              <a:spcBef>
                <a:spcPts val="300"/>
              </a:spcBef>
              <a:buNone/>
            </a:pPr>
            <a:r>
              <a:rPr sz="105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Cambio arquitectónico  ·  impactos que documentar</a:t>
            </a:r>
          </a:p>
          <a:p xmlns:a="http://schemas.openxmlformats.org/drawingml/2006/main">
            <a:pPr marL="0" indent="0" algn="l">
              <a:spcBef>
                <a:spcPts val="300"/>
              </a:spcBef>
              <a:buNone/>
            </a:pPr>
            <a:r>
              <a:rPr sz="105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Evolución de comportamiento  ·  deltas que conservar</a:t>
            </a:r>
          </a:p>
          <a:p xmlns:a="http://schemas.openxmlformats.org/drawingml/2006/main">
            <a:pPr marL="0" indent="0" algn="l">
              <a:spcBef>
                <a:spcPts val="400"/>
              </a:spcBef>
              <a:buNone/>
            </a:pPr>
            <a:r>
              <a:rPr sz="800" i="1">
                <a:solidFill>
                  <a:srgbClr val="9C938D"/>
                </a:solidFill>
                <a:latin typeface="Calibri"/>
                <a:ea typeface="Calibri"/>
                <a:cs typeface="Calibri"/>
              </a:rPr>
              <a:t>También ayuda en cambios pequeños cuando el costo de la ambigüedad supera el de escribir una especificación breve.</a:t>
            </a:r>
          </a:p>
        </p:txBody>
      </p:sp>
      <p:sp>
        <p:nvSpPr>
          <p:cNvPr id="24" name="Text metodologica">
            <a:extLst xmlns:a="http://schemas.openxmlformats.org/drawingml/2006/main">
              <a:ext uri="{FF2B5EF4-FFF2-40B4-BE49-F238E27FC236}">
                <a16:creationId xmlns:a16="http://schemas.microsoft.com/office/drawing/2014/main" id="{46914030-0979-464F-BDE1-2FD9CE83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120" y="5060000"/>
            <a:ext cx="5303032" cy="12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9C938D"/>
                </a:solidFill>
                <a:latin typeface="Calibri"/>
                <a:ea typeface="Calibri"/>
                <a:cs typeface="Calibri"/>
              </a:rPr>
              <a:t>RESPONSABILIDAD</a:t>
            </a:r>
          </a:p>
          <a:p xmlns:a="http://schemas.openxmlformats.org/drawingml/2006/main">
            <a:pPr marL="0" indent="0" algn="l">
              <a:spcBef>
                <a:spcPts val="300"/>
              </a:spcBef>
              <a:buNone/>
            </a:pPr>
            <a:r>
              <a:rPr sz="800">
                <a:solidFill>
                  <a:srgbClr val="6B615C"/>
                </a:solidFill>
                <a:latin typeface="Calibri"/>
                <a:ea typeface="Calibri"/>
                <a:cs typeface="Calibri"/>
              </a:rPr>
              <a:t>OpenSpec no sustituye el criterio del desarrollador: estructura el contexto que el agente utiliza y conserva las decisiones que el equipo debe revisar.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53EB3EFF-2E7A-4A60-9D48-71CD907F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7376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Tuya   ·   Spec-Driven Development con OpenSpec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7C585F85-B72D-4264-9EC8-0F97EA31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7376"/>
            <a:ext cx="53035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08</a:t>
            </a:r>
          </a:p>
        </p:txBody>
      </p:sp>
      <p:pic>
        <p:nvPicPr>
          <p:cNvPr id="61" name="Logo Tuy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7866e1d3d45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52200" y="321276"/>
            <a:ext cx="640080" cy="3200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8923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kicker mark">
            <a:extLst xmlns:a="http://schemas.openxmlformats.org/drawingml/2006/main">
              <a:ext uri="{FF2B5EF4-FFF2-40B4-BE49-F238E27FC236}">
                <a16:creationId xmlns:a16="http://schemas.microsoft.com/office/drawing/2014/main" id="{D762AC92-282D-4264-AB91-4C319F82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336"/>
            <a:ext cx="146304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08578FA-A20C-444C-AB45-BB3BE033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10896"/>
            <a:ext cx="9601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MODELO DE INFORMACIÓN</a:t>
            </a:r>
          </a:p>
        </p:txBody>
      </p:sp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2E104DD1-9734-45FB-A610-D521EECCD8D6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85800" y="658368"/>
            <a:ext cx="107899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La verdad actual y el cambio propuesto están separados</a:t>
            </a:r>
          </a:p>
        </p:txBody>
      </p:sp>
      <p:sp>
        <p:nvSpPr>
          <p:cNvPr id="5" name="stage">
            <a:extLst xmlns:a="http://schemas.openxmlformats.org/drawingml/2006/main">
              <a:ext uri="{FF2B5EF4-FFF2-40B4-BE49-F238E27FC236}">
                <a16:creationId xmlns:a16="http://schemas.microsoft.com/office/drawing/2014/main" id="{501248F1-76EB-4DEF-A03E-9F8E298F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0641"/>
            <a:ext cx="4617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  <a:ln xmlns:a="http://schemas.openxmlformats.org/drawingml/2006/main" w="12700">
            <a:solidFill>
              <a:srgbClr val="ED1C29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2ACCC75-F70F-4665-AD93-8049FBC1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310641"/>
            <a:ext cx="4215384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openspec/specs/</a:t>
            </a:r>
          </a:p>
        </p:txBody>
      </p:sp>
      <p:sp>
        <p:nvSpPr>
          <p:cNvPr id="7" name="flow connector">
            <a:extLst xmlns:a="http://schemas.openxmlformats.org/drawingml/2006/main">
              <a:ext uri="{FF2B5EF4-FFF2-40B4-BE49-F238E27FC236}">
                <a16:creationId xmlns:a16="http://schemas.microsoft.com/office/drawing/2014/main" id="{6CD53233-D565-473A-A872-0E29DF9A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66644" y="2005864"/>
            <a:ext cx="256032" cy="237744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tage">
            <a:extLst xmlns:a="http://schemas.openxmlformats.org/drawingml/2006/main">
              <a:ext uri="{FF2B5EF4-FFF2-40B4-BE49-F238E27FC236}">
                <a16:creationId xmlns:a16="http://schemas.microsoft.com/office/drawing/2014/main" id="{3753E844-BAA4-4B0C-92C4-02F54EFA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3507"/>
            <a:ext cx="4617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F"/>
          </a:solidFill>
          <a:ln xmlns:a="http://schemas.openxmlformats.org/drawingml/2006/main" w="12700">
            <a:solidFill>
              <a:srgbClr val="E4DAD6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8DD9B03-8FDF-4A7D-8335-EF0626D1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283507"/>
            <a:ext cx="4215384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Comportamiento vigente</a:t>
            </a:r>
          </a:p>
        </p:txBody>
      </p:sp>
      <p:sp>
        <p:nvSpPr>
          <p:cNvPr id="10" name="flow connector">
            <a:extLst xmlns:a="http://schemas.openxmlformats.org/drawingml/2006/main">
              <a:ext uri="{FF2B5EF4-FFF2-40B4-BE49-F238E27FC236}">
                <a16:creationId xmlns:a16="http://schemas.microsoft.com/office/drawing/2014/main" id="{ED25805B-698A-4DCE-9F6E-6B8D40E6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66644" y="2951018"/>
            <a:ext cx="256032" cy="237744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tage">
            <a:extLst xmlns:a="http://schemas.openxmlformats.org/drawingml/2006/main">
              <a:ext uri="{FF2B5EF4-FFF2-40B4-BE49-F238E27FC236}">
                <a16:creationId xmlns:a16="http://schemas.microsoft.com/office/drawing/2014/main" id="{C3C487B1-8DFD-478A-869D-0F4C90F3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5591"/>
            <a:ext cx="4617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4BB6EDE-9850-4771-9373-CBCF04AE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235591"/>
            <a:ext cx="4215384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openspec/changes/&lt;cambio&gt;/</a:t>
            </a:r>
          </a:p>
        </p:txBody>
      </p:sp>
      <p:sp>
        <p:nvSpPr>
          <p:cNvPr id="13" name="flow connector">
            <a:extLst xmlns:a="http://schemas.openxmlformats.org/drawingml/2006/main">
              <a:ext uri="{FF2B5EF4-FFF2-40B4-BE49-F238E27FC236}">
                <a16:creationId xmlns:a16="http://schemas.microsoft.com/office/drawing/2014/main" id="{9558C7ED-6DEC-4AE5-BDF0-AEC6A3C2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66644" y="3910031"/>
            <a:ext cx="256032" cy="237744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tage">
            <a:extLst xmlns:a="http://schemas.openxmlformats.org/drawingml/2006/main">
              <a:ext uri="{FF2B5EF4-FFF2-40B4-BE49-F238E27FC236}">
                <a16:creationId xmlns:a16="http://schemas.microsoft.com/office/drawing/2014/main" id="{0BE8468C-806F-45BB-8406-9B3D62A6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7676"/>
            <a:ext cx="4617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D9777C3-0CFA-407A-B891-3368F09F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187676"/>
            <a:ext cx="4215384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Deltas y decisiones</a:t>
            </a:r>
          </a:p>
        </p:txBody>
      </p:sp>
      <p:sp>
        <p:nvSpPr>
          <p:cNvPr id="16" name="flow connector">
            <a:extLst xmlns:a="http://schemas.openxmlformats.org/drawingml/2006/main">
              <a:ext uri="{FF2B5EF4-FFF2-40B4-BE49-F238E27FC236}">
                <a16:creationId xmlns:a16="http://schemas.microsoft.com/office/drawing/2014/main" id="{5E245B99-5BB2-4902-A974-EA3839FF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66644" y="4869042"/>
            <a:ext cx="256032" cy="237744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tage">
            <a:extLst xmlns:a="http://schemas.openxmlformats.org/drawingml/2006/main">
              <a:ext uri="{FF2B5EF4-FFF2-40B4-BE49-F238E27FC236}">
                <a16:creationId xmlns:a16="http://schemas.microsoft.com/office/drawing/2014/main" id="{D08A9522-EA59-4EF6-9118-FF0A5DB7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831"/>
            <a:ext cx="4617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CFFF937-987E-4F03-8157-FBCE41C5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132831"/>
            <a:ext cx="4215384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Archivo del cambio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B436E56-1896-47F6-B10D-46A5C908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1664208"/>
            <a:ext cx="56967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7A716B"/>
                </a:solidFill>
                <a:latin typeface="Trebuchet MS"/>
                <a:ea typeface="Trebuchet MS"/>
                <a:cs typeface="Trebuchet MS"/>
              </a:rPr>
              <a:t>DENTRO DE UN CAMBIO</a:t>
            </a:r>
          </a:p>
        </p:txBody>
      </p:sp>
      <p:sp>
        <p:nvSpPr>
          <p:cNvPr id="20" name="card">
            <a:extLst xmlns:a="http://schemas.openxmlformats.org/drawingml/2006/main">
              <a:ext uri="{FF2B5EF4-FFF2-40B4-BE49-F238E27FC236}">
                <a16:creationId xmlns:a16="http://schemas.microsoft.com/office/drawing/2014/main" id="{B263CC70-B7BF-4405-A126-AF905CCD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011680"/>
            <a:ext cx="1776984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accent">
            <a:extLst xmlns:a="http://schemas.openxmlformats.org/drawingml/2006/main">
              <a:ext uri="{FF2B5EF4-FFF2-40B4-BE49-F238E27FC236}">
                <a16:creationId xmlns:a16="http://schemas.microsoft.com/office/drawing/2014/main" id="{D9861B31-5E22-4E60-A80E-BC9AD57A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011680"/>
            <a:ext cx="73152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3EA4596-09CC-4F00-A754-2EF0538F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011680"/>
            <a:ext cx="150266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proposal.md</a:t>
            </a:r>
          </a:p>
        </p:txBody>
      </p:sp>
      <p:sp>
        <p:nvSpPr>
          <p:cNvPr id="23" name="card">
            <a:extLst xmlns:a="http://schemas.openxmlformats.org/drawingml/2006/main">
              <a:ext uri="{FF2B5EF4-FFF2-40B4-BE49-F238E27FC236}">
                <a16:creationId xmlns:a16="http://schemas.microsoft.com/office/drawing/2014/main" id="{D874515D-020B-4707-A673-BDC7A69E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304" y="2011680"/>
            <a:ext cx="1776984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accent">
            <a:extLst xmlns:a="http://schemas.openxmlformats.org/drawingml/2006/main">
              <a:ext uri="{FF2B5EF4-FFF2-40B4-BE49-F238E27FC236}">
                <a16:creationId xmlns:a16="http://schemas.microsoft.com/office/drawing/2014/main" id="{42F6D635-80BE-40F7-B24F-0A23BF32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304" y="2011680"/>
            <a:ext cx="73152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8D81A21-46E6-40BE-AF01-1DE56BFD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9184" y="2011680"/>
            <a:ext cx="150266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specs/ con deltas</a:t>
            </a:r>
          </a:p>
        </p:txBody>
      </p:sp>
      <p:sp>
        <p:nvSpPr>
          <p:cNvPr id="26" name="card">
            <a:extLst xmlns:a="http://schemas.openxmlformats.org/drawingml/2006/main">
              <a:ext uri="{FF2B5EF4-FFF2-40B4-BE49-F238E27FC236}">
                <a16:creationId xmlns:a16="http://schemas.microsoft.com/office/drawing/2014/main" id="{9164DEF9-E226-4B6B-B94F-3BEE810E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6168" y="2011680"/>
            <a:ext cx="1776984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accent">
            <a:extLst xmlns:a="http://schemas.openxmlformats.org/drawingml/2006/main">
              <a:ext uri="{FF2B5EF4-FFF2-40B4-BE49-F238E27FC236}">
                <a16:creationId xmlns:a16="http://schemas.microsoft.com/office/drawing/2014/main" id="{AFB86D88-89F9-443A-8F87-93E75BDF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6168" y="2011680"/>
            <a:ext cx="73152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9F1024D-8358-4730-A0F9-A3EA1572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9048" y="2011680"/>
            <a:ext cx="150266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design.md</a:t>
            </a:r>
          </a:p>
        </p:txBody>
      </p:sp>
      <p:sp>
        <p:nvSpPr>
          <p:cNvPr id="29" name="card">
            <a:extLst xmlns:a="http://schemas.openxmlformats.org/drawingml/2006/main">
              <a:ext uri="{FF2B5EF4-FFF2-40B4-BE49-F238E27FC236}">
                <a16:creationId xmlns:a16="http://schemas.microsoft.com/office/drawing/2014/main" id="{3380C96D-2668-4228-8200-6092E1F3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779776"/>
            <a:ext cx="1776984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accent">
            <a:extLst xmlns:a="http://schemas.openxmlformats.org/drawingml/2006/main">
              <a:ext uri="{FF2B5EF4-FFF2-40B4-BE49-F238E27FC236}">
                <a16:creationId xmlns:a16="http://schemas.microsoft.com/office/drawing/2014/main" id="{FB013118-5C9F-4C60-AE86-1C536220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779776"/>
            <a:ext cx="73152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843E728-7FAA-4DB3-A079-70A7C259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779776"/>
            <a:ext cx="150266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tasks.md</a:t>
            </a:r>
          </a:p>
        </p:txBody>
      </p:sp>
      <p:sp>
        <p:nvSpPr>
          <p:cNvPr id="32" name="card">
            <a:extLst xmlns:a="http://schemas.openxmlformats.org/drawingml/2006/main">
              <a:ext uri="{FF2B5EF4-FFF2-40B4-BE49-F238E27FC236}">
                <a16:creationId xmlns:a16="http://schemas.microsoft.com/office/drawing/2014/main" id="{7AAA4F7D-F6F5-4CBF-B3AD-C3554750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304" y="2779776"/>
            <a:ext cx="1776984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accent">
            <a:extLst xmlns:a="http://schemas.openxmlformats.org/drawingml/2006/main">
              <a:ext uri="{FF2B5EF4-FFF2-40B4-BE49-F238E27FC236}">
                <a16:creationId xmlns:a16="http://schemas.microsoft.com/office/drawing/2014/main" id="{39744E82-1DD1-48EF-AA58-457B2D54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304" y="2779776"/>
            <a:ext cx="73152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B9F4AE6-79EB-46A1-9778-E3E46A63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9184" y="2779776"/>
            <a:ext cx="150266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ADDED</a:t>
            </a:r>
          </a:p>
        </p:txBody>
      </p:sp>
      <p:sp>
        <p:nvSpPr>
          <p:cNvPr id="35" name="card">
            <a:extLst xmlns:a="http://schemas.openxmlformats.org/drawingml/2006/main">
              <a:ext uri="{FF2B5EF4-FFF2-40B4-BE49-F238E27FC236}">
                <a16:creationId xmlns:a16="http://schemas.microsoft.com/office/drawing/2014/main" id="{926E5428-2DE9-4109-B511-10748B59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6168" y="2779776"/>
            <a:ext cx="1776984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accent">
            <a:extLst xmlns:a="http://schemas.openxmlformats.org/drawingml/2006/main">
              <a:ext uri="{FF2B5EF4-FFF2-40B4-BE49-F238E27FC236}">
                <a16:creationId xmlns:a16="http://schemas.microsoft.com/office/drawing/2014/main" id="{1DC1B99C-CEAB-4FDF-AB36-A717FB02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6168" y="2779776"/>
            <a:ext cx="73152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D4BCB17-5D20-42D0-A066-D1EEA904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9048" y="2779776"/>
            <a:ext cx="150266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MODIFIED</a:t>
            </a:r>
          </a:p>
        </p:txBody>
      </p:sp>
      <p:sp>
        <p:nvSpPr>
          <p:cNvPr id="38" name="card">
            <a:extLst xmlns:a="http://schemas.openxmlformats.org/drawingml/2006/main">
              <a:ext uri="{FF2B5EF4-FFF2-40B4-BE49-F238E27FC236}">
                <a16:creationId xmlns:a16="http://schemas.microsoft.com/office/drawing/2014/main" id="{36963AD2-A158-4903-957C-7CA71A9E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547872"/>
            <a:ext cx="1776984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accent">
            <a:extLst xmlns:a="http://schemas.openxmlformats.org/drawingml/2006/main">
              <a:ext uri="{FF2B5EF4-FFF2-40B4-BE49-F238E27FC236}">
                <a16:creationId xmlns:a16="http://schemas.microsoft.com/office/drawing/2014/main" id="{77C6D792-4E6D-49D8-904B-4985267A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547872"/>
            <a:ext cx="73152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55847A31-0B6C-40F0-BF4B-CB8C57A9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7872"/>
            <a:ext cx="150266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REMOVED</a:t>
            </a:r>
          </a:p>
        </p:txBody>
      </p:sp>
      <p:sp>
        <p:nvSpPr>
          <p:cNvPr id="41" name="card">
            <a:extLst xmlns:a="http://schemas.openxmlformats.org/drawingml/2006/main">
              <a:ext uri="{FF2B5EF4-FFF2-40B4-BE49-F238E27FC236}">
                <a16:creationId xmlns:a16="http://schemas.microsoft.com/office/drawing/2014/main" id="{A5E54B0B-B4B1-42DF-A443-D6D164E1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304" y="3547872"/>
            <a:ext cx="1776984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accent">
            <a:extLst xmlns:a="http://schemas.openxmlformats.org/drawingml/2006/main">
              <a:ext uri="{FF2B5EF4-FFF2-40B4-BE49-F238E27FC236}">
                <a16:creationId xmlns:a16="http://schemas.microsoft.com/office/drawing/2014/main" id="{7FAA6361-7C1A-4D4B-8DAA-55ACEA1B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304" y="3547872"/>
            <a:ext cx="73152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4051A4E-991A-4D8F-A809-3A855461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9184" y="3547872"/>
            <a:ext cx="150266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Revisión humana</a:t>
            </a:r>
          </a:p>
        </p:txBody>
      </p:sp>
      <p:sp>
        <p:nvSpPr>
          <p:cNvPr id="44" name="card">
            <a:extLst xmlns:a="http://schemas.openxmlformats.org/drawingml/2006/main">
              <a:ext uri="{FF2B5EF4-FFF2-40B4-BE49-F238E27FC236}">
                <a16:creationId xmlns:a16="http://schemas.microsoft.com/office/drawing/2014/main" id="{90F046B8-862E-461C-8334-3E785F6F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6168" y="3547872"/>
            <a:ext cx="1776984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accent">
            <a:extLst xmlns:a="http://schemas.openxmlformats.org/drawingml/2006/main">
              <a:ext uri="{FF2B5EF4-FFF2-40B4-BE49-F238E27FC236}">
                <a16:creationId xmlns:a16="http://schemas.microsoft.com/office/drawing/2014/main" id="{8AF22D38-9014-4E07-A3E5-F847F640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6168" y="3547872"/>
            <a:ext cx="73152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56DE573C-43A8-4A83-952B-3D8160A1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9048" y="3547872"/>
            <a:ext cx="150266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Historial en Git</a:t>
            </a:r>
          </a:p>
        </p:txBody>
      </p:sp>
      <p:sp>
        <p:nvSpPr>
          <p:cNvPr id="47" name="card">
            <a:extLst xmlns:a="http://schemas.openxmlformats.org/drawingml/2006/main">
              <a:ext uri="{FF2B5EF4-FFF2-40B4-BE49-F238E27FC236}">
                <a16:creationId xmlns:a16="http://schemas.microsoft.com/office/drawing/2014/main" id="{9551407A-79E5-4734-8D32-F25CE70D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4526280"/>
            <a:ext cx="569671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8"/>
          </a:solidFill>
          <a:ln xmlns:a="http://schemas.openxmlformats.org/drawingml/2006/main" w="12700">
            <a:solidFill>
              <a:srgbClr val="F3C9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43D51449-2FE3-466A-8436-A874D555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672584"/>
            <a:ext cx="51846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BE121C"/>
                </a:solidFill>
                <a:latin typeface="Trebuchet MS"/>
                <a:ea typeface="Trebuchet MS"/>
                <a:cs typeface="Trebuchet MS"/>
              </a:rPr>
              <a:t>AL ARCHIVAR</a:t>
            </a:r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B70816F9-D17F-448D-95BF-BFF3891C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983480"/>
            <a:ext cx="250088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Las delta specs se incorporan a la fuente de verdad.</a:t>
            </a:r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F287C783-24F7-4673-87B4-68DBD8CA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4796" y="4983480"/>
            <a:ext cx="250088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El cambio completo se conserva en changes/archive/.</a:t>
            </a:r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036FC29D-C197-494C-9D44-4427B133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5294376"/>
            <a:ext cx="250088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Las especificaciones describen la nueva realidad del sistema.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A3739E17-FD43-43EC-99CB-717C02E9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5605272"/>
            <a:ext cx="50932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98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El historial conserva la intención, las decisiones y las tareas del cambio.</a:t>
            </a:r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6A6902B2-6563-4935-AEBD-0658AD3E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5605272"/>
            <a:ext cx="250088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15B259F7-24A1-429C-B807-84CE00CB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7376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Tuya   ·   Spec-Driven Development con OpenSpec</a:t>
            </a:r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A9CFC0D9-546C-42A9-8913-55806416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7376"/>
            <a:ext cx="53035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09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524B4D8B-6092-454B-8AF4-FB232186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3778"/>
            <a:ext cx="4617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60" i="1">
                <a:solidFill>
                  <a:srgbClr val="7A716B"/>
                </a:solidFill>
                <a:latin typeface="Calibri"/>
                <a:ea typeface="Calibri"/>
                <a:cs typeface="Calibri"/>
              </a:rPr>
              <a:t>OpenSpec describe el diff, no reescribe todo el sistema para cada cambio.</a:t>
            </a:r>
          </a:p>
        </p:txBody>
      </p:sp>
      <p:pic>
        <p:nvPicPr>
          <p:cNvPr id="113" name="Logo Tuy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1456694f64e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52200" y="321276"/>
            <a:ext cx="640080" cy="3200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39745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kicker mark">
            <a:extLst xmlns:a="http://schemas.openxmlformats.org/drawingml/2006/main">
              <a:ext uri="{FF2B5EF4-FFF2-40B4-BE49-F238E27FC236}">
                <a16:creationId xmlns:a16="http://schemas.microsoft.com/office/drawing/2014/main" id="{6AD927CD-FE5B-40D7-9327-FDA26777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336"/>
            <a:ext cx="146304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A6F57AE-2221-439D-8D23-7DD7A24B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10896"/>
            <a:ext cx="9601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ARTEFACTOS PRINCIPALES</a:t>
            </a:r>
          </a:p>
        </p:txBody>
      </p:sp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E639B665-7E7E-4C29-A1BF-A783A68057F7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85800" y="658368"/>
            <a:ext cx="107899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Cada artefacto responde una pregunta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3D341FFC-CA85-4911-B339-309C8673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1958645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78045E-6B26-49CF-9522-38CAE32C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075688"/>
            <a:ext cx="1739189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¿POR QUÉ?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F6A56AC-B06D-43FE-9919-01BF7A83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172968"/>
            <a:ext cx="1739189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7A716B"/>
                </a:solidFill>
                <a:latin typeface="Calibri"/>
                <a:ea typeface="Calibri"/>
                <a:cs typeface="Calibri"/>
              </a:rPr>
              <a:t>PROPOSAL.MD</a:t>
            </a:r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7F65C7D1-2DB3-4529-A44D-66AE6ACC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477" y="1691640"/>
            <a:ext cx="1958645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ED74C39-C4FA-4397-A1EF-ED8DA225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0205" y="2075688"/>
            <a:ext cx="1739189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¿QUÉ?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0B8843A-A9A7-4C93-A77D-1BAB2762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0205" y="3172968"/>
            <a:ext cx="1739189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7A716B"/>
                </a:solidFill>
                <a:latin typeface="Calibri"/>
                <a:ea typeface="Calibri"/>
                <a:cs typeface="Calibri"/>
              </a:rPr>
              <a:t>SPECS/</a:t>
            </a:r>
          </a:p>
        </p:txBody>
      </p:sp>
      <p:sp>
        <p:nvSpPr>
          <p:cNvPr id="11" name="kpi">
            <a:extLst xmlns:a="http://schemas.openxmlformats.org/drawingml/2006/main">
              <a:ext uri="{FF2B5EF4-FFF2-40B4-BE49-F238E27FC236}">
                <a16:creationId xmlns:a16="http://schemas.microsoft.com/office/drawing/2014/main" id="{C2EDB609-ECAC-4F53-82CC-5C46D768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154" y="1691640"/>
            <a:ext cx="1958645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8894440-8A02-451D-9528-145E8A89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4882" y="2075688"/>
            <a:ext cx="1739189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¿CÓMO?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42A3E45-E913-48DE-AC06-E3BAD192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4882" y="3172968"/>
            <a:ext cx="1739189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7A716B"/>
                </a:solidFill>
                <a:latin typeface="Calibri"/>
                <a:ea typeface="Calibri"/>
                <a:cs typeface="Calibri"/>
              </a:rPr>
              <a:t>DESIGN.MD</a:t>
            </a:r>
          </a:p>
        </p:txBody>
      </p:sp>
      <p:sp>
        <p:nvSpPr>
          <p:cNvPr id="14" name="kpi">
            <a:extLst xmlns:a="http://schemas.openxmlformats.org/drawingml/2006/main">
              <a:ext uri="{FF2B5EF4-FFF2-40B4-BE49-F238E27FC236}">
                <a16:creationId xmlns:a16="http://schemas.microsoft.com/office/drawing/2014/main" id="{E1960E8B-BEF2-4C88-8350-C6FB8118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9830" y="1691640"/>
            <a:ext cx="1958645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3E41666-BBC7-44D0-B4E0-74888A76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558" y="2075688"/>
            <a:ext cx="1739189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¿EN QUÉ ORDEN?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F9E922D-2E8C-41CA-B0E4-E232FCC1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558" y="3172968"/>
            <a:ext cx="1739189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7A716B"/>
                </a:solidFill>
                <a:latin typeface="Calibri"/>
                <a:ea typeface="Calibri"/>
                <a:cs typeface="Calibri"/>
              </a:rPr>
              <a:t>TASKS.MD</a:t>
            </a:r>
          </a:p>
        </p:txBody>
      </p:sp>
      <p:sp>
        <p:nvSpPr>
          <p:cNvPr id="17" name="card">
            <a:extLst xmlns:a="http://schemas.openxmlformats.org/drawingml/2006/main">
              <a:ext uri="{FF2B5EF4-FFF2-40B4-BE49-F238E27FC236}">
                <a16:creationId xmlns:a16="http://schemas.microsoft.com/office/drawing/2014/main" id="{C11ED373-4DE1-4562-B84B-617BAC1C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507" y="1691640"/>
            <a:ext cx="1958645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3FDC43-6BF0-4AA9-94FF-7004E101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235" y="2075688"/>
            <a:ext cx="1739189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¿QUÉ CAMBIÓ?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7630A16-946D-4DE4-A4A6-206F4494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235" y="3172968"/>
            <a:ext cx="1739189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7A716B"/>
                </a:solidFill>
                <a:latin typeface="Calibri"/>
                <a:ea typeface="Calibri"/>
                <a:cs typeface="Calibri"/>
              </a:rPr>
              <a:t>GIT DIFF</a:t>
            </a:r>
          </a:p>
        </p:txBody>
      </p:sp>
      <p:sp>
        <p:nvSpPr>
          <p:cNvPr id="20" name="card">
            <a:extLst xmlns:a="http://schemas.openxmlformats.org/drawingml/2006/main">
              <a:ext uri="{FF2B5EF4-FFF2-40B4-BE49-F238E27FC236}">
                <a16:creationId xmlns:a16="http://schemas.microsoft.com/office/drawing/2014/main" id="{0EE634A1-2714-4D5E-8F08-026D8F04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8173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7"/>
          </a:solidFill>
          <a:ln xmlns:a="http://schemas.openxmlformats.org/drawingml/2006/main" w="12700">
            <a:solidFill>
              <a:srgbClr val="E7E1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2D87712-8175-48D7-A7D5-D2CAE77C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315968"/>
            <a:ext cx="7315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7A716B"/>
                </a:solidFill>
                <a:latin typeface="Trebuchet MS"/>
                <a:ea typeface="Trebuchet MS"/>
                <a:cs typeface="Trebuchet MS"/>
              </a:rPr>
              <a:t>UNA CADENA DE CONTEXTO</a:t>
            </a:r>
          </a:p>
        </p:txBody>
      </p:sp>
      <p:sp>
        <p:nvSpPr>
          <p:cNvPr id="22" name="card">
            <a:extLst xmlns:a="http://schemas.openxmlformats.org/drawingml/2006/main">
              <a:ext uri="{FF2B5EF4-FFF2-40B4-BE49-F238E27FC236}">
                <a16:creationId xmlns:a16="http://schemas.microsoft.com/office/drawing/2014/main" id="{685EE415-79A1-4D93-AA74-13986387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736592"/>
            <a:ext cx="3258312" cy="1065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accent">
            <a:extLst xmlns:a="http://schemas.openxmlformats.org/drawingml/2006/main">
              <a:ext uri="{FF2B5EF4-FFF2-40B4-BE49-F238E27FC236}">
                <a16:creationId xmlns:a16="http://schemas.microsoft.com/office/drawing/2014/main" id="{104C1616-9E4C-4C79-96AA-D8AB9902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736592"/>
            <a:ext cx="82296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E6166AF-B229-4527-A8CA-78693754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4736592"/>
            <a:ext cx="2892552" cy="10658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PROPUESTA → ESPECIFICACIONES</a:t>
            </a:r>
          </a:p>
          <a:p xmlns:a="http://schemas.openxmlformats.org/drawingml/2006/main">
            <a:pPr marL="0" indent="0" algn="l">
              <a:buNone/>
            </a:pPr>
            <a:r>
              <a:rPr sz="135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La intención se convierte en requisitos y escenarios observables.</a:t>
            </a:r>
          </a:p>
        </p:txBody>
      </p:sp>
      <p:sp>
        <p:nvSpPr>
          <p:cNvPr id="25" name="card">
            <a:extLst xmlns:a="http://schemas.openxmlformats.org/drawingml/2006/main">
              <a:ext uri="{FF2B5EF4-FFF2-40B4-BE49-F238E27FC236}">
                <a16:creationId xmlns:a16="http://schemas.microsoft.com/office/drawing/2014/main" id="{C696017E-4098-4FB3-90D1-6DD543E2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320" y="4736592"/>
            <a:ext cx="3258312" cy="1065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accent">
            <a:extLst xmlns:a="http://schemas.openxmlformats.org/drawingml/2006/main">
              <a:ext uri="{FF2B5EF4-FFF2-40B4-BE49-F238E27FC236}">
                <a16:creationId xmlns:a16="http://schemas.microsoft.com/office/drawing/2014/main" id="{C2E036AA-F795-4795-82EA-7EC16FA9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320" y="4736592"/>
            <a:ext cx="82296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D4AD381-4959-4D07-8CFA-A493752A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776" y="4736592"/>
            <a:ext cx="2892552" cy="10658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ESPECIFICACIONES → DISEÑO</a:t>
            </a:r>
          </a:p>
          <a:p xmlns:a="http://schemas.openxmlformats.org/drawingml/2006/main">
            <a:pPr marL="0" indent="0" algn="l">
              <a:buNone/>
            </a:pPr>
            <a:r>
              <a:rPr sz="135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El comportamiento esperado orienta las decisiones técnicas.</a:t>
            </a:r>
          </a:p>
        </p:txBody>
      </p:sp>
      <p:sp>
        <p:nvSpPr>
          <p:cNvPr id="28" name="card">
            <a:extLst xmlns:a="http://schemas.openxmlformats.org/drawingml/2006/main">
              <a:ext uri="{FF2B5EF4-FFF2-40B4-BE49-F238E27FC236}">
                <a16:creationId xmlns:a16="http://schemas.microsoft.com/office/drawing/2014/main" id="{C1BFF1DC-91ED-4C2B-A50F-24A80A0C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952" y="4736592"/>
            <a:ext cx="3258312" cy="1065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accent">
            <a:extLst xmlns:a="http://schemas.openxmlformats.org/drawingml/2006/main">
              <a:ext uri="{FF2B5EF4-FFF2-40B4-BE49-F238E27FC236}">
                <a16:creationId xmlns:a16="http://schemas.microsoft.com/office/drawing/2014/main" id="{60F9FE02-B27C-481C-9C08-D2FF15B4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952" y="4736592"/>
            <a:ext cx="82296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591480E-EC7D-49C3-A5A1-98932C86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408" y="4736591"/>
            <a:ext cx="2892552" cy="1065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DISEÑO → TAREAS</a:t>
            </a:r>
          </a:p>
          <a:p xmlns:a="http://schemas.openxmlformats.org/drawingml/2006/main">
            <a:pPr marL="0" indent="0" algn="l">
              <a:buNone/>
            </a:pPr>
            <a:r>
              <a:rPr sz="135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Las decisiones se transforman en pasos implementables.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4240654-F278-4D7E-B28F-0572931B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7376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Tuya   ·   Spec-Driven Development con OpenSpec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C951F36-D91C-4B51-84B1-84F7568D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7376"/>
            <a:ext cx="53035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10</a:t>
            </a:r>
          </a:p>
        </p:txBody>
      </p:sp>
      <p:pic>
        <p:nvPicPr>
          <p:cNvPr id="113" name="Logo Tuy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f1f4a46dfc4b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52200" y="321276"/>
            <a:ext cx="640080" cy="320040"/>
          </a:xfrm>
          <a:prstGeom xmlns:a="http://schemas.openxmlformats.org/drawingml/2006/main" prst="rect">
            <a:avLst/>
          </a:prstGeom>
        </p:spPr>
      </p:pic>
      <p:sp>
        <p:nvSpPr>
          <p:cNvPr id="80" name="nota casos">
            <a:extLst xmlns:a="http://schemas.openxmlformats.org/drawingml/2006/main">
              <a:ext uri="{FF2B5EF4-FFF2-40B4-BE49-F238E27FC236}">
                <a16:creationId xmlns:a16="http://schemas.microsoft.com/office/drawing/2014/main" id="{6AE78B1A-4224-4421-8A68-4BFC3039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0000"/>
            <a:ext cx="10817352" cy="3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i="1">
                <a:solidFill>
                  <a:srgbClr val="6B615C"/>
                </a:solidFill>
                <a:latin typeface="Calibri"/>
                <a:ea typeface="Calibri"/>
                <a:cs typeface="Calibri"/>
              </a:rPr>
              <a:t>Los artefactos se pueden revisar y ajustar antes y durante la implementación; no son documentos de una sola lectura.</a:t>
            </a:r>
          </a:p>
        </p:txBody>
      </p:sp>
    </p:spTree>
    <p:extLst>
      <p:ext uri="{BB962C8B-B14F-4D97-AF65-F5344CB8AC3E}">
        <p14:creationId xmlns:p14="http://schemas.microsoft.com/office/powerpoint/2010/main" val="7606455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kicker mark">
            <a:extLst xmlns:a="http://schemas.openxmlformats.org/drawingml/2006/main">
              <a:ext uri="{FF2B5EF4-FFF2-40B4-BE49-F238E27FC236}">
                <a16:creationId xmlns:a16="http://schemas.microsoft.com/office/drawing/2014/main" id="{AC9DAD3E-0907-44A4-BCB4-C21E8660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336"/>
            <a:ext cx="146304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EE9EF68-52AD-4741-927B-FED13C9B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10896"/>
            <a:ext cx="9601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FLUJO ACTUAL DE OPENSPEC</a:t>
            </a:r>
          </a:p>
        </p:txBody>
      </p:sp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47AA1763-8247-486C-8B8C-0F0107999DDF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85800" y="658368"/>
            <a:ext cx="107899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OPSX organiza el cambio sin volverlo rígido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6FF760FE-AB4D-4A6D-9AEC-82C7138A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4208"/>
            <a:ext cx="1574292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tep badge">
            <a:extLst xmlns:a="http://schemas.openxmlformats.org/drawingml/2006/main">
              <a:ext uri="{FF2B5EF4-FFF2-40B4-BE49-F238E27FC236}">
                <a16:creationId xmlns:a16="http://schemas.microsoft.com/office/drawing/2014/main" id="{70BF8973-4495-4482-A242-B2E4A3F4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922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95B6DB6-5FD8-4D67-919F-4E18EE52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922" y="18470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A2D558-8831-4E69-B5EA-6C44CFBC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22576"/>
            <a:ext cx="1391412" cy="9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Explorar</a:t>
            </a:r>
          </a:p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Aclarar ideas y comparar opciones.</a:t>
            </a:r>
          </a:p>
        </p:txBody>
      </p:sp>
      <p:sp>
        <p:nvSpPr>
          <p:cNvPr id="9" name="flow connector">
            <a:extLst xmlns:a="http://schemas.openxmlformats.org/drawingml/2006/main">
              <a:ext uri="{FF2B5EF4-FFF2-40B4-BE49-F238E27FC236}">
                <a16:creationId xmlns:a16="http://schemas.microsoft.com/office/drawing/2014/main" id="{A7ECA0B9-B88B-49D8-9B18-9591C1A7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804" y="2235708"/>
            <a:ext cx="310896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card">
            <a:extLst xmlns:a="http://schemas.openxmlformats.org/drawingml/2006/main">
              <a:ext uri="{FF2B5EF4-FFF2-40B4-BE49-F238E27FC236}">
                <a16:creationId xmlns:a16="http://schemas.microsoft.com/office/drawing/2014/main" id="{457A94A0-AF80-44AE-AA96-AACC4874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412" y="1664208"/>
            <a:ext cx="1574292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8"/>
          </a:solidFill>
          <a:ln xmlns:a="http://schemas.openxmlformats.org/drawingml/2006/main" w="19050">
            <a:solidFill>
              <a:srgbClr val="ED1C29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tep badge">
            <a:extLst xmlns:a="http://schemas.openxmlformats.org/drawingml/2006/main">
              <a:ext uri="{FF2B5EF4-FFF2-40B4-BE49-F238E27FC236}">
                <a16:creationId xmlns:a16="http://schemas.microsoft.com/office/drawing/2014/main" id="{A0117F8E-9879-43D7-B890-88A136D5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534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CB23178-CD94-497D-8D20-A6D5246B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534" y="18470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454A0D3-2F2B-4595-B548-EC948D03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852" y="2322576"/>
            <a:ext cx="1391412" cy="9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Proponer</a:t>
            </a:r>
          </a:p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Crear el cambio y sus artefactos.</a:t>
            </a:r>
          </a:p>
        </p:txBody>
      </p:sp>
      <p:sp>
        <p:nvSpPr>
          <p:cNvPr id="14" name="flow connector">
            <a:extLst xmlns:a="http://schemas.openxmlformats.org/drawingml/2006/main">
              <a:ext uri="{FF2B5EF4-FFF2-40B4-BE49-F238E27FC236}">
                <a16:creationId xmlns:a16="http://schemas.microsoft.com/office/drawing/2014/main" id="{5F023CC2-EFC9-4C15-AEB4-505F0142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16" y="2235708"/>
            <a:ext cx="310896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tep">
            <a:extLst xmlns:a="http://schemas.openxmlformats.org/drawingml/2006/main">
              <a:ext uri="{FF2B5EF4-FFF2-40B4-BE49-F238E27FC236}">
                <a16:creationId xmlns:a16="http://schemas.microsoft.com/office/drawing/2014/main" id="{1AF97856-3AFF-4BE2-857A-B6F0424D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024" y="1664208"/>
            <a:ext cx="1574292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tep badge">
            <a:extLst xmlns:a="http://schemas.openxmlformats.org/drawingml/2006/main">
              <a:ext uri="{FF2B5EF4-FFF2-40B4-BE49-F238E27FC236}">
                <a16:creationId xmlns:a16="http://schemas.microsoft.com/office/drawing/2014/main" id="{7AD0C0F0-FE25-4EE7-B8F0-3D7D2FED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146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0FDEF82-6D36-4DA4-8A0E-6E4536E6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146" y="18470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CAE37BC-84BD-4E7C-B4B2-53B7C51F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464" y="2322576"/>
            <a:ext cx="1391412" cy="9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Revisar</a:t>
            </a:r>
          </a:p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Ajustar propuesta, specs, diseño y tareas.</a:t>
            </a:r>
          </a:p>
        </p:txBody>
      </p:sp>
      <p:sp>
        <p:nvSpPr>
          <p:cNvPr id="19" name="flow connector">
            <a:extLst xmlns:a="http://schemas.openxmlformats.org/drawingml/2006/main">
              <a:ext uri="{FF2B5EF4-FFF2-40B4-BE49-F238E27FC236}">
                <a16:creationId xmlns:a16="http://schemas.microsoft.com/office/drawing/2014/main" id="{07E80574-A985-48CE-846E-4FD416A7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028" y="2235708"/>
            <a:ext cx="310896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tep">
            <a:extLst xmlns:a="http://schemas.openxmlformats.org/drawingml/2006/main">
              <a:ext uri="{FF2B5EF4-FFF2-40B4-BE49-F238E27FC236}">
                <a16:creationId xmlns:a16="http://schemas.microsoft.com/office/drawing/2014/main" id="{3F4C2B78-D89B-4951-9E2E-9F371349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1636" y="1664208"/>
            <a:ext cx="1574292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tep badge">
            <a:extLst xmlns:a="http://schemas.openxmlformats.org/drawingml/2006/main">
              <a:ext uri="{FF2B5EF4-FFF2-40B4-BE49-F238E27FC236}">
                <a16:creationId xmlns:a16="http://schemas.microsoft.com/office/drawing/2014/main" id="{D33D878F-83DB-441A-8C3B-F1DBF3C2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758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A22D211-4DE7-4189-BF4B-E4A08E8F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758" y="18470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D2404FD-3E29-4CC8-BB27-7FE516C8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076" y="2322576"/>
            <a:ext cx="1391412" cy="9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Aplicar</a:t>
            </a:r>
          </a:p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Implementar y marcar el avance.</a:t>
            </a:r>
          </a:p>
        </p:txBody>
      </p:sp>
      <p:sp>
        <p:nvSpPr>
          <p:cNvPr id="24" name="flow connector">
            <a:extLst xmlns:a="http://schemas.openxmlformats.org/drawingml/2006/main">
              <a:ext uri="{FF2B5EF4-FFF2-40B4-BE49-F238E27FC236}">
                <a16:creationId xmlns:a16="http://schemas.microsoft.com/office/drawing/2014/main" id="{E8587949-679E-46AB-A2BC-8EBFA866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235708"/>
            <a:ext cx="310896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card">
            <a:extLst xmlns:a="http://schemas.openxmlformats.org/drawingml/2006/main">
              <a:ext uri="{FF2B5EF4-FFF2-40B4-BE49-F238E27FC236}">
                <a16:creationId xmlns:a16="http://schemas.microsoft.com/office/drawing/2014/main" id="{14FB4A65-48D1-4AC0-971B-E9133952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248" y="1664208"/>
            <a:ext cx="1574292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tep badge">
            <a:extLst xmlns:a="http://schemas.openxmlformats.org/drawingml/2006/main">
              <a:ext uri="{FF2B5EF4-FFF2-40B4-BE49-F238E27FC236}">
                <a16:creationId xmlns:a16="http://schemas.microsoft.com/office/drawing/2014/main" id="{01610762-BBB7-45B6-8B91-7E5A4FC5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537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373F2DF-0895-4171-B642-7EC73387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5370" y="18470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5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B266421-F858-49F4-B979-783A63EB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688" y="2322576"/>
            <a:ext cx="1391412" cy="9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Sincronizar</a:t>
            </a:r>
          </a:p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Incorporar deltas a specs cuando convenga.</a:t>
            </a:r>
          </a:p>
        </p:txBody>
      </p:sp>
      <p:sp>
        <p:nvSpPr>
          <p:cNvPr id="29" name="flow connector">
            <a:extLst xmlns:a="http://schemas.openxmlformats.org/drawingml/2006/main">
              <a:ext uri="{FF2B5EF4-FFF2-40B4-BE49-F238E27FC236}">
                <a16:creationId xmlns:a16="http://schemas.microsoft.com/office/drawing/2014/main" id="{28956DA3-3CB8-47F7-B587-871F5CE6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252" y="2235708"/>
            <a:ext cx="310896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card">
            <a:extLst xmlns:a="http://schemas.openxmlformats.org/drawingml/2006/main">
              <a:ext uri="{FF2B5EF4-FFF2-40B4-BE49-F238E27FC236}">
                <a16:creationId xmlns:a16="http://schemas.microsoft.com/office/drawing/2014/main" id="{02A6B0D5-9A1D-44E8-A1FF-0DD3C610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8860" y="1664208"/>
            <a:ext cx="1574292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tep badge">
            <a:extLst xmlns:a="http://schemas.openxmlformats.org/drawingml/2006/main">
              <a:ext uri="{FF2B5EF4-FFF2-40B4-BE49-F238E27FC236}">
                <a16:creationId xmlns:a16="http://schemas.microsoft.com/office/drawing/2014/main" id="{0EE72DCE-1A58-47B3-A089-CCFB9ACE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3982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7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7685AC9-1610-44C4-AFC8-1875CF0F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3982" y="18470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6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C587E40D-5697-4B05-96B2-1760D999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322576"/>
            <a:ext cx="1391412" cy="9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Archivar</a:t>
            </a:r>
          </a:p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Validar y conservar el cambio terminado.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B9CB64E0-10AA-429E-B375-271716FA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156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7A716B"/>
                </a:solidFill>
                <a:latin typeface="Trebuchet MS"/>
                <a:ea typeface="Trebuchet MS"/>
                <a:cs typeface="Trebuchet MS"/>
              </a:rPr>
              <a:t>RUTAS DISPONIBLES</a:t>
            </a:r>
          </a:p>
        </p:txBody>
      </p:sp>
      <p:sp>
        <p:nvSpPr>
          <p:cNvPr id="35" name="card">
            <a:extLst xmlns:a="http://schemas.openxmlformats.org/drawingml/2006/main">
              <a:ext uri="{FF2B5EF4-FFF2-40B4-BE49-F238E27FC236}">
                <a16:creationId xmlns:a16="http://schemas.microsoft.com/office/drawing/2014/main" id="{D354F592-F461-48A6-AC2D-96A6FF4D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0752"/>
            <a:ext cx="3422904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F"/>
          </a:solidFill>
          <a:ln xmlns:a="http://schemas.openxmlformats.org/drawingml/2006/main" w="12700">
            <a:solidFill>
              <a:srgbClr val="E7E1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BC0BF082-201A-4A0B-B7F0-7F94164E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30752"/>
            <a:ext cx="305714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RUTA RÁPIDA</a:t>
            </a:r>
          </a:p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explore (opcional) → propose → apply → archive</a:t>
            </a:r>
          </a:p>
        </p:txBody>
      </p:sp>
      <p:sp>
        <p:nvSpPr>
          <p:cNvPr id="37" name="card">
            <a:extLst xmlns:a="http://schemas.openxmlformats.org/drawingml/2006/main">
              <a:ext uri="{FF2B5EF4-FFF2-40B4-BE49-F238E27FC236}">
                <a16:creationId xmlns:a16="http://schemas.microsoft.com/office/drawing/2014/main" id="{9B02785E-63F3-4D45-B712-F58D71F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024" y="3730752"/>
            <a:ext cx="3422904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F"/>
          </a:solidFill>
          <a:ln xmlns:a="http://schemas.openxmlformats.org/drawingml/2006/main" w="12700">
            <a:solidFill>
              <a:srgbClr val="E7E1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52969818-393C-4175-85FB-36FA13FA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904" y="3730752"/>
            <a:ext cx="305714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DURANTE EL CAMBIO</a:t>
            </a:r>
          </a:p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update mantiene coherentes los artefactos sin editar código.</a:t>
            </a:r>
          </a:p>
        </p:txBody>
      </p:sp>
      <p:sp>
        <p:nvSpPr>
          <p:cNvPr id="39" name="card">
            <a:extLst xmlns:a="http://schemas.openxmlformats.org/drawingml/2006/main">
              <a:ext uri="{FF2B5EF4-FFF2-40B4-BE49-F238E27FC236}">
                <a16:creationId xmlns:a16="http://schemas.microsoft.com/office/drawing/2014/main" id="{A7EB59BE-8D65-4007-91FF-25A8D8DA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248" y="3730752"/>
            <a:ext cx="3422904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F"/>
          </a:solidFill>
          <a:ln xmlns:a="http://schemas.openxmlformats.org/drawingml/2006/main" w="12700">
            <a:solidFill>
              <a:srgbClr val="E7E1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0FA9BE8-0B80-4084-9341-C454DB65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3128" y="3730752"/>
            <a:ext cx="305714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FLUJO AMPLIADO</a:t>
            </a:r>
          </a:p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new, continue, ff y verify ofrecen mayor control por etapas.</a:t>
            </a:r>
          </a:p>
        </p:txBody>
      </p:sp>
      <p:sp>
        <p:nvSpPr>
          <p:cNvPr id="41" name="note">
            <a:extLst xmlns:a="http://schemas.openxmlformats.org/drawingml/2006/main">
              <a:ext uri="{FF2B5EF4-FFF2-40B4-BE49-F238E27FC236}">
                <a16:creationId xmlns:a16="http://schemas.microsoft.com/office/drawing/2014/main" id="{6E251BB3-B792-42C2-977C-130D804E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4920"/>
            <a:ext cx="10817352" cy="10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2ED9C448-A07A-4C83-A960-C1143EBE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074920"/>
            <a:ext cx="10241280" cy="10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OPSX es el flujo estándar actual</a:t>
            </a:r>
            <a:r>
              <a:rPr sz="1200" b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   </a:t>
            </a:r>
            <a:r>
              <a:rPr sz="120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Los artefactos tienen dependencias, pero pueden revisarse cuando aparecen nuevos hallazgos. El objetivo es mantener coherencia, no imponer una secuencia irreversible.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72064E91-4EAD-4B40-944D-B8AC8F1D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7376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Tuya   ·   Spec-Driven Development con OpenSpec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B39D01A2-FA60-4908-ABEF-D439926E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7376"/>
            <a:ext cx="53035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11</a:t>
            </a:r>
          </a:p>
        </p:txBody>
      </p:sp>
      <p:pic>
        <p:nvPicPr>
          <p:cNvPr id="89" name="Logo Tuy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f233e6d3a40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52200" y="321276"/>
            <a:ext cx="640080" cy="3200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0450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kicker mark">
            <a:extLst xmlns:a="http://schemas.openxmlformats.org/drawingml/2006/main">
              <a:ext uri="{FF2B5EF4-FFF2-40B4-BE49-F238E27FC236}">
                <a16:creationId xmlns:a16="http://schemas.microsoft.com/office/drawing/2014/main" id="{72AF9BA9-F448-411A-B07F-0A037785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336"/>
            <a:ext cx="146304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F891A50-D715-41F9-AD02-24B46594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10896"/>
            <a:ext cx="9601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CONCLUSIONES Y TRANSICIÓN AL TALLER</a:t>
            </a:r>
          </a:p>
        </p:txBody>
      </p:sp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F6126F55-5357-47C1-B5E8-471338E5356D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85800" y="658368"/>
            <a:ext cx="107899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SDD convierte velocidad en ejecución controlada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94E96F1C-3911-4FBE-9E08-3EBDD7B0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356616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op accent">
            <a:extLst xmlns:a="http://schemas.openxmlformats.org/drawingml/2006/main">
              <a:ext uri="{FF2B5EF4-FFF2-40B4-BE49-F238E27FC236}">
                <a16:creationId xmlns:a16="http://schemas.microsoft.com/office/drawing/2014/main" id="{882C0C02-CEAA-40D5-9832-CF56BB32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356616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4595E41-56BB-481D-A0E2-6A2361DF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1929384"/>
            <a:ext cx="31272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1 · QUÉ CAMBIA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37D1C1-BE16-4ACB-9BE9-EDB2FE7D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350008"/>
            <a:ext cx="312724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INTENCIÓN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1467A77-3031-458E-BF18-D5548B97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569464"/>
            <a:ext cx="3127248" cy="624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Se acuerda el resultado esperado antes de producir código.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EA193B5-1D05-4A7C-8256-7E3AAFE1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3249168"/>
            <a:ext cx="312724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CONTEXTO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6D4476B-3039-41E5-8261-3A3A4822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3468624"/>
            <a:ext cx="3127248" cy="624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Las decisiones permanecen junto al repositorio y pueden retomarse.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3C91CE8-32A8-4866-9E25-41897F4F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148328"/>
            <a:ext cx="312724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REVISIÓN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631DE1B-58BA-4DBD-B2DC-34A56AA7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367784"/>
            <a:ext cx="3127248" cy="624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La desalineación se corrige en artefactos pequeños y visibles.</a:t>
            </a:r>
          </a:p>
        </p:txBody>
      </p:sp>
      <p:sp>
        <p:nvSpPr>
          <p:cNvPr id="14" name="card">
            <a:extLst xmlns:a="http://schemas.openxmlformats.org/drawingml/2006/main">
              <a:ext uri="{FF2B5EF4-FFF2-40B4-BE49-F238E27FC236}">
                <a16:creationId xmlns:a16="http://schemas.microsoft.com/office/drawing/2014/main" id="{93568998-6BDF-47B1-AD92-AC5C351F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691640"/>
            <a:ext cx="356616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op accent">
            <a:extLst xmlns:a="http://schemas.openxmlformats.org/drawingml/2006/main">
              <a:ext uri="{FF2B5EF4-FFF2-40B4-BE49-F238E27FC236}">
                <a16:creationId xmlns:a16="http://schemas.microsoft.com/office/drawing/2014/main" id="{1FA8A581-AB63-4A44-A274-01BC1D0F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691640"/>
            <a:ext cx="356616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4CF4FC0-CCCC-45A3-8690-389CA407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1929384"/>
            <a:ext cx="31272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11915"/>
                </a:solidFill>
                <a:latin typeface="Trebuchet MS"/>
                <a:ea typeface="Trebuchet MS"/>
                <a:cs typeface="Trebuchet MS"/>
              </a:rPr>
              <a:t>2 · QUÉ APORTA OPENSPEC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7349509-82EE-4D49-84F2-AAD7DEBB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2350008"/>
            <a:ext cx="312724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ESTRUCTURA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F7DBB80-9961-4667-8CB8-BA40B28F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2569464"/>
            <a:ext cx="3127248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Un cambio reúne propuesta, specs, diseño y tareas.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230093B-CC1D-4A3D-83FC-4B53BC5A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3024378"/>
            <a:ext cx="312724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TRAZABILIDAD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C127060-6941-40EF-B34C-2725DB38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3243834"/>
            <a:ext cx="3127248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La intención acompaña la implementación.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0CB8233-AA26-456F-AD4E-27D80A69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3698748"/>
            <a:ext cx="312724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ITERACIÓN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48425E6-B6E1-40C0-8F29-395772DC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3918204"/>
            <a:ext cx="3127248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Los artefactos evolucionan con los hallazgos.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AB23232-CD78-4CE9-BD2A-7BEBF158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4373118"/>
            <a:ext cx="312724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ED1C29"/>
                </a:solidFill>
                <a:latin typeface="Calibri"/>
                <a:ea typeface="Calibri"/>
                <a:cs typeface="Calibri"/>
              </a:rPr>
              <a:t>FUENTE DE VERDAD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F837921-85D7-4F26-A174-7198E5F8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4592574"/>
            <a:ext cx="3127248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Al archivar, las specs describen la nueva realidad.</a:t>
            </a:r>
          </a:p>
        </p:txBody>
      </p:sp>
      <p:sp>
        <p:nvSpPr>
          <p:cNvPr id="25" name="decision">
            <a:extLst xmlns:a="http://schemas.openxmlformats.org/drawingml/2006/main">
              <a:ext uri="{FF2B5EF4-FFF2-40B4-BE49-F238E27FC236}">
                <a16:creationId xmlns:a16="http://schemas.microsoft.com/office/drawing/2014/main" id="{47B537A7-558B-4CCB-977F-953BD85C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691640"/>
            <a:ext cx="349300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1DE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accent top">
            <a:extLst xmlns:a="http://schemas.openxmlformats.org/drawingml/2006/main">
              <a:ext uri="{FF2B5EF4-FFF2-40B4-BE49-F238E27FC236}">
                <a16:creationId xmlns:a16="http://schemas.microsoft.com/office/drawing/2014/main" id="{E4A4D048-5780-4318-900A-EE7122C6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691640"/>
            <a:ext cx="3493008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2BE04F1-6041-4DC7-BCD3-71740F9B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1911096"/>
            <a:ext cx="30540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3 · A CONTINUACIÓN</a:t>
            </a:r>
          </a:p>
        </p:txBody>
      </p:sp>
      <p:sp>
        <p:nvSpPr>
          <p:cNvPr id="27" name="step badge">
            <a:extLst xmlns:a="http://schemas.openxmlformats.org/drawingml/2006/main">
              <a:ext uri="{FF2B5EF4-FFF2-40B4-BE49-F238E27FC236}">
                <a16:creationId xmlns:a16="http://schemas.microsoft.com/office/drawing/2014/main" id="{E1B5A9D7-DB06-4CD3-86E8-844A2B62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34086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800ED4A-687C-4CD8-B4B5-A3630A8E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34086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34412DD-B370-4458-9D5E-934BCA7B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112" y="2313432"/>
            <a:ext cx="27066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Presentar la historia</a:t>
            </a:r>
          </a:p>
        </p:txBody>
      </p:sp>
      <p:sp>
        <p:nvSpPr>
          <p:cNvPr id="30" name="step badge">
            <a:extLst xmlns:a="http://schemas.openxmlformats.org/drawingml/2006/main">
              <a:ext uri="{FF2B5EF4-FFF2-40B4-BE49-F238E27FC236}">
                <a16:creationId xmlns:a16="http://schemas.microsoft.com/office/drawing/2014/main" id="{69C1F99A-0B39-4C60-9A0C-41C328AF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78434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57C142F-B728-44F3-9AA5-C616A318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78434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EC65E2DC-63D6-497F-A26C-CE427A89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112" y="2756916"/>
            <a:ext cx="27066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Inicializar OpenSpec</a:t>
            </a:r>
          </a:p>
        </p:txBody>
      </p:sp>
      <p:sp>
        <p:nvSpPr>
          <p:cNvPr id="33" name="step badge">
            <a:extLst xmlns:a="http://schemas.openxmlformats.org/drawingml/2006/main">
              <a:ext uri="{FF2B5EF4-FFF2-40B4-BE49-F238E27FC236}">
                <a16:creationId xmlns:a16="http://schemas.microsoft.com/office/drawing/2014/main" id="{F847D1BF-46BD-4DF2-B380-8B54F063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22783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562728BD-4EA5-4E11-94AE-DBCAE085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227832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5D94DD1A-A52A-404B-8B83-DAD493FD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112" y="3200400"/>
            <a:ext cx="27066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Explorar y proponer</a:t>
            </a:r>
          </a:p>
        </p:txBody>
      </p:sp>
      <p:sp>
        <p:nvSpPr>
          <p:cNvPr id="36" name="step badge">
            <a:extLst xmlns:a="http://schemas.openxmlformats.org/drawingml/2006/main">
              <a:ext uri="{FF2B5EF4-FFF2-40B4-BE49-F238E27FC236}">
                <a16:creationId xmlns:a16="http://schemas.microsoft.com/office/drawing/2014/main" id="{2D3D2BB4-A3F5-4288-A9BA-AC28AC1B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67131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EE1C9F26-6D73-4EA9-B804-11DE7072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67131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033B0C6D-5005-4354-8936-DE660FB3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112" y="3643884"/>
            <a:ext cx="27066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Revisar artefactos</a:t>
            </a:r>
          </a:p>
        </p:txBody>
      </p:sp>
      <p:sp>
        <p:nvSpPr>
          <p:cNvPr id="39" name="step badge">
            <a:extLst xmlns:a="http://schemas.openxmlformats.org/drawingml/2006/main">
              <a:ext uri="{FF2B5EF4-FFF2-40B4-BE49-F238E27FC236}">
                <a16:creationId xmlns:a16="http://schemas.microsoft.com/office/drawing/2014/main" id="{606703D4-67A8-4AB6-9271-AAB02FD2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1148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A0E25D32-9570-49CC-ADD9-E4BFA14E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1148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5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5852369C-22DA-4169-8F2A-5CAFC2B3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112" y="4087368"/>
            <a:ext cx="27066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A423D"/>
                </a:solidFill>
                <a:latin typeface="Calibri"/>
                <a:ea typeface="Calibri"/>
                <a:cs typeface="Calibri"/>
              </a:rPr>
              <a:t>Aplicar y validar</a:t>
            </a:r>
          </a:p>
        </p:txBody>
      </p:sp>
      <p:sp>
        <p:nvSpPr>
          <p:cNvPr id="42" name="step badge">
            <a:extLst xmlns:a="http://schemas.openxmlformats.org/drawingml/2006/main">
              <a:ext uri="{FF2B5EF4-FFF2-40B4-BE49-F238E27FC236}">
                <a16:creationId xmlns:a16="http://schemas.microsoft.com/office/drawing/2014/main" id="{9AB619DA-18F9-4744-BCE1-4A98CC2E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55828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D6C229C8-3F34-448E-9D12-E48AF1B9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55828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6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0673B1AA-7AD2-4FB2-94BA-9FB551CA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112" y="4530852"/>
            <a:ext cx="27066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Sincronizar y archivar</a:t>
            </a:r>
          </a:p>
        </p:txBody>
      </p:sp>
      <p:sp>
        <p:nvSpPr>
          <p:cNvPr id="45" name="message">
            <a:extLst xmlns:a="http://schemas.openxmlformats.org/drawingml/2006/main">
              <a:ext uri="{FF2B5EF4-FFF2-40B4-BE49-F238E27FC236}">
                <a16:creationId xmlns:a16="http://schemas.microsoft.com/office/drawing/2014/main" id="{AD8EEE29-46B5-4011-AF7D-6D8055F9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9240"/>
            <a:ext cx="10817352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9"/>
          </a:solidFill>
          <a:ln xmlns:a="http://schemas.openxmlformats.org/drawingml/2006/main" w="12700">
            <a:solidFill>
              <a:srgbClr val="ED1C29"/>
            </a:solidFill>
            <a:prstDash val="solid"/>
          </a:ln>
          <a:effectLst xmlns:a="http://schemas.openxmlformats.org/drawingml/2006/main">
            <a:outerShdw blurRad="114300" dist="38100" dir="5400000" algn="bl" rotWithShape="0">
              <a:srgbClr val="6B615C">
                <a:alpha val="9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04AB54D3-41A6-45CA-AB4D-20E6FDF4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349240"/>
            <a:ext cx="10177272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Próximo bloque: una historia de usuario completa con OpenSpec y GitHub Copilot.</a:t>
            </a:r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ADB5F939-5084-4789-94EC-EB19110D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7376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211915"/>
                </a:solidFill>
                <a:latin typeface="Calibri"/>
                <a:ea typeface="Calibri"/>
                <a:cs typeface="Calibri"/>
              </a:rPr>
              <a:t>Tuya   ·   Spec-Driven Development con OpenSpec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3330A4B2-386F-4148-97A7-5838B6CA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7376"/>
            <a:ext cx="53035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ED1C29"/>
                </a:solidFill>
                <a:latin typeface="Trebuchet MS"/>
                <a:ea typeface="Trebuchet MS"/>
                <a:cs typeface="Trebuchet MS"/>
              </a:rPr>
              <a:t>12</a:t>
            </a:r>
          </a:p>
        </p:txBody>
      </p:sp>
      <p:pic>
        <p:nvPicPr>
          <p:cNvPr id="110" name="Logo Tuy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3d57b01be45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52200" y="321276"/>
            <a:ext cx="640080" cy="3200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254810"/>
      </p:ext>
    </p:extLst>
  </p:cSld>
</p:sld>
</file>

<file path=ppt/theme/theme1.xml><?xml version="1.0" encoding="utf-8"?>
<a:theme xmlns:a="http://schemas.openxmlformats.org/drawingml/2006/main" name="Office Theme">
  <a:themeElements>
    <a:clrScheme name="TUYA Colombia">
      <a:dk1>
        <a:sysClr val="windowText" lastClr="000000"/>
      </a:dk1>
      <a:lt1>
        <a:sysClr val="window" lastClr="FFFFFF"/>
      </a:lt1>
      <a:dk2>
        <a:srgbClr val="211915"/>
      </a:dk2>
      <a:lt2>
        <a:srgbClr val="F3F1F0"/>
      </a:lt2>
      <a:accent1>
        <a:srgbClr val="ED1C29"/>
      </a:accent1>
      <a:accent2>
        <a:srgbClr val="211915"/>
      </a:accent2>
      <a:accent3>
        <a:srgbClr val="7A7A7A"/>
      </a:accent3>
      <a:accent4>
        <a:srgbClr val="77C3CD"/>
      </a:accent4>
      <a:accent5>
        <a:srgbClr val="9CCB49"/>
      </a:accent5>
      <a:accent6>
        <a:srgbClr val="C9E4DC"/>
      </a:accent6>
      <a:hlink>
        <a:srgbClr val="ED1C29"/>
      </a:hlink>
      <a:folHlink>
        <a:srgbClr val="B71C2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UYA Colombi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2026-08-05T02:43:44.6770000Z</dcterms:created>
  <dcterms:modified xsi:type="dcterms:W3CDTF">2026-08-05T02:43:44.6770000Z</dcterms:modified>
</coreProperties>
</file>