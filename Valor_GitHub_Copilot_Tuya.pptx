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62" r:id="rId3"/>
    <p:sldId id="267" r:id="rId4"/>
    <p:sldId id="265" r:id="rId5"/>
  </p:sldIdLst>
  <p:sldSz cx="12192000" cy="6858000"/>
  <p:notesSz cx="6858000" cy="9144000"/>
  <p:defaultTextStyle>
    <a:defPPr>
      <a:defRPr lang="es-419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6813" autoAdjust="0"/>
  </p:normalViewPr>
  <p:slideViewPr>
    <p:cSldViewPr snapToGrid="0">
      <p:cViewPr varScale="1">
        <p:scale>
          <a:sx n="122" d="100"/>
          <a:sy n="122" d="100"/>
        </p:scale>
        <p:origin x="7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419" dirty="0"/>
              <a:t>~1 min · Apertura</a:t>
            </a:r>
            <a:endParaRPr dirty="0"/>
          </a:p>
          <a:p>
            <a:endParaRPr dirty="0"/>
          </a:p>
          <a:p>
            <a:r>
              <a:rPr lang="es-419"/>
              <a:t>Hoy no venimos a hablar de cuantas horas ahorra GitHub Copilot, sino de que puede hacer cada equipo con la capacidad que Copilot genera.</a:t>
            </a:r>
          </a:p>
          <a:p>
            <a:endParaRPr dirty="0"/>
          </a:p>
          <a:p>
            <a:r>
              <a:rPr lang="es-419"/>
              <a:t>La pregunta que guia la sesion: como convertimos capacidad tecnica en resultados medibles para el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419"/>
              <a:t>~2 min · Lo que Copilot ya demostró en la PoC</a:t>
            </a:r>
          </a:p>
          <a:p>
            <a:endParaRPr/>
          </a:p>
          <a:p>
            <a:r>
              <a:rPr lang="es-419"/>
              <a:t>Arrancamos con evidencia interna. En la prueba de concepto de migración, la estimación construida mediante juicio experto era de 50 horas y la ejecución con Copilot tomó 2 horas y 18 minutos: una diferencia de 47 horas y 42 minutos, </a:t>
            </a:r>
            <a:r>
              <a:rPr lang="es-ES"/>
              <a:t>equivalente a una reducción estimada del esfuerzo del 95,4 %.</a:t>
            </a:r>
          </a:p>
          <a:p>
            <a:endParaRPr lang="es-ES"/>
          </a:p>
          <a:p>
            <a:r>
              <a:rPr lang="es-ES"/>
              <a:t>Conviene </a:t>
            </a:r>
            <a:r>
              <a:rPr lang="es-419"/>
              <a:t>decirlo con precisión: esto es capacidad técnica potencialmente liberada frente a una estimación, no ROI ni ahorro financiero. Nadie dejó de pagar 47 horas.</a:t>
            </a:r>
          </a:p>
          <a:p>
            <a:endParaRPr/>
          </a:p>
          <a:p>
            <a:r>
              <a:rPr lang="es-419"/>
              <a:t>Los datos de soporte dan contexto: cinco casos con medición completa, todos terminaron el flujo entre 15 y 35 minutos, y las estimaciones previas iban de 2 a 24 horas</a:t>
            </a:r>
            <a:r>
              <a:rPr lang="es-ES"/>
              <a:t>. Los casos cubrieron aplicaciones desde .NET Core 3.1 y versiones intermedias hasta .NET 8, migrando hacia .NET 10, aplicando los estándares y prácticas de desarrollo de Tuya. El código generado requirió pocas correcciones en la etapa evaluada.</a:t>
            </a:r>
          </a:p>
          <a:p>
            <a:endParaRPr lang="es-ES"/>
          </a:p>
          <a:p>
            <a:r>
              <a:rPr lang="es-ES"/>
              <a:t>La nota metodológica es parte del mensaje: comparamos contra juicio experto</a:t>
            </a:r>
            <a:r>
              <a:rPr lang="es-419"/>
              <a:t>, no hubo migraciones manuales paralelas como grupo de control y las pruebas funcionales estaban pendientes al cerrar la medición.</a:t>
            </a:r>
          </a:p>
          <a:p>
            <a:endParaRPr/>
          </a:p>
          <a:p>
            <a:r>
              <a:rPr lang="es-419"/>
              <a:t>Cierre de la lámina: la PoC demostró capacidad técnica. La conversación de hoy es qué hacemos con esa capacidad y qué resultado produce.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~2 min · De capacidad técnica a valor</a:t>
            </a:r>
          </a:p>
          <a:p>
            <a:endParaRPr lang="es-ES"/>
          </a:p>
          <a:p>
            <a:r>
              <a:rPr lang="es-ES"/>
              <a:t>Copilot genera capacidad; el valor depende de lo que hacemos con esa capacidad. La cadena es simple: Copilot, capacidad adicional, decisión sobre dónde utilizarla y resultado operativo o de negocio.</a:t>
            </a:r>
          </a:p>
          <a:p>
            <a:endParaRPr lang="es-ES"/>
          </a:p>
          <a:p>
            <a:r>
              <a:rPr lang="es-ES"/>
              <a:t>Esa capacidad puede ir a cuatro destinos: lo mismo con menos, más con lo mismo, valor antes, o menos pérdida o riesgo. Cada equipo elige el que representa su realidad.</a:t>
            </a:r>
          </a:p>
          <a:p>
            <a:endParaRPr lang="es-ES"/>
          </a:p>
          <a:p>
            <a:r>
              <a:rPr lang="es-ES"/>
              <a:t>El ejemplo de la lámina es ilustrativo y no representa un resultado medido en Tuya. La idea central: las horas liberadas representan capacidad, no ahorro; solo hay valor cuando esa capacidad produce un resultado observable.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419"/>
              <a:t>~2 min · </a:t>
            </a:r>
            <a:r>
              <a:rPr lang="es-MX"/>
              <a:t>Decisión de inversión y licencias</a:t>
            </a:r>
          </a:p>
          <a:p>
            <a:endParaRPr lang="es-MX"/>
          </a:p>
          <a:p>
            <a:r>
              <a:rPr lang="es-MX"/>
              <a:t>La decisión compara </a:t>
            </a:r>
            <a:r>
              <a:rPr lang="es-ES"/>
              <a:t>el costo real de las licencias con una hipótesis de valor medible: hipótesis de valor, resultado esperado, costo de las licencias y decisión. La continuidad se valida después con evidencia observada.</a:t>
            </a:r>
          </a:p>
          <a:p>
            <a:endParaRPr lang="es-ES"/>
          </a:p>
          <a:p>
            <a:r>
              <a:rPr lang="es-ES"/>
              <a:t>En licencias: Aleyda Maria Hincapie Alvarez 10 cubiertos y 5 por comprar; Beatriz Elena Cano Gonzalez 6 y 4; Cesar Augusto Herrera Quiroz 3 y 2. En total 19 cubiertos y 11 licencias adicionales requeridas, con el detalle por célula en la lámina.</a:t>
            </a:r>
          </a:p>
          <a:p>
            <a:endParaRPr lang="es-ES"/>
          </a:p>
          <a:p>
            <a:r>
              <a:rPr lang="es-ES"/>
              <a:t>El dato de cubiertos de Remesas está por validar. Todavía no presentamos costo mensual, anual, ROI ni payback porque el precio de la licencia no está confirmado.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07EB1B0-9209-4743-A5FD-8504D5188A2F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85800" y="658368"/>
            <a:ext cx="10789920" cy="822960"/>
          </a:xfrm>
          <a:prstGeom prst="rect">
            <a:avLst/>
          </a:prstGeom>
          <a:noFill/>
        </p:spPr>
        <p:txBody>
          <a:bodyPr wrap="square"/>
          <a:lstStyle>
            <a:lvl1pPr marL="0" indent="0">
              <a:buNone/>
              <a:defRPr/>
            </a:lvl1pPr>
          </a:lstStyle>
          <a:p>
            <a:pPr marL="0" indent="0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119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DA7C326-F063-4B6C-AAAF-5C8667C1C18F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777240" y="2331720"/>
            <a:ext cx="7680960" cy="1737360"/>
          </a:xfrm>
          <a:prstGeom prst="rect">
            <a:avLst/>
          </a:prstGeom>
          <a:noFill/>
        </p:spPr>
        <p:txBody>
          <a:bodyPr wrap="square"/>
          <a:lstStyle>
            <a:lvl1pPr marL="0" indent="0">
              <a:buNone/>
              <a:defRPr/>
            </a:lvl1pPr>
          </a:lstStyle>
          <a:p>
            <a:pPr marL="0" indent="0"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1C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4A7FF53-E78D-4830-9BA8-B8E75FBE78D3}"/>
              </a:ext>
            </a:extLst>
          </p:cNvPr>
          <p:cNvSpPr>
            <a:spLocks noGrp="1"/>
          </p:cNvSpPr>
          <p:nvPr/>
        </p:nvSpPr>
        <p:spPr>
          <a:xfrm>
            <a:off x="822960" y="1847088"/>
            <a:ext cx="73152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1250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TECNOLOGÍA Y NEGOCIO  ·  2026</a:t>
            </a:r>
            <a:endParaRPr sz="1250" b="1">
              <a:solidFill>
                <a:srgbClr val="FFFFFF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5D9BD458-659F-4214-9D81-FF6E9AA3F414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777240" y="2331720"/>
            <a:ext cx="7680960" cy="1737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3100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De la productividad</a:t>
            </a:r>
          </a:p>
          <a:p>
            <a:pPr marL="0" indent="0" algn="l">
              <a:buNone/>
            </a:pPr>
            <a:r>
              <a:rPr lang="en-US" sz="3100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al valor</a:t>
            </a:r>
            <a:endParaRPr sz="3100" b="1">
              <a:solidFill>
                <a:srgbClr val="FFFFFF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6" name="accent">
            <a:extLst>
              <a:ext uri="{FF2B5EF4-FFF2-40B4-BE49-F238E27FC236}">
                <a16:creationId xmlns:a16="http://schemas.microsoft.com/office/drawing/2014/main" id="{0734481B-9832-426D-830A-FBB69D420518}"/>
              </a:ext>
            </a:extLst>
          </p:cNvPr>
          <p:cNvSpPr>
            <a:spLocks noGrp="1"/>
          </p:cNvSpPr>
          <p:nvPr/>
        </p:nvSpPr>
        <p:spPr>
          <a:xfrm>
            <a:off x="822960" y="4224528"/>
            <a:ext cx="1051560" cy="54864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78C9822-7C11-461A-B4C7-8C0A464B37B4}"/>
              </a:ext>
            </a:extLst>
          </p:cNvPr>
          <p:cNvSpPr>
            <a:spLocks noGrp="1"/>
          </p:cNvSpPr>
          <p:nvPr/>
        </p:nvSpPr>
        <p:spPr>
          <a:xfrm>
            <a:off x="804672" y="4407408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1550">
                <a:solidFill>
                  <a:srgbClr val="E7E2DF"/>
                </a:solidFill>
                <a:latin typeface="Calibri"/>
                <a:ea typeface="Calibri"/>
                <a:cs typeface="Calibri"/>
              </a:rPr>
              <a:t>Cómo medir el impacto de GitHub Copilot</a:t>
            </a:r>
            <a:endParaRPr sz="1550">
              <a:solidFill>
                <a:srgbClr val="E7E2D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3730261-8883-470D-936E-A3EE4308BDF4}"/>
              </a:ext>
            </a:extLst>
          </p:cNvPr>
          <p:cNvSpPr>
            <a:spLocks noGrp="1"/>
          </p:cNvSpPr>
          <p:nvPr/>
        </p:nvSpPr>
        <p:spPr>
          <a:xfrm>
            <a:off x="804672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Tuya      Sesión ejecutiva      Tecnología y Negocio</a:t>
            </a:r>
            <a:endParaRPr sz="125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FDE7B6D-7954-4AF2-89FA-15912E1E9C50}"/>
              </a:ext>
            </a:extLst>
          </p:cNvPr>
          <p:cNvSpPr>
            <a:spLocks noGrp="1"/>
          </p:cNvSpPr>
          <p:nvPr/>
        </p:nvSpPr>
        <p:spPr>
          <a:xfrm>
            <a:off x="8778240" y="6272784"/>
            <a:ext cx="28803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9A928C"/>
                </a:solidFill>
                <a:latin typeface="Trebuchet MS"/>
                <a:ea typeface="Trebuchet MS"/>
                <a:cs typeface="Trebuchet MS"/>
              </a:rPr>
              <a:t>Copilot  ·  Valor</a:t>
            </a:r>
            <a:endParaRPr sz="1000" b="1">
              <a:solidFill>
                <a:srgbClr val="9A928C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20" name="Logo Card">
            <a:extLst>
              <a:ext uri="{FF2B5EF4-FFF2-40B4-BE49-F238E27FC236}">
                <a16:creationId xmlns:a16="http://schemas.microsoft.com/office/drawing/2014/main" id="{20EA5C85-926F-40D8-9F8F-441A18E914B8}"/>
              </a:ext>
            </a:extLst>
          </p:cNvPr>
          <p:cNvSpPr>
            <a:spLocks noGrp="1"/>
          </p:cNvSpPr>
          <p:nvPr/>
        </p:nvSpPr>
        <p:spPr>
          <a:xfrm>
            <a:off x="822960" y="470000"/>
            <a:ext cx="24384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29" name="Imagen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60" y="660080"/>
            <a:ext cx="180000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984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101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02" name="tb102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ED1C29"/>
                </a:solidFill>
              </a:rPr>
              <a:t>EVIDENCIA INTERNA · PRUEBA DE CONCEPTO</a:t>
            </a:r>
          </a:p>
        </p:txBody>
      </p:sp>
      <p:sp>
        <p:nvSpPr>
          <p:cNvPr id="103" name="tb103"/>
          <p:cNvSpPr txBox="1"/>
          <p:nvPr/>
        </p:nvSpPr>
        <p:spPr>
          <a:xfrm>
            <a:off x="658368" y="713232"/>
            <a:ext cx="932688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211915"/>
                </a:solidFill>
              </a:rPr>
              <a:t>Lo que Copilot ya demostró en la PoC</a:t>
            </a:r>
          </a:p>
        </p:txBody>
      </p:sp>
      <p:sp>
        <p:nvSpPr>
          <p:cNvPr id="104" name="tb104"/>
          <p:cNvSpPr txBox="1"/>
          <p:nvPr/>
        </p:nvSpPr>
        <p:spPr>
          <a:xfrm>
            <a:off x="658368" y="1316736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350" b="0" i="0">
                <a:solidFill>
                  <a:srgbClr val="7A7A7A"/>
                </a:solidFill>
              </a:rPr>
              <a:t>La migración permitió comprobar que Copilot puede liberar una capacidad técnica significativa.</a:t>
            </a:r>
          </a:p>
        </p:txBody>
      </p:sp>
      <p:sp>
        <p:nvSpPr>
          <p:cNvPr id="105" name="tb105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106" name="tb106"/>
          <p:cNvSpPr txBox="1"/>
          <p:nvPr/>
        </p:nvSpPr>
        <p:spPr>
          <a:xfrm>
            <a:off x="10433304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02</a:t>
            </a:r>
          </a:p>
        </p:txBody>
      </p:sp>
      <p:pic>
        <p:nvPicPr>
          <p:cNvPr id="900" name="Log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  <p:sp>
        <p:nvSpPr>
          <p:cNvPr id="107" name="sh107"/>
          <p:cNvSpPr/>
          <p:nvPr/>
        </p:nvSpPr>
        <p:spPr>
          <a:xfrm>
            <a:off x="658368" y="1847088"/>
            <a:ext cx="4114800" cy="1783080"/>
          </a:xfrm>
          <a:prstGeom prst="rect">
            <a:avLst/>
          </a:prstGeom>
          <a:noFill/>
          <a:ln w="12700">
            <a:solidFill>
              <a:srgbClr val="E3E0DE"/>
            </a:solidFill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08" name="tb108"/>
          <p:cNvSpPr txBox="1"/>
          <p:nvPr/>
        </p:nvSpPr>
        <p:spPr>
          <a:xfrm>
            <a:off x="658368" y="2167128"/>
            <a:ext cx="4114800" cy="658368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4000" b="1" i="0">
                <a:solidFill>
                  <a:srgbClr val="211915"/>
                </a:solidFill>
              </a:rPr>
              <a:t>50 h</a:t>
            </a:r>
          </a:p>
        </p:txBody>
      </p:sp>
      <p:sp>
        <p:nvSpPr>
          <p:cNvPr id="109" name="tb109"/>
          <p:cNvSpPr txBox="1"/>
          <p:nvPr/>
        </p:nvSpPr>
        <p:spPr>
          <a:xfrm>
            <a:off x="658368" y="2971800"/>
            <a:ext cx="4114800" cy="457200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211915"/>
                </a:solidFill>
              </a:rPr>
              <a:t>Estimación sin Copilot</a:t>
            </a: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lang="es-ES" sz="1000" b="0" i="0">
                <a:solidFill>
                  <a:srgbClr val="7A7A7A"/>
                </a:solidFill>
              </a:rPr>
              <a:t>Juicio experto</a:t>
            </a:r>
          </a:p>
        </p:txBody>
      </p:sp>
      <p:sp>
        <p:nvSpPr>
          <p:cNvPr id="110" name="sh110"/>
          <p:cNvSpPr/>
          <p:nvPr/>
        </p:nvSpPr>
        <p:spPr>
          <a:xfrm>
            <a:off x="4956048" y="1847088"/>
            <a:ext cx="6574536" cy="1783080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11" name="tb111"/>
          <p:cNvSpPr txBox="1"/>
          <p:nvPr/>
        </p:nvSpPr>
        <p:spPr>
          <a:xfrm>
            <a:off x="4956048" y="2121408"/>
            <a:ext cx="6574536" cy="850392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5400" b="1" i="0">
                <a:solidFill>
                  <a:srgbClr val="FFFFFF"/>
                </a:solidFill>
              </a:rPr>
              <a:t>2 h 18 min</a:t>
            </a:r>
          </a:p>
        </p:txBody>
      </p:sp>
      <p:sp>
        <p:nvSpPr>
          <p:cNvPr id="112" name="tb112"/>
          <p:cNvSpPr txBox="1"/>
          <p:nvPr/>
        </p:nvSpPr>
        <p:spPr>
          <a:xfrm>
            <a:off x="4956048" y="2971800"/>
            <a:ext cx="6574536" cy="457200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FFFFFF"/>
                </a:solidFill>
              </a:rPr>
              <a:t>Ejecución con Copilot</a:t>
            </a: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lang="es-ES" sz="1000" b="0" i="0">
                <a:solidFill>
                  <a:srgbClr val="FBD3D5"/>
                </a:solidFill>
              </a:rPr>
              <a:t>Tiempo real observado</a:t>
            </a:r>
          </a:p>
        </p:txBody>
      </p:sp>
      <p:sp>
        <p:nvSpPr>
          <p:cNvPr id="113" name="sh113"/>
          <p:cNvSpPr/>
          <p:nvPr/>
        </p:nvSpPr>
        <p:spPr>
          <a:xfrm>
            <a:off x="658368" y="3794760"/>
            <a:ext cx="5120640" cy="914400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14" name="tb114"/>
          <p:cNvSpPr txBox="1"/>
          <p:nvPr/>
        </p:nvSpPr>
        <p:spPr>
          <a:xfrm>
            <a:off x="658368" y="3886200"/>
            <a:ext cx="5120640" cy="411480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 lnSpcReduction="10000"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FFFFFF"/>
                </a:solidFill>
              </a:rPr>
              <a:t>95,4 %</a:t>
            </a:r>
          </a:p>
        </p:txBody>
      </p:sp>
      <p:sp>
        <p:nvSpPr>
          <p:cNvPr id="115" name="tb115"/>
          <p:cNvSpPr txBox="1"/>
          <p:nvPr/>
        </p:nvSpPr>
        <p:spPr>
          <a:xfrm>
            <a:off x="658368" y="4297680"/>
            <a:ext cx="5120640" cy="365760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100" b="1" i="0">
                <a:solidFill>
                  <a:srgbClr val="FFFFFF"/>
                </a:solidFill>
              </a:rPr>
              <a:t>Reducción estimada del esfuerzo</a:t>
            </a: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lang="es-ES" sz="900" b="0" i="0">
                <a:solidFill>
                  <a:srgbClr val="BFB9B6"/>
                </a:solidFill>
              </a:rPr>
              <a:t>Diferencia de 47 h 42 min frente a la estimación</a:t>
            </a:r>
          </a:p>
        </p:txBody>
      </p:sp>
      <p:sp>
        <p:nvSpPr>
          <p:cNvPr id="116" name="sh116"/>
          <p:cNvSpPr/>
          <p:nvPr/>
        </p:nvSpPr>
        <p:spPr>
          <a:xfrm>
            <a:off x="6035040" y="3794760"/>
            <a:ext cx="1783080" cy="19050"/>
          </a:xfrm>
          <a:prstGeom prst="rect">
            <a:avLst/>
          </a:prstGeom>
          <a:solidFill>
            <a:srgbClr val="D0CCCA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7" name="tb117"/>
          <p:cNvSpPr txBox="1"/>
          <p:nvPr/>
        </p:nvSpPr>
        <p:spPr>
          <a:xfrm>
            <a:off x="6035040" y="39776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211915"/>
                </a:solidFill>
              </a:rPr>
              <a:t>5</a:t>
            </a:r>
          </a:p>
        </p:txBody>
      </p:sp>
      <p:sp>
        <p:nvSpPr>
          <p:cNvPr id="118" name="tb118"/>
          <p:cNvSpPr txBox="1"/>
          <p:nvPr/>
        </p:nvSpPr>
        <p:spPr>
          <a:xfrm>
            <a:off x="6035040" y="425196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0" i="0">
                <a:solidFill>
                  <a:srgbClr val="7A7A7A"/>
                </a:solidFill>
              </a:rPr>
              <a:t>casos medidos con flujo completo</a:t>
            </a:r>
          </a:p>
        </p:txBody>
      </p:sp>
      <p:sp>
        <p:nvSpPr>
          <p:cNvPr id="119" name="sh119"/>
          <p:cNvSpPr/>
          <p:nvPr/>
        </p:nvSpPr>
        <p:spPr>
          <a:xfrm>
            <a:off x="7863840" y="3794760"/>
            <a:ext cx="1783080" cy="19050"/>
          </a:xfrm>
          <a:prstGeom prst="rect">
            <a:avLst/>
          </a:prstGeom>
          <a:solidFill>
            <a:srgbClr val="D0CCCA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20" name="tb120"/>
          <p:cNvSpPr txBox="1"/>
          <p:nvPr/>
        </p:nvSpPr>
        <p:spPr>
          <a:xfrm>
            <a:off x="7863840" y="39776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211915"/>
                </a:solidFill>
              </a:rPr>
              <a:t>15 a 35 min</a:t>
            </a:r>
          </a:p>
        </p:txBody>
      </p:sp>
      <p:sp>
        <p:nvSpPr>
          <p:cNvPr id="121" name="tb121"/>
          <p:cNvSpPr txBox="1"/>
          <p:nvPr/>
        </p:nvSpPr>
        <p:spPr>
          <a:xfrm>
            <a:off x="7863840" y="425196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0" i="0">
                <a:solidFill>
                  <a:srgbClr val="7A7A7A"/>
                </a:solidFill>
              </a:rPr>
              <a:t>por migración medida</a:t>
            </a:r>
          </a:p>
        </p:txBody>
      </p:sp>
      <p:sp>
        <p:nvSpPr>
          <p:cNvPr id="122" name="sh122"/>
          <p:cNvSpPr/>
          <p:nvPr/>
        </p:nvSpPr>
        <p:spPr>
          <a:xfrm>
            <a:off x="9692640" y="3794760"/>
            <a:ext cx="1783080" cy="19050"/>
          </a:xfrm>
          <a:prstGeom prst="rect">
            <a:avLst/>
          </a:prstGeom>
          <a:solidFill>
            <a:srgbClr val="D0CCCA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23" name="tb123"/>
          <p:cNvSpPr txBox="1"/>
          <p:nvPr/>
        </p:nvSpPr>
        <p:spPr>
          <a:xfrm>
            <a:off x="9692640" y="39776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00" b="1" i="0">
                <a:solidFill>
                  <a:srgbClr val="211915"/>
                </a:solidFill>
              </a:rPr>
              <a:t>.NET Core 3.1 a .NET 8</a:t>
            </a:r>
          </a:p>
        </p:txBody>
      </p:sp>
      <p:sp>
        <p:nvSpPr>
          <p:cNvPr id="124" name="tb124"/>
          <p:cNvSpPr txBox="1"/>
          <p:nvPr/>
        </p:nvSpPr>
        <p:spPr>
          <a:xfrm>
            <a:off x="9692640" y="425196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0" i="0">
                <a:solidFill>
                  <a:srgbClr val="7A7A7A"/>
                </a:solidFill>
              </a:rPr>
              <a:t>migraciones hacia .NET 10</a:t>
            </a:r>
          </a:p>
        </p:txBody>
      </p:sp>
      <p:sp>
        <p:nvSpPr>
          <p:cNvPr id="125" name="sh125"/>
          <p:cNvSpPr/>
          <p:nvPr/>
        </p:nvSpPr>
        <p:spPr>
          <a:xfrm>
            <a:off x="658368" y="4864608"/>
            <a:ext cx="10872216" cy="566928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26" name="tb126"/>
          <p:cNvSpPr txBox="1"/>
          <p:nvPr/>
        </p:nvSpPr>
        <p:spPr>
          <a:xfrm>
            <a:off x="658368" y="5010912"/>
            <a:ext cx="10872216" cy="310896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350" b="1" i="0">
                <a:solidFill>
                  <a:srgbClr val="FFFFFF"/>
                </a:solidFill>
              </a:rPr>
              <a:t>La PoC demostró capacidad técnica. Ahora debemos determinar qué hacemos con esa capacidad y qué resultado produce.</a:t>
            </a:r>
          </a:p>
        </p:txBody>
      </p:sp>
      <p:sp>
        <p:nvSpPr>
          <p:cNvPr id="127" name="tb127"/>
          <p:cNvSpPr txBox="1"/>
          <p:nvPr/>
        </p:nvSpPr>
        <p:spPr>
          <a:xfrm>
            <a:off x="658368" y="5614416"/>
            <a:ext cx="10872216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1">
                <a:solidFill>
                  <a:srgbClr val="7A7A7A"/>
                </a:solidFill>
              </a:rPr>
              <a:t>Nota metodológica: la comparación se realizó contra estimaciones definidas mediante juicio experto. No se realizaron migraciones manuales paralelas como grupo de control. El código generado requirió pocas correcciones en la etapa evaluada y las pruebas funcionales estaban pendientes.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>
            <a:normAutofit fontScale="62500" lnSpcReduction="20000"/>
          </a:bodyPr>
          <a:lstStyle/>
          <a:p>
            <a:endParaRPr lang="es-ES"/>
          </a:p>
        </p:txBody>
      </p:sp>
      <p:sp>
        <p:nvSpPr>
          <p:cNvPr id="27" name="tb27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 spc="50">
                <a:solidFill>
                  <a:srgbClr val="ED1C29"/>
                </a:solidFill>
              </a:rPr>
              <a:t>DE CAPACIDAD TÉCNICA A VALOR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658368" y="640080"/>
            <a:ext cx="9326880" cy="1371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 dirty="0" err="1">
                <a:solidFill>
                  <a:srgbClr val="211915"/>
                </a:solidFill>
              </a:rPr>
              <a:t>Copilot</a:t>
            </a:r>
            <a:r>
              <a:rPr lang="es-ES" sz="3000" b="1" i="0" dirty="0">
                <a:solidFill>
                  <a:srgbClr val="211915"/>
                </a:solidFill>
              </a:rPr>
              <a:t> genera capacidad. El valor depende de lo que hacemos con ella.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 dirty="0" err="1">
                <a:solidFill>
                  <a:srgbClr val="211915"/>
                </a:solidFill>
              </a:rPr>
              <a:t>Copilot</a:t>
            </a:r>
            <a:r>
              <a:rPr lang="es-ES" sz="3000" b="1" i="0" dirty="0">
                <a:solidFill>
                  <a:srgbClr val="211915"/>
                </a:solidFill>
              </a:rPr>
              <a:t> → capacidad → decisión de uso → resultado</a:t>
            </a:r>
          </a:p>
        </p:txBody>
      </p:sp>
      <p:sp>
        <p:nvSpPr>
          <p:cNvPr id="40" name="rule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377440"/>
            <a:ext cx="2788920" cy="5486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41" name="tbA"/>
          <p:cNvSpPr txBox="1"/>
          <p:nvPr/>
        </p:nvSpPr>
        <p:spPr>
          <a:xfrm>
            <a:off x="658368" y="2697480"/>
            <a:ext cx="2788920" cy="1371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500" b="1" i="0" spc="50">
                <a:solidFill>
                  <a:srgbClr val="211915"/>
                </a:solidFill>
              </a:rPr>
              <a:t>LO MISMO CON MENOS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200" b="0" i="0">
                <a:solidFill>
                  <a:srgbClr val="5A5A5A"/>
                </a:solidFill>
              </a:rPr>
              <a:t>Mantener el resultado con menor costo o menor capacidad externa.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43" name="ruleB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03320" y="2377440"/>
            <a:ext cx="2606040" cy="54864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44" name="tbB"/>
          <p:cNvSpPr txBox="1"/>
          <p:nvPr/>
        </p:nvSpPr>
        <p:spPr>
          <a:xfrm>
            <a:off x="3703320" y="2697480"/>
            <a:ext cx="2606040" cy="1371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500" b="1" i="0" spc="50">
                <a:solidFill>
                  <a:srgbClr val="211915"/>
                </a:solidFill>
              </a:rPr>
              <a:t>MÁS CON LO MISMO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200" b="0" i="0">
                <a:solidFill>
                  <a:srgbClr val="5A5A5A"/>
                </a:solidFill>
              </a:rPr>
              <a:t>La misma estructura entrega más trabajo o más iniciativas.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46" name="rul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37960" y="2377440"/>
            <a:ext cx="2331720" cy="5486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47" name="tbC"/>
          <p:cNvSpPr txBox="1"/>
          <p:nvPr/>
        </p:nvSpPr>
        <p:spPr>
          <a:xfrm>
            <a:off x="6537960" y="2697480"/>
            <a:ext cx="2331720" cy="1371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500" b="1" i="0" spc="50">
                <a:solidFill>
                  <a:srgbClr val="211915"/>
                </a:solidFill>
              </a:rPr>
              <a:t>VALOR ANTES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200" b="0" i="0">
                <a:solidFill>
                  <a:srgbClr val="5A5A5A"/>
                </a:solidFill>
              </a:rPr>
              <a:t>Una iniciativa o beneficio llega antes.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49" name="rule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98280" y="2377440"/>
            <a:ext cx="2423160" cy="54864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50" name="tbD"/>
          <p:cNvSpPr txBox="1"/>
          <p:nvPr/>
        </p:nvSpPr>
        <p:spPr>
          <a:xfrm>
            <a:off x="9098280" y="2697480"/>
            <a:ext cx="2423160" cy="1371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500" b="1" i="0" spc="50">
                <a:solidFill>
                  <a:srgbClr val="211915"/>
                </a:solidFill>
              </a:rPr>
              <a:t>MENOS PÉRDIDA O RIESGO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200" b="0" i="0">
                <a:solidFill>
                  <a:srgbClr val="5A5A5A"/>
                </a:solidFill>
              </a:rPr>
              <a:t>Menos defectos, reprocesos, incidentes o pérdidas operacionales.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25" name="sh25"/>
          <p:cNvSpPr/>
          <p:nvPr/>
        </p:nvSpPr>
        <p:spPr>
          <a:xfrm>
            <a:off x="658368" y="4663440"/>
            <a:ext cx="10875234" cy="685800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146304" tIns="73152" rIns="146304" bIns="73152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400" b="1" i="0">
                <a:solidFill>
                  <a:srgbClr val="FFFFFF"/>
                </a:solidFill>
              </a:rPr>
              <a:t>Ejemplo · Copilot → mayor capacidad interna → el equipo absorbe una actividad hoy tercerizada → menor costo operacional. Ejemplo ilustrativo, no es un resultado medido en Tuya</a:t>
            </a:r>
            <a:r>
              <a:rPr lang="es-ES" sz="1400" b="1" i="0" dirty="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29" name="tb29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10436322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03</a:t>
            </a:r>
          </a:p>
        </p:txBody>
      </p:sp>
      <p:pic>
        <p:nvPicPr>
          <p:cNvPr id="900" name="Logo Tuya" descr="Logo corporativ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101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02" name="tb102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ED1C29"/>
                </a:solidFill>
              </a:rPr>
              <a:t>CONSOLIDADO DE LICENCIAS</a:t>
            </a:r>
          </a:p>
        </p:txBody>
      </p:sp>
      <p:sp>
        <p:nvSpPr>
          <p:cNvPr id="103" name="tb103"/>
          <p:cNvSpPr txBox="1"/>
          <p:nvPr/>
        </p:nvSpPr>
        <p:spPr>
          <a:xfrm>
            <a:off x="658368" y="713232"/>
            <a:ext cx="9326880" cy="868680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211915"/>
                </a:solidFill>
              </a:rPr>
              <a:t>Cobertura actual, licencias adicionales y costo por Líder Técnico</a:t>
            </a:r>
          </a:p>
        </p:txBody>
      </p:sp>
      <p:sp>
        <p:nvSpPr>
          <p:cNvPr id="105" name="tb105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106" name="tb106"/>
          <p:cNvSpPr txBox="1"/>
          <p:nvPr/>
        </p:nvSpPr>
        <p:spPr>
          <a:xfrm>
            <a:off x="10433304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04</a:t>
            </a:r>
          </a:p>
        </p:txBody>
      </p:sp>
      <p:pic>
        <p:nvPicPr>
          <p:cNvPr id="900" name="Log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  <p:sp>
        <p:nvSpPr>
          <p:cNvPr id="107" name="sh107"/>
          <p:cNvSpPr/>
          <p:nvPr/>
        </p:nvSpPr>
        <p:spPr>
          <a:xfrm>
            <a:off x="658368" y="1645920"/>
            <a:ext cx="10872216" cy="713232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08" name="tb108"/>
          <p:cNvSpPr txBox="1"/>
          <p:nvPr/>
        </p:nvSpPr>
        <p:spPr>
          <a:xfrm>
            <a:off x="658368" y="1810512"/>
            <a:ext cx="10872216" cy="402336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 lnSpcReduction="10000"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2800" b="1" i="0" spc="50">
                <a:solidFill>
                  <a:srgbClr val="FFFFFF"/>
                </a:solidFill>
              </a:rPr>
              <a:t>11 LICENCIAS ADICIONALES · USD 209 / MES ESTIMADOS</a:t>
            </a:r>
          </a:p>
        </p:txBody>
      </p:sp>
      <p:sp>
        <p:nvSpPr>
          <p:cNvPr id="134" name="sh134"/>
          <p:cNvSpPr/>
          <p:nvPr/>
        </p:nvSpPr>
        <p:spPr>
          <a:xfrm>
            <a:off x="4261104" y="2560320"/>
            <a:ext cx="9525" cy="1097280"/>
          </a:xfrm>
          <a:prstGeom prst="rect">
            <a:avLst/>
          </a:prstGeom>
          <a:solidFill>
            <a:srgbClr val="BFB9B6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endParaRPr lang="es-ES"/>
          </a:p>
        </p:txBody>
      </p:sp>
      <p:sp>
        <p:nvSpPr>
          <p:cNvPr id="135" name="sh135"/>
          <p:cNvSpPr/>
          <p:nvPr/>
        </p:nvSpPr>
        <p:spPr>
          <a:xfrm>
            <a:off x="658368" y="4499610"/>
            <a:ext cx="10872216" cy="9525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09" name="sh109"/>
          <p:cNvSpPr/>
          <p:nvPr/>
        </p:nvSpPr>
        <p:spPr>
          <a:xfrm>
            <a:off x="658368" y="2468880"/>
            <a:ext cx="3538728" cy="1298448"/>
          </a:xfrm>
          <a:prstGeom prst="rect">
            <a:avLst/>
          </a:prstGeom>
          <a:solidFill>
            <a:srgbClr val="F5F3F2"/>
          </a:solidFill>
          <a:ln w="12700">
            <a:solidFill>
              <a:srgbClr val="E3E0DE"/>
            </a:solidFill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10" name="tb110"/>
          <p:cNvSpPr txBox="1"/>
          <p:nvPr/>
        </p:nvSpPr>
        <p:spPr>
          <a:xfrm>
            <a:off x="859536" y="2624328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 spc="50">
                <a:solidFill>
                  <a:srgbClr val="211915"/>
                </a:solidFill>
              </a:rPr>
              <a:t>19 LICENCIAS CUBIERTAS</a:t>
            </a:r>
          </a:p>
        </p:txBody>
      </p:sp>
      <p:sp>
        <p:nvSpPr>
          <p:cNvPr id="111" name="tb111"/>
          <p:cNvSpPr txBox="1"/>
          <p:nvPr/>
        </p:nvSpPr>
        <p:spPr>
          <a:xfrm>
            <a:off x="859536" y="2926080"/>
            <a:ext cx="3136392" cy="7315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7A7A7A"/>
                </a:solidFill>
              </a:rPr>
              <a:t>Usuarios cubiertos hoy.</a:t>
            </a:r>
          </a:p>
        </p:txBody>
      </p:sp>
      <p:sp>
        <p:nvSpPr>
          <p:cNvPr id="112" name="sh112"/>
          <p:cNvSpPr/>
          <p:nvPr/>
        </p:nvSpPr>
        <p:spPr>
          <a:xfrm>
            <a:off x="4325112" y="2468880"/>
            <a:ext cx="3538728" cy="1298448"/>
          </a:xfrm>
          <a:prstGeom prst="rect">
            <a:avLst/>
          </a:prstGeom>
          <a:noFill/>
          <a:ln w="12700">
            <a:solidFill>
              <a:srgbClr val="E3E0DE"/>
            </a:solidFill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13" name="tb113"/>
          <p:cNvSpPr txBox="1"/>
          <p:nvPr/>
        </p:nvSpPr>
        <p:spPr>
          <a:xfrm>
            <a:off x="4526280" y="2624328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 spc="50">
                <a:solidFill>
                  <a:srgbClr val="211915"/>
                </a:solidFill>
              </a:rPr>
              <a:t>11 LICENCIAS POR COMPRAR</a:t>
            </a:r>
          </a:p>
        </p:txBody>
      </p:sp>
      <p:sp>
        <p:nvSpPr>
          <p:cNvPr id="114" name="tb114"/>
          <p:cNvSpPr txBox="1"/>
          <p:nvPr/>
        </p:nvSpPr>
        <p:spPr>
          <a:xfrm>
            <a:off x="4526280" y="2926080"/>
            <a:ext cx="3136392" cy="7315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7A7A7A"/>
                </a:solidFill>
              </a:rPr>
              <a:t>Licencias adicionales requeridas.</a:t>
            </a:r>
          </a:p>
        </p:txBody>
      </p:sp>
      <p:sp>
        <p:nvSpPr>
          <p:cNvPr id="115" name="sh115"/>
          <p:cNvSpPr/>
          <p:nvPr/>
        </p:nvSpPr>
        <p:spPr>
          <a:xfrm>
            <a:off x="7991856" y="2468880"/>
            <a:ext cx="3538728" cy="1298448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16" name="tb116"/>
          <p:cNvSpPr txBox="1"/>
          <p:nvPr/>
        </p:nvSpPr>
        <p:spPr>
          <a:xfrm>
            <a:off x="8193024" y="2624328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 spc="50">
                <a:solidFill>
                  <a:srgbClr val="FFFFFF"/>
                </a:solidFill>
              </a:rPr>
              <a:t>USD 209 / MES</a:t>
            </a:r>
          </a:p>
        </p:txBody>
      </p:sp>
      <p:sp>
        <p:nvSpPr>
          <p:cNvPr id="117" name="tb117"/>
          <p:cNvSpPr txBox="1"/>
          <p:nvPr/>
        </p:nvSpPr>
        <p:spPr>
          <a:xfrm>
            <a:off x="8193024" y="2926080"/>
            <a:ext cx="3136392" cy="7315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FFFFFF"/>
                </a:solidFill>
              </a:rPr>
              <a:t>Costo adicional estimado · USD 2.508 al año.</a:t>
            </a:r>
          </a:p>
        </p:txBody>
      </p:sp>
      <p:sp>
        <p:nvSpPr>
          <p:cNvPr id="118" name="tb118"/>
          <p:cNvSpPr txBox="1"/>
          <p:nvPr/>
        </p:nvSpPr>
        <p:spPr>
          <a:xfrm>
            <a:off x="658368" y="3767328"/>
            <a:ext cx="10872216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00" b="1" i="0" spc="50">
                <a:solidFill>
                  <a:srgbClr val="7A7A7A"/>
                </a:solidFill>
              </a:rPr>
              <a:t>DETALLE POR LÍDER TÉCNICO</a:t>
            </a:r>
          </a:p>
        </p:txBody>
      </p:sp>
      <p:sp>
        <p:nvSpPr>
          <p:cNvPr id="200" name="tbHdr1"/>
          <p:cNvSpPr txBox="1"/>
          <p:nvPr/>
        </p:nvSpPr>
        <p:spPr>
          <a:xfrm>
            <a:off x="658368" y="4160520"/>
            <a:ext cx="42062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LÍDER TÉCNICO</a:t>
            </a:r>
          </a:p>
        </p:txBody>
      </p:sp>
      <p:sp>
        <p:nvSpPr>
          <p:cNvPr id="201" name="tbHdr2"/>
          <p:cNvSpPr txBox="1"/>
          <p:nvPr/>
        </p:nvSpPr>
        <p:spPr>
          <a:xfrm>
            <a:off x="5029200" y="4160520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CUBIERTOS</a:t>
            </a:r>
          </a:p>
        </p:txBody>
      </p:sp>
      <p:sp>
        <p:nvSpPr>
          <p:cNvPr id="202" name="tbHdr3"/>
          <p:cNvSpPr txBox="1"/>
          <p:nvPr/>
        </p:nvSpPr>
        <p:spPr>
          <a:xfrm>
            <a:off x="6583680" y="4160520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POR COMPRAR</a:t>
            </a:r>
          </a:p>
        </p:txBody>
      </p:sp>
      <p:sp>
        <p:nvSpPr>
          <p:cNvPr id="203" name="tbHdr4"/>
          <p:cNvSpPr txBox="1"/>
          <p:nvPr/>
        </p:nvSpPr>
        <p:spPr>
          <a:xfrm>
            <a:off x="8321040" y="4160520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COSTO MENSUAL</a:t>
            </a:r>
          </a:p>
        </p:txBody>
      </p:sp>
      <p:sp>
        <p:nvSpPr>
          <p:cNvPr id="204" name="tbHdr5"/>
          <p:cNvSpPr txBox="1"/>
          <p:nvPr/>
        </p:nvSpPr>
        <p:spPr>
          <a:xfrm>
            <a:off x="10012680" y="4160520"/>
            <a:ext cx="1517904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COSTO ANUAL</a:t>
            </a:r>
          </a:p>
        </p:txBody>
      </p:sp>
      <p:sp>
        <p:nvSpPr>
          <p:cNvPr id="205" name="tbR1C1"/>
          <p:cNvSpPr txBox="1"/>
          <p:nvPr/>
        </p:nvSpPr>
        <p:spPr>
          <a:xfrm>
            <a:off x="658368" y="4553712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Aleyda Maria Hincapie Alvarez</a:t>
            </a:r>
          </a:p>
        </p:txBody>
      </p:sp>
      <p:sp>
        <p:nvSpPr>
          <p:cNvPr id="206" name="tbR1C2"/>
          <p:cNvSpPr txBox="1"/>
          <p:nvPr/>
        </p:nvSpPr>
        <p:spPr>
          <a:xfrm>
            <a:off x="5029200" y="455371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10</a:t>
            </a:r>
          </a:p>
        </p:txBody>
      </p:sp>
      <p:sp>
        <p:nvSpPr>
          <p:cNvPr id="207" name="tbR1C3"/>
          <p:cNvSpPr txBox="1"/>
          <p:nvPr/>
        </p:nvSpPr>
        <p:spPr>
          <a:xfrm>
            <a:off x="6583680" y="4553712"/>
            <a:ext cx="155448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5</a:t>
            </a:r>
          </a:p>
        </p:txBody>
      </p:sp>
      <p:sp>
        <p:nvSpPr>
          <p:cNvPr id="208" name="tbR1C4"/>
          <p:cNvSpPr txBox="1"/>
          <p:nvPr/>
        </p:nvSpPr>
        <p:spPr>
          <a:xfrm>
            <a:off x="8321040" y="4553712"/>
            <a:ext cx="1600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USD 95</a:t>
            </a:r>
          </a:p>
        </p:txBody>
      </p:sp>
      <p:sp>
        <p:nvSpPr>
          <p:cNvPr id="209" name="tbR1C5"/>
          <p:cNvSpPr txBox="1"/>
          <p:nvPr/>
        </p:nvSpPr>
        <p:spPr>
          <a:xfrm>
            <a:off x="10012680" y="4553712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USD 1.140</a:t>
            </a:r>
          </a:p>
        </p:txBody>
      </p:sp>
      <p:sp>
        <p:nvSpPr>
          <p:cNvPr id="210" name="tbR2C1"/>
          <p:cNvSpPr txBox="1"/>
          <p:nvPr/>
        </p:nvSpPr>
        <p:spPr>
          <a:xfrm>
            <a:off x="658368" y="4919472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Beatriz Elena Cano Gonzalez</a:t>
            </a:r>
          </a:p>
        </p:txBody>
      </p:sp>
      <p:sp>
        <p:nvSpPr>
          <p:cNvPr id="211" name="tbR2C2"/>
          <p:cNvSpPr txBox="1"/>
          <p:nvPr/>
        </p:nvSpPr>
        <p:spPr>
          <a:xfrm>
            <a:off x="5029200" y="491947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6</a:t>
            </a:r>
          </a:p>
        </p:txBody>
      </p:sp>
      <p:sp>
        <p:nvSpPr>
          <p:cNvPr id="212" name="tbR2C3"/>
          <p:cNvSpPr txBox="1"/>
          <p:nvPr/>
        </p:nvSpPr>
        <p:spPr>
          <a:xfrm>
            <a:off x="6583680" y="4919472"/>
            <a:ext cx="155448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213" name="tbR2C4"/>
          <p:cNvSpPr txBox="1"/>
          <p:nvPr/>
        </p:nvSpPr>
        <p:spPr>
          <a:xfrm>
            <a:off x="8321040" y="4919472"/>
            <a:ext cx="1600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USD 76</a:t>
            </a:r>
          </a:p>
        </p:txBody>
      </p:sp>
      <p:sp>
        <p:nvSpPr>
          <p:cNvPr id="214" name="tbR2C5"/>
          <p:cNvSpPr txBox="1"/>
          <p:nvPr/>
        </p:nvSpPr>
        <p:spPr>
          <a:xfrm>
            <a:off x="10012680" y="4919472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USD 912</a:t>
            </a:r>
          </a:p>
        </p:txBody>
      </p:sp>
      <p:sp>
        <p:nvSpPr>
          <p:cNvPr id="215" name="tbR3C1"/>
          <p:cNvSpPr txBox="1"/>
          <p:nvPr/>
        </p:nvSpPr>
        <p:spPr>
          <a:xfrm>
            <a:off x="658368" y="5285232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Cesar Augusto Herrera Quiroz</a:t>
            </a:r>
          </a:p>
        </p:txBody>
      </p:sp>
      <p:sp>
        <p:nvSpPr>
          <p:cNvPr id="216" name="tbR3C2"/>
          <p:cNvSpPr txBox="1"/>
          <p:nvPr/>
        </p:nvSpPr>
        <p:spPr>
          <a:xfrm>
            <a:off x="5029200" y="528523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217" name="tbR3C3"/>
          <p:cNvSpPr txBox="1"/>
          <p:nvPr/>
        </p:nvSpPr>
        <p:spPr>
          <a:xfrm>
            <a:off x="6583680" y="5285232"/>
            <a:ext cx="155448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218" name="tbR3C4"/>
          <p:cNvSpPr txBox="1"/>
          <p:nvPr/>
        </p:nvSpPr>
        <p:spPr>
          <a:xfrm>
            <a:off x="8321040" y="5285232"/>
            <a:ext cx="1600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USD 38</a:t>
            </a:r>
          </a:p>
        </p:txBody>
      </p:sp>
      <p:sp>
        <p:nvSpPr>
          <p:cNvPr id="219" name="tbR3C5"/>
          <p:cNvSpPr txBox="1"/>
          <p:nvPr/>
        </p:nvSpPr>
        <p:spPr>
          <a:xfrm>
            <a:off x="10012680" y="5285232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USD 456</a:t>
            </a:r>
          </a:p>
        </p:txBody>
      </p:sp>
      <p:sp>
        <p:nvSpPr>
          <p:cNvPr id="220" name="tbR4C1"/>
          <p:cNvSpPr txBox="1"/>
          <p:nvPr/>
        </p:nvSpPr>
        <p:spPr>
          <a:xfrm>
            <a:off x="658368" y="5650992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TOTAL</a:t>
            </a:r>
          </a:p>
        </p:txBody>
      </p:sp>
      <p:sp>
        <p:nvSpPr>
          <p:cNvPr id="221" name="tbR4C2"/>
          <p:cNvSpPr txBox="1"/>
          <p:nvPr/>
        </p:nvSpPr>
        <p:spPr>
          <a:xfrm>
            <a:off x="5029200" y="565099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>
                <a:solidFill>
                  <a:srgbClr val="1A1A1A"/>
                </a:solidFill>
              </a:rPr>
              <a:t>19</a:t>
            </a:r>
          </a:p>
        </p:txBody>
      </p:sp>
      <p:sp>
        <p:nvSpPr>
          <p:cNvPr id="222" name="tbR4C3"/>
          <p:cNvSpPr txBox="1"/>
          <p:nvPr/>
        </p:nvSpPr>
        <p:spPr>
          <a:xfrm>
            <a:off x="6583680" y="5650992"/>
            <a:ext cx="155448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>
                <a:solidFill>
                  <a:srgbClr val="1A1A1A"/>
                </a:solidFill>
              </a:rPr>
              <a:t>11</a:t>
            </a:r>
          </a:p>
        </p:txBody>
      </p:sp>
      <p:sp>
        <p:nvSpPr>
          <p:cNvPr id="223" name="tbR4C4"/>
          <p:cNvSpPr txBox="1"/>
          <p:nvPr/>
        </p:nvSpPr>
        <p:spPr>
          <a:xfrm>
            <a:off x="8321040" y="5650992"/>
            <a:ext cx="1600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>
                <a:solidFill>
                  <a:srgbClr val="1A1A1A"/>
                </a:solidFill>
              </a:rPr>
              <a:t>USD 209</a:t>
            </a:r>
          </a:p>
        </p:txBody>
      </p:sp>
      <p:sp>
        <p:nvSpPr>
          <p:cNvPr id="224" name="tbR4C5"/>
          <p:cNvSpPr txBox="1"/>
          <p:nvPr/>
        </p:nvSpPr>
        <p:spPr>
          <a:xfrm>
            <a:off x="10012680" y="5650992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>
                <a:solidFill>
                  <a:srgbClr val="1A1A1A"/>
                </a:solidFill>
              </a:rPr>
              <a:t>USD 2.508</a:t>
            </a:r>
          </a:p>
        </p:txBody>
      </p:sp>
      <p:sp>
        <p:nvSpPr>
          <p:cNvPr id="133" name="tb133"/>
          <p:cNvSpPr txBox="1"/>
          <p:nvPr/>
        </p:nvSpPr>
        <p:spPr>
          <a:xfrm>
            <a:off x="658368" y="5943600"/>
            <a:ext cx="10872216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1">
                <a:solidFill>
                  <a:srgbClr val="7A7A7A"/>
                </a:solidFill>
              </a:rPr>
              <a:t>Costo estimado utilizando una tarifa de referencia de USD 19 por usuario/mes. Sujeto a validación comercial.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UYA Colombia">
      <a:dk1>
        <a:sysClr val="windowText" lastClr="000000"/>
      </a:dk1>
      <a:lt1>
        <a:sysClr val="window" lastClr="FFFFFF"/>
      </a:lt1>
      <a:dk2>
        <a:srgbClr val="211915"/>
      </a:dk2>
      <a:lt2>
        <a:srgbClr val="F3F1F0"/>
      </a:lt2>
      <a:accent1>
        <a:srgbClr val="ED1C29"/>
      </a:accent1>
      <a:accent2>
        <a:srgbClr val="211915"/>
      </a:accent2>
      <a:accent3>
        <a:srgbClr val="7A7A7A"/>
      </a:accent3>
      <a:accent4>
        <a:srgbClr val="77C3CD"/>
      </a:accent4>
      <a:accent5>
        <a:srgbClr val="9CCB49"/>
      </a:accent5>
      <a:accent6>
        <a:srgbClr val="C9E4DC"/>
      </a:accent6>
      <a:hlink>
        <a:srgbClr val="ED1C29"/>
      </a:hlink>
      <a:folHlink>
        <a:srgbClr val="B71C2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UYA Colombi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TUYA Colombia">
      <a:dk1>
        <a:sysClr val="windowText" lastClr="000000"/>
      </a:dk1>
      <a:lt1>
        <a:sysClr val="window" lastClr="FFFFFF"/>
      </a:lt1>
      <a:dk2>
        <a:srgbClr val="211915"/>
      </a:dk2>
      <a:lt2>
        <a:srgbClr val="F3F1F0"/>
      </a:lt2>
      <a:accent1>
        <a:srgbClr val="ED1C29"/>
      </a:accent1>
      <a:accent2>
        <a:srgbClr val="211915"/>
      </a:accent2>
      <a:accent3>
        <a:srgbClr val="7A7A7A"/>
      </a:accent3>
      <a:accent4>
        <a:srgbClr val="77C3CD"/>
      </a:accent4>
      <a:accent5>
        <a:srgbClr val="9CCB49"/>
      </a:accent5>
      <a:accent6>
        <a:srgbClr val="C9E4DC"/>
      </a:accent6>
      <a:hlink>
        <a:srgbClr val="ED1C29"/>
      </a:hlink>
      <a:folHlink>
        <a:srgbClr val="B71C2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UYA Colombi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578</TotalTime>
  <Words>958</Words>
  <Application>Microsoft Office PowerPoint</Application>
  <DocSecurity>0</DocSecurity>
  <PresentationFormat>Panorámica</PresentationFormat>
  <Paragraphs>110</Paragraphs>
  <Slides>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8" baseType="lpstr">
      <vt:lpstr>Arial</vt:lpstr>
      <vt:lpstr>Calibri</vt:lpstr>
      <vt:lpstr>Trebuchet MS</vt:lpstr>
      <vt:lpstr>Office Theme</vt:lpstr>
      <vt:lpstr>De la productividad al valor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Ricardo Andres Leyva</cp:lastModifiedBy>
  <cp:revision>18</cp:revision>
  <dcterms:created xsi:type="dcterms:W3CDTF">2026-08-06T14:34:46Z</dcterms:created>
  <dcterms:modified xsi:type="dcterms:W3CDTF">2026-08-27T13:26:13Z</dcterms:modified>
</cp:coreProperties>
</file>