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62" r:id="rId3"/>
    <p:sldId id="267" r:id="rId4"/>
    <p:sldId id="265" r:id="rId5"/>
    <p:sldId id="268" r:id="rId6"/>
  </p:sldIdLst>
  <p:sldSz cx="12192000" cy="6858000"/>
  <p:notesSz cx="6858000" cy="9144000"/>
  <p:defaultTextStyle>
    <a:defPPr>
      <a:defRPr lang="es-419"/>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813" autoAdjust="0"/>
  </p:normalViewPr>
  <p:slideViewPr>
    <p:cSldViewPr snapToGrid="0">
      <p:cViewPr varScale="1">
        <p:scale>
          <a:sx n="122" d="100"/>
          <a:sy n="122" d="100"/>
        </p:scale>
        <p:origin x="77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~1 min · Apertura</a:t>
            </a:r>
            <a:endParaRPr dirty="0"/>
          </a:p>
          <a:p>
            <a:endParaRPr dirty="0"/>
          </a:p>
          <a:p>
            <a:r>
              <a:rPr lang="es-419"/>
              <a:t>Hoy no venimos a hablar de cuantas horas ahorra GitHub Copilot, sino de que puede hacer cada equipo con la capacidad que Copilot genera.</a:t>
            </a:r>
          </a:p>
          <a:p>
            <a:endParaRPr dirty="0"/>
          </a:p>
          <a:p>
            <a:r>
              <a:rPr lang="es-419"/>
              <a:t>La pregunta que guia la sesion: como convertimos capacidad tecnica en resultados medibles para el negocio.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Lo que Copilot ya demostró en la PoC</a:t>
            </a:r>
          </a:p>
          <a:p>
            <a:endParaRPr/>
          </a:p>
          <a:p>
            <a:r>
              <a:rPr lang="es-419"/>
              <a:t>Arrancamos con evidencia interna. En la prueba de concepto de migración, la estimación construida mediante juicio experto era de 50 horas y la ejecución con Copilot tomó 2 horas y 18 minutos: una diferencia de 47 horas y 42 minutos, </a:t>
            </a:r>
            <a:r>
              <a:rPr lang="es-ES"/>
              <a:t>equivalente a una reducción estimada del esfuerzo del 95,4 %.</a:t>
            </a:r>
          </a:p>
          <a:p>
            <a:endParaRPr lang="es-ES"/>
          </a:p>
          <a:p>
            <a:r>
              <a:rPr lang="es-ES"/>
              <a:t>Conviene </a:t>
            </a:r>
            <a:r>
              <a:rPr lang="es-419"/>
              <a:t>decirlo con precisión: esto es capacidad técnica potencialmente liberada frente a una estimación, no ROI ni ahorro financiero. Nadie dejó de pagar 47 horas.</a:t>
            </a:r>
          </a:p>
          <a:p>
            <a:endParaRPr/>
          </a:p>
          <a:p>
            <a:r>
              <a:rPr lang="es-419"/>
              <a:t>Los datos de soporte dan contexto: cinco casos con medición completa, todos terminaron el flujo entre 15 y 35 minutos, y las estimaciones previas iban de 2 a 24 horas</a:t>
            </a:r>
            <a:r>
              <a:rPr lang="es-ES"/>
              <a:t>. Los casos cubrieron aplicaciones desde .NET Core 3.1 y versiones intermedias hasta .NET 8, migrando hacia .NET 10, aplicando los estándares y prácticas de desarrollo de Tuya. El código generado requirió pocas correcciones en la etapa evaluada.</a:t>
            </a:r>
          </a:p>
          <a:p>
            <a:endParaRPr lang="es-ES"/>
          </a:p>
          <a:p>
            <a:r>
              <a:rPr lang="es-ES"/>
              <a:t>La nota metodológica es parte del mensaje: comparamos contra juicio experto</a:t>
            </a:r>
            <a:r>
              <a:rPr lang="es-419"/>
              <a:t>, no hubo migraciones manuales paralelas como grupo de control y las pruebas funcionales estaban pendientes al cerrar la medición.</a:t>
            </a:r>
          </a:p>
          <a:p>
            <a:endParaRPr/>
          </a:p>
          <a:p>
            <a:r>
              <a:rPr lang="es-ES"/>
              <a:t>Además de la migración, ya tenemos una referencia interna en construcción desde cero. Sebastián, desarrollador de la aplicación utilizada durante las pruebas, indicó que una actividad que normalmente le tomaría cerca de dos días logró realizarla en aproximadamente tres horas utilizando Copilot. Su percepción es que cerca del 85 % del trabajo fue realizado con apoyo de la IA.</a:t>
            </a:r>
          </a:p>
          <a:p>
            <a:endParaRPr lang="es-ES"/>
          </a:p>
          <a:p>
            <a:r>
              <a:rPr lang="es-ES"/>
              <a:t>Es importante separar las métricas: no estamos diciendo que hubo una reducción del 85 % en tiempo. El 85 % corresponde a cuánto del trabajo Sebastián estima que realizó la herramienta. El dato de tiempo observado es dos días frente a aproximadamente tres horas.</a:t>
            </a:r>
          </a:p>
          <a:p>
            <a:endParaRPr lang="es-ES"/>
          </a:p>
          <a:p>
            <a:r>
              <a:rPr lang="es-ES"/>
              <a:t>Este caso tampoco representa todavía una medición controlada, pero complementa la evidencia de migración mostrando que la capacidad obtenida no se limita a modernización de aplicaciones.</a:t>
            </a:r>
          </a:p>
          <a:p>
            <a:endParaRPr lang="es-ES"/>
          </a:p>
          <a:p>
            <a:r>
              <a:rPr lang="es-419"/>
              <a:t>Cierre de la lámina: la PoC demostró capacidad técnica. La conversación de hoy es qué hacemos con esa capacidad y qué resultado produce.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a:t>~2 min · De capacidad técnica a valor</a:t>
            </a:r>
          </a:p>
          <a:p>
            <a:endParaRPr lang="es-ES"/>
          </a:p>
          <a:p>
            <a:r>
              <a:rPr lang="es-ES"/>
              <a:t>Copilot genera capacidad: libera tiempo técnico dentro de los equipos.</a:t>
            </a:r>
          </a:p>
          <a:p>
            <a:endParaRPr lang="es-ES"/>
          </a:p>
          <a:p>
            <a:r>
              <a:rPr lang="es-ES"/>
              <a:t>Esa capacidad liberada no representa automáticamente un ahorro.</a:t>
            </a:r>
          </a:p>
          <a:p>
            <a:endParaRPr lang="es-ES"/>
          </a:p>
          <a:p>
            <a:r>
              <a:rPr lang="es-ES"/>
              <a:t>El valor se materializa por dos vías: “Lo mismo con menos”, manteniendo el mismo resultado con menor costo o menor capacidad externa, o “Valor antes”, cuando una iniciativa o beneficio entra en operación antes y permite capturar valor anticipadamente.</a:t>
            </a:r>
          </a:p>
          <a:p>
            <a:endParaRPr lang="es-ES"/>
          </a:p>
          <a:p>
            <a:r>
              <a:rPr lang="es-ES"/>
              <a:t>Tanto la PoC de migración como el caso interno de desarrollo desde cero demuestran capacidad técnica; todavía falta convertirla en valor de negocio medido.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a:t>
            </a:r>
            <a:r>
              <a:rPr lang="es-MX"/>
              <a:t>Consolidado de licencias y costo Sep-Dic 2026</a:t>
            </a:r>
          </a:p>
          <a:p>
            <a:endParaRPr lang="es-MX"/>
          </a:p>
          <a:p>
            <a:r>
              <a:rPr lang="es-ES"/>
              <a:t>USD 19 es la tarifa base por usuario/mes usada en este ejercicio. Hoy hay 19 licencias cubiertas y 8 licencias por comprar ahora, lo que representa USD 152 al mes.</a:t>
            </a:r>
          </a:p>
          <a:p>
            <a:endParaRPr lang="es-ES"/>
          </a:p>
          <a:p>
            <a:r>
              <a:rPr lang="es-ES"/>
              <a:t>El cálculo es directo: 8 licencias por USD 19 por 4 meses restantes de 2026, es decir USD 608 para el periodo de septiembre a diciembre.</a:t>
            </a:r>
          </a:p>
          <a:p>
            <a:endParaRPr lang="es-ES"/>
          </a:p>
          <a:p>
            <a:r>
              <a:rPr lang="es-ES"/>
              <a:t>Los 3 perfiles AS/400 quedan pendientes y no se compran todavía: se mantienen fuera de la compra inmediata hasta validar la utilidad de Copilot en ese entorno.</a:t>
            </a:r>
          </a:p>
          <a:p>
            <a:endParaRPr lang="es-ES"/>
          </a:p>
          <a:p>
            <a:r>
              <a:rPr lang="es-ES"/>
              <a:t>En esta lámina no se está presentando ROI ni payback.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9"/>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07EB1B0-9209-4743-A5FD-8504D5188A2F}"/>
              </a:ext>
            </a:extLst>
          </p:cNvPr>
          <p:cNvSpPr>
            <a:spLocks noGrp="1"/>
          </p:cNvSpPr>
          <p:nvPr>
            <p:ph type="title" idx="100" hasCustomPrompt="1"/>
          </p:nvPr>
        </p:nvSpPr>
        <p:spPr>
          <a:xfrm>
            <a:off x="685800" y="658368"/>
            <a:ext cx="10789920" cy="822960"/>
          </a:xfrm>
          <a:prstGeom prst="rect">
            <a:avLst/>
          </a:prstGeom>
          <a:noFill/>
        </p:spPr>
        <p:txBody>
          <a:bodyPr wrap="square"/>
          <a:lstStyle>
            <a:lvl1pPr marL="0" indent="0">
              <a:buNone/>
              <a:defRPr/>
            </a:lvl1pPr>
          </a:lstStyle>
          <a:p>
            <a:pPr marL="0" indent="0">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211915"/>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DA7C326-F063-4B6C-AAAF-5C8667C1C18F}"/>
              </a:ext>
            </a:extLst>
          </p:cNvPr>
          <p:cNvSpPr>
            <a:spLocks noGrp="1"/>
          </p:cNvSpPr>
          <p:nvPr>
            <p:ph type="title" idx="100" hasCustomPrompt="1"/>
          </p:nvPr>
        </p:nvSpPr>
        <p:spPr>
          <a:xfrm>
            <a:off x="777240" y="2331720"/>
            <a:ext cx="7680960" cy="1737360"/>
          </a:xfrm>
          <a:prstGeom prst="rect">
            <a:avLst/>
          </a:prstGeom>
          <a:noFill/>
        </p:spPr>
        <p:txBody>
          <a:bodyPr wrap="square"/>
          <a:lstStyle>
            <a:lvl1pPr marL="0" indent="0">
              <a:buNone/>
              <a:defRPr/>
            </a:lvl1pPr>
          </a:lstStyle>
          <a:p>
            <a:pPr marL="0" indent="0">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D1C29"/>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94A7FF53-E78D-4830-9BA8-B8E75FBE78D3}"/>
              </a:ext>
            </a:extLst>
          </p:cNvPr>
          <p:cNvSpPr>
            <a:spLocks noGrp="1"/>
          </p:cNvSpPr>
          <p:nvPr/>
        </p:nvSpPr>
        <p:spPr>
          <a:xfrm>
            <a:off x="822960" y="1847088"/>
            <a:ext cx="7315200" cy="329184"/>
          </a:xfrm>
          <a:prstGeom prst="rect">
            <a:avLst/>
          </a:prstGeom>
          <a:noFill/>
        </p:spPr>
        <p:txBody>
          <a:bodyPr wrap="square" lIns="0" tIns="0" rIns="0" bIns="0" anchor="ctr"/>
          <a:lstStyle/>
          <a:p>
            <a:pPr marL="0" indent="0" algn="l">
              <a:buNone/>
            </a:pPr>
            <a:r>
              <a:rPr lang="en-US" sz="1250" b="1">
                <a:solidFill>
                  <a:srgbClr val="FFFFFF"/>
                </a:solidFill>
                <a:latin typeface="Trebuchet MS"/>
                <a:ea typeface="Trebuchet MS"/>
                <a:cs typeface="Trebuchet MS"/>
              </a:rPr>
              <a:t>TECNOLOGÍA Y NEGOCIO  ·  2026</a:t>
            </a:r>
            <a:endParaRPr sz="1250" b="1">
              <a:solidFill>
                <a:srgbClr val="FFFFFF"/>
              </a:solidFill>
              <a:latin typeface="Trebuchet MS"/>
              <a:ea typeface="Trebuchet MS"/>
              <a:cs typeface="Trebuchet MS"/>
            </a:endParaRPr>
          </a:p>
        </p:txBody>
      </p:sp>
      <p:sp>
        <p:nvSpPr>
          <p:cNvPr id="5" name="Text 0">
            <a:extLst>
              <a:ext uri="{FF2B5EF4-FFF2-40B4-BE49-F238E27FC236}">
                <a16:creationId xmlns:a16="http://schemas.microsoft.com/office/drawing/2014/main" id="{5D9BD458-659F-4214-9D81-FF6E9AA3F414}"/>
              </a:ext>
            </a:extLst>
          </p:cNvPr>
          <p:cNvSpPr>
            <a:spLocks noGrp="1"/>
          </p:cNvSpPr>
          <p:nvPr>
            <p:ph type="title" idx="100" hasCustomPrompt="1"/>
          </p:nvPr>
        </p:nvSpPr>
        <p:spPr>
          <a:xfrm>
            <a:off x="777240" y="2331720"/>
            <a:ext cx="7680960" cy="1737360"/>
          </a:xfrm>
          <a:prstGeom prst="rect">
            <a:avLst/>
          </a:prstGeom>
          <a:noFill/>
        </p:spPr>
        <p:txBody>
          <a:bodyPr wrap="square" lIns="0" tIns="0" rIns="0" bIns="0" anchor="ctr"/>
          <a:lstStyle/>
          <a:p>
            <a:pPr marL="0" indent="0" algn="l">
              <a:buNone/>
            </a:pPr>
            <a:r>
              <a:rPr lang="en-US" sz="3100" b="1">
                <a:solidFill>
                  <a:srgbClr val="FFFFFF"/>
                </a:solidFill>
                <a:latin typeface="Trebuchet MS"/>
                <a:ea typeface="Trebuchet MS"/>
                <a:cs typeface="Trebuchet MS"/>
              </a:rPr>
              <a:t>De la productividad</a:t>
            </a:r>
          </a:p>
          <a:p>
            <a:pPr marL="0" indent="0" algn="l">
              <a:buNone/>
            </a:pPr>
            <a:r>
              <a:rPr lang="en-US" sz="3100" b="1">
                <a:solidFill>
                  <a:srgbClr val="FFFFFF"/>
                </a:solidFill>
                <a:latin typeface="Trebuchet MS"/>
                <a:ea typeface="Trebuchet MS"/>
                <a:cs typeface="Trebuchet MS"/>
              </a:rPr>
              <a:t>al valor</a:t>
            </a:r>
            <a:endParaRPr sz="3100" b="1">
              <a:solidFill>
                <a:srgbClr val="FFFFFF"/>
              </a:solidFill>
              <a:latin typeface="Trebuchet MS"/>
              <a:ea typeface="Trebuchet MS"/>
              <a:cs typeface="Trebuchet MS"/>
            </a:endParaRPr>
          </a:p>
        </p:txBody>
      </p:sp>
      <p:sp>
        <p:nvSpPr>
          <p:cNvPr id="6" name="accent">
            <a:extLst>
              <a:ext uri="{FF2B5EF4-FFF2-40B4-BE49-F238E27FC236}">
                <a16:creationId xmlns:a16="http://schemas.microsoft.com/office/drawing/2014/main" id="{0734481B-9832-426D-830A-FBB69D420518}"/>
              </a:ext>
            </a:extLst>
          </p:cNvPr>
          <p:cNvSpPr>
            <a:spLocks noGrp="1"/>
          </p:cNvSpPr>
          <p:nvPr/>
        </p:nvSpPr>
        <p:spPr>
          <a:xfrm>
            <a:off x="822960" y="4224528"/>
            <a:ext cx="1051560" cy="54864"/>
          </a:xfrm>
          <a:prstGeom prst="rect">
            <a:avLst/>
          </a:prstGeom>
          <a:solidFill>
            <a:srgbClr val="FFFFFF"/>
          </a:solidFill>
        </p:spPr>
        <p:txBody>
          <a:bodyPr/>
          <a:lstStyle/>
          <a:p>
            <a:endParaRPr/>
          </a:p>
        </p:txBody>
      </p:sp>
      <p:sp>
        <p:nvSpPr>
          <p:cNvPr id="7" name="Text 5">
            <a:extLst>
              <a:ext uri="{FF2B5EF4-FFF2-40B4-BE49-F238E27FC236}">
                <a16:creationId xmlns:a16="http://schemas.microsoft.com/office/drawing/2014/main" id="{F78C9822-7C11-461A-B4C7-8C0A464B37B4}"/>
              </a:ext>
            </a:extLst>
          </p:cNvPr>
          <p:cNvSpPr>
            <a:spLocks noGrp="1"/>
          </p:cNvSpPr>
          <p:nvPr/>
        </p:nvSpPr>
        <p:spPr>
          <a:xfrm>
            <a:off x="804672" y="4407408"/>
            <a:ext cx="7498080" cy="457200"/>
          </a:xfrm>
          <a:prstGeom prst="rect">
            <a:avLst/>
          </a:prstGeom>
          <a:noFill/>
        </p:spPr>
        <p:txBody>
          <a:bodyPr wrap="square" lIns="0" tIns="0" rIns="0" bIns="0" anchor="ctr"/>
          <a:lstStyle/>
          <a:p>
            <a:pPr marL="0" indent="0" algn="l">
              <a:buNone/>
            </a:pPr>
            <a:r>
              <a:rPr lang="en-US" sz="1550">
                <a:solidFill>
                  <a:srgbClr val="E7E2DF"/>
                </a:solidFill>
                <a:latin typeface="Calibri"/>
                <a:ea typeface="Calibri"/>
                <a:cs typeface="Calibri"/>
              </a:rPr>
              <a:t>Cómo medir el impacto de GitHub Copilot</a:t>
            </a:r>
            <a:endParaRPr sz="1550">
              <a:solidFill>
                <a:srgbClr val="E7E2DF"/>
              </a:solidFill>
              <a:latin typeface="Calibri"/>
              <a:ea typeface="Calibri"/>
              <a:cs typeface="Calibri"/>
            </a:endParaRPr>
          </a:p>
        </p:txBody>
      </p:sp>
      <p:sp>
        <p:nvSpPr>
          <p:cNvPr id="8" name="Text 6">
            <a:extLst>
              <a:ext uri="{FF2B5EF4-FFF2-40B4-BE49-F238E27FC236}">
                <a16:creationId xmlns:a16="http://schemas.microsoft.com/office/drawing/2014/main" id="{83730261-8883-470D-936E-A3EE4308BDF4}"/>
              </a:ext>
            </a:extLst>
          </p:cNvPr>
          <p:cNvSpPr>
            <a:spLocks noGrp="1"/>
          </p:cNvSpPr>
          <p:nvPr/>
        </p:nvSpPr>
        <p:spPr>
          <a:xfrm>
            <a:off x="804672" y="5138928"/>
            <a:ext cx="8229600" cy="365760"/>
          </a:xfrm>
          <a:prstGeom prst="rect">
            <a:avLst/>
          </a:prstGeom>
          <a:noFill/>
        </p:spPr>
        <p:txBody>
          <a:bodyPr wrap="square" lIns="0" tIns="0" rIns="0" bIns="0" anchor="ctr"/>
          <a:lstStyle/>
          <a:p>
            <a:pPr marL="0" indent="0" algn="l">
              <a:buNone/>
            </a:pPr>
            <a:r>
              <a:rPr lang="en-US" sz="1250" b="1">
                <a:solidFill>
                  <a:srgbClr val="FFFFFF"/>
                </a:solidFill>
                <a:latin typeface="Calibri"/>
                <a:ea typeface="Calibri"/>
                <a:cs typeface="Calibri"/>
              </a:rPr>
              <a:t>Tuya      Sesión ejecutiva      Tecnología y Negocio</a:t>
            </a:r>
            <a:endParaRPr sz="1250" b="1">
              <a:solidFill>
                <a:srgbClr val="FFFFFF"/>
              </a:solidFill>
              <a:latin typeface="Calibri"/>
              <a:ea typeface="Calibri"/>
              <a:cs typeface="Calibri"/>
            </a:endParaRPr>
          </a:p>
        </p:txBody>
      </p:sp>
      <p:sp>
        <p:nvSpPr>
          <p:cNvPr id="9" name="Text 7">
            <a:extLst>
              <a:ext uri="{FF2B5EF4-FFF2-40B4-BE49-F238E27FC236}">
                <a16:creationId xmlns:a16="http://schemas.microsoft.com/office/drawing/2014/main" id="{7FDE7B6D-7954-4AF2-89FA-15912E1E9C50}"/>
              </a:ext>
            </a:extLst>
          </p:cNvPr>
          <p:cNvSpPr>
            <a:spLocks noGrp="1"/>
          </p:cNvSpPr>
          <p:nvPr/>
        </p:nvSpPr>
        <p:spPr>
          <a:xfrm>
            <a:off x="8778240" y="6272784"/>
            <a:ext cx="2880360" cy="310896"/>
          </a:xfrm>
          <a:prstGeom prst="rect">
            <a:avLst/>
          </a:prstGeom>
          <a:noFill/>
        </p:spPr>
        <p:txBody>
          <a:bodyPr wrap="square" lIns="0" tIns="0" rIns="0" bIns="0" anchor="ctr"/>
          <a:lstStyle/>
          <a:p>
            <a:pPr marL="0" indent="0" algn="r">
              <a:buNone/>
            </a:pPr>
            <a:r>
              <a:rPr lang="en-US" sz="1000" b="1">
                <a:solidFill>
                  <a:srgbClr val="9A928C"/>
                </a:solidFill>
                <a:latin typeface="Trebuchet MS"/>
                <a:ea typeface="Trebuchet MS"/>
                <a:cs typeface="Trebuchet MS"/>
              </a:rPr>
              <a:t>Copilot  ·  Valor</a:t>
            </a:r>
            <a:endParaRPr sz="1000" b="1">
              <a:solidFill>
                <a:srgbClr val="9A928C"/>
              </a:solidFill>
              <a:latin typeface="Trebuchet MS"/>
              <a:ea typeface="Trebuchet MS"/>
              <a:cs typeface="Trebuchet MS"/>
            </a:endParaRPr>
          </a:p>
        </p:txBody>
      </p:sp>
      <p:sp>
        <p:nvSpPr>
          <p:cNvPr id="20" name="Logo Card">
            <a:extLst>
              <a:ext uri="{FF2B5EF4-FFF2-40B4-BE49-F238E27FC236}">
                <a16:creationId xmlns:a16="http://schemas.microsoft.com/office/drawing/2014/main" id="{20EA5C85-926F-40D8-9F8F-441A18E914B8}"/>
              </a:ext>
            </a:extLst>
          </p:cNvPr>
          <p:cNvSpPr>
            <a:spLocks noGrp="1"/>
          </p:cNvSpPr>
          <p:nvPr/>
        </p:nvSpPr>
        <p:spPr>
          <a:xfrm>
            <a:off x="822960" y="470000"/>
            <a:ext cx="2438400" cy="1280160"/>
          </a:xfrm>
          <a:prstGeom prst="roundRect">
            <a:avLst>
              <a:gd name="adj" fmla="val 8000"/>
            </a:avLst>
          </a:prstGeom>
          <a:solidFill>
            <a:srgbClr val="FFFFFF"/>
          </a:solidFill>
          <a:ln>
            <a:noFill/>
          </a:ln>
        </p:spPr>
        <p:txBody>
          <a:bodyPr/>
          <a:lstStyle/>
          <a:p>
            <a:endParaRPr/>
          </a:p>
        </p:txBody>
      </p:sp>
      <p:pic>
        <p:nvPicPr>
          <p:cNvPr id="29" name="Imagen 9"/>
          <p:cNvPicPr>
            <a:picLocks noChangeAspect="1"/>
          </p:cNvPicPr>
          <p:nvPr/>
        </p:nvPicPr>
        <p:blipFill>
          <a:blip r:embed="rId3"/>
          <a:stretch>
            <a:fillRect/>
          </a:stretch>
        </p:blipFill>
        <p:spPr>
          <a:xfrm>
            <a:off x="1142160" y="660080"/>
            <a:ext cx="1800000" cy="900000"/>
          </a:xfrm>
          <a:prstGeom prst="rect">
            <a:avLst/>
          </a:prstGeom>
        </p:spPr>
      </p:pic>
    </p:spTree>
    <p:extLst>
      <p:ext uri="{BB962C8B-B14F-4D97-AF65-F5344CB8AC3E}">
        <p14:creationId xmlns:p14="http://schemas.microsoft.com/office/powerpoint/2010/main" val="1555984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h101"/>
          <p:cNvSpPr/>
          <p:nvPr/>
        </p:nvSpPr>
        <p:spPr>
          <a:xfrm>
            <a:off x="658368" y="384048"/>
            <a:ext cx="146304" cy="146304"/>
          </a:xfrm>
          <a:prstGeom prst="rect">
            <a:avLst/>
          </a:prstGeom>
          <a:solidFill>
            <a:srgbClr val="ED1C29"/>
          </a:solidFill>
          <a:ln>
            <a:noFill/>
          </a:ln>
        </p:spPr>
        <p:txBody>
          <a:bodyPr lIns="91440" tIns="45720" rIns="91440" bIns="45720" anchor="ctr">
            <a:normAutofit fontScale="25000" lnSpcReduction="20000"/>
          </a:bodyPr>
          <a:lstStyle/>
          <a:p>
            <a:endParaRPr lang="es-ES"/>
          </a:p>
        </p:txBody>
      </p:sp>
      <p:sp>
        <p:nvSpPr>
          <p:cNvPr id="102" name="tb102"/>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50">
                <a:solidFill>
                  <a:srgbClr val="ED1C29"/>
                </a:solidFill>
              </a:rPr>
              <a:t>EVIDENCIA INTERNA · PRUEBA DE CONCEPTO</a:t>
            </a:r>
          </a:p>
        </p:txBody>
      </p:sp>
      <p:sp>
        <p:nvSpPr>
          <p:cNvPr id="103" name="tb103"/>
          <p:cNvSpPr txBox="1"/>
          <p:nvPr/>
        </p:nvSpPr>
        <p:spPr>
          <a:xfrm>
            <a:off x="658368" y="713232"/>
            <a:ext cx="9326880" cy="566928"/>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Lo que Copilot ya demostró en la PoC</a:t>
            </a:r>
          </a:p>
        </p:txBody>
      </p:sp>
      <p:sp>
        <p:nvSpPr>
          <p:cNvPr id="104" name="tb104"/>
          <p:cNvSpPr txBox="1"/>
          <p:nvPr/>
        </p:nvSpPr>
        <p:spPr>
          <a:xfrm>
            <a:off x="658368" y="1316736"/>
            <a:ext cx="9692640" cy="384048"/>
          </a:xfrm>
          <a:prstGeom prst="rect">
            <a:avLst/>
          </a:prstGeom>
          <a:noFill/>
        </p:spPr>
        <p:txBody>
          <a:bodyPr wrap="square" lIns="0" tIns="0" rIns="0" bIns="0" anchor="t">
            <a:normAutofit/>
          </a:bodyPr>
          <a:lstStyle/>
          <a:p>
            <a:pPr algn="l">
              <a:lnSpc>
                <a:spcPct val="100000"/>
              </a:lnSpc>
              <a:spcBef>
                <a:spcPts val="0"/>
              </a:spcBef>
            </a:pPr>
            <a:r>
              <a:rPr lang="es-ES" sz="1350" b="0" i="0">
                <a:solidFill>
                  <a:srgbClr val="7A7A7A"/>
                </a:solidFill>
              </a:rPr>
              <a:t>La migración permitió comprobar que Copilot puede liberar una capacidad técnica significativa.</a:t>
            </a:r>
          </a:p>
        </p:txBody>
      </p:sp>
      <p:sp>
        <p:nvSpPr>
          <p:cNvPr id="105" name="tb105"/>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106" name="tb106"/>
          <p:cNvSpPr txBox="1"/>
          <p:nvPr/>
        </p:nvSpPr>
        <p:spPr>
          <a:xfrm>
            <a:off x="10433304"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02</a:t>
            </a: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
        <p:nvSpPr>
          <p:cNvPr id="107" name="sh107"/>
          <p:cNvSpPr/>
          <p:nvPr/>
        </p:nvSpPr>
        <p:spPr>
          <a:xfrm>
            <a:off x="658368" y="1847088"/>
            <a:ext cx="4114800" cy="1280160"/>
          </a:xfrm>
          <a:prstGeom prst="rect">
            <a:avLst/>
          </a:prstGeom>
          <a:noFill/>
          <a:ln w="12700">
            <a:solidFill>
              <a:srgbClr val="E3E0DE"/>
            </a:solidFill>
          </a:ln>
        </p:spPr>
        <p:txBody>
          <a:bodyPr lIns="91440" tIns="45720" rIns="91440" bIns="45720" anchor="ctr">
            <a:normAutofit/>
          </a:bodyPr>
          <a:lstStyle/>
          <a:p>
            <a:endParaRPr lang="es-ES"/>
          </a:p>
        </p:txBody>
      </p:sp>
      <p:sp>
        <p:nvSpPr>
          <p:cNvPr id="108" name="tb108"/>
          <p:cNvSpPr txBox="1"/>
          <p:nvPr/>
        </p:nvSpPr>
        <p:spPr>
          <a:xfrm>
            <a:off x="658368" y="1965960"/>
            <a:ext cx="4114800" cy="658368"/>
          </a:xfrm>
          <a:prstGeom prst="rect">
            <a:avLst/>
          </a:prstGeom>
          <a:noFill/>
        </p:spPr>
        <p:txBody>
          <a:bodyPr wrap="square" lIns="91440" tIns="0" rIns="91440" bIns="0" anchor="t">
            <a:normAutofit/>
          </a:bodyPr>
          <a:lstStyle/>
          <a:p>
            <a:pPr algn="ctr">
              <a:lnSpc>
                <a:spcPct val="100000"/>
              </a:lnSpc>
              <a:spcBef>
                <a:spcPts val="0"/>
              </a:spcBef>
            </a:pPr>
            <a:r>
              <a:rPr lang="es-ES" sz="4000" b="1" i="0">
                <a:solidFill>
                  <a:srgbClr val="211915"/>
                </a:solidFill>
              </a:rPr>
              <a:t>50 h</a:t>
            </a:r>
          </a:p>
        </p:txBody>
      </p:sp>
      <p:sp>
        <p:nvSpPr>
          <p:cNvPr id="109" name="tb109"/>
          <p:cNvSpPr txBox="1"/>
          <p:nvPr/>
        </p:nvSpPr>
        <p:spPr>
          <a:xfrm>
            <a:off x="658368" y="2606040"/>
            <a:ext cx="4114800" cy="457200"/>
          </a:xfrm>
          <a:prstGeom prst="rect">
            <a:avLst/>
          </a:prstGeom>
          <a:noFill/>
        </p:spPr>
        <p:txBody>
          <a:bodyPr wrap="square" lIns="91440" tIns="0" rIns="91440" bIns="0" anchor="t">
            <a:normAutofit/>
          </a:bodyPr>
          <a:lstStyle/>
          <a:p>
            <a:pPr algn="ctr">
              <a:lnSpc>
                <a:spcPct val="100000"/>
              </a:lnSpc>
              <a:spcBef>
                <a:spcPts val="0"/>
              </a:spcBef>
            </a:pPr>
            <a:r>
              <a:rPr lang="es-ES" sz="1200" b="1" i="0">
                <a:solidFill>
                  <a:srgbClr val="211915"/>
                </a:solidFill>
              </a:rPr>
              <a:t>Estimación sin Copilot</a:t>
            </a:r>
          </a:p>
          <a:p>
            <a:pPr algn="ctr">
              <a:lnSpc>
                <a:spcPct val="100000"/>
              </a:lnSpc>
              <a:spcBef>
                <a:spcPts val="40"/>
              </a:spcBef>
            </a:pPr>
            <a:r>
              <a:rPr lang="es-ES" sz="1000" b="0" i="0">
                <a:solidFill>
                  <a:srgbClr val="7A7A7A"/>
                </a:solidFill>
              </a:rPr>
              <a:t>Juicio experto</a:t>
            </a:r>
          </a:p>
        </p:txBody>
      </p:sp>
      <p:sp>
        <p:nvSpPr>
          <p:cNvPr id="110" name="sh110"/>
          <p:cNvSpPr/>
          <p:nvPr/>
        </p:nvSpPr>
        <p:spPr>
          <a:xfrm>
            <a:off x="4956048" y="1847088"/>
            <a:ext cx="6574536" cy="1280160"/>
          </a:xfrm>
          <a:prstGeom prst="rect">
            <a:avLst/>
          </a:prstGeom>
          <a:solidFill>
            <a:srgbClr val="ED1C29"/>
          </a:solidFill>
          <a:ln>
            <a:noFill/>
          </a:ln>
        </p:spPr>
        <p:txBody>
          <a:bodyPr lIns="91440" tIns="45720" rIns="91440" bIns="45720" anchor="ctr">
            <a:normAutofit/>
          </a:bodyPr>
          <a:lstStyle/>
          <a:p>
            <a:endParaRPr lang="es-ES"/>
          </a:p>
        </p:txBody>
      </p:sp>
      <p:sp>
        <p:nvSpPr>
          <p:cNvPr id="111" name="tb111"/>
          <p:cNvSpPr txBox="1"/>
          <p:nvPr/>
        </p:nvSpPr>
        <p:spPr>
          <a:xfrm>
            <a:off x="4956048" y="1920240"/>
            <a:ext cx="6574536" cy="640080"/>
          </a:xfrm>
          <a:prstGeom prst="rect">
            <a:avLst/>
          </a:prstGeom>
          <a:noFill/>
        </p:spPr>
        <p:txBody>
          <a:bodyPr wrap="square" lIns="91440" tIns="0" rIns="91440" bIns="0" anchor="t">
            <a:normAutofit fontScale="92500" lnSpcReduction="20000"/>
          </a:bodyPr>
          <a:lstStyle/>
          <a:p>
            <a:pPr algn="ctr">
              <a:lnSpc>
                <a:spcPct val="100000"/>
              </a:lnSpc>
              <a:spcBef>
                <a:spcPts val="0"/>
              </a:spcBef>
            </a:pPr>
            <a:r>
              <a:rPr lang="es-ES" sz="5400" b="1" i="0">
                <a:solidFill>
                  <a:srgbClr val="FFFFFF"/>
                </a:solidFill>
              </a:rPr>
              <a:t>2 h 18 min</a:t>
            </a:r>
          </a:p>
        </p:txBody>
      </p:sp>
      <p:sp>
        <p:nvSpPr>
          <p:cNvPr id="112" name="tb112"/>
          <p:cNvSpPr txBox="1"/>
          <p:nvPr/>
        </p:nvSpPr>
        <p:spPr>
          <a:xfrm>
            <a:off x="4956048" y="2606040"/>
            <a:ext cx="6574536" cy="457200"/>
          </a:xfrm>
          <a:prstGeom prst="rect">
            <a:avLst/>
          </a:prstGeom>
          <a:noFill/>
        </p:spPr>
        <p:txBody>
          <a:bodyPr wrap="square" lIns="91440" tIns="0" rIns="91440" bIns="0" anchor="t">
            <a:normAutofit/>
          </a:bodyPr>
          <a:lstStyle/>
          <a:p>
            <a:pPr algn="ctr">
              <a:lnSpc>
                <a:spcPct val="100000"/>
              </a:lnSpc>
              <a:spcBef>
                <a:spcPts val="0"/>
              </a:spcBef>
            </a:pPr>
            <a:r>
              <a:rPr lang="es-ES" sz="1200" b="1" i="0">
                <a:solidFill>
                  <a:srgbClr val="FFFFFF"/>
                </a:solidFill>
              </a:rPr>
              <a:t>Ejecución con Copilot</a:t>
            </a:r>
          </a:p>
          <a:p>
            <a:pPr algn="ctr">
              <a:lnSpc>
                <a:spcPct val="100000"/>
              </a:lnSpc>
              <a:spcBef>
                <a:spcPts val="40"/>
              </a:spcBef>
            </a:pPr>
            <a:r>
              <a:rPr lang="es-ES" sz="1000" b="0" i="0">
                <a:solidFill>
                  <a:srgbClr val="FBD3D5"/>
                </a:solidFill>
              </a:rPr>
              <a:t>Tiempo real observado</a:t>
            </a:r>
          </a:p>
        </p:txBody>
      </p:sp>
      <p:sp>
        <p:nvSpPr>
          <p:cNvPr id="113" name="sh113"/>
          <p:cNvSpPr/>
          <p:nvPr/>
        </p:nvSpPr>
        <p:spPr>
          <a:xfrm>
            <a:off x="658368" y="3291840"/>
            <a:ext cx="5120640" cy="914400"/>
          </a:xfrm>
          <a:prstGeom prst="rect">
            <a:avLst/>
          </a:prstGeom>
          <a:solidFill>
            <a:srgbClr val="211915"/>
          </a:solidFill>
          <a:ln>
            <a:noFill/>
          </a:ln>
        </p:spPr>
        <p:txBody>
          <a:bodyPr lIns="91440" tIns="45720" rIns="91440" bIns="45720" anchor="ctr">
            <a:normAutofit/>
          </a:bodyPr>
          <a:lstStyle/>
          <a:p>
            <a:endParaRPr lang="es-ES"/>
          </a:p>
        </p:txBody>
      </p:sp>
      <p:sp>
        <p:nvSpPr>
          <p:cNvPr id="114" name="tb114"/>
          <p:cNvSpPr txBox="1"/>
          <p:nvPr/>
        </p:nvSpPr>
        <p:spPr>
          <a:xfrm>
            <a:off x="658368" y="3383280"/>
            <a:ext cx="5120640" cy="411480"/>
          </a:xfrm>
          <a:prstGeom prst="rect">
            <a:avLst/>
          </a:prstGeom>
          <a:noFill/>
        </p:spPr>
        <p:txBody>
          <a:bodyPr wrap="square" lIns="91440" tIns="0" rIns="91440" bIns="0" anchor="t">
            <a:normAutofit lnSpcReduction="10000"/>
          </a:bodyPr>
          <a:lstStyle/>
          <a:p>
            <a:pPr algn="ctr">
              <a:lnSpc>
                <a:spcPct val="100000"/>
              </a:lnSpc>
              <a:spcBef>
                <a:spcPts val="0"/>
              </a:spcBef>
            </a:pPr>
            <a:r>
              <a:rPr lang="es-ES" sz="3000" b="1" i="0">
                <a:solidFill>
                  <a:srgbClr val="FFFFFF"/>
                </a:solidFill>
              </a:rPr>
              <a:t>95,4 %</a:t>
            </a:r>
          </a:p>
        </p:txBody>
      </p:sp>
      <p:sp>
        <p:nvSpPr>
          <p:cNvPr id="115" name="tb115"/>
          <p:cNvSpPr txBox="1"/>
          <p:nvPr/>
        </p:nvSpPr>
        <p:spPr>
          <a:xfrm>
            <a:off x="658368" y="3794760"/>
            <a:ext cx="5120640" cy="365760"/>
          </a:xfrm>
          <a:prstGeom prst="rect">
            <a:avLst/>
          </a:prstGeom>
          <a:noFill/>
        </p:spPr>
        <p:txBody>
          <a:bodyPr wrap="square" lIns="91440" tIns="0" rIns="91440" bIns="0" anchor="t">
            <a:normAutofit/>
          </a:bodyPr>
          <a:lstStyle/>
          <a:p>
            <a:pPr algn="ctr">
              <a:lnSpc>
                <a:spcPct val="100000"/>
              </a:lnSpc>
              <a:spcBef>
                <a:spcPts val="0"/>
              </a:spcBef>
            </a:pPr>
            <a:r>
              <a:rPr lang="es-ES" sz="1100" b="1" i="0">
                <a:solidFill>
                  <a:srgbClr val="FFFFFF"/>
                </a:solidFill>
              </a:rPr>
              <a:t>Reducción estimada del esfuerzo</a:t>
            </a:r>
          </a:p>
          <a:p>
            <a:pPr algn="ctr">
              <a:lnSpc>
                <a:spcPct val="100000"/>
              </a:lnSpc>
              <a:spcBef>
                <a:spcPts val="40"/>
              </a:spcBef>
            </a:pPr>
            <a:r>
              <a:rPr lang="es-ES" sz="900" b="0" i="0">
                <a:solidFill>
                  <a:srgbClr val="BFB9B6"/>
                </a:solidFill>
              </a:rPr>
              <a:t>Diferencia de 47 h 42 min frente a la estimación</a:t>
            </a:r>
          </a:p>
        </p:txBody>
      </p:sp>
      <p:sp>
        <p:nvSpPr>
          <p:cNvPr id="116" name="sh116"/>
          <p:cNvSpPr/>
          <p:nvPr/>
        </p:nvSpPr>
        <p:spPr>
          <a:xfrm>
            <a:off x="6035040" y="3291840"/>
            <a:ext cx="1783080" cy="19050"/>
          </a:xfrm>
          <a:prstGeom prst="rect">
            <a:avLst/>
          </a:prstGeom>
          <a:solidFill>
            <a:srgbClr val="D0CCCA"/>
          </a:solidFill>
          <a:ln>
            <a:noFill/>
          </a:ln>
        </p:spPr>
        <p:txBody>
          <a:bodyPr lIns="91440" tIns="45720" rIns="91440" bIns="45720" anchor="ctr">
            <a:normAutofit fontScale="25000" lnSpcReduction="20000"/>
          </a:bodyPr>
          <a:lstStyle/>
          <a:p>
            <a:endParaRPr lang="es-ES"/>
          </a:p>
        </p:txBody>
      </p:sp>
      <p:sp>
        <p:nvSpPr>
          <p:cNvPr id="117" name="tb117"/>
          <p:cNvSpPr txBox="1"/>
          <p:nvPr/>
        </p:nvSpPr>
        <p:spPr>
          <a:xfrm>
            <a:off x="6035040" y="3474720"/>
            <a:ext cx="1783080" cy="274320"/>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5</a:t>
            </a:r>
          </a:p>
        </p:txBody>
      </p:sp>
      <p:sp>
        <p:nvSpPr>
          <p:cNvPr id="118" name="tb118"/>
          <p:cNvSpPr txBox="1"/>
          <p:nvPr/>
        </p:nvSpPr>
        <p:spPr>
          <a:xfrm>
            <a:off x="6035040" y="3749040"/>
            <a:ext cx="1783080" cy="27432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7A7A7A"/>
                </a:solidFill>
              </a:rPr>
              <a:t>casos medidos con flujo completo</a:t>
            </a:r>
          </a:p>
        </p:txBody>
      </p:sp>
      <p:sp>
        <p:nvSpPr>
          <p:cNvPr id="119" name="sh119"/>
          <p:cNvSpPr/>
          <p:nvPr/>
        </p:nvSpPr>
        <p:spPr>
          <a:xfrm>
            <a:off x="7863840" y="3291840"/>
            <a:ext cx="1783080" cy="19050"/>
          </a:xfrm>
          <a:prstGeom prst="rect">
            <a:avLst/>
          </a:prstGeom>
          <a:solidFill>
            <a:srgbClr val="D0CCCA"/>
          </a:solidFill>
          <a:ln>
            <a:noFill/>
          </a:ln>
        </p:spPr>
        <p:txBody>
          <a:bodyPr lIns="91440" tIns="45720" rIns="91440" bIns="45720" anchor="ctr">
            <a:normAutofit fontScale="25000" lnSpcReduction="20000"/>
          </a:bodyPr>
          <a:lstStyle/>
          <a:p>
            <a:endParaRPr lang="es-ES"/>
          </a:p>
        </p:txBody>
      </p:sp>
      <p:sp>
        <p:nvSpPr>
          <p:cNvPr id="120" name="tb120"/>
          <p:cNvSpPr txBox="1"/>
          <p:nvPr/>
        </p:nvSpPr>
        <p:spPr>
          <a:xfrm>
            <a:off x="7863840" y="3474720"/>
            <a:ext cx="1783080" cy="274320"/>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15 a 35 min</a:t>
            </a:r>
          </a:p>
        </p:txBody>
      </p:sp>
      <p:sp>
        <p:nvSpPr>
          <p:cNvPr id="121" name="tb121"/>
          <p:cNvSpPr txBox="1"/>
          <p:nvPr/>
        </p:nvSpPr>
        <p:spPr>
          <a:xfrm>
            <a:off x="7863840" y="3749040"/>
            <a:ext cx="1783080" cy="27432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7A7A7A"/>
                </a:solidFill>
              </a:rPr>
              <a:t>por migración medida</a:t>
            </a:r>
          </a:p>
        </p:txBody>
      </p:sp>
      <p:sp>
        <p:nvSpPr>
          <p:cNvPr id="122" name="sh122"/>
          <p:cNvSpPr/>
          <p:nvPr/>
        </p:nvSpPr>
        <p:spPr>
          <a:xfrm>
            <a:off x="9692640" y="3291840"/>
            <a:ext cx="1783080" cy="19050"/>
          </a:xfrm>
          <a:prstGeom prst="rect">
            <a:avLst/>
          </a:prstGeom>
          <a:solidFill>
            <a:srgbClr val="D0CCCA"/>
          </a:solidFill>
          <a:ln>
            <a:noFill/>
          </a:ln>
        </p:spPr>
        <p:txBody>
          <a:bodyPr lIns="91440" tIns="45720" rIns="91440" bIns="45720" anchor="ctr">
            <a:normAutofit fontScale="25000" lnSpcReduction="20000"/>
          </a:bodyPr>
          <a:lstStyle/>
          <a:p>
            <a:endParaRPr lang="es-ES"/>
          </a:p>
        </p:txBody>
      </p:sp>
      <p:sp>
        <p:nvSpPr>
          <p:cNvPr id="123" name="tb123"/>
          <p:cNvSpPr txBox="1"/>
          <p:nvPr/>
        </p:nvSpPr>
        <p:spPr>
          <a:xfrm>
            <a:off x="9692640" y="3474720"/>
            <a:ext cx="1783080" cy="274320"/>
          </a:xfrm>
          <a:prstGeom prst="rect">
            <a:avLst/>
          </a:prstGeom>
          <a:noFill/>
        </p:spPr>
        <p:txBody>
          <a:bodyPr wrap="square" lIns="0" tIns="0" rIns="0" bIns="0" anchor="t">
            <a:normAutofit/>
          </a:bodyPr>
          <a:lstStyle/>
          <a:p>
            <a:pPr algn="l">
              <a:lnSpc>
                <a:spcPct val="100000"/>
              </a:lnSpc>
              <a:spcBef>
                <a:spcPts val="0"/>
              </a:spcBef>
            </a:pPr>
            <a:r>
              <a:rPr lang="es-ES" sz="1100" b="1" i="0">
                <a:solidFill>
                  <a:srgbClr val="211915"/>
                </a:solidFill>
              </a:rPr>
              <a:t>.NET Core 3.1 a .NET 8</a:t>
            </a:r>
          </a:p>
        </p:txBody>
      </p:sp>
      <p:sp>
        <p:nvSpPr>
          <p:cNvPr id="124" name="tb124"/>
          <p:cNvSpPr txBox="1"/>
          <p:nvPr/>
        </p:nvSpPr>
        <p:spPr>
          <a:xfrm>
            <a:off x="9692640" y="3749040"/>
            <a:ext cx="1783080" cy="27432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7A7A7A"/>
                </a:solidFill>
              </a:rPr>
              <a:t>migraciones hacia .NET 10</a:t>
            </a:r>
          </a:p>
        </p:txBody>
      </p:sp>
      <p:sp>
        <p:nvSpPr>
          <p:cNvPr id="125" name="sh125"/>
          <p:cNvSpPr/>
          <p:nvPr/>
        </p:nvSpPr>
        <p:spPr>
          <a:xfrm>
            <a:off x="658368" y="4251960"/>
            <a:ext cx="10872216" cy="566928"/>
          </a:xfrm>
          <a:prstGeom prst="rect">
            <a:avLst/>
          </a:prstGeom>
          <a:solidFill>
            <a:srgbClr val="ED1C29"/>
          </a:solidFill>
          <a:ln>
            <a:noFill/>
          </a:ln>
        </p:spPr>
        <p:txBody>
          <a:bodyPr lIns="91440" tIns="45720" rIns="91440" bIns="45720" anchor="ctr">
            <a:normAutofit/>
          </a:bodyPr>
          <a:lstStyle/>
          <a:p>
            <a:endParaRPr lang="es-ES"/>
          </a:p>
        </p:txBody>
      </p:sp>
      <p:sp>
        <p:nvSpPr>
          <p:cNvPr id="126" name="tb126"/>
          <p:cNvSpPr txBox="1"/>
          <p:nvPr/>
        </p:nvSpPr>
        <p:spPr>
          <a:xfrm>
            <a:off x="658368" y="4398264"/>
            <a:ext cx="10872216" cy="310896"/>
          </a:xfrm>
          <a:prstGeom prst="rect">
            <a:avLst/>
          </a:prstGeom>
          <a:noFill/>
        </p:spPr>
        <p:txBody>
          <a:bodyPr wrap="square" lIns="91440" tIns="0" rIns="91440" bIns="0" anchor="t">
            <a:normAutofit/>
          </a:bodyPr>
          <a:lstStyle/>
          <a:p>
            <a:pPr algn="ctr">
              <a:lnSpc>
                <a:spcPct val="100000"/>
              </a:lnSpc>
              <a:spcBef>
                <a:spcPts val="0"/>
              </a:spcBef>
            </a:pPr>
            <a:r>
              <a:rPr lang="es-ES" sz="1350" b="1" i="0">
                <a:solidFill>
                  <a:srgbClr val="FFFFFF"/>
                </a:solidFill>
              </a:rPr>
              <a:t>La PoC demostró capacidad técnica. Ahora debemos determinar qué hacemos con esa capacidad y qué resultado produce.</a:t>
            </a:r>
          </a:p>
        </p:txBody>
      </p:sp>
      <p:sp>
        <p:nvSpPr>
          <p:cNvPr id="127" name="tb127"/>
          <p:cNvSpPr txBox="1"/>
          <p:nvPr/>
        </p:nvSpPr>
        <p:spPr>
          <a:xfrm>
            <a:off x="658368" y="5910000"/>
            <a:ext cx="10872216" cy="320040"/>
          </a:xfrm>
          <a:prstGeom prst="rect">
            <a:avLst/>
          </a:prstGeom>
          <a:noFill/>
        </p:spPr>
        <p:txBody>
          <a:bodyPr wrap="square" lIns="0" tIns="0" rIns="0" bIns="0" anchor="t">
            <a:normAutofit/>
          </a:bodyPr>
          <a:lstStyle/>
          <a:p>
            <a:pPr algn="l">
              <a:lnSpc>
                <a:spcPct val="100000"/>
              </a:lnSpc>
              <a:spcBef>
                <a:spcPts val="0"/>
              </a:spcBef>
            </a:pPr>
            <a:r>
              <a:rPr lang="es-ES" sz="700" b="0" i="1">
                <a:solidFill>
                  <a:srgbClr val="7A7A7A"/>
                </a:solidFill>
              </a:rPr>
              <a:t>Nota metodológica PoC de migración: la comparación se realizó contra estimaciones definidas mediante juicio experto. No se realizaron migraciones manuales paralelas como grupo de control. El código generado requirió pocas correcciones en la etapa evaluada y las pruebas funcionales estaban pendientes. Caso interno reportado por el desarrollador de la aplicación: la comparación se basa en su experiencia previa y no corresponde a una ejecución paralela con y sin Copilot. El ~85 % representa su estimación del trabajo realizado con apoyo de IA.</a:t>
            </a:r>
          </a:p>
        </p:txBody>
      </p:sp>
      <p:sp>
        <p:nvSpPr>
          <p:cNvPr id="130" name="sh130"/>
          <p:cNvSpPr/>
          <p:nvPr/>
        </p:nvSpPr>
        <p:spPr>
          <a:xfrm>
            <a:off x="658368" y="4966848"/>
            <a:ext cx="10872216" cy="850392"/>
          </a:xfrm>
          <a:prstGeom prst="rect">
            <a:avLst/>
          </a:prstGeom>
          <a:solidFill>
            <a:srgbClr val="F4F4F4"/>
          </a:solidFill>
          <a:ln>
            <a:noFill/>
          </a:ln>
        </p:spPr>
        <p:txBody>
          <a:bodyPr lIns="0" tIns="0" rIns="0" bIns="0" anchor="ctr">
            <a:normAutofit/>
          </a:bodyPr>
          <a:lstStyle/>
          <a:p>
            <a:endParaRPr lang="es-ES"/>
          </a:p>
        </p:txBody>
      </p:sp>
      <p:sp>
        <p:nvSpPr>
          <p:cNvPr id="131" name="sh131"/>
          <p:cNvSpPr/>
          <p:nvPr/>
        </p:nvSpPr>
        <p:spPr>
          <a:xfrm>
            <a:off x="658368" y="4966848"/>
            <a:ext cx="45720" cy="850392"/>
          </a:xfrm>
          <a:prstGeom prst="rect">
            <a:avLst/>
          </a:prstGeom>
          <a:solidFill>
            <a:srgbClr val="ED1C29"/>
          </a:solidFill>
          <a:ln>
            <a:noFill/>
          </a:ln>
        </p:spPr>
        <p:txBody>
          <a:bodyPr lIns="0" tIns="0" rIns="0" bIns="0" anchor="ctr">
            <a:normAutofit/>
          </a:bodyPr>
          <a:lstStyle/>
          <a:p>
            <a:endParaRPr lang="es-ES"/>
          </a:p>
        </p:txBody>
      </p:sp>
      <p:sp>
        <p:nvSpPr>
          <p:cNvPr id="132" name="tb132"/>
          <p:cNvSpPr txBox="1"/>
          <p:nvPr/>
        </p:nvSpPr>
        <p:spPr>
          <a:xfrm>
            <a:off x="850392" y="5065776"/>
            <a:ext cx="10500000" cy="182880"/>
          </a:xfrm>
          <a:prstGeom prst="rect">
            <a:avLst/>
          </a:prstGeom>
          <a:noFill/>
        </p:spPr>
        <p:txBody>
          <a:bodyPr wrap="square" lIns="0" tIns="0" rIns="0" bIns="0" anchor="t">
            <a:normAutofit/>
          </a:bodyPr>
          <a:lstStyle/>
          <a:p>
            <a:pPr algn="l">
              <a:lnSpc>
                <a:spcPct val="100000"/>
              </a:lnSpc>
              <a:spcBef>
                <a:spcPts val="0"/>
              </a:spcBef>
            </a:pPr>
            <a:r>
              <a:rPr lang="es-ES" sz="900" b="1" i="0" spc="50">
                <a:solidFill>
                  <a:srgbClr val="ED1C29"/>
                </a:solidFill>
              </a:rPr>
              <a:t>CASO INTERNO · DESARROLLO DESDE CERO · EVIDENCIA REPORTADA POR EL DESARROLLADOR, NO ES UNA PRUEBA CONTROLADA</a:t>
            </a:r>
          </a:p>
        </p:txBody>
      </p:sp>
      <p:sp>
        <p:nvSpPr>
          <p:cNvPr id="133" name="tb133"/>
          <p:cNvSpPr txBox="1"/>
          <p:nvPr/>
        </p:nvSpPr>
        <p:spPr>
          <a:xfrm>
            <a:off x="850392" y="5275000"/>
            <a:ext cx="10500000" cy="228600"/>
          </a:xfrm>
          <a:prstGeom prst="rect">
            <a:avLst/>
          </a:prstGeom>
          <a:noFill/>
        </p:spPr>
        <p:txBody>
          <a:bodyPr wrap="square" lIns="0" tIns="0" rIns="0" bIns="0" anchor="t">
            <a:normAutofit/>
          </a:bodyPr>
          <a:lstStyle/>
          <a:p>
            <a:pPr algn="l">
              <a:lnSpc>
                <a:spcPct val="100000"/>
              </a:lnSpc>
              <a:spcBef>
                <a:spcPts val="0"/>
              </a:spcBef>
            </a:pPr>
            <a:r>
              <a:rPr lang="es-ES" sz="1300" b="1" i="0">
                <a:solidFill>
                  <a:srgbClr val="211915"/>
                </a:solidFill>
              </a:rPr>
              <a:t>2 días</a:t>
            </a:r>
            <a:r>
              <a:rPr lang="es-ES" sz="1000" b="0" i="0">
                <a:solidFill>
                  <a:srgbClr val="5A5A5A"/>
                </a:solidFill>
              </a:rPr>
              <a:t>  trabajo estimado sin IA      </a:t>
            </a:r>
            <a:r>
              <a:rPr lang="es-ES" sz="1300" b="1" i="0">
                <a:solidFill>
                  <a:srgbClr val="211915"/>
                </a:solidFill>
              </a:rPr>
              <a:t>3 horas</a:t>
            </a:r>
            <a:r>
              <a:rPr lang="es-ES" sz="1000" b="0" i="0">
                <a:solidFill>
                  <a:srgbClr val="5A5A5A"/>
                </a:solidFill>
              </a:rPr>
              <a:t>  trabajo realizado con GitHub Copilot      </a:t>
            </a:r>
            <a:r>
              <a:rPr lang="es-ES" sz="1300" b="1" i="0">
                <a:solidFill>
                  <a:srgbClr val="ED1C29"/>
                </a:solidFill>
              </a:rPr>
              <a:t>~85 %</a:t>
            </a:r>
            <a:r>
              <a:rPr lang="es-ES" sz="1000" b="0" i="0">
                <a:solidFill>
                  <a:srgbClr val="5A5A5A"/>
                </a:solidFill>
              </a:rPr>
              <a:t>  del trabajo realizado con apoyo de IA, según estimación del desarrollador</a:t>
            </a:r>
          </a:p>
        </p:txBody>
      </p:sp>
      <p:sp>
        <p:nvSpPr>
          <p:cNvPr id="134" name="tb134"/>
          <p:cNvSpPr txBox="1"/>
          <p:nvPr/>
        </p:nvSpPr>
        <p:spPr>
          <a:xfrm>
            <a:off x="850392" y="5545000"/>
            <a:ext cx="10500000" cy="228600"/>
          </a:xfrm>
          <a:prstGeom prst="rect">
            <a:avLst/>
          </a:prstGeom>
          <a:noFill/>
        </p:spPr>
        <p:txBody>
          <a:bodyPr wrap="square" lIns="0" tIns="0" rIns="0" bIns="0" anchor="t">
            <a:normAutofit fontScale="92500"/>
          </a:bodyPr>
          <a:lstStyle/>
          <a:p>
            <a:pPr algn="l">
              <a:lnSpc>
                <a:spcPct val="100000"/>
              </a:lnSpc>
              <a:spcBef>
                <a:spcPts val="0"/>
              </a:spcBef>
            </a:pPr>
            <a:r>
              <a:rPr lang="es-ES" sz="900" b="0" i="0" dirty="0">
                <a:solidFill>
                  <a:srgbClr val="5A5A5A"/>
                </a:solidFill>
              </a:rPr>
              <a:t>En un caso interno de desarrollo de una aplicación desde cero, El </a:t>
            </a:r>
            <a:r>
              <a:rPr lang="es-ES" sz="900" b="0" i="0" dirty="0" err="1">
                <a:solidFill>
                  <a:srgbClr val="5A5A5A"/>
                </a:solidFill>
              </a:rPr>
              <a:t>dev</a:t>
            </a:r>
            <a:r>
              <a:rPr lang="es-ES" sz="900" b="0" i="0" dirty="0">
                <a:solidFill>
                  <a:srgbClr val="5A5A5A"/>
                </a:solidFill>
              </a:rPr>
              <a:t> reportó realizar en aproximadamente 3 horas una actividad que normalmente le tomaba cerca de 2 días. Estima que alrededor del 85 % del trabajo fue realizado con apoyo de IA.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a:extLst>
              <a:ext uri="{C183D7F6-B498-43B3-948B-1728B52AA6E4}">
                <adec:decorative xmlns:adec="http://schemas.microsoft.com/office/drawing/2017/decorative" val="1"/>
              </a:ext>
            </a:extLst>
          </p:cNvPr>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200" b="1" i="0" spc="50">
                <a:solidFill>
                  <a:srgbClr val="ED1C29"/>
                </a:solidFill>
              </a:rPr>
              <a:t>DE CAPACIDAD TÉCNICA A VALOR</a:t>
            </a:r>
          </a:p>
        </p:txBody>
      </p:sp>
      <p:sp>
        <p:nvSpPr>
          <p:cNvPr id="28" name="tb28"/>
          <p:cNvSpPr txBox="1"/>
          <p:nvPr/>
        </p:nvSpPr>
        <p:spPr>
          <a:xfrm>
            <a:off x="658368" y="640080"/>
            <a:ext cx="9326880" cy="1371600"/>
          </a:xfrm>
          <a:prstGeom prst="rect">
            <a:avLst/>
          </a:prstGeom>
          <a:noFill/>
        </p:spPr>
        <p:txBody>
          <a:bodyPr wrap="square" lIns="0" tIns="0" rIns="0" bIns="0" anchor="t">
            <a:normAutofit/>
          </a:bodyPr>
          <a:lstStyle/>
          <a:p>
            <a:pPr algn="l">
              <a:lnSpc>
                <a:spcPct val="100000"/>
              </a:lnSpc>
              <a:spcBef>
                <a:spcPts val="0"/>
              </a:spcBef>
            </a:pPr>
            <a:r>
              <a:rPr lang="es-ES" sz="3000" b="1" i="0" dirty="0" err="1">
                <a:solidFill>
                  <a:srgbClr val="211915"/>
                </a:solidFill>
              </a:rPr>
              <a:t>Copilot</a:t>
            </a:r>
            <a:r>
              <a:rPr lang="es-ES" sz="3000" b="1" i="0" dirty="0">
                <a:solidFill>
                  <a:srgbClr val="211915"/>
                </a:solidFill>
              </a:rPr>
              <a:t> genera capacidad. El valor depende de lo que hacemos con ella.</a:t>
            </a:r>
          </a:p>
          <a:p>
            <a:pPr algn="l">
              <a:lnSpc>
                <a:spcPct val="100000"/>
              </a:lnSpc>
              <a:spcBef>
                <a:spcPts val="0"/>
              </a:spcBef>
            </a:pPr>
            <a:r>
              <a:rPr lang="es-ES" sz="2000" b="1" i="0" err="1">
                <a:solidFill>
                  <a:srgbClr val="ED1C29"/>
                </a:solidFill>
              </a:rPr>
              <a:t>Copilot</a:t>
            </a:r>
            <a:r>
              <a:rPr lang="es-ES" sz="2000" b="1" i="0">
                <a:solidFill>
                  <a:srgbClr val="ED1C29"/>
                </a:solidFill>
              </a:rPr>
              <a:t> | Capacidad liberada | Decisión de uso | Resultado de negocio</a:t>
            </a:r>
          </a:p>
        </p:txBody>
      </p:sp>
      <p:sp>
        <p:nvSpPr>
          <p:cNvPr id="40" name="ruleA">
            <a:extLst>
              <a:ext uri="{C183D7F6-B498-43B3-948B-1728B52AA6E4}">
                <adec:decorative xmlns:adec="http://schemas.microsoft.com/office/drawing/2017/decorative" val="1"/>
              </a:ext>
            </a:extLst>
          </p:cNvPr>
          <p:cNvSpPr/>
          <p:nvPr/>
        </p:nvSpPr>
        <p:spPr>
          <a:xfrm>
            <a:off x="658368" y="2377440"/>
            <a:ext cx="5209017"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1" name="tbA"/>
          <p:cNvSpPr txBox="1"/>
          <p:nvPr/>
        </p:nvSpPr>
        <p:spPr>
          <a:xfrm>
            <a:off x="658368" y="2697480"/>
            <a:ext cx="5209017" cy="1371600"/>
          </a:xfrm>
          <a:prstGeom prst="rect">
            <a:avLst/>
          </a:prstGeom>
          <a:noFill/>
        </p:spPr>
        <p:txBody>
          <a:bodyPr wrap="square" lIns="0" tIns="0" rIns="0" bIns="0" anchor="t">
            <a:normAutofit/>
          </a:bodyPr>
          <a:lstStyle/>
          <a:p>
            <a:pPr algn="l">
              <a:lnSpc>
                <a:spcPct val="100000"/>
              </a:lnSpc>
              <a:spcAft>
                <a:spcPts val="900"/>
              </a:spcAft>
            </a:pPr>
            <a:r>
              <a:rPr lang="en-US" sz="1500" b="1" i="0" spc="50">
                <a:solidFill>
                  <a:srgbClr val="211915"/>
                </a:solidFill>
              </a:rPr>
              <a:t>LO MISMO CON MENOS</a:t>
            </a:r>
          </a:p>
          <a:p>
            <a:pPr algn="l">
              <a:lnSpc>
                <a:spcPct val="100000"/>
              </a:lnSpc>
              <a:spcAft>
                <a:spcPts val="900"/>
              </a:spcAft>
            </a:pPr>
            <a:r>
              <a:rPr lang="en-US" sz="1200" b="0" i="0">
                <a:solidFill>
                  <a:srgbClr val="5A5A5A"/>
                </a:solidFill>
              </a:rPr>
              <a:t>Mantener el mismo resultado con menor costo o menor capacidad externa.</a:t>
            </a:r>
            <a:endParaRPr lang="es-ES" sz="1100" b="0" i="0">
              <a:solidFill>
                <a:srgbClr val="7A7A7A"/>
              </a:solidFill>
            </a:endParaRPr>
          </a:p>
        </p:txBody>
      </p:sp>
      <p:sp>
        <p:nvSpPr>
          <p:cNvPr id="46" name="ruleC">
            <a:extLst>
              <a:ext uri="{C183D7F6-B498-43B3-948B-1728B52AA6E4}">
                <adec:decorative xmlns:adec="http://schemas.microsoft.com/office/drawing/2017/decorative" val="1"/>
              </a:ext>
            </a:extLst>
          </p:cNvPr>
          <p:cNvSpPr/>
          <p:nvPr/>
        </p:nvSpPr>
        <p:spPr>
          <a:xfrm>
            <a:off x="6324585" y="2377440"/>
            <a:ext cx="5209017"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7" name="tbC"/>
          <p:cNvSpPr txBox="1"/>
          <p:nvPr/>
        </p:nvSpPr>
        <p:spPr>
          <a:xfrm>
            <a:off x="6324585" y="2697480"/>
            <a:ext cx="5209017" cy="1371600"/>
          </a:xfrm>
          <a:prstGeom prst="rect">
            <a:avLst/>
          </a:prstGeom>
          <a:noFill/>
        </p:spPr>
        <p:txBody>
          <a:bodyPr wrap="square" lIns="0" tIns="0" rIns="0" bIns="0" anchor="t">
            <a:normAutofit/>
          </a:bodyPr>
          <a:lstStyle/>
          <a:p>
            <a:pPr algn="l">
              <a:lnSpc>
                <a:spcPct val="100000"/>
              </a:lnSpc>
              <a:spcAft>
                <a:spcPts val="900"/>
              </a:spcAft>
            </a:pPr>
            <a:r>
              <a:rPr lang="en-US" sz="1500" b="1" i="0" spc="50">
                <a:solidFill>
                  <a:srgbClr val="211915"/>
                </a:solidFill>
              </a:rPr>
              <a:t>VALOR ANTES</a:t>
            </a:r>
          </a:p>
          <a:p>
            <a:pPr algn="l">
              <a:lnSpc>
                <a:spcPct val="100000"/>
              </a:lnSpc>
              <a:spcAft>
                <a:spcPts val="900"/>
              </a:spcAft>
            </a:pPr>
            <a:r>
              <a:rPr lang="en-US" sz="1200" b="0" i="0">
                <a:solidFill>
                  <a:srgbClr val="5A5A5A"/>
                </a:solidFill>
              </a:rPr>
              <a:t>Una iniciativa o beneficio entra en operación antes y permite capturar valor anticipadamente.</a:t>
            </a:r>
            <a:endParaRPr lang="es-ES" sz="1100" b="0" i="0">
              <a:solidFill>
                <a:srgbClr val="7A7A7A"/>
              </a:solidFill>
            </a:endParaRPr>
          </a:p>
        </p:txBody>
      </p:sp>
      <p:sp>
        <p:nvSpPr>
          <p:cNvPr id="25" name="sh25"/>
          <p:cNvSpPr/>
          <p:nvPr/>
        </p:nvSpPr>
        <p:spPr>
          <a:xfrm>
            <a:off x="658368" y="4663440"/>
            <a:ext cx="10875234" cy="685800"/>
          </a:xfrm>
          <a:prstGeom prst="rect">
            <a:avLst/>
          </a:prstGeom>
          <a:solidFill>
            <a:srgbClr val="ED1C29"/>
          </a:solidFill>
          <a:ln>
            <a:noFill/>
          </a:ln>
        </p:spPr>
        <p:txBody>
          <a:bodyPr lIns="146304" tIns="73152" rIns="146304" bIns="73152" anchor="ctr">
            <a:normAutofit/>
          </a:bodyPr>
          <a:lstStyle/>
          <a:p>
            <a:pPr algn="ctr">
              <a:lnSpc>
                <a:spcPct val="100000"/>
              </a:lnSpc>
              <a:spcBef>
                <a:spcPts val="0"/>
              </a:spcBef>
            </a:pPr>
            <a:r>
              <a:rPr lang="es-ES" sz="1400" b="1" i="0">
                <a:solidFill>
                  <a:srgbClr val="FFFFFF"/>
                </a:solidFill>
              </a:rPr>
              <a:t>Ejemplo: Copilot genera mayor capacidad interna, el equipo absorbe una actividad actualmente tercerizada y puede reducir un costo operacional. Ejemplo ilustrativo, no es un resultado medido en Tuya</a:t>
            </a:r>
            <a:r>
              <a:rPr lang="es-ES" sz="1400" b="1" i="0" dirty="0">
                <a:solidFill>
                  <a:srgbClr val="FFFFFF"/>
                </a:solidFill>
              </a:rPr>
              <a:t>.</a:t>
            </a: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03</a:t>
            </a:r>
          </a:p>
        </p:txBody>
      </p:sp>
      <p:pic>
        <p:nvPicPr>
          <p:cNvPr id="900" name="Logo Tuya" descr="Logo corporativ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h101"/>
          <p:cNvSpPr/>
          <p:nvPr/>
        </p:nvSpPr>
        <p:spPr>
          <a:xfrm>
            <a:off x="658368" y="384048"/>
            <a:ext cx="146304" cy="146304"/>
          </a:xfrm>
          <a:prstGeom prst="rect">
            <a:avLst/>
          </a:prstGeom>
          <a:solidFill>
            <a:srgbClr val="ED1C29"/>
          </a:solidFill>
          <a:ln>
            <a:noFill/>
          </a:ln>
        </p:spPr>
        <p:txBody>
          <a:bodyPr lIns="91440" tIns="45720" rIns="91440" bIns="45720" anchor="ctr">
            <a:normAutofit fontScale="25000" lnSpcReduction="20000"/>
          </a:bodyPr>
          <a:lstStyle/>
          <a:p>
            <a:endParaRPr lang="es-ES"/>
          </a:p>
        </p:txBody>
      </p:sp>
      <p:sp>
        <p:nvSpPr>
          <p:cNvPr id="102" name="tb102"/>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50">
                <a:solidFill>
                  <a:srgbClr val="ED1C29"/>
                </a:solidFill>
              </a:rPr>
              <a:t>CONSOLIDADO DE LICENCIAS</a:t>
            </a:r>
          </a:p>
        </p:txBody>
      </p:sp>
      <p:sp>
        <p:nvSpPr>
          <p:cNvPr id="103" name="tb103"/>
          <p:cNvSpPr txBox="1"/>
          <p:nvPr/>
        </p:nvSpPr>
        <p:spPr>
          <a:xfrm>
            <a:off x="658368" y="713232"/>
            <a:ext cx="9326880" cy="868680"/>
          </a:xfrm>
          <a:prstGeom prst="rect">
            <a:avLst/>
          </a:prstGeom>
          <a:noFill/>
        </p:spPr>
        <p:txBody>
          <a:bodyPr wrap="square" lIns="0" tIns="0" rIns="0" bIns="0" anchor="t">
            <a:normAutofit lnSpcReduction="10000"/>
          </a:bodyPr>
          <a:lstStyle/>
          <a:p>
            <a:pPr algn="l">
              <a:lnSpc>
                <a:spcPct val="100000"/>
              </a:lnSpc>
              <a:spcBef>
                <a:spcPts val="0"/>
              </a:spcBef>
            </a:pPr>
            <a:r>
              <a:rPr lang="es-ES" sz="3000" b="1" i="0">
                <a:solidFill>
                  <a:srgbClr val="211915"/>
                </a:solidFill>
              </a:rPr>
              <a:t>Cobertura actual, licencias adicionales y costo por Líder Técnico</a:t>
            </a:r>
          </a:p>
        </p:txBody>
      </p:sp>
      <p:sp>
        <p:nvSpPr>
          <p:cNvPr id="105" name="tb105"/>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106" name="tb106"/>
          <p:cNvSpPr txBox="1"/>
          <p:nvPr/>
        </p:nvSpPr>
        <p:spPr>
          <a:xfrm>
            <a:off x="10433304"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04</a:t>
            </a: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
        <p:nvSpPr>
          <p:cNvPr id="107" name="sh107"/>
          <p:cNvSpPr/>
          <p:nvPr/>
        </p:nvSpPr>
        <p:spPr>
          <a:xfrm>
            <a:off x="658368" y="1645920"/>
            <a:ext cx="10872216" cy="713232"/>
          </a:xfrm>
          <a:prstGeom prst="rect">
            <a:avLst/>
          </a:prstGeom>
          <a:solidFill>
            <a:srgbClr val="ED1C29"/>
          </a:solidFill>
          <a:ln>
            <a:noFill/>
          </a:ln>
        </p:spPr>
        <p:txBody>
          <a:bodyPr lIns="91440" tIns="45720" rIns="91440" bIns="45720" anchor="ctr">
            <a:normAutofit/>
          </a:bodyPr>
          <a:lstStyle/>
          <a:p>
            <a:endParaRPr lang="es-ES"/>
          </a:p>
        </p:txBody>
      </p:sp>
      <p:sp>
        <p:nvSpPr>
          <p:cNvPr id="108" name="tb108"/>
          <p:cNvSpPr txBox="1"/>
          <p:nvPr/>
        </p:nvSpPr>
        <p:spPr>
          <a:xfrm>
            <a:off x="658368" y="1810512"/>
            <a:ext cx="10872216" cy="402336"/>
          </a:xfrm>
          <a:prstGeom prst="rect">
            <a:avLst/>
          </a:prstGeom>
          <a:noFill/>
        </p:spPr>
        <p:txBody>
          <a:bodyPr wrap="square" lIns="91440" tIns="0" rIns="91440" bIns="0" anchor="t">
            <a:normAutofit/>
          </a:bodyPr>
          <a:lstStyle/>
          <a:p>
            <a:pPr algn="ctr">
              <a:lnSpc>
                <a:spcPct val="100000"/>
              </a:lnSpc>
              <a:spcBef>
                <a:spcPts val="0"/>
              </a:spcBef>
            </a:pPr>
            <a:r>
              <a:rPr lang="es-ES" sz="1900" b="1" i="0" spc="50">
                <a:solidFill>
                  <a:srgbClr val="FFFFFF"/>
                </a:solidFill>
              </a:rPr>
              <a:t>8 LICENCIAS POR COMPRAR AHORA · USD 152 / MES · USD 608 SEP-DIC 2026</a:t>
            </a:r>
          </a:p>
        </p:txBody>
      </p:sp>
      <p:sp>
        <p:nvSpPr>
          <p:cNvPr id="135" name="sh135"/>
          <p:cNvSpPr/>
          <p:nvPr/>
        </p:nvSpPr>
        <p:spPr>
          <a:xfrm>
            <a:off x="658368" y="4260000"/>
            <a:ext cx="10872216" cy="9525"/>
          </a:xfrm>
          <a:prstGeom prst="rect">
            <a:avLst/>
          </a:prstGeom>
          <a:solidFill>
            <a:srgbClr val="E3E0DE"/>
          </a:solidFill>
          <a:ln>
            <a:noFill/>
          </a:ln>
        </p:spPr>
        <p:txBody>
          <a:bodyPr lIns="0" tIns="0" rIns="0" bIns="0" anchor="ctr">
            <a:normAutofit fontScale="25000" lnSpcReduction="20000"/>
          </a:bodyPr>
          <a:lstStyle/>
          <a:p>
            <a:endParaRPr lang="es-ES"/>
          </a:p>
        </p:txBody>
      </p:sp>
      <p:sp>
        <p:nvSpPr>
          <p:cNvPr id="109" name="sh109"/>
          <p:cNvSpPr/>
          <p:nvPr/>
        </p:nvSpPr>
        <p:spPr>
          <a:xfrm>
            <a:off x="658368" y="2468880"/>
            <a:ext cx="2072030" cy="1150000"/>
          </a:xfrm>
          <a:prstGeom prst="rect">
            <a:avLst/>
          </a:prstGeom>
          <a:solidFill>
            <a:srgbClr val="F5F3F2"/>
          </a:solidFill>
          <a:ln w="12700">
            <a:solidFill>
              <a:srgbClr val="E3E0DE"/>
            </a:solidFill>
          </a:ln>
        </p:spPr>
        <p:txBody>
          <a:bodyPr lIns="91440" tIns="45720" rIns="91440" bIns="45720" anchor="ctr">
            <a:normAutofit/>
          </a:bodyPr>
          <a:lstStyle/>
          <a:p>
            <a:endParaRPr lang="es-ES"/>
          </a:p>
        </p:txBody>
      </p:sp>
      <p:sp>
        <p:nvSpPr>
          <p:cNvPr id="110" name="tb110"/>
          <p:cNvSpPr txBox="1"/>
          <p:nvPr/>
        </p:nvSpPr>
        <p:spPr>
          <a:xfrm>
            <a:off x="810768"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19 LICENCIAS CUBIERTAS</a:t>
            </a:r>
          </a:p>
        </p:txBody>
      </p:sp>
      <p:sp>
        <p:nvSpPr>
          <p:cNvPr id="111" name="tb111"/>
          <p:cNvSpPr txBox="1"/>
          <p:nvPr/>
        </p:nvSpPr>
        <p:spPr>
          <a:xfrm>
            <a:off x="810768" y="3030000"/>
            <a:ext cx="1767230" cy="520000"/>
          </a:xfrm>
          <a:prstGeom prst="rect">
            <a:avLst/>
          </a:prstGeom>
          <a:noFill/>
        </p:spPr>
        <p:txBody>
          <a:bodyPr wrap="square" lIns="0" tIns="0" rIns="0" bIns="0" anchor="t">
            <a:normAutofit/>
          </a:bodyPr>
          <a:lstStyle/>
          <a:p>
            <a:pPr algn="l">
              <a:lnSpc>
                <a:spcPct val="100000"/>
              </a:lnSpc>
              <a:spcBef>
                <a:spcPts val="0"/>
              </a:spcBef>
            </a:pPr>
            <a:r>
              <a:rPr lang="es-ES" sz="850" b="0" i="0">
                <a:solidFill>
                  <a:srgbClr val="7A7A7A"/>
                </a:solidFill>
              </a:rPr>
              <a:t>Usuarios cubiertos hoy.</a:t>
            </a:r>
          </a:p>
        </p:txBody>
      </p:sp>
      <p:sp>
        <p:nvSpPr>
          <p:cNvPr id="112" name="sh112"/>
          <p:cNvSpPr/>
          <p:nvPr/>
        </p:nvSpPr>
        <p:spPr>
          <a:xfrm>
            <a:off x="2858414" y="2468880"/>
            <a:ext cx="2072030" cy="1150000"/>
          </a:xfrm>
          <a:prstGeom prst="rect">
            <a:avLst/>
          </a:prstGeom>
          <a:noFill/>
          <a:ln w="12700">
            <a:solidFill>
              <a:srgbClr val="E3E0DE"/>
            </a:solidFill>
          </a:ln>
        </p:spPr>
        <p:txBody>
          <a:bodyPr lIns="91440" tIns="45720" rIns="91440" bIns="45720" anchor="ctr">
            <a:normAutofit/>
          </a:bodyPr>
          <a:lstStyle/>
          <a:p>
            <a:endParaRPr lang="es-ES"/>
          </a:p>
        </p:txBody>
      </p:sp>
      <p:sp>
        <p:nvSpPr>
          <p:cNvPr id="113" name="tb113"/>
          <p:cNvSpPr txBox="1"/>
          <p:nvPr/>
        </p:nvSpPr>
        <p:spPr>
          <a:xfrm>
            <a:off x="3010814"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8 LICENCIAS POR COMPRAR AHORA</a:t>
            </a:r>
          </a:p>
        </p:txBody>
      </p:sp>
      <p:sp>
        <p:nvSpPr>
          <p:cNvPr id="114" name="tb114"/>
          <p:cNvSpPr txBox="1"/>
          <p:nvPr/>
        </p:nvSpPr>
        <p:spPr>
          <a:xfrm>
            <a:off x="3010814" y="3030000"/>
            <a:ext cx="1767230" cy="520000"/>
          </a:xfrm>
          <a:prstGeom prst="rect">
            <a:avLst/>
          </a:prstGeom>
          <a:noFill/>
        </p:spPr>
        <p:txBody>
          <a:bodyPr wrap="square" lIns="0" tIns="0" rIns="0" bIns="0" anchor="t">
            <a:normAutofit/>
          </a:bodyPr>
          <a:lstStyle/>
          <a:p>
            <a:pPr algn="l">
              <a:lnSpc>
                <a:spcPct val="100000"/>
              </a:lnSpc>
              <a:spcBef>
                <a:spcPts val="0"/>
              </a:spcBef>
            </a:pPr>
            <a:r>
              <a:rPr lang="es-ES" sz="850" b="0" i="0">
                <a:solidFill>
                  <a:srgbClr val="7A7A7A"/>
                </a:solidFill>
              </a:rPr>
              <a:t>Compra inmediata requerida.</a:t>
            </a:r>
          </a:p>
        </p:txBody>
      </p:sp>
      <p:sp>
        <p:nvSpPr>
          <p:cNvPr id="115" name="sh115"/>
          <p:cNvSpPr/>
          <p:nvPr/>
        </p:nvSpPr>
        <p:spPr>
          <a:xfrm>
            <a:off x="5058460" y="2468880"/>
            <a:ext cx="2072030" cy="1150000"/>
          </a:xfrm>
          <a:prstGeom prst="rect">
            <a:avLst/>
          </a:prstGeom>
          <a:noFill/>
          <a:ln w="12700">
            <a:solidFill>
              <a:srgbClr val="E3E0DE"/>
            </a:solidFill>
          </a:ln>
        </p:spPr>
        <p:txBody>
          <a:bodyPr lIns="91440" tIns="45720" rIns="91440" bIns="45720" anchor="ctr">
            <a:normAutofit/>
          </a:bodyPr>
          <a:lstStyle/>
          <a:p>
            <a:endParaRPr lang="es-ES"/>
          </a:p>
        </p:txBody>
      </p:sp>
      <p:sp>
        <p:nvSpPr>
          <p:cNvPr id="116" name="tb116"/>
          <p:cNvSpPr txBox="1"/>
          <p:nvPr/>
        </p:nvSpPr>
        <p:spPr>
          <a:xfrm>
            <a:off x="5210860"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AS/400 PENDIENTES</a:t>
            </a:r>
          </a:p>
        </p:txBody>
      </p:sp>
      <p:sp>
        <p:nvSpPr>
          <p:cNvPr id="117" name="tb117"/>
          <p:cNvSpPr txBox="1"/>
          <p:nvPr/>
        </p:nvSpPr>
        <p:spPr>
          <a:xfrm>
            <a:off x="5210860" y="3030000"/>
            <a:ext cx="1767230" cy="520000"/>
          </a:xfrm>
          <a:prstGeom prst="rect">
            <a:avLst/>
          </a:prstGeom>
          <a:noFill/>
        </p:spPr>
        <p:txBody>
          <a:bodyPr wrap="square" lIns="0" tIns="0" rIns="0" bIns="0" anchor="t">
            <a:normAutofit/>
          </a:bodyPr>
          <a:lstStyle/>
          <a:p>
            <a:pPr algn="l">
              <a:lnSpc>
                <a:spcPct val="100000"/>
              </a:lnSpc>
              <a:spcBef>
                <a:spcPts val="0"/>
              </a:spcBef>
            </a:pPr>
            <a:r>
              <a:rPr lang="es-ES" sz="1400" b="1" i="0">
                <a:solidFill>
                  <a:srgbClr val="211915"/>
                </a:solidFill>
              </a:rPr>
              <a:t>3</a:t>
            </a:r>
          </a:p>
        </p:txBody>
      </p:sp>
      <p:sp>
        <p:nvSpPr>
          <p:cNvPr id="119" name="sh119"/>
          <p:cNvSpPr/>
          <p:nvPr/>
        </p:nvSpPr>
        <p:spPr>
          <a:xfrm>
            <a:off x="7258506" y="2468880"/>
            <a:ext cx="2072030" cy="1150000"/>
          </a:xfrm>
          <a:prstGeom prst="rect">
            <a:avLst/>
          </a:prstGeom>
          <a:noFill/>
          <a:ln w="12700">
            <a:solidFill>
              <a:srgbClr val="E3E0DE"/>
            </a:solidFill>
          </a:ln>
        </p:spPr>
        <p:txBody>
          <a:bodyPr lIns="91440" tIns="45720" rIns="91440" bIns="45720" anchor="ctr">
            <a:normAutofit/>
          </a:bodyPr>
          <a:lstStyle/>
          <a:p>
            <a:endParaRPr lang="es-ES"/>
          </a:p>
        </p:txBody>
      </p:sp>
      <p:sp>
        <p:nvSpPr>
          <p:cNvPr id="120" name="tb120"/>
          <p:cNvSpPr txBox="1"/>
          <p:nvPr/>
        </p:nvSpPr>
        <p:spPr>
          <a:xfrm>
            <a:off x="7410906"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COSTO MENSUAL</a:t>
            </a:r>
          </a:p>
        </p:txBody>
      </p:sp>
      <p:sp>
        <p:nvSpPr>
          <p:cNvPr id="121" name="tb121"/>
          <p:cNvSpPr txBox="1"/>
          <p:nvPr/>
        </p:nvSpPr>
        <p:spPr>
          <a:xfrm>
            <a:off x="7410906" y="3030000"/>
            <a:ext cx="1767230" cy="520000"/>
          </a:xfrm>
          <a:prstGeom prst="rect">
            <a:avLst/>
          </a:prstGeom>
          <a:noFill/>
        </p:spPr>
        <p:txBody>
          <a:bodyPr wrap="square" lIns="0" tIns="0" rIns="0" bIns="0" anchor="t">
            <a:normAutofit/>
          </a:bodyPr>
          <a:lstStyle/>
          <a:p>
            <a:pPr algn="l">
              <a:lnSpc>
                <a:spcPct val="100000"/>
              </a:lnSpc>
              <a:spcBef>
                <a:spcPts val="0"/>
              </a:spcBef>
            </a:pPr>
            <a:r>
              <a:rPr lang="es-ES" sz="1400" b="1" i="0">
                <a:solidFill>
                  <a:srgbClr val="211915"/>
                </a:solidFill>
              </a:rPr>
              <a:t>USD 152</a:t>
            </a:r>
          </a:p>
        </p:txBody>
      </p:sp>
      <p:sp>
        <p:nvSpPr>
          <p:cNvPr id="122" name="sh122"/>
          <p:cNvSpPr/>
          <p:nvPr/>
        </p:nvSpPr>
        <p:spPr>
          <a:xfrm>
            <a:off x="9458552" y="2468880"/>
            <a:ext cx="2072030" cy="1150000"/>
          </a:xfrm>
          <a:prstGeom prst="rect">
            <a:avLst/>
          </a:prstGeom>
          <a:solidFill>
            <a:srgbClr val="ED1C29"/>
          </a:solidFill>
          <a:ln>
            <a:noFill/>
          </a:ln>
        </p:spPr>
        <p:txBody>
          <a:bodyPr lIns="91440" tIns="45720" rIns="91440" bIns="45720" anchor="ctr">
            <a:normAutofit/>
          </a:bodyPr>
          <a:lstStyle/>
          <a:p>
            <a:endParaRPr lang="es-ES"/>
          </a:p>
        </p:txBody>
      </p:sp>
      <p:sp>
        <p:nvSpPr>
          <p:cNvPr id="123" name="tb123"/>
          <p:cNvSpPr txBox="1"/>
          <p:nvPr/>
        </p:nvSpPr>
        <p:spPr>
          <a:xfrm>
            <a:off x="9610952"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FFFFFF"/>
                </a:solidFill>
              </a:rPr>
              <a:t>COSTO SEP-DIC 2026</a:t>
            </a:r>
          </a:p>
        </p:txBody>
      </p:sp>
      <p:sp>
        <p:nvSpPr>
          <p:cNvPr id="124" name="tb124"/>
          <p:cNvSpPr txBox="1"/>
          <p:nvPr/>
        </p:nvSpPr>
        <p:spPr>
          <a:xfrm>
            <a:off x="9610952" y="3030000"/>
            <a:ext cx="1767230" cy="520000"/>
          </a:xfrm>
          <a:prstGeom prst="rect">
            <a:avLst/>
          </a:prstGeom>
          <a:noFill/>
        </p:spPr>
        <p:txBody>
          <a:bodyPr wrap="square" lIns="0" tIns="0" rIns="0" bIns="0" anchor="t">
            <a:normAutofit/>
          </a:bodyPr>
          <a:lstStyle/>
          <a:p>
            <a:pPr algn="l">
              <a:lnSpc>
                <a:spcPct val="100000"/>
              </a:lnSpc>
              <a:spcBef>
                <a:spcPts val="0"/>
              </a:spcBef>
            </a:pPr>
            <a:r>
              <a:rPr lang="es-ES" sz="1400" b="1" i="0">
                <a:solidFill>
                  <a:srgbClr val="FFFFFF"/>
                </a:solidFill>
              </a:rPr>
              <a:t>USD 608</a:t>
            </a:r>
          </a:p>
        </p:txBody>
      </p:sp>
      <p:sp>
        <p:nvSpPr>
          <p:cNvPr id="136" name="tb136"/>
          <p:cNvSpPr txBox="1"/>
          <p:nvPr/>
        </p:nvSpPr>
        <p:spPr>
          <a:xfrm>
            <a:off x="658368" y="3672000"/>
            <a:ext cx="10872216" cy="219456"/>
          </a:xfrm>
          <a:prstGeom prst="rect">
            <a:avLst/>
          </a:prstGeom>
          <a:noFill/>
        </p:spPr>
        <p:txBody>
          <a:bodyPr wrap="square" lIns="0" tIns="0" rIns="0" bIns="0" anchor="t">
            <a:normAutofit/>
          </a:bodyPr>
          <a:lstStyle/>
          <a:p>
            <a:pPr algn="r">
              <a:lnSpc>
                <a:spcPct val="100000"/>
              </a:lnSpc>
              <a:spcBef>
                <a:spcPts val="0"/>
              </a:spcBef>
            </a:pPr>
            <a:r>
              <a:rPr lang="es-ES" sz="900" b="0" i="0">
                <a:solidFill>
                  <a:srgbClr val="7A7A7A"/>
                </a:solidFill>
              </a:rPr>
              <a:t>8 licencias x USD 19 = USD 152 / mes · USD 152 x 4 meses (Sep-Dic 2026) = USD 608</a:t>
            </a:r>
          </a:p>
        </p:txBody>
      </p:sp>
      <p:sp>
        <p:nvSpPr>
          <p:cNvPr id="118" name="tb118"/>
          <p:cNvSpPr txBox="1"/>
          <p:nvPr/>
        </p:nvSpPr>
        <p:spPr>
          <a:xfrm>
            <a:off x="658368" y="3672000"/>
            <a:ext cx="5000000" cy="219456"/>
          </a:xfrm>
          <a:prstGeom prst="rect">
            <a:avLst/>
          </a:prstGeom>
          <a:noFill/>
        </p:spPr>
        <p:txBody>
          <a:bodyPr wrap="square" lIns="0" tIns="0" rIns="0" bIns="0" anchor="t">
            <a:normAutofit/>
          </a:bodyPr>
          <a:lstStyle/>
          <a:p>
            <a:pPr algn="l">
              <a:lnSpc>
                <a:spcPct val="100000"/>
              </a:lnSpc>
              <a:spcBef>
                <a:spcPts val="0"/>
              </a:spcBef>
            </a:pPr>
            <a:r>
              <a:rPr lang="es-ES" sz="1100" b="1" i="0" spc="50">
                <a:solidFill>
                  <a:srgbClr val="7A7A7A"/>
                </a:solidFill>
              </a:rPr>
              <a:t>DETALLE POR LÍDER TÉCNICO</a:t>
            </a:r>
          </a:p>
        </p:txBody>
      </p:sp>
      <p:sp>
        <p:nvSpPr>
          <p:cNvPr id="200" name="tbHdr1"/>
          <p:cNvSpPr txBox="1"/>
          <p:nvPr/>
        </p:nvSpPr>
        <p:spPr>
          <a:xfrm>
            <a:off x="658368" y="3990000"/>
            <a:ext cx="27432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LÍDER TÉCNICO</a:t>
            </a:r>
          </a:p>
        </p:txBody>
      </p:sp>
      <p:sp>
        <p:nvSpPr>
          <p:cNvPr id="201" name="tbHdr2"/>
          <p:cNvSpPr txBox="1"/>
          <p:nvPr/>
        </p:nvSpPr>
        <p:spPr>
          <a:xfrm>
            <a:off x="3520440" y="3990000"/>
            <a:ext cx="9144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CUBIERTOS</a:t>
            </a:r>
          </a:p>
        </p:txBody>
      </p:sp>
      <p:sp>
        <p:nvSpPr>
          <p:cNvPr id="202" name="tbHdr3"/>
          <p:cNvSpPr txBox="1"/>
          <p:nvPr/>
        </p:nvSpPr>
        <p:spPr>
          <a:xfrm>
            <a:off x="4526280" y="3990000"/>
            <a:ext cx="118872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POR COMPRAR AHORA</a:t>
            </a:r>
          </a:p>
        </p:txBody>
      </p:sp>
      <p:sp>
        <p:nvSpPr>
          <p:cNvPr id="203" name="tbHdr4"/>
          <p:cNvSpPr txBox="1"/>
          <p:nvPr/>
        </p:nvSpPr>
        <p:spPr>
          <a:xfrm>
            <a:off x="5852160" y="3990000"/>
            <a:ext cx="18288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AS/400 PENDIENTES</a:t>
            </a:r>
          </a:p>
        </p:txBody>
      </p:sp>
      <p:sp>
        <p:nvSpPr>
          <p:cNvPr id="204" name="tbHdr5"/>
          <p:cNvSpPr txBox="1"/>
          <p:nvPr/>
        </p:nvSpPr>
        <p:spPr>
          <a:xfrm>
            <a:off x="7772400" y="3990000"/>
            <a:ext cx="18288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COSTO MENSUAL</a:t>
            </a:r>
          </a:p>
        </p:txBody>
      </p:sp>
      <p:sp>
        <p:nvSpPr>
          <p:cNvPr id="230" name="tbHdr6"/>
          <p:cNvSpPr txBox="1"/>
          <p:nvPr/>
        </p:nvSpPr>
        <p:spPr>
          <a:xfrm>
            <a:off x="9692640" y="3990000"/>
            <a:ext cx="1837944"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COSTO SEP-DIC 2026</a:t>
            </a:r>
          </a:p>
        </p:txBody>
      </p:sp>
      <p:sp>
        <p:nvSpPr>
          <p:cNvPr id="205" name="tbR1C1"/>
          <p:cNvSpPr txBox="1"/>
          <p:nvPr/>
        </p:nvSpPr>
        <p:spPr>
          <a:xfrm>
            <a:off x="658368" y="43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Aleyda Maria Hincapie Alvarez</a:t>
            </a:r>
          </a:p>
        </p:txBody>
      </p:sp>
      <p:sp>
        <p:nvSpPr>
          <p:cNvPr id="206" name="tbR1C2"/>
          <p:cNvSpPr txBox="1"/>
          <p:nvPr/>
        </p:nvSpPr>
        <p:spPr>
          <a:xfrm>
            <a:off x="3520440" y="43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10</a:t>
            </a:r>
          </a:p>
        </p:txBody>
      </p:sp>
      <p:sp>
        <p:nvSpPr>
          <p:cNvPr id="207" name="tbR1C3"/>
          <p:cNvSpPr txBox="1"/>
          <p:nvPr/>
        </p:nvSpPr>
        <p:spPr>
          <a:xfrm>
            <a:off x="4526280" y="43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5</a:t>
            </a:r>
          </a:p>
        </p:txBody>
      </p:sp>
      <p:sp>
        <p:nvSpPr>
          <p:cNvPr id="208" name="tbR1C4"/>
          <p:cNvSpPr txBox="1"/>
          <p:nvPr/>
        </p:nvSpPr>
        <p:spPr>
          <a:xfrm>
            <a:off x="5852160" y="43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0</a:t>
            </a:r>
          </a:p>
        </p:txBody>
      </p:sp>
      <p:sp>
        <p:nvSpPr>
          <p:cNvPr id="209" name="tbR1C5"/>
          <p:cNvSpPr txBox="1"/>
          <p:nvPr/>
        </p:nvSpPr>
        <p:spPr>
          <a:xfrm>
            <a:off x="7772400" y="43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95</a:t>
            </a:r>
          </a:p>
        </p:txBody>
      </p:sp>
      <p:sp>
        <p:nvSpPr>
          <p:cNvPr id="231" name="tbR1C6"/>
          <p:cNvSpPr txBox="1"/>
          <p:nvPr/>
        </p:nvSpPr>
        <p:spPr>
          <a:xfrm>
            <a:off x="9692640" y="43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380</a:t>
            </a:r>
          </a:p>
        </p:txBody>
      </p:sp>
      <p:sp>
        <p:nvSpPr>
          <p:cNvPr id="210" name="tbR2C1"/>
          <p:cNvSpPr txBox="1"/>
          <p:nvPr/>
        </p:nvSpPr>
        <p:spPr>
          <a:xfrm>
            <a:off x="658368" y="46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Beatriz Elena Cano Gonzalez</a:t>
            </a:r>
          </a:p>
        </p:txBody>
      </p:sp>
      <p:sp>
        <p:nvSpPr>
          <p:cNvPr id="211" name="tbR2C2"/>
          <p:cNvSpPr txBox="1"/>
          <p:nvPr/>
        </p:nvSpPr>
        <p:spPr>
          <a:xfrm>
            <a:off x="3520440" y="46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5</a:t>
            </a:r>
          </a:p>
        </p:txBody>
      </p:sp>
      <p:sp>
        <p:nvSpPr>
          <p:cNvPr id="212" name="tbR2C3"/>
          <p:cNvSpPr txBox="1"/>
          <p:nvPr/>
        </p:nvSpPr>
        <p:spPr>
          <a:xfrm>
            <a:off x="4526280" y="46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3</a:t>
            </a:r>
          </a:p>
        </p:txBody>
      </p:sp>
      <p:sp>
        <p:nvSpPr>
          <p:cNvPr id="213" name="tbR2C4"/>
          <p:cNvSpPr txBox="1"/>
          <p:nvPr/>
        </p:nvSpPr>
        <p:spPr>
          <a:xfrm>
            <a:off x="5852160" y="46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2</a:t>
            </a:r>
          </a:p>
        </p:txBody>
      </p:sp>
      <p:sp>
        <p:nvSpPr>
          <p:cNvPr id="214" name="tbR2C5"/>
          <p:cNvSpPr txBox="1"/>
          <p:nvPr/>
        </p:nvSpPr>
        <p:spPr>
          <a:xfrm>
            <a:off x="7772400" y="46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57</a:t>
            </a:r>
          </a:p>
        </p:txBody>
      </p:sp>
      <p:sp>
        <p:nvSpPr>
          <p:cNvPr id="232" name="tbR2C6"/>
          <p:cNvSpPr txBox="1"/>
          <p:nvPr/>
        </p:nvSpPr>
        <p:spPr>
          <a:xfrm>
            <a:off x="9692640" y="46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228</a:t>
            </a:r>
          </a:p>
        </p:txBody>
      </p:sp>
      <p:sp>
        <p:nvSpPr>
          <p:cNvPr id="215" name="tbR3C1"/>
          <p:cNvSpPr txBox="1"/>
          <p:nvPr/>
        </p:nvSpPr>
        <p:spPr>
          <a:xfrm>
            <a:off x="658368" y="49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Cesar Augusto Herrera Quiroz</a:t>
            </a:r>
          </a:p>
        </p:txBody>
      </p:sp>
      <p:sp>
        <p:nvSpPr>
          <p:cNvPr id="216" name="tbR3C2"/>
          <p:cNvSpPr txBox="1"/>
          <p:nvPr/>
        </p:nvSpPr>
        <p:spPr>
          <a:xfrm>
            <a:off x="3520440" y="49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4</a:t>
            </a:r>
          </a:p>
        </p:txBody>
      </p:sp>
      <p:sp>
        <p:nvSpPr>
          <p:cNvPr id="217" name="tbR3C3"/>
          <p:cNvSpPr txBox="1"/>
          <p:nvPr/>
        </p:nvSpPr>
        <p:spPr>
          <a:xfrm>
            <a:off x="4526280" y="49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0</a:t>
            </a:r>
          </a:p>
        </p:txBody>
      </p:sp>
      <p:sp>
        <p:nvSpPr>
          <p:cNvPr id="218" name="tbR3C4"/>
          <p:cNvSpPr txBox="1"/>
          <p:nvPr/>
        </p:nvSpPr>
        <p:spPr>
          <a:xfrm>
            <a:off x="5852160" y="49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1</a:t>
            </a:r>
          </a:p>
        </p:txBody>
      </p:sp>
      <p:sp>
        <p:nvSpPr>
          <p:cNvPr id="219" name="tbR3C5"/>
          <p:cNvSpPr txBox="1"/>
          <p:nvPr/>
        </p:nvSpPr>
        <p:spPr>
          <a:xfrm>
            <a:off x="7772400" y="49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0</a:t>
            </a:r>
          </a:p>
        </p:txBody>
      </p:sp>
      <p:sp>
        <p:nvSpPr>
          <p:cNvPr id="233" name="tbR3C6"/>
          <p:cNvSpPr txBox="1"/>
          <p:nvPr/>
        </p:nvSpPr>
        <p:spPr>
          <a:xfrm>
            <a:off x="9692640" y="49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0</a:t>
            </a:r>
          </a:p>
        </p:txBody>
      </p:sp>
      <p:sp>
        <p:nvSpPr>
          <p:cNvPr id="220" name="tbR4C1"/>
          <p:cNvSpPr txBox="1"/>
          <p:nvPr/>
        </p:nvSpPr>
        <p:spPr>
          <a:xfrm>
            <a:off x="658368" y="52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TOTAL</a:t>
            </a:r>
          </a:p>
        </p:txBody>
      </p:sp>
      <p:sp>
        <p:nvSpPr>
          <p:cNvPr id="221" name="tbR4C2"/>
          <p:cNvSpPr txBox="1"/>
          <p:nvPr/>
        </p:nvSpPr>
        <p:spPr>
          <a:xfrm>
            <a:off x="3520440" y="52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19</a:t>
            </a:r>
          </a:p>
        </p:txBody>
      </p:sp>
      <p:sp>
        <p:nvSpPr>
          <p:cNvPr id="222" name="tbR4C3"/>
          <p:cNvSpPr txBox="1"/>
          <p:nvPr/>
        </p:nvSpPr>
        <p:spPr>
          <a:xfrm>
            <a:off x="4526280" y="52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8</a:t>
            </a:r>
          </a:p>
        </p:txBody>
      </p:sp>
      <p:sp>
        <p:nvSpPr>
          <p:cNvPr id="223" name="tbR4C4"/>
          <p:cNvSpPr txBox="1"/>
          <p:nvPr/>
        </p:nvSpPr>
        <p:spPr>
          <a:xfrm>
            <a:off x="5852160" y="52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3</a:t>
            </a:r>
          </a:p>
        </p:txBody>
      </p:sp>
      <p:sp>
        <p:nvSpPr>
          <p:cNvPr id="224" name="tbR4C5"/>
          <p:cNvSpPr txBox="1"/>
          <p:nvPr/>
        </p:nvSpPr>
        <p:spPr>
          <a:xfrm>
            <a:off x="7772400" y="52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USD 152</a:t>
            </a:r>
          </a:p>
        </p:txBody>
      </p:sp>
      <p:sp>
        <p:nvSpPr>
          <p:cNvPr id="234" name="tbR4C6"/>
          <p:cNvSpPr txBox="1"/>
          <p:nvPr/>
        </p:nvSpPr>
        <p:spPr>
          <a:xfrm>
            <a:off x="9692640" y="52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USD 608</a:t>
            </a:r>
          </a:p>
        </p:txBody>
      </p:sp>
      <p:sp>
        <p:nvSpPr>
          <p:cNvPr id="133" name="tb133"/>
          <p:cNvSpPr txBox="1"/>
          <p:nvPr/>
        </p:nvSpPr>
        <p:spPr>
          <a:xfrm>
            <a:off x="658368" y="5540000"/>
            <a:ext cx="10872216" cy="700000"/>
          </a:xfrm>
          <a:prstGeom prst="rect">
            <a:avLst/>
          </a:prstGeom>
          <a:noFill/>
        </p:spPr>
        <p:txBody>
          <a:bodyPr wrap="square" lIns="0" tIns="0" rIns="0" bIns="0" anchor="t">
            <a:normAutofit/>
          </a:bodyPr>
          <a:lstStyle/>
          <a:p>
            <a:pPr algn="l">
              <a:lnSpc>
                <a:spcPct val="100000"/>
              </a:lnSpc>
              <a:spcBef>
                <a:spcPts val="0"/>
              </a:spcBef>
            </a:pPr>
            <a:r>
              <a:rPr lang="es-ES" sz="800" b="0" i="1" dirty="0">
                <a:solidFill>
                  <a:srgbClr val="7A7A7A"/>
                </a:solidFill>
              </a:rPr>
              <a:t>Costo estimado utilizando una tarifa de referencia de USD 19 por usuario/mes. Sujeto a validación comercial.</a:t>
            </a:r>
          </a:p>
          <a:p>
            <a:pPr algn="l">
              <a:lnSpc>
                <a:spcPct val="100000"/>
              </a:lnSpc>
              <a:spcBef>
                <a:spcPts val="200"/>
              </a:spcBef>
            </a:pPr>
            <a:r>
              <a:rPr lang="es-ES" sz="800" b="0" i="1" dirty="0">
                <a:solidFill>
                  <a:srgbClr val="7A7A7A"/>
                </a:solidFill>
              </a:rPr>
              <a:t>Los perfiles AS/400 </a:t>
            </a:r>
            <a:r>
              <a:rPr lang="es-ES" sz="800" b="0" i="1">
                <a:solidFill>
                  <a:srgbClr val="7A7A7A"/>
                </a:solidFill>
              </a:rPr>
              <a:t>pendientes </a:t>
            </a:r>
            <a:r>
              <a:rPr lang="es-ES" sz="800" b="0" i="1" dirty="0">
                <a:solidFill>
                  <a:srgbClr val="7A7A7A"/>
                </a:solidFill>
              </a:rPr>
              <a:t>no se </a:t>
            </a:r>
            <a:r>
              <a:rPr lang="es-ES" sz="800" b="0" i="1">
                <a:solidFill>
                  <a:srgbClr val="7A7A7A"/>
                </a:solidFill>
              </a:rPr>
              <a:t>compran </a:t>
            </a:r>
            <a:r>
              <a:rPr lang="es-ES" sz="800" b="0" i="1" dirty="0">
                <a:solidFill>
                  <a:srgbClr val="7A7A7A"/>
                </a:solidFill>
              </a:rPr>
              <a:t>todavía. Se </a:t>
            </a:r>
            <a:r>
              <a:rPr lang="es-ES" sz="800" b="0" i="1">
                <a:solidFill>
                  <a:srgbClr val="7A7A7A"/>
                </a:solidFill>
              </a:rPr>
              <a:t>mantienen fuera </a:t>
            </a:r>
            <a:r>
              <a:rPr lang="es-ES" sz="800" b="0" i="1" dirty="0">
                <a:solidFill>
                  <a:srgbClr val="7A7A7A"/>
                </a:solidFill>
              </a:rPr>
              <a:t>de </a:t>
            </a:r>
            <a:r>
              <a:rPr lang="es-ES" sz="800" b="0" i="1">
                <a:solidFill>
                  <a:srgbClr val="7A7A7A"/>
                </a:solidFill>
              </a:rPr>
              <a:t>la compra inmediata hasta </a:t>
            </a:r>
            <a:r>
              <a:rPr lang="es-ES" sz="800" b="0" i="1" dirty="0">
                <a:solidFill>
                  <a:srgbClr val="7A7A7A"/>
                </a:solidFill>
              </a:rPr>
              <a:t>validar la utilidad de </a:t>
            </a:r>
            <a:r>
              <a:rPr lang="es-ES" sz="800" b="0" i="1">
                <a:solidFill>
                  <a:srgbClr val="7A7A7A"/>
                </a:solidFill>
              </a:rPr>
              <a:t>Copilot</a:t>
            </a:r>
            <a:r>
              <a:rPr lang="es-ES" sz="800" b="0" i="1" dirty="0">
                <a:solidFill>
                  <a:srgbClr val="7A7A7A"/>
                </a:solidFill>
              </a:rPr>
              <a:t> en </a:t>
            </a:r>
            <a:r>
              <a:rPr lang="es-ES" sz="800" b="0" i="1">
                <a:solidFill>
                  <a:srgbClr val="7A7A7A"/>
                </a:solidFill>
              </a:rPr>
              <a:t>ese </a:t>
            </a:r>
            <a:r>
              <a:rPr lang="es-ES" sz="800" b="0" i="1" dirty="0">
                <a:solidFill>
                  <a:srgbClr val="7A7A7A"/>
                </a:solidFill>
              </a:rPr>
              <a:t>entorno</a:t>
            </a:r>
            <a:r>
              <a:rPr lang="es-ES" sz="800" b="0" i="1">
                <a:solidFill>
                  <a:srgbClr val="7A7A7A"/>
                </a:solidFill>
              </a:rPr>
              <a:t>.</a:t>
            </a:r>
          </a:p>
          <a:p>
            <a:pPr algn="l">
              <a:lnSpc>
                <a:spcPct val="100000"/>
              </a:lnSpc>
              <a:spcBef>
                <a:spcPts val="200"/>
              </a:spcBef>
            </a:pPr>
            <a:r>
              <a:rPr lang="es-ES" sz="800" b="0" i="1">
                <a:solidFill>
                  <a:srgbClr val="7A7A7A"/>
                </a:solidFill>
              </a:rPr>
              <a:t>Cálculo: licencias por comprar ahora x USD 19 x 4 meses restantes de 2026</a:t>
            </a:r>
            <a:r>
              <a:rPr lang="es-ES" sz="800" b="0" i="1" dirty="0">
                <a:solidFill>
                  <a:srgbClr val="7A7A7A"/>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sh"/>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301" name="tb"/>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ED1C29"/>
                </a:solidFill>
              </a:rPr>
              <a:t>LICENCIAS POR EQUIPO</a:t>
            </a:r>
          </a:p>
        </p:txBody>
      </p:sp>
      <p:sp>
        <p:nvSpPr>
          <p:cNvPr id="302" name="tb"/>
          <p:cNvSpPr txBox="1"/>
          <p:nvPr/>
        </p:nvSpPr>
        <p:spPr>
          <a:xfrm>
            <a:off x="658368" y="713232"/>
            <a:ext cx="9326880" cy="500000"/>
          </a:xfrm>
          <a:prstGeom prst="rect">
            <a:avLst/>
          </a:prstGeom>
          <a:noFill/>
        </p:spPr>
        <p:txBody>
          <a:bodyPr wrap="square" lIns="0" tIns="0" rIns="0" bIns="0" anchor="t">
            <a:normAutofit/>
          </a:bodyPr>
          <a:lstStyle/>
          <a:p>
            <a:pPr algn="l">
              <a:lnSpc>
                <a:spcPct val="100000"/>
              </a:lnSpc>
              <a:spcBef>
                <a:spcPts val="0"/>
              </a:spcBef>
            </a:pPr>
            <a:r>
              <a:rPr lang="es-ES" sz="2400" b="1" i="0">
                <a:solidFill>
                  <a:srgbClr val="211915"/>
                </a:solidFill>
              </a:rPr>
              <a:t>Product Owner, cobertura y costo de las licencias adicionales</a:t>
            </a:r>
          </a:p>
        </p:txBody>
      </p:sp>
      <p:pic>
        <p:nvPicPr>
          <p:cNvPr id="900" name="Logo Tuya"/>
          <p:cNvPicPr>
            <a:picLocks noChangeAspect="1"/>
          </p:cNvPicPr>
          <p:nvPr/>
        </p:nvPicPr>
        <p:blipFill>
          <a:blip r:embed="rId2"/>
          <a:stretch>
            <a:fillRect/>
          </a:stretch>
        </p:blipFill>
        <p:spPr>
          <a:xfrm>
            <a:off x="11152200" y="321276"/>
            <a:ext cx="640080" cy="320040"/>
          </a:xfrm>
          <a:prstGeom prst="rect">
            <a:avLst/>
          </a:prstGeom>
        </p:spPr>
      </p:pic>
      <p:sp>
        <p:nvSpPr>
          <p:cNvPr id="303" name="sh"/>
          <p:cNvSpPr/>
          <p:nvPr/>
        </p:nvSpPr>
        <p:spPr>
          <a:xfrm>
            <a:off x="658368" y="1371600"/>
            <a:ext cx="3538728" cy="731520"/>
          </a:xfrm>
          <a:prstGeom prst="rect">
            <a:avLst/>
          </a:prstGeom>
          <a:solidFill>
            <a:srgbClr val="F5F3F2"/>
          </a:solidFill>
          <a:ln w="12700">
            <a:solidFill>
              <a:srgbClr val="E3E0DE"/>
            </a:solidFill>
          </a:ln>
        </p:spPr>
        <p:txBody>
          <a:bodyPr lIns="0" tIns="0" rIns="0" bIns="0" anchor="ctr">
            <a:normAutofit/>
          </a:bodyPr>
          <a:lstStyle/>
          <a:p>
            <a:endParaRPr lang="es-ES"/>
          </a:p>
        </p:txBody>
      </p:sp>
      <p:sp>
        <p:nvSpPr>
          <p:cNvPr id="304" name="tb"/>
          <p:cNvSpPr txBox="1"/>
          <p:nvPr/>
        </p:nvSpPr>
        <p:spPr>
          <a:xfrm>
            <a:off x="859536" y="1478280"/>
            <a:ext cx="3136392" cy="219456"/>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USD 152</a:t>
            </a:r>
          </a:p>
        </p:txBody>
      </p:sp>
      <p:sp>
        <p:nvSpPr>
          <p:cNvPr id="305" name="tb"/>
          <p:cNvSpPr txBox="1"/>
          <p:nvPr/>
        </p:nvSpPr>
        <p:spPr>
          <a:xfrm>
            <a:off x="859536" y="1755648"/>
            <a:ext cx="3136392" cy="250000"/>
          </a:xfrm>
          <a:prstGeom prst="rect">
            <a:avLst/>
          </a:prstGeom>
          <a:noFill/>
        </p:spPr>
        <p:txBody>
          <a:bodyPr wrap="square" lIns="0" tIns="0" rIns="0" bIns="0" anchor="t">
            <a:normAutofit/>
          </a:bodyPr>
          <a:lstStyle/>
          <a:p>
            <a:pPr algn="l">
              <a:lnSpc>
                <a:spcPct val="100000"/>
              </a:lnSpc>
              <a:spcBef>
                <a:spcPts val="0"/>
              </a:spcBef>
            </a:pPr>
            <a:r>
              <a:rPr lang="es-ES" sz="850" b="0" i="0">
                <a:solidFill>
                  <a:srgbClr val="7A7A7A"/>
                </a:solidFill>
              </a:rPr>
              <a:t>Costo mensual · 9 equipos, 8 licencias por comprar ahora</a:t>
            </a:r>
          </a:p>
        </p:txBody>
      </p:sp>
      <p:sp>
        <p:nvSpPr>
          <p:cNvPr id="306" name="sh"/>
          <p:cNvSpPr/>
          <p:nvPr/>
        </p:nvSpPr>
        <p:spPr>
          <a:xfrm>
            <a:off x="4325112" y="1371600"/>
            <a:ext cx="3538728" cy="731520"/>
          </a:xfrm>
          <a:prstGeom prst="rect">
            <a:avLst/>
          </a:prstGeom>
          <a:noFill/>
          <a:ln w="12700">
            <a:solidFill>
              <a:srgbClr val="E3E0DE"/>
            </a:solidFill>
          </a:ln>
        </p:spPr>
        <p:txBody>
          <a:bodyPr lIns="0" tIns="0" rIns="0" bIns="0" anchor="ctr">
            <a:normAutofit/>
          </a:bodyPr>
          <a:lstStyle/>
          <a:p>
            <a:endParaRPr lang="es-ES"/>
          </a:p>
        </p:txBody>
      </p:sp>
      <p:sp>
        <p:nvSpPr>
          <p:cNvPr id="307" name="tb"/>
          <p:cNvSpPr txBox="1"/>
          <p:nvPr/>
        </p:nvSpPr>
        <p:spPr>
          <a:xfrm>
            <a:off x="4526280" y="1478280"/>
            <a:ext cx="3136392" cy="219456"/>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USD 608</a:t>
            </a:r>
          </a:p>
        </p:txBody>
      </p:sp>
      <p:sp>
        <p:nvSpPr>
          <p:cNvPr id="308" name="tb"/>
          <p:cNvSpPr txBox="1"/>
          <p:nvPr/>
        </p:nvSpPr>
        <p:spPr>
          <a:xfrm>
            <a:off x="4526280" y="1755648"/>
            <a:ext cx="3136392" cy="250000"/>
          </a:xfrm>
          <a:prstGeom prst="rect">
            <a:avLst/>
          </a:prstGeom>
          <a:noFill/>
        </p:spPr>
        <p:txBody>
          <a:bodyPr wrap="square" lIns="0" tIns="0" rIns="0" bIns="0" anchor="t">
            <a:normAutofit/>
          </a:bodyPr>
          <a:lstStyle/>
          <a:p>
            <a:pPr algn="l">
              <a:lnSpc>
                <a:spcPct val="100000"/>
              </a:lnSpc>
              <a:spcBef>
                <a:spcPts val="0"/>
              </a:spcBef>
            </a:pPr>
            <a:r>
              <a:rPr lang="es-ES" sz="950" b="0" i="0">
                <a:solidFill>
                  <a:srgbClr val="7A7A7A"/>
                </a:solidFill>
              </a:rPr>
              <a:t>Costo Sep-Dic 2026</a:t>
            </a:r>
          </a:p>
        </p:txBody>
      </p:sp>
      <p:sp>
        <p:nvSpPr>
          <p:cNvPr id="309" name="sh"/>
          <p:cNvSpPr/>
          <p:nvPr/>
        </p:nvSpPr>
        <p:spPr>
          <a:xfrm>
            <a:off x="7991856" y="1371600"/>
            <a:ext cx="3538728" cy="731520"/>
          </a:xfrm>
          <a:prstGeom prst="rect">
            <a:avLst/>
          </a:prstGeom>
          <a:solidFill>
            <a:srgbClr val="ED1C29"/>
          </a:solidFill>
          <a:ln>
            <a:noFill/>
          </a:ln>
        </p:spPr>
        <p:txBody>
          <a:bodyPr lIns="0" tIns="0" rIns="0" bIns="0" anchor="ctr">
            <a:normAutofit/>
          </a:bodyPr>
          <a:lstStyle/>
          <a:p>
            <a:endParaRPr lang="es-ES"/>
          </a:p>
        </p:txBody>
      </p:sp>
      <p:sp>
        <p:nvSpPr>
          <p:cNvPr id="310" name="tb"/>
          <p:cNvSpPr txBox="1"/>
          <p:nvPr/>
        </p:nvSpPr>
        <p:spPr>
          <a:xfrm>
            <a:off x="8193024" y="1478280"/>
            <a:ext cx="3136392" cy="219456"/>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FFFFFF"/>
                </a:solidFill>
              </a:rPr>
              <a:t>3</a:t>
            </a:r>
          </a:p>
        </p:txBody>
      </p:sp>
      <p:sp>
        <p:nvSpPr>
          <p:cNvPr id="311" name="tb"/>
          <p:cNvSpPr txBox="1"/>
          <p:nvPr/>
        </p:nvSpPr>
        <p:spPr>
          <a:xfrm>
            <a:off x="8193024" y="1755648"/>
            <a:ext cx="3136392" cy="250000"/>
          </a:xfrm>
          <a:prstGeom prst="rect">
            <a:avLst/>
          </a:prstGeom>
          <a:noFill/>
        </p:spPr>
        <p:txBody>
          <a:bodyPr wrap="square" lIns="0" tIns="0" rIns="0" bIns="0" anchor="t">
            <a:normAutofit/>
          </a:bodyPr>
          <a:lstStyle/>
          <a:p>
            <a:pPr algn="l">
              <a:lnSpc>
                <a:spcPct val="100000"/>
              </a:lnSpc>
              <a:spcBef>
                <a:spcPts val="0"/>
              </a:spcBef>
            </a:pPr>
            <a:r>
              <a:rPr lang="es-ES" sz="950" b="0" i="0">
                <a:solidFill>
                  <a:srgbClr val="FFFFFF"/>
                </a:solidFill>
              </a:rPr>
              <a:t>Perfiles AS/400 pendientes</a:t>
            </a:r>
          </a:p>
        </p:txBody>
      </p:sp>
      <p:sp>
        <p:nvSpPr>
          <p:cNvPr id="312" name="sh"/>
          <p:cNvSpPr/>
          <p:nvPr/>
        </p:nvSpPr>
        <p:spPr>
          <a:xfrm>
            <a:off x="658368" y="2377440"/>
            <a:ext cx="10872216" cy="9525"/>
          </a:xfrm>
          <a:prstGeom prst="rect">
            <a:avLst/>
          </a:prstGeom>
          <a:solidFill>
            <a:srgbClr val="E3E0DE"/>
          </a:solidFill>
          <a:ln>
            <a:noFill/>
          </a:ln>
        </p:spPr>
        <p:txBody>
          <a:bodyPr lIns="0" tIns="0" rIns="0" bIns="0" anchor="ctr">
            <a:normAutofit fontScale="25000" lnSpcReduction="20000"/>
          </a:bodyPr>
          <a:lstStyle/>
          <a:p>
            <a:endParaRPr lang="es-ES"/>
          </a:p>
        </p:txBody>
      </p:sp>
      <p:sp>
        <p:nvSpPr>
          <p:cNvPr id="313" name="tb"/>
          <p:cNvSpPr txBox="1"/>
          <p:nvPr/>
        </p:nvSpPr>
        <p:spPr>
          <a:xfrm>
            <a:off x="658368" y="2505456"/>
            <a:ext cx="10872216" cy="219456"/>
          </a:xfrm>
          <a:prstGeom prst="rect">
            <a:avLst/>
          </a:prstGeom>
          <a:noFill/>
        </p:spPr>
        <p:txBody>
          <a:bodyPr wrap="square" lIns="0" tIns="0" rIns="0" bIns="0" anchor="t">
            <a:normAutofit/>
          </a:bodyPr>
          <a:lstStyle/>
          <a:p>
            <a:pPr algn="l">
              <a:lnSpc>
                <a:spcPct val="100000"/>
              </a:lnSpc>
              <a:spcBef>
                <a:spcPts val="0"/>
              </a:spcBef>
            </a:pPr>
            <a:r>
              <a:rPr lang="es-ES" sz="1100" b="1" i="0">
                <a:solidFill>
                  <a:srgbClr val="7A7A7A"/>
                </a:solidFill>
              </a:rPr>
              <a:t>DETALLE POR EQUIPO Y PRODUCT OWNER</a:t>
            </a:r>
          </a:p>
        </p:txBody>
      </p:sp>
      <p:sp>
        <p:nvSpPr>
          <p:cNvPr id="314" name="tb"/>
          <p:cNvSpPr txBox="1"/>
          <p:nvPr/>
        </p:nvSpPr>
        <p:spPr>
          <a:xfrm>
            <a:off x="658368" y="2880360"/>
            <a:ext cx="220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EQUIPO</a:t>
            </a:r>
          </a:p>
        </p:txBody>
      </p:sp>
      <p:sp>
        <p:nvSpPr>
          <p:cNvPr id="315" name="tb"/>
          <p:cNvSpPr txBox="1"/>
          <p:nvPr/>
        </p:nvSpPr>
        <p:spPr>
          <a:xfrm>
            <a:off x="2960000" y="2880360"/>
            <a:ext cx="245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PRODUCT OWNER</a:t>
            </a:r>
          </a:p>
        </p:txBody>
      </p:sp>
      <p:sp>
        <p:nvSpPr>
          <p:cNvPr id="316" name="tb"/>
          <p:cNvSpPr txBox="1"/>
          <p:nvPr/>
        </p:nvSpPr>
        <p:spPr>
          <a:xfrm>
            <a:off x="5500000" y="2880360"/>
            <a:ext cx="80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CUBIERTOS</a:t>
            </a:r>
          </a:p>
        </p:txBody>
      </p:sp>
      <p:sp>
        <p:nvSpPr>
          <p:cNvPr id="317" name="tb"/>
          <p:cNvSpPr txBox="1"/>
          <p:nvPr/>
        </p:nvSpPr>
        <p:spPr>
          <a:xfrm>
            <a:off x="6400000" y="2880360"/>
            <a:ext cx="950000" cy="219456"/>
          </a:xfrm>
          <a:prstGeom prst="rect">
            <a:avLst/>
          </a:prstGeom>
          <a:noFill/>
        </p:spPr>
        <p:txBody>
          <a:bodyPr wrap="square" lIns="0" tIns="0" rIns="0" bIns="0" anchor="t">
            <a:normAutofit fontScale="85000" lnSpcReduction="10000"/>
          </a:bodyPr>
          <a:lstStyle/>
          <a:p>
            <a:pPr algn="l">
              <a:lnSpc>
                <a:spcPct val="100000"/>
              </a:lnSpc>
              <a:spcBef>
                <a:spcPts val="0"/>
              </a:spcBef>
            </a:pPr>
            <a:r>
              <a:rPr lang="es-ES" sz="950" b="1" i="0">
                <a:solidFill>
                  <a:srgbClr val="7A7A7A"/>
                </a:solidFill>
              </a:rPr>
              <a:t>POR COMPRAR AHORA</a:t>
            </a:r>
          </a:p>
        </p:txBody>
      </p:sp>
      <p:sp>
        <p:nvSpPr>
          <p:cNvPr id="318" name="tb"/>
          <p:cNvSpPr txBox="1"/>
          <p:nvPr/>
        </p:nvSpPr>
        <p:spPr>
          <a:xfrm>
            <a:off x="7440000" y="2880360"/>
            <a:ext cx="1350000" cy="219456"/>
          </a:xfrm>
          <a:prstGeom prst="rect">
            <a:avLst/>
          </a:prstGeom>
          <a:noFill/>
        </p:spPr>
        <p:txBody>
          <a:bodyPr wrap="square" lIns="0" tIns="0" rIns="0" bIns="0" anchor="t">
            <a:normAutofit/>
          </a:bodyPr>
          <a:lstStyle/>
          <a:p>
            <a:pPr algn="l">
              <a:lnSpc>
                <a:spcPct val="100000"/>
              </a:lnSpc>
              <a:spcBef>
                <a:spcPts val="0"/>
              </a:spcBef>
            </a:pPr>
            <a:r>
              <a:rPr lang="es-ES" sz="700" b="1" i="0">
                <a:solidFill>
                  <a:srgbClr val="7A7A7A"/>
                </a:solidFill>
              </a:rPr>
              <a:t>AS/400 PENDIENTES</a:t>
            </a:r>
          </a:p>
        </p:txBody>
      </p:sp>
      <p:sp>
        <p:nvSpPr>
          <p:cNvPr id="319" name="tb"/>
          <p:cNvSpPr txBox="1"/>
          <p:nvPr/>
        </p:nvSpPr>
        <p:spPr>
          <a:xfrm>
            <a:off x="658368" y="318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 de originación</a:t>
            </a:r>
          </a:p>
        </p:txBody>
      </p:sp>
      <p:sp>
        <p:nvSpPr>
          <p:cNvPr id="320" name="tb"/>
          <p:cNvSpPr txBox="1"/>
          <p:nvPr/>
        </p:nvSpPr>
        <p:spPr>
          <a:xfrm>
            <a:off x="2960000" y="318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Juan Esteban Achury Duarte</a:t>
            </a:r>
          </a:p>
        </p:txBody>
      </p:sp>
      <p:sp>
        <p:nvSpPr>
          <p:cNvPr id="321" name="tb"/>
          <p:cNvSpPr txBox="1"/>
          <p:nvPr/>
        </p:nvSpPr>
        <p:spPr>
          <a:xfrm>
            <a:off x="5500000" y="318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22" name="tb"/>
          <p:cNvSpPr txBox="1"/>
          <p:nvPr/>
        </p:nvSpPr>
        <p:spPr>
          <a:xfrm>
            <a:off x="6400000" y="318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23" name="tb"/>
          <p:cNvSpPr txBox="1"/>
          <p:nvPr/>
        </p:nvSpPr>
        <p:spPr>
          <a:xfrm>
            <a:off x="7440000" y="318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24" name="tb"/>
          <p:cNvSpPr txBox="1"/>
          <p:nvPr/>
        </p:nvSpPr>
        <p:spPr>
          <a:xfrm>
            <a:off x="658368" y="344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Canales Asistidos</a:t>
            </a:r>
          </a:p>
        </p:txBody>
      </p:sp>
      <p:sp>
        <p:nvSpPr>
          <p:cNvPr id="325" name="tb"/>
          <p:cNvSpPr txBox="1"/>
          <p:nvPr/>
        </p:nvSpPr>
        <p:spPr>
          <a:xfrm>
            <a:off x="2960000" y="344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Steven Echeverri Yepes</a:t>
            </a:r>
          </a:p>
        </p:txBody>
      </p:sp>
      <p:sp>
        <p:nvSpPr>
          <p:cNvPr id="326" name="tb"/>
          <p:cNvSpPr txBox="1"/>
          <p:nvPr/>
        </p:nvSpPr>
        <p:spPr>
          <a:xfrm>
            <a:off x="5500000" y="344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27" name="tb"/>
          <p:cNvSpPr txBox="1"/>
          <p:nvPr/>
        </p:nvSpPr>
        <p:spPr>
          <a:xfrm>
            <a:off x="6400000" y="344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28" name="tb"/>
          <p:cNvSpPr txBox="1"/>
          <p:nvPr/>
        </p:nvSpPr>
        <p:spPr>
          <a:xfrm>
            <a:off x="7440000" y="344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29" name="tb"/>
          <p:cNvSpPr txBox="1"/>
          <p:nvPr/>
        </p:nvSpPr>
        <p:spPr>
          <a:xfrm>
            <a:off x="658368" y="371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Canales de Recaudos</a:t>
            </a:r>
          </a:p>
        </p:txBody>
      </p:sp>
      <p:sp>
        <p:nvSpPr>
          <p:cNvPr id="330" name="tb"/>
          <p:cNvSpPr txBox="1"/>
          <p:nvPr/>
        </p:nvSpPr>
        <p:spPr>
          <a:xfrm>
            <a:off x="2960000" y="371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Julian Esteban Hoyos Escobar</a:t>
            </a:r>
          </a:p>
        </p:txBody>
      </p:sp>
      <p:sp>
        <p:nvSpPr>
          <p:cNvPr id="331" name="tb"/>
          <p:cNvSpPr txBox="1"/>
          <p:nvPr/>
        </p:nvSpPr>
        <p:spPr>
          <a:xfrm>
            <a:off x="5500000" y="371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32" name="tb"/>
          <p:cNvSpPr txBox="1"/>
          <p:nvPr/>
        </p:nvSpPr>
        <p:spPr>
          <a:xfrm>
            <a:off x="6400000" y="371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33" name="tb"/>
          <p:cNvSpPr txBox="1"/>
          <p:nvPr/>
        </p:nvSpPr>
        <p:spPr>
          <a:xfrm>
            <a:off x="7440000" y="371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34" name="tb"/>
          <p:cNvSpPr txBox="1"/>
          <p:nvPr/>
        </p:nvSpPr>
        <p:spPr>
          <a:xfrm>
            <a:off x="658368" y="397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Canales Digitales</a:t>
            </a:r>
          </a:p>
        </p:txBody>
      </p:sp>
      <p:sp>
        <p:nvSpPr>
          <p:cNvPr id="335" name="tb"/>
          <p:cNvSpPr txBox="1"/>
          <p:nvPr/>
        </p:nvSpPr>
        <p:spPr>
          <a:xfrm>
            <a:off x="2960000" y="397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Julian Esteban Hoyos Escobar</a:t>
            </a:r>
          </a:p>
        </p:txBody>
      </p:sp>
      <p:sp>
        <p:nvSpPr>
          <p:cNvPr id="336" name="tb"/>
          <p:cNvSpPr txBox="1"/>
          <p:nvPr/>
        </p:nvSpPr>
        <p:spPr>
          <a:xfrm>
            <a:off x="5500000" y="397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37" name="tb"/>
          <p:cNvSpPr txBox="1"/>
          <p:nvPr/>
        </p:nvSpPr>
        <p:spPr>
          <a:xfrm>
            <a:off x="6400000" y="397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38" name="tb"/>
          <p:cNvSpPr txBox="1"/>
          <p:nvPr/>
        </p:nvSpPr>
        <p:spPr>
          <a:xfrm>
            <a:off x="7440000" y="397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39" name="tb"/>
          <p:cNvSpPr txBox="1"/>
          <p:nvPr/>
        </p:nvSpPr>
        <p:spPr>
          <a:xfrm>
            <a:off x="658368" y="424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Producto Seguros y Asistencias</a:t>
            </a:r>
          </a:p>
        </p:txBody>
      </p:sp>
      <p:sp>
        <p:nvSpPr>
          <p:cNvPr id="340" name="tb"/>
          <p:cNvSpPr txBox="1"/>
          <p:nvPr/>
        </p:nvSpPr>
        <p:spPr>
          <a:xfrm>
            <a:off x="2960000" y="424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Veronica Sanchez Giraldo</a:t>
            </a:r>
          </a:p>
        </p:txBody>
      </p:sp>
      <p:sp>
        <p:nvSpPr>
          <p:cNvPr id="341" name="tb"/>
          <p:cNvSpPr txBox="1"/>
          <p:nvPr/>
        </p:nvSpPr>
        <p:spPr>
          <a:xfrm>
            <a:off x="5500000" y="424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3</a:t>
            </a:r>
          </a:p>
        </p:txBody>
      </p:sp>
      <p:sp>
        <p:nvSpPr>
          <p:cNvPr id="342" name="tb"/>
          <p:cNvSpPr txBox="1"/>
          <p:nvPr/>
        </p:nvSpPr>
        <p:spPr>
          <a:xfrm>
            <a:off x="6400000" y="424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43" name="tb"/>
          <p:cNvSpPr txBox="1"/>
          <p:nvPr/>
        </p:nvSpPr>
        <p:spPr>
          <a:xfrm>
            <a:off x="7440000" y="424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44" name="tb"/>
          <p:cNvSpPr txBox="1"/>
          <p:nvPr/>
        </p:nvSpPr>
        <p:spPr>
          <a:xfrm>
            <a:off x="658368" y="450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Remesas</a:t>
            </a:r>
          </a:p>
        </p:txBody>
      </p:sp>
      <p:sp>
        <p:nvSpPr>
          <p:cNvPr id="345" name="tb"/>
          <p:cNvSpPr txBox="1"/>
          <p:nvPr/>
        </p:nvSpPr>
        <p:spPr>
          <a:xfrm>
            <a:off x="2960000" y="450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PO por validar</a:t>
            </a:r>
          </a:p>
        </p:txBody>
      </p:sp>
      <p:sp>
        <p:nvSpPr>
          <p:cNvPr id="346" name="tb"/>
          <p:cNvSpPr txBox="1"/>
          <p:nvPr/>
        </p:nvSpPr>
        <p:spPr>
          <a:xfrm>
            <a:off x="5500000" y="450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47" name="tb"/>
          <p:cNvSpPr txBox="1"/>
          <p:nvPr/>
        </p:nvSpPr>
        <p:spPr>
          <a:xfrm>
            <a:off x="6400000" y="450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48" name="tb"/>
          <p:cNvSpPr txBox="1"/>
          <p:nvPr/>
        </p:nvSpPr>
        <p:spPr>
          <a:xfrm>
            <a:off x="7440000" y="450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49" name="tb"/>
          <p:cNvSpPr txBox="1"/>
          <p:nvPr/>
        </p:nvSpPr>
        <p:spPr>
          <a:xfrm>
            <a:off x="658368" y="477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Rotativo-Evolución</a:t>
            </a:r>
          </a:p>
        </p:txBody>
      </p:sp>
      <p:sp>
        <p:nvSpPr>
          <p:cNvPr id="350" name="tb"/>
          <p:cNvSpPr txBox="1"/>
          <p:nvPr/>
        </p:nvSpPr>
        <p:spPr>
          <a:xfrm>
            <a:off x="2960000" y="477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Eliana Maria Bermudez Lopez</a:t>
            </a:r>
          </a:p>
        </p:txBody>
      </p:sp>
      <p:sp>
        <p:nvSpPr>
          <p:cNvPr id="351" name="tb"/>
          <p:cNvSpPr txBox="1"/>
          <p:nvPr/>
        </p:nvSpPr>
        <p:spPr>
          <a:xfrm>
            <a:off x="5500000" y="477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4</a:t>
            </a:r>
          </a:p>
        </p:txBody>
      </p:sp>
      <p:sp>
        <p:nvSpPr>
          <p:cNvPr id="352" name="tb"/>
          <p:cNvSpPr txBox="1"/>
          <p:nvPr/>
        </p:nvSpPr>
        <p:spPr>
          <a:xfrm>
            <a:off x="6400000" y="477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53" name="tb"/>
          <p:cNvSpPr txBox="1"/>
          <p:nvPr/>
        </p:nvSpPr>
        <p:spPr>
          <a:xfrm>
            <a:off x="7440000" y="477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54" name="tb"/>
          <p:cNvSpPr txBox="1"/>
          <p:nvPr/>
        </p:nvSpPr>
        <p:spPr>
          <a:xfrm>
            <a:off x="658368" y="503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Rotativo-Mantenimiento</a:t>
            </a:r>
          </a:p>
        </p:txBody>
      </p:sp>
      <p:sp>
        <p:nvSpPr>
          <p:cNvPr id="355" name="tb"/>
          <p:cNvSpPr txBox="1"/>
          <p:nvPr/>
        </p:nvSpPr>
        <p:spPr>
          <a:xfrm>
            <a:off x="2960000" y="503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Victoria Eugenia Valencia Jaramillo</a:t>
            </a:r>
          </a:p>
        </p:txBody>
      </p:sp>
      <p:sp>
        <p:nvSpPr>
          <p:cNvPr id="356" name="tb"/>
          <p:cNvSpPr txBox="1"/>
          <p:nvPr/>
        </p:nvSpPr>
        <p:spPr>
          <a:xfrm>
            <a:off x="5500000" y="503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57" name="tb"/>
          <p:cNvSpPr txBox="1"/>
          <p:nvPr/>
        </p:nvSpPr>
        <p:spPr>
          <a:xfrm>
            <a:off x="6400000" y="503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58" name="tb"/>
          <p:cNvSpPr txBox="1"/>
          <p:nvPr/>
        </p:nvSpPr>
        <p:spPr>
          <a:xfrm>
            <a:off x="7440000" y="503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59" name="tb"/>
          <p:cNvSpPr txBox="1"/>
          <p:nvPr/>
        </p:nvSpPr>
        <p:spPr>
          <a:xfrm>
            <a:off x="658368" y="530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Validación de Identidad</a:t>
            </a:r>
          </a:p>
        </p:txBody>
      </p:sp>
      <p:sp>
        <p:nvSpPr>
          <p:cNvPr id="360" name="tb"/>
          <p:cNvSpPr txBox="1"/>
          <p:nvPr/>
        </p:nvSpPr>
        <p:spPr>
          <a:xfrm>
            <a:off x="2960000" y="530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Diego Giraldo Marquez</a:t>
            </a:r>
          </a:p>
        </p:txBody>
      </p:sp>
      <p:sp>
        <p:nvSpPr>
          <p:cNvPr id="361" name="tb"/>
          <p:cNvSpPr txBox="1"/>
          <p:nvPr/>
        </p:nvSpPr>
        <p:spPr>
          <a:xfrm>
            <a:off x="5500000" y="530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62" name="tb"/>
          <p:cNvSpPr txBox="1"/>
          <p:nvPr/>
        </p:nvSpPr>
        <p:spPr>
          <a:xfrm>
            <a:off x="6400000" y="530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63" name="tb"/>
          <p:cNvSpPr txBox="1"/>
          <p:nvPr/>
        </p:nvSpPr>
        <p:spPr>
          <a:xfrm>
            <a:off x="7440000" y="530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64" name="sh"/>
          <p:cNvSpPr/>
          <p:nvPr/>
        </p:nvSpPr>
        <p:spPr>
          <a:xfrm>
            <a:off x="658368" y="5505000"/>
            <a:ext cx="10872216" cy="9525"/>
          </a:xfrm>
          <a:prstGeom prst="rect">
            <a:avLst/>
          </a:prstGeom>
          <a:solidFill>
            <a:srgbClr val="E3E0DE"/>
          </a:solidFill>
          <a:ln>
            <a:noFill/>
          </a:ln>
        </p:spPr>
        <p:txBody>
          <a:bodyPr lIns="0" tIns="0" rIns="0" bIns="0" anchor="ctr">
            <a:normAutofit fontScale="25000" lnSpcReduction="20000"/>
          </a:bodyPr>
          <a:lstStyle/>
          <a:p>
            <a:endParaRPr lang="es-ES"/>
          </a:p>
        </p:txBody>
      </p:sp>
      <p:sp>
        <p:nvSpPr>
          <p:cNvPr id="365" name="tb"/>
          <p:cNvSpPr txBox="1"/>
          <p:nvPr/>
        </p:nvSpPr>
        <p:spPr>
          <a:xfrm>
            <a:off x="658368" y="5605000"/>
            <a:ext cx="220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TOTAL</a:t>
            </a:r>
          </a:p>
        </p:txBody>
      </p:sp>
      <p:sp>
        <p:nvSpPr>
          <p:cNvPr id="366" name="tb"/>
          <p:cNvSpPr txBox="1"/>
          <p:nvPr/>
        </p:nvSpPr>
        <p:spPr>
          <a:xfrm>
            <a:off x="5500000" y="5605000"/>
            <a:ext cx="80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19</a:t>
            </a:r>
          </a:p>
        </p:txBody>
      </p:sp>
      <p:sp>
        <p:nvSpPr>
          <p:cNvPr id="367" name="tb"/>
          <p:cNvSpPr txBox="1"/>
          <p:nvPr/>
        </p:nvSpPr>
        <p:spPr>
          <a:xfrm>
            <a:off x="6400000" y="5605000"/>
            <a:ext cx="95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8</a:t>
            </a:r>
          </a:p>
        </p:txBody>
      </p:sp>
      <p:sp>
        <p:nvSpPr>
          <p:cNvPr id="368" name="tb"/>
          <p:cNvSpPr txBox="1"/>
          <p:nvPr/>
        </p:nvSpPr>
        <p:spPr>
          <a:xfrm>
            <a:off x="7440000" y="5605000"/>
            <a:ext cx="135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3</a:t>
            </a:r>
          </a:p>
        </p:txBody>
      </p:sp>
      <p:sp>
        <p:nvSpPr>
          <p:cNvPr id="369" name="tb"/>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70" name="tb"/>
          <p:cNvSpPr txBox="1"/>
          <p:nvPr/>
        </p:nvSpPr>
        <p:spPr>
          <a:xfrm>
            <a:off x="10433304"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05</a:t>
            </a:r>
          </a:p>
        </p:txBody>
      </p:sp>
      <p:sp>
        <p:nvSpPr>
          <p:cNvPr id="371" name="tb"/>
          <p:cNvSpPr txBox="1"/>
          <p:nvPr/>
        </p:nvSpPr>
        <p:spPr>
          <a:xfrm>
            <a:off x="658368" y="5880000"/>
            <a:ext cx="10872216" cy="390000"/>
          </a:xfrm>
          <a:prstGeom prst="rect">
            <a:avLst/>
          </a:prstGeom>
          <a:noFill/>
        </p:spPr>
        <p:txBody>
          <a:bodyPr wrap="square" lIns="0" tIns="0" rIns="0" bIns="0" anchor="t">
            <a:normAutofit/>
          </a:bodyPr>
          <a:lstStyle/>
          <a:p>
            <a:pPr algn="l">
              <a:lnSpc>
                <a:spcPct val="100000"/>
              </a:lnSpc>
              <a:spcBef>
                <a:spcPts val="0"/>
              </a:spcBef>
            </a:pPr>
            <a:r>
              <a:rPr lang="es-ES" sz="800" b="0" i="1">
                <a:solidFill>
                  <a:srgbClr val="7A7A7A"/>
                </a:solidFill>
              </a:rPr>
              <a:t>Costo estimado utilizando una tarifa de referencia de USD 19 por usuario/mes. Sujeto a validación comercial. PO de Remesas pendiente de confirmación. Costo Sep-Dic 2026 = licencias por comprar ahora x USD 19 x 4 meses. Los 3 perfiles AS/400 pendientes no se incluyen en la compra inmediata; su distribución por equipo está sujeta a confirmación.</a:t>
            </a:r>
          </a:p>
        </p:txBody>
      </p:sp>
      <p:sp>
        <p:nvSpPr>
          <p:cNvPr id="400" name="tb"/>
          <p:cNvSpPr txBox="1"/>
          <p:nvPr/>
        </p:nvSpPr>
        <p:spPr>
          <a:xfrm>
            <a:off x="8870000" y="2880360"/>
            <a:ext cx="1400000" cy="219456"/>
          </a:xfrm>
          <a:prstGeom prst="rect">
            <a:avLst/>
          </a:prstGeom>
          <a:noFill/>
        </p:spPr>
        <p:txBody>
          <a:bodyPr wrap="square" lIns="0" tIns="0" rIns="0" bIns="0" anchor="t">
            <a:normAutofit/>
          </a:bodyPr>
          <a:lstStyle/>
          <a:p>
            <a:pPr algn="l">
              <a:lnSpc>
                <a:spcPct val="100000"/>
              </a:lnSpc>
              <a:spcBef>
                <a:spcPts val="0"/>
              </a:spcBef>
            </a:pPr>
            <a:r>
              <a:rPr lang="es-ES" sz="700" b="1" i="0">
                <a:solidFill>
                  <a:srgbClr val="7A7A7A"/>
                </a:solidFill>
              </a:rPr>
              <a:t>COSTO MENSUAL</a:t>
            </a:r>
          </a:p>
        </p:txBody>
      </p:sp>
      <p:sp>
        <p:nvSpPr>
          <p:cNvPr id="401" name="tb"/>
          <p:cNvSpPr txBox="1"/>
          <p:nvPr/>
        </p:nvSpPr>
        <p:spPr>
          <a:xfrm>
            <a:off x="10350000" y="2880360"/>
            <a:ext cx="1180584" cy="219456"/>
          </a:xfrm>
          <a:prstGeom prst="rect">
            <a:avLst/>
          </a:prstGeom>
          <a:noFill/>
        </p:spPr>
        <p:txBody>
          <a:bodyPr wrap="square" lIns="0" tIns="0" rIns="0" bIns="0" anchor="t">
            <a:normAutofit/>
          </a:bodyPr>
          <a:lstStyle/>
          <a:p>
            <a:pPr algn="l">
              <a:lnSpc>
                <a:spcPct val="100000"/>
              </a:lnSpc>
              <a:spcBef>
                <a:spcPts val="0"/>
              </a:spcBef>
            </a:pPr>
            <a:r>
              <a:rPr lang="es-ES" sz="700" b="1" i="0">
                <a:solidFill>
                  <a:srgbClr val="7A7A7A"/>
                </a:solidFill>
              </a:rPr>
              <a:t>COSTO SEP-DIC 2026</a:t>
            </a:r>
          </a:p>
        </p:txBody>
      </p:sp>
      <p:sp>
        <p:nvSpPr>
          <p:cNvPr id="402" name="tb"/>
          <p:cNvSpPr txBox="1"/>
          <p:nvPr/>
        </p:nvSpPr>
        <p:spPr>
          <a:xfrm>
            <a:off x="8870000" y="318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03" name="tb"/>
          <p:cNvSpPr txBox="1"/>
          <p:nvPr/>
        </p:nvSpPr>
        <p:spPr>
          <a:xfrm>
            <a:off x="10350000" y="318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04" name="tb"/>
          <p:cNvSpPr txBox="1"/>
          <p:nvPr/>
        </p:nvSpPr>
        <p:spPr>
          <a:xfrm>
            <a:off x="8870000" y="344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05" name="tb"/>
          <p:cNvSpPr txBox="1"/>
          <p:nvPr/>
        </p:nvSpPr>
        <p:spPr>
          <a:xfrm>
            <a:off x="10350000" y="344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06" name="tb"/>
          <p:cNvSpPr txBox="1"/>
          <p:nvPr/>
        </p:nvSpPr>
        <p:spPr>
          <a:xfrm>
            <a:off x="8870000" y="371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07" name="tb"/>
          <p:cNvSpPr txBox="1"/>
          <p:nvPr/>
        </p:nvSpPr>
        <p:spPr>
          <a:xfrm>
            <a:off x="10350000" y="371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08" name="tb"/>
          <p:cNvSpPr txBox="1"/>
          <p:nvPr/>
        </p:nvSpPr>
        <p:spPr>
          <a:xfrm>
            <a:off x="8870000" y="397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09" name="tb"/>
          <p:cNvSpPr txBox="1"/>
          <p:nvPr/>
        </p:nvSpPr>
        <p:spPr>
          <a:xfrm>
            <a:off x="10350000" y="397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10" name="tb"/>
          <p:cNvSpPr txBox="1"/>
          <p:nvPr/>
        </p:nvSpPr>
        <p:spPr>
          <a:xfrm>
            <a:off x="8870000" y="424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11" name="tb"/>
          <p:cNvSpPr txBox="1"/>
          <p:nvPr/>
        </p:nvSpPr>
        <p:spPr>
          <a:xfrm>
            <a:off x="10350000" y="424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12" name="tb"/>
          <p:cNvSpPr txBox="1"/>
          <p:nvPr/>
        </p:nvSpPr>
        <p:spPr>
          <a:xfrm>
            <a:off x="8870000" y="450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0</a:t>
            </a:r>
          </a:p>
        </p:txBody>
      </p:sp>
      <p:sp>
        <p:nvSpPr>
          <p:cNvPr id="413" name="tb"/>
          <p:cNvSpPr txBox="1"/>
          <p:nvPr/>
        </p:nvSpPr>
        <p:spPr>
          <a:xfrm>
            <a:off x="10350000" y="450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0</a:t>
            </a:r>
          </a:p>
        </p:txBody>
      </p:sp>
      <p:sp>
        <p:nvSpPr>
          <p:cNvPr id="414" name="tb"/>
          <p:cNvSpPr txBox="1"/>
          <p:nvPr/>
        </p:nvSpPr>
        <p:spPr>
          <a:xfrm>
            <a:off x="8870000" y="477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15" name="tb"/>
          <p:cNvSpPr txBox="1"/>
          <p:nvPr/>
        </p:nvSpPr>
        <p:spPr>
          <a:xfrm>
            <a:off x="10350000" y="477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16" name="tb"/>
          <p:cNvSpPr txBox="1"/>
          <p:nvPr/>
        </p:nvSpPr>
        <p:spPr>
          <a:xfrm>
            <a:off x="8870000" y="503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17" name="tb"/>
          <p:cNvSpPr txBox="1"/>
          <p:nvPr/>
        </p:nvSpPr>
        <p:spPr>
          <a:xfrm>
            <a:off x="10350000" y="503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18" name="tb"/>
          <p:cNvSpPr txBox="1"/>
          <p:nvPr/>
        </p:nvSpPr>
        <p:spPr>
          <a:xfrm>
            <a:off x="8870000" y="530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419" name="tb"/>
          <p:cNvSpPr txBox="1"/>
          <p:nvPr/>
        </p:nvSpPr>
        <p:spPr>
          <a:xfrm>
            <a:off x="10350000" y="530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76</a:t>
            </a:r>
          </a:p>
        </p:txBody>
      </p:sp>
      <p:sp>
        <p:nvSpPr>
          <p:cNvPr id="420" name="tb"/>
          <p:cNvSpPr txBox="1"/>
          <p:nvPr/>
        </p:nvSpPr>
        <p:spPr>
          <a:xfrm>
            <a:off x="8870000" y="5605000"/>
            <a:ext cx="140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USD 152</a:t>
            </a:r>
          </a:p>
        </p:txBody>
      </p:sp>
      <p:sp>
        <p:nvSpPr>
          <p:cNvPr id="421" name="tb"/>
          <p:cNvSpPr txBox="1"/>
          <p:nvPr/>
        </p:nvSpPr>
        <p:spPr>
          <a:xfrm>
            <a:off x="10350000" y="5605000"/>
            <a:ext cx="1180584"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USD 608</a:t>
            </a:r>
          </a:p>
        </p:txBody>
      </p:sp>
    </p:spTree>
  </p:cSld>
  <p:clrMapOvr>
    <a:masterClrMapping/>
  </p:clrMapOvr>
</p:sld>
</file>

<file path=ppt/theme/theme1.xml><?xml version="1.0" encoding="utf-8"?>
<a:theme xmlns:a="http://schemas.openxmlformats.org/drawingml/2006/main" name="Office Theme">
  <a:themeElements>
    <a:clrScheme name="TUYA Colombia">
      <a:dk1>
        <a:sysClr val="windowText" lastClr="000000"/>
      </a:dk1>
      <a:lt1>
        <a:sysClr val="window" lastClr="FFFFFF"/>
      </a:lt1>
      <a:dk2>
        <a:srgbClr val="211915"/>
      </a:dk2>
      <a:lt2>
        <a:srgbClr val="F3F1F0"/>
      </a:lt2>
      <a:accent1>
        <a:srgbClr val="ED1C29"/>
      </a:accent1>
      <a:accent2>
        <a:srgbClr val="211915"/>
      </a:accent2>
      <a:accent3>
        <a:srgbClr val="7A7A7A"/>
      </a:accent3>
      <a:accent4>
        <a:srgbClr val="77C3CD"/>
      </a:accent4>
      <a:accent5>
        <a:srgbClr val="9CCB49"/>
      </a:accent5>
      <a:accent6>
        <a:srgbClr val="C9E4DC"/>
      </a:accent6>
      <a:hlink>
        <a:srgbClr val="ED1C29"/>
      </a:hlink>
      <a:folHlink>
        <a:srgbClr val="B71C2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YA Colombi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TUYA Colombia">
      <a:dk1>
        <a:sysClr val="windowText" lastClr="000000"/>
      </a:dk1>
      <a:lt1>
        <a:sysClr val="window" lastClr="FFFFFF"/>
      </a:lt1>
      <a:dk2>
        <a:srgbClr val="211915"/>
      </a:dk2>
      <a:lt2>
        <a:srgbClr val="F3F1F0"/>
      </a:lt2>
      <a:accent1>
        <a:srgbClr val="ED1C29"/>
      </a:accent1>
      <a:accent2>
        <a:srgbClr val="211915"/>
      </a:accent2>
      <a:accent3>
        <a:srgbClr val="7A7A7A"/>
      </a:accent3>
      <a:accent4>
        <a:srgbClr val="77C3CD"/>
      </a:accent4>
      <a:accent5>
        <a:srgbClr val="9CCB49"/>
      </a:accent5>
      <a:accent6>
        <a:srgbClr val="C9E4DC"/>
      </a:accent6>
      <a:hlink>
        <a:srgbClr val="ED1C29"/>
      </a:hlink>
      <a:folHlink>
        <a:srgbClr val="B71C2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YA Colombi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798</TotalTime>
  <Words>1535</Words>
  <Application>Microsoft Office PowerPoint</Application>
  <DocSecurity>0</DocSecurity>
  <PresentationFormat>Panorámica</PresentationFormat>
  <Paragraphs>219</Paragraphs>
  <Slides>5</Slides>
  <Notes>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Arial</vt:lpstr>
      <vt:lpstr>Calibri</vt:lpstr>
      <vt:lpstr>Trebuchet MS</vt:lpstr>
      <vt:lpstr>Office Theme</vt:lpstr>
      <vt:lpstr>De la productividad al valor</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Ricardo Andres Leyva</cp:lastModifiedBy>
  <cp:revision>22</cp:revision>
  <dcterms:created xsi:type="dcterms:W3CDTF">2026-08-06T14:34:46Z</dcterms:created>
  <dcterms:modified xsi:type="dcterms:W3CDTF">2026-09-01T13:33:03Z</dcterms:modified>
</cp:coreProperties>
</file>