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7"/>
  </p:notesMasterIdLst>
  <p:sldIdLst>
    <p:sldId id="256" r:id="rId2"/>
    <p:sldId id="262" r:id="rId3"/>
    <p:sldId id="258" r:id="rId4"/>
    <p:sldId id="266" r:id="rId5"/>
    <p:sldId id="261" r:id="rId6"/>
    <p:sldId id="267" r:id="rId7"/>
    <p:sldId id="270" r:id="rId8"/>
    <p:sldId id="271" r:id="rId9"/>
    <p:sldId id="272" r:id="rId10"/>
    <p:sldId id="260" r:id="rId11"/>
    <p:sldId id="257" r:id="rId12"/>
    <p:sldId id="259" r:id="rId13"/>
    <p:sldId id="269" r:id="rId14"/>
    <p:sldId id="268" r:id="rId15"/>
    <p:sldId id="265" r:id="rId16"/>
  </p:sldIdLst>
  <p:sldSz cx="12192000" cy="6858000"/>
  <p:notesSz cx="6858000" cy="9144000"/>
  <p:defaultTextStyle>
    <a:defPPr>
      <a:defRPr lang="es-419"/>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6813" autoAdjust="0"/>
  </p:normalViewPr>
  <p:slideViewPr>
    <p:cSldViewPr snapToGrid="0">
      <p:cViewPr varScale="1">
        <p:scale>
          <a:sx n="122" d="100"/>
          <a:sy n="122" d="100"/>
        </p:scale>
        <p:origin x="774"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419" dirty="0"/>
              <a:t>~1 min · Apertura</a:t>
            </a:r>
            <a:endParaRPr dirty="0"/>
          </a:p>
          <a:p>
            <a:endParaRPr dirty="0"/>
          </a:p>
          <a:p>
            <a:r>
              <a:rPr lang="es-419"/>
              <a:t>Hoy no venimos a hablar de cuantas horas ahorra GitHub Copilot, sino de que puede hacer cada equipo con la capacidad que Copilot genera.</a:t>
            </a:r>
          </a:p>
          <a:p>
            <a:endParaRPr dirty="0"/>
          </a:p>
          <a:p>
            <a:r>
              <a:rPr lang="es-419"/>
              <a:t>La pregunta que guia la sesion: como convertimos capacidad tecnica en resultados medibles para el negocio.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419"/>
              <a:t>~2 min · Qué aprendimos</a:t>
            </a:r>
          </a:p>
          <a:p>
            <a:endParaRPr/>
          </a:p>
          <a:p>
            <a:r>
              <a:rPr lang="es-419"/>
              <a:t>En el PoC anterior observamos que, en un ejercicio de migración de software, el tiempo se redujo. Es un resultado real, pero conviene decirlo con precisión: fue una observación puntual, no una prueba estadística.</a:t>
            </a:r>
          </a:p>
          <a:p>
            <a:endParaRPr/>
          </a:p>
          <a:p>
            <a:r>
              <a:rPr lang="es-419"/>
              <a:t>De ahí salen dos matices importantes. Una migración es un trabajo extraordinario y no representa necesariamente el día a día de todos los equipos; y las horas liberadas son capacidad disponible, no un ahorro que aparezca solo en el estado de resultados.</a:t>
            </a:r>
          </a:p>
          <a:p>
            <a:endParaRPr/>
          </a:p>
          <a:p>
            <a:r>
              <a:rPr lang="es-419"/>
              <a:t>Por eso desplazamos la pregunta. Ya no se trata únicamente de cuánto tiempo podemos liberar, sino de qué decidimos hacer con esa capacidad y qué resultado produce. Esa es la conversación que queremos construir hoy con líderes técnicos, Product Owners, Talento Humano y Finanzas.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 min · </a:t>
            </a:r>
            <a:r>
              <a:rPr lang="es-419"/>
              <a:t>Productividad no es ROI</a:t>
            </a:r>
            <a:endParaRPr/>
          </a:p>
          <a:p>
            <a:endParaRPr/>
          </a:p>
          <a:p>
            <a:r>
              <a:rPr lang="es-419"/>
              <a:t>Aquí separamos dos preguntas que suelen mezclarse. La productividad técnica mide tiempo y esfuerzo del desarrollo; el valor mide lo que cambia para el cliente o para la operación.</a:t>
            </a:r>
          </a:p>
          <a:p>
            <a:endParaRPr/>
          </a:p>
          <a:p>
            <a:r>
              <a:rPr lang="es-419"/>
              <a:t>El punto nuevo está en quién valida cada cosa. La productividad la valida el equipo técnico y su líder, porque son quienes conocen el trabajo. El valor lo validan Product Owner, Negocio y Finanzas, y Talento Humano entra cuando el caso toca capacidades, habilidades o planeación de la fuerza de trabajo.</a:t>
            </a:r>
          </a:p>
          <a:p>
            <a:endParaRPr/>
          </a:p>
          <a:p>
            <a:r>
              <a:rPr lang="es-419"/>
              <a:t>La idea que queremos dejar fija: las horas liberadas son capacidad y solo se vuelven ahorro cuando permiten reducir o evitar un costo real que alguien de Finanzas pueda reconocer.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a:t>~2 min · Cadena de valor</a:t>
            </a:r>
          </a:p>
          <a:p>
            <a:endParaRPr lang="es-ES"/>
          </a:p>
          <a:p>
            <a:r>
              <a:rPr lang="es-ES"/>
              <a:t>Recorremos la cadena completa. Copilot cambia la forma de trabajar, ese cambio libera capacidad, la capacidad puede mover un resultado operativo, ese resultado se refleja en el negocio y, al final, puede traducirse en valor económico.</a:t>
            </a:r>
          </a:p>
          <a:p>
            <a:endParaRPr lang="es-ES"/>
          </a:p>
          <a:p>
            <a:r>
              <a:rPr lang="es-ES"/>
              <a:t>El eslabón crítico es la decisión: si nadie define dónde se usa la capacidad, la cadena se rompe ahí y no hay valor que demostrar.</a:t>
            </a:r>
          </a:p>
          <a:p>
            <a:endParaRPr lang="es-ES"/>
          </a:p>
          <a:p>
            <a:r>
              <a:rPr lang="es-ES"/>
              <a:t>Vale la pena precisar el último eslabón. Hablamos de valor económico cuando hay ingreso o margen incremental, reducción de costos, un costo evitado validado o una pérdida evitada que se pueda cuantificar. El riesgo por sí solo no es valor financiero; lo es cuando podemos expresarlo como exposición, pérdida esperada o costo evitado.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419"/>
              <a:t>~2 min · Qué podemos medir hoy</a:t>
            </a:r>
          </a:p>
          <a:p>
            <a:endParaRPr/>
          </a:p>
          <a:p>
            <a:r>
              <a:rPr lang="es-419"/>
              <a:t>Es cierto que los repositorios no están hoy en GitHub y que la telemetría de Copilot es limitada, pero eso no bloquea el ejercicio. Copilot es la intervención; la evidencia del resultado vive en otras partes de la organización.</a:t>
            </a:r>
          </a:p>
          <a:p>
            <a:endParaRPr lang="es-419"/>
          </a:p>
          <a:p>
            <a:r>
              <a:rPr lang="es-419"/>
              <a:t>En Tecnología está en las herramientas de gestión, los releases, los defectos, los incidentes, los tiempos de ciclo y el retrabajo. En Producto, en el backlog, la adopción, las transacciones, los </a:t>
            </a:r>
            <a:r>
              <a:rPr lang="es-MX"/>
              <a:t>KPI y el time-to-market.</a:t>
            </a:r>
          </a:p>
          <a:p>
            <a:endParaRPr lang="es-MX"/>
          </a:p>
          <a:p>
            <a:r>
              <a:rPr lang="es-MX"/>
              <a:t>En Finanzas las fuentes son </a:t>
            </a:r>
            <a:r>
              <a:rPr lang="es-419"/>
              <a:t>contratos, facturación de proveedores, presupuesto, costos operacionales y capacidad externa contratada. Conviene aclarar que el costo evitado no es una fuente de información: es un resultado que se calcula con esa evidencia financiera.</a:t>
            </a:r>
          </a:p>
          <a:p>
            <a:endParaRPr lang="es-MX"/>
          </a:p>
          <a:p>
            <a:r>
              <a:rPr lang="es-MX"/>
              <a:t>Talento Humano aporta onboarding, desarrollo de habilidades, reskilling, movilidad, evolución de roles y planeación de la fuerza de trabajo. No le pedimos administrar la distribución cotidiana de la capacidad técnica; eso es del líder técnico.</a:t>
            </a:r>
          </a:p>
          <a:p>
            <a:endParaRPr lang="es-MX"/>
          </a:p>
          <a:p>
            <a:r>
              <a:rPr lang="es-MX"/>
              <a:t>La invitación es identificar qué datos ya existen en cada realidad antes de pedir datos nuevos.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a:t>~2 min · Cuatro mecanismos</a:t>
            </a:r>
          </a:p>
          <a:p>
            <a:endParaRPr lang="es-ES"/>
          </a:p>
          <a:p>
            <a:r>
              <a:rPr lang="es-ES"/>
              <a:t>Hay cuatro formas de convertir capacidad en valor y cada equipo debería elegir la que mejor describe su realidad, no las cuatro.</a:t>
            </a:r>
          </a:p>
          <a:p>
            <a:endParaRPr lang="es-ES"/>
          </a:p>
          <a:p>
            <a:r>
              <a:rPr lang="es-ES"/>
              <a:t>Lo mismo con menos significa sostener el mismo resultado, alcance y nivel de servicio con menor costo total o menos capacidad externa contratada. Conviene aclarar que no hablamos de reducir desarrolladores; el ejemplo natural son terceros, contratos y capacidad adicional que dejamos de necesitar.</a:t>
            </a:r>
          </a:p>
          <a:p>
            <a:r>
              <a:rPr lang="es-ES"/>
              <a:t>Más con lo mismo es mantener la estructura y producir más: más iniciativas, más funcionalidades, más backlog atendido. Valor antes es obtener el mismo beneficio en menos tiempo. Menos pérdida y riesgo es reducir defectos, incidentes, reprocesos, fallas o interrupciones.</a:t>
            </a:r>
          </a:p>
          <a:p>
            <a:endParaRPr lang="es-ES"/>
          </a:p>
          <a:p>
            <a:r>
              <a:rPr lang="es-ES"/>
              <a:t>Si liberamos capacidad interna pero conservamos el mismo equipo y lo usamos en trabajo nuevo, eso es más con lo mismo, no ahorro.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419"/>
              <a:t>~2 min · Cómo lo podemos medir</a:t>
            </a:r>
            <a:endParaRPr/>
          </a:p>
          <a:p>
            <a:endParaRPr/>
          </a:p>
          <a:p>
            <a:r>
              <a:rPr lang="es-419"/>
              <a:t>No necesitamos telemetría perfecta para empezar, pero sí un poco de disciplina metodológica. Definimos un baseline con un período de referencia y con trabajo suficientemente comparable, formulamos una hipótesis concreta y usamos Copilot en trabajo cotidiano, no solo en actividades extraordinarias como una migración.</a:t>
            </a:r>
          </a:p>
          <a:p>
            <a:endParaRPr/>
          </a:p>
          <a:p>
            <a:r>
              <a:rPr lang="es-419"/>
              <a:t>Una comparación antes y después no demuestra causalidad perfecta. Por eso buscamos trabajo suficientemente comparable, períodos definidos y guardrails que permitan construir evidencia razonable. En lo posible: mismo tipo de trabajo, equipo relativamente estable y sin mezclar cambios organizacionales grandes dentro del mismo período.</a:t>
            </a:r>
          </a:p>
          <a:p>
            <a:endParaRPr/>
          </a:p>
          <a:p>
            <a:r>
              <a:rPr lang="es-419"/>
              <a:t>En la observación no basta mirar si algo salió más rápido. Comparamos velocidad, calidad, estabilidad y retrabajo, porque una mejora local no sirve si simplemente desplaza el problema hacia pruebas, revisión o soporte.</a:t>
            </a:r>
          </a:p>
          <a:p>
            <a:endParaRPr lang="es-MX"/>
          </a:p>
          <a:p>
            <a:r>
              <a:rPr lang="es-MX"/>
              <a:t>Los dos últimos pasos son los que suelen faltar. Hay que decir explícitamente qué hicimos con la capacidad, si redujo un costo, permitió trabajo adicional, adelantó una entrega o evitó reprocesos, y luego conectarla con un KPI observable.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419"/>
              <a:t>~2 min · Tres tipos de evidencia</a:t>
            </a:r>
            <a:endParaRPr/>
          </a:p>
          <a:p>
            <a:endParaRPr/>
          </a:p>
          <a:p>
            <a:r>
              <a:rPr lang="es-419"/>
              <a:t>Un caso se sostiene combinando tres miradas. La cuantitativa muestra si el flujo de trabajo cambió. La cualitativa explica por qué cambió y dónde Copilot aporta y dónde no. La de negocio confirma si algo se movió para el cliente o para la operación.</a:t>
            </a:r>
          </a:p>
          <a:p>
            <a:endParaRPr/>
          </a:p>
          <a:p>
            <a:r>
              <a:rPr lang="es-419"/>
              <a:t>En lo cualitativo queremos ir más allá de una encuesta genérica de percepción: facilidad para completar tareas, carga cognitiva, confianza al trabajar con código desconocido, actividades donde aporta y donde no, satisfacción y cambios concretos en la forma de trabajar.</a:t>
            </a:r>
          </a:p>
          <a:p>
            <a:endParaRPr/>
          </a:p>
          <a:p>
            <a:r>
              <a:rPr lang="es-419"/>
              <a:t>Ninguna fuente por sí sola demuestra valor. La lámina siguiente separa el otro tema: los tres tipos de métricas con los que evaluamos una </a:t>
            </a:r>
            <a:r>
              <a:rPr lang="es-MX"/>
              <a:t>hipótesis.</a:t>
            </a:r>
          </a:p>
          <a:p>
            <a:endParaRPr lang="es-MX"/>
          </a:p>
          <a:p>
            <a:r>
              <a:rPr lang="es-MX"/>
              <a:t>Combinamos evidencia técnica, experiencia del equipo y resultados de negocio; </a:t>
            </a:r>
            <a:r>
              <a:rPr lang="es-419"/>
              <a:t>la combinación sí permite construir un caso razonable.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419"/>
              <a:t>~2 min · Tres métricas para evaluar una hipótesis</a:t>
            </a:r>
            <a:endParaRPr/>
          </a:p>
          <a:p>
            <a:endParaRPr/>
          </a:p>
          <a:p>
            <a:r>
              <a:rPr lang="es-419"/>
              <a:t>La métrica de capacidad demuestra si cambió nuestra forma de trabajar. El guardrail comprueba que esa mejora no deterioró calidad, estabilidad o nivel de servicio. La métrica de resultado muestra qué ocurrió después de utilizar esa capacidad. Necesitamos las tres para evitar confundir velocidad con valor.</a:t>
            </a:r>
          </a:p>
          <a:p>
            <a:endParaRPr/>
          </a:p>
          <a:p>
            <a:r>
              <a:rPr lang="es-419"/>
              <a:t>Conviene precisar el lenguaje: hablamos de qué resultado observamos después de utilizar la capacidad, no de una causalidad demostrada. Una comparación antes y después construye evidencia razonable, no una prueba definitiva.</a:t>
            </a:r>
          </a:p>
          <a:p>
            <a:endParaRPr/>
          </a:p>
          <a:p>
            <a:r>
              <a:rPr lang="es-419"/>
              <a:t>Cada equipo debería salir con al menos una métrica de capacidad, un guardrail y una métrica de resultado definidos con su fuente y su </a:t>
            </a:r>
            <a:r>
              <a:rPr lang="es-MX"/>
              <a:t>responsable.</a:t>
            </a:r>
          </a:p>
          <a:p>
            <a:endParaRPr lang="es-MX"/>
          </a:p>
          <a:p>
            <a:r>
              <a:rPr lang="es-MX"/>
              <a:t>Una hipótesis se fortalece cuando mejora la capacidad, mantiene sus guardrails y </a:t>
            </a:r>
            <a:r>
              <a:rPr lang="es-419"/>
              <a:t>produce un resultado observable.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419"/>
              <a:t>~2 min · Ejemplos ilustrativos</a:t>
            </a:r>
          </a:p>
          <a:p>
            <a:endParaRPr lang="es-MX"/>
          </a:p>
          <a:p>
            <a:r>
              <a:rPr lang="es-MX"/>
              <a:t>Aquí mostramos la cadena completa de cada mecanismo, no solo el titular. En todos, Copilot es la intervención, pero el valor aparece al final: menor costo operacional, una iniciativa adicional entregada, un beneficio que empieza antes o una pérdida que se evita.</a:t>
            </a:r>
          </a:p>
          <a:p>
            <a:endParaRPr/>
          </a:p>
          <a:p>
            <a:r>
              <a:rPr lang="es-MX"/>
              <a:t>En el primero conviene insistir en la condición: solo cuenta si mantenemos alcance, calidad y nivel de servicio. Si el costo baja porque entregamos menos o peor, no es valor.</a:t>
            </a:r>
          </a:p>
          <a:p>
            <a:endParaRPr lang="es-MX"/>
          </a:p>
          <a:p>
            <a:r>
              <a:rPr lang="es-419"/>
              <a:t>Son ejemplos para orientar la conversación, no resultados medidos en Tuya. La invitación a líderes técnicos y Product Owners es reconocer cuál de estas cadenas se parece a su realidad y completarla con lo que conocen de su equipo y de su negocio.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419"/>
              <a:t>~2 min · Referencias de industria</a:t>
            </a:r>
          </a:p>
          <a:p>
            <a:r>
              <a:rPr lang="es-419"/>
              <a:t>Estas tres referencias no son metas ni benchmarks para Tuya. Las usamos por el método, no por los porcentajes.</a:t>
            </a:r>
          </a:p>
          <a:p>
            <a:r>
              <a:rPr lang="es-419"/>
              <a:t>JPMorgan sirve para mostrar qué hacer con la capacidad: reportó mejoras de productividad de ingeniería de aproximadamente 10% a 20% con un asistente de codificación desarrollado internamente por el banco, no con GitHub Copilot, y habló de reasignar ingenieros hacia iniciativas de mayor valor. No utilizó GitHub Copilot en este caso, así que es una referencia sobre utilización de capacidad, no un benchmark para Tuya.</a:t>
            </a:r>
          </a:p>
          <a:p>
            <a:r>
              <a:rPr lang="es-419"/>
              <a:t>Accenture sirve para mostrar cómo diseñar una evaluación: comparó un grupo que usaba Copilot con un grupo de control y definió de antemano qué señales observar, entre ellas builds exitosos, pull requests y experiencia del desarrollador. Es un caso publicado por GitHub, así que lo tomamos como referencia metodológica.</a:t>
            </a:r>
          </a:p>
          <a:p>
            <a:r>
              <a:rPr lang="es-419"/>
              <a:t>DORA sirve para conectar la evaluación técnica con el caso económico: la mejora técnica por sí sola no es ROI, hay que observar el sistema completo de entrega y comparar el costo total de adopción con los beneficios esperados y posteriormente con los observados. El caso de valor sirve primero para decidir si vale la pena invertir y después para comprobar si la hipótesis se cumplió.</a:t>
            </a:r>
          </a:p>
          <a:p>
            <a:r>
              <a:rPr lang="es-419"/>
              <a:t>El cierre es el mismo: no importamos cifras ajenas, importamos formas de evaluar.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 min · </a:t>
            </a:r>
            <a:r>
              <a:rPr lang="es-419"/>
              <a:t>Quién valida cada parte</a:t>
            </a:r>
            <a:endParaRPr/>
          </a:p>
          <a:p>
            <a:endParaRPr/>
          </a:p>
          <a:p>
            <a:r>
              <a:rPr lang="es-MX"/>
              <a:t>El caso no lo construye Tecnología sola. El líder técnico conoce dónde se consume la capacidad, cómo se distribuye el trabajo, dónde están los cuellos de botella y qué guardrails de calidad no pueden ceder.</a:t>
            </a:r>
          </a:p>
          <a:p>
            <a:endParaRPr lang="es-MX"/>
          </a:p>
          <a:p>
            <a:r>
              <a:rPr lang="es-MX"/>
              <a:t>El Product Owner define dónde se reinvierte la capacidad y qué KPI del producto debería moverse. Talento Humano acompaña adopción, habilidades, onboarding, reskilling, movilidad y planeación de la fuerza de trabajo.</a:t>
            </a:r>
          </a:p>
          <a:p>
            <a:endParaRPr lang="es-MX"/>
          </a:p>
          <a:p>
            <a:r>
              <a:rPr lang="es-MX"/>
              <a:t>Finanzas valida el costo real, los costos evitados, la inversión y bajo qué criterios se reconoce un beneficio. El liderazgo prioriza, valida supuestos y decide si el caso justifica presupuesto.</a:t>
            </a:r>
          </a:p>
          <a:p>
            <a:endParaRPr/>
          </a:p>
          <a:p>
            <a:r>
              <a:rPr lang="es-419"/>
              <a:t>Cada rol valida una parte del caso y ninguno puede construirlo por sí solo; por eso la sesión los reúne.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b="1"/>
              <a:t>~2 min · Canvas de valor</a:t>
            </a:r>
          </a:p>
          <a:p>
            <a:endParaRPr lang="es-ES"/>
          </a:p>
          <a:p>
            <a:r>
              <a:rPr lang="es-ES"/>
              <a:t>Este es el ejercicio central. No traemos una fórmula cerrada: cada equipo responde las ocho preguntas con su conocimiento del producto y de su operación.</a:t>
            </a:r>
          </a:p>
          <a:p>
            <a:endParaRPr lang="es-ES"/>
          </a:p>
          <a:p>
            <a:r>
              <a:rPr lang="es-ES"/>
              <a:t>Detenerse en la pregunta central. Si demostramos capacidad pero no sabemos qué haríamos con ella, todavía no hay caso de valor.</a:t>
            </a:r>
          </a:p>
          <a:p>
            <a:endParaRPr lang="es-ES"/>
          </a:p>
          <a:p>
            <a:r>
              <a:rPr lang="es-ES"/>
              <a:t>Hay una segunda pregunta igual de importante: qué tendría que mantenerse estable para considerar válida la mejora. Normalmente calidad, incidentes, alcance y nivel de servicio.</a:t>
            </a:r>
          </a:p>
          <a:p>
            <a:endParaRPr lang="es-ES"/>
          </a:p>
          <a:p>
            <a:r>
              <a:rPr lang="es-ES" b="1"/>
              <a:t>Y toda hipótesis debe terminar definida: baseline, objetivo, indicador, guardrail, período de medición, fuente del dato y responsable. Sin esos siete datos la discusión se vuelve una opinión.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419" b="1"/>
              <a:t>~2 min · Resultado esperado</a:t>
            </a:r>
          </a:p>
          <a:p>
            <a:endParaRPr lang="es-419"/>
          </a:p>
          <a:p>
            <a:r>
              <a:rPr lang="es-419"/>
              <a:t>No esperamos que el equipo demuestre hoy un ROI que todavía no ha podido observar. Esperamos que construya una hipótesis concreta, medible y falsable que permita decidir si vale la pena invertir y que defina desde ahora cómo vamos a comprobarla.</a:t>
            </a:r>
          </a:p>
          <a:p>
            <a:endParaRPr lang="es-419"/>
          </a:p>
          <a:p>
            <a:r>
              <a:rPr lang="es-419"/>
              <a:t>La ficha está organizada en dos bloques. El primero es cómo demostramos el cambio: hipótesis, baseline, indicador, guardrail, objetivo y período. El segundo es cómo demostramos el valor: destino de la capacidad, KPI de negocio, fuente y responsable.</a:t>
            </a:r>
          </a:p>
          <a:p>
            <a:endParaRPr lang="es-419"/>
          </a:p>
          <a:p>
            <a:r>
              <a:rPr lang="es-419"/>
              <a:t>Esa separación es deliberada. La primera mitad prueba que algo cambió técnicamente sin deteriorar otra cosa; la segunda prueba que ese cambio produjo un resultado que el negocio reconoce.</a:t>
            </a:r>
          </a:p>
          <a:p>
            <a:endParaRPr lang="es-419"/>
          </a:p>
          <a:p>
            <a:r>
              <a:rPr lang="es-419"/>
              <a:t>Con esos diez campos una hipótesis se puede discutir, defender antes de invertir y revisar después con evidencia observada.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419"/>
              <a:t>~2 min · Del caso a la decisión</a:t>
            </a:r>
            <a:endParaRPr/>
          </a:p>
          <a:p>
            <a:endParaRPr/>
          </a:p>
          <a:p>
            <a:r>
              <a:rPr lang="es-MX"/>
              <a:t>Este es el recorrido completo: el equipo formula la hipótesis, define baseline, mide, observa el resultado, lo traduce en valor y lo compara con el costo de la inversión antes de pedir presupuesto.</a:t>
            </a:r>
          </a:p>
          <a:p>
            <a:endParaRPr lang="es-MX"/>
          </a:p>
          <a:p>
            <a:r>
              <a:rPr lang="es-MX"/>
              <a:t>Hay dos decisiones diferentes. Primero decidimos si la hipótesis justifica realizar la inversión. Después de un período de adopción, la evidencia nos permite decidir si mantenemos, ampliamos, ajustamos o reconsideramos esa inversión.</a:t>
            </a:r>
          </a:p>
          <a:p>
            <a:endParaRPr lang="es-MX"/>
          </a:p>
          <a:p>
            <a:r>
              <a:rPr lang="es-MX"/>
              <a:t>El ejemplo es ilustrativo: si el equipo puede absorber parte de una actividad hoy tercerizada, el baseline es el costo y la capacidad contratados, el indicador es el alcance y el gasto real, el guardrail es mantener alcance, calidad y nivel de servicio, y el costo de inversión son las licencias de Copilot del equipo. La validación la hacen juntos líder técnico, Product Owner y Finanzas.</a:t>
            </a:r>
          </a:p>
          <a:p>
            <a:endParaRPr lang="es-MX"/>
          </a:p>
          <a:p>
            <a:r>
              <a:rPr lang="es-419"/>
              <a:t>El mensaje de cierre: el presupuesto se sustenta comparando una inversión real con una hipótesis de valor medible. La continuidad de la inversión se sustenta posteriormente con evidencia observada, no con una estimación hipotética del costo de las horas liberadas.</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9"/>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F07EB1B0-9209-4743-A5FD-8504D5188A2F}"/>
              </a:ext>
            </a:extLst>
          </p:cNvPr>
          <p:cNvSpPr>
            <a:spLocks noGrp="1"/>
          </p:cNvSpPr>
          <p:nvPr>
            <p:ph type="title" idx="100" hasCustomPrompt="1"/>
          </p:nvPr>
        </p:nvSpPr>
        <p:spPr>
          <a:xfrm>
            <a:off x="685800" y="658368"/>
            <a:ext cx="10789920" cy="822960"/>
          </a:xfrm>
          <a:prstGeom prst="rect">
            <a:avLst/>
          </a:prstGeom>
          <a:noFill/>
        </p:spPr>
        <p:txBody>
          <a:bodyPr wrap="square"/>
          <a:lstStyle>
            <a:lvl1pPr marL="0" indent="0">
              <a:buNone/>
              <a:defRPr/>
            </a:lvl1pPr>
          </a:lstStyle>
          <a:p>
            <a:pPr marL="0" indent="0">
              <a:buNone/>
            </a:pP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211915"/>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FDA7C326-F063-4B6C-AAAF-5C8667C1C18F}"/>
              </a:ext>
            </a:extLst>
          </p:cNvPr>
          <p:cNvSpPr>
            <a:spLocks noGrp="1"/>
          </p:cNvSpPr>
          <p:nvPr>
            <p:ph type="title" idx="100" hasCustomPrompt="1"/>
          </p:nvPr>
        </p:nvSpPr>
        <p:spPr>
          <a:xfrm>
            <a:off x="777240" y="2331720"/>
            <a:ext cx="7680960" cy="1737360"/>
          </a:xfrm>
          <a:prstGeom prst="rect">
            <a:avLst/>
          </a:prstGeom>
          <a:noFill/>
        </p:spPr>
        <p:txBody>
          <a:bodyPr wrap="square"/>
          <a:lstStyle>
            <a:lvl1pPr marL="0" indent="0">
              <a:buNone/>
              <a:defRPr/>
            </a:lvl1pPr>
          </a:lstStyle>
          <a:p>
            <a:pPr marL="0" indent="0">
              <a:buNone/>
            </a:pPr>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D1C29"/>
        </a:solidFill>
        <a:effectLst/>
      </p:bgPr>
    </p:bg>
    <p:spTree>
      <p:nvGrpSpPr>
        <p:cNvPr id="1" name=""/>
        <p:cNvGrpSpPr/>
        <p:nvPr/>
      </p:nvGrpSpPr>
      <p:grpSpPr>
        <a:xfrm>
          <a:off x="0" y="0"/>
          <a:ext cx="0" cy="0"/>
          <a:chOff x="0" y="0"/>
          <a:chExt cx="0" cy="0"/>
        </a:xfrm>
      </p:grpSpPr>
      <p:sp>
        <p:nvSpPr>
          <p:cNvPr id="4" name="Text 2">
            <a:extLst>
              <a:ext uri="{FF2B5EF4-FFF2-40B4-BE49-F238E27FC236}">
                <a16:creationId xmlns:a16="http://schemas.microsoft.com/office/drawing/2014/main" id="{94A7FF53-E78D-4830-9BA8-B8E75FBE78D3}"/>
              </a:ext>
            </a:extLst>
          </p:cNvPr>
          <p:cNvSpPr>
            <a:spLocks noGrp="1"/>
          </p:cNvSpPr>
          <p:nvPr/>
        </p:nvSpPr>
        <p:spPr>
          <a:xfrm>
            <a:off x="822960" y="1847088"/>
            <a:ext cx="7315200" cy="329184"/>
          </a:xfrm>
          <a:prstGeom prst="rect">
            <a:avLst/>
          </a:prstGeom>
          <a:noFill/>
        </p:spPr>
        <p:txBody>
          <a:bodyPr wrap="square" lIns="0" tIns="0" rIns="0" bIns="0" anchor="ctr"/>
          <a:lstStyle/>
          <a:p>
            <a:pPr marL="0" indent="0" algn="l">
              <a:buNone/>
            </a:pPr>
            <a:r>
              <a:rPr lang="en-US" sz="1250" b="1">
                <a:solidFill>
                  <a:srgbClr val="FFFFFF"/>
                </a:solidFill>
                <a:latin typeface="Trebuchet MS"/>
                <a:ea typeface="Trebuchet MS"/>
                <a:cs typeface="Trebuchet MS"/>
              </a:rPr>
              <a:t>TECNOLOGÍA Y NEGOCIO  ·  2026</a:t>
            </a:r>
            <a:endParaRPr sz="1250" b="1">
              <a:solidFill>
                <a:srgbClr val="FFFFFF"/>
              </a:solidFill>
              <a:latin typeface="Trebuchet MS"/>
              <a:ea typeface="Trebuchet MS"/>
              <a:cs typeface="Trebuchet MS"/>
            </a:endParaRPr>
          </a:p>
        </p:txBody>
      </p:sp>
      <p:sp>
        <p:nvSpPr>
          <p:cNvPr id="5" name="Text 0">
            <a:extLst>
              <a:ext uri="{FF2B5EF4-FFF2-40B4-BE49-F238E27FC236}">
                <a16:creationId xmlns:a16="http://schemas.microsoft.com/office/drawing/2014/main" id="{5D9BD458-659F-4214-9D81-FF6E9AA3F414}"/>
              </a:ext>
            </a:extLst>
          </p:cNvPr>
          <p:cNvSpPr>
            <a:spLocks noGrp="1"/>
          </p:cNvSpPr>
          <p:nvPr>
            <p:ph type="title" idx="100" hasCustomPrompt="1"/>
          </p:nvPr>
        </p:nvSpPr>
        <p:spPr>
          <a:xfrm>
            <a:off x="777240" y="2331720"/>
            <a:ext cx="7680960" cy="1737360"/>
          </a:xfrm>
          <a:prstGeom prst="rect">
            <a:avLst/>
          </a:prstGeom>
          <a:noFill/>
        </p:spPr>
        <p:txBody>
          <a:bodyPr wrap="square" lIns="0" tIns="0" rIns="0" bIns="0" anchor="ctr"/>
          <a:lstStyle/>
          <a:p>
            <a:pPr marL="0" indent="0" algn="l">
              <a:buNone/>
            </a:pPr>
            <a:r>
              <a:rPr lang="en-US" sz="3100" b="1">
                <a:solidFill>
                  <a:srgbClr val="FFFFFF"/>
                </a:solidFill>
                <a:latin typeface="Trebuchet MS"/>
                <a:ea typeface="Trebuchet MS"/>
                <a:cs typeface="Trebuchet MS"/>
              </a:rPr>
              <a:t>De la productividad</a:t>
            </a:r>
          </a:p>
          <a:p>
            <a:pPr marL="0" indent="0" algn="l">
              <a:buNone/>
            </a:pPr>
            <a:r>
              <a:rPr lang="en-US" sz="3100" b="1">
                <a:solidFill>
                  <a:srgbClr val="FFFFFF"/>
                </a:solidFill>
                <a:latin typeface="Trebuchet MS"/>
                <a:ea typeface="Trebuchet MS"/>
                <a:cs typeface="Trebuchet MS"/>
              </a:rPr>
              <a:t>al valor</a:t>
            </a:r>
            <a:endParaRPr sz="3100" b="1">
              <a:solidFill>
                <a:srgbClr val="FFFFFF"/>
              </a:solidFill>
              <a:latin typeface="Trebuchet MS"/>
              <a:ea typeface="Trebuchet MS"/>
              <a:cs typeface="Trebuchet MS"/>
            </a:endParaRPr>
          </a:p>
        </p:txBody>
      </p:sp>
      <p:sp>
        <p:nvSpPr>
          <p:cNvPr id="6" name="accent">
            <a:extLst>
              <a:ext uri="{FF2B5EF4-FFF2-40B4-BE49-F238E27FC236}">
                <a16:creationId xmlns:a16="http://schemas.microsoft.com/office/drawing/2014/main" id="{0734481B-9832-426D-830A-FBB69D420518}"/>
              </a:ext>
            </a:extLst>
          </p:cNvPr>
          <p:cNvSpPr>
            <a:spLocks noGrp="1"/>
          </p:cNvSpPr>
          <p:nvPr/>
        </p:nvSpPr>
        <p:spPr>
          <a:xfrm>
            <a:off x="822960" y="4224528"/>
            <a:ext cx="1051560" cy="54864"/>
          </a:xfrm>
          <a:prstGeom prst="rect">
            <a:avLst/>
          </a:prstGeom>
          <a:solidFill>
            <a:srgbClr val="FFFFFF"/>
          </a:solidFill>
        </p:spPr>
        <p:txBody>
          <a:bodyPr/>
          <a:lstStyle/>
          <a:p>
            <a:endParaRPr/>
          </a:p>
        </p:txBody>
      </p:sp>
      <p:sp>
        <p:nvSpPr>
          <p:cNvPr id="7" name="Text 5">
            <a:extLst>
              <a:ext uri="{FF2B5EF4-FFF2-40B4-BE49-F238E27FC236}">
                <a16:creationId xmlns:a16="http://schemas.microsoft.com/office/drawing/2014/main" id="{F78C9822-7C11-461A-B4C7-8C0A464B37B4}"/>
              </a:ext>
            </a:extLst>
          </p:cNvPr>
          <p:cNvSpPr>
            <a:spLocks noGrp="1"/>
          </p:cNvSpPr>
          <p:nvPr/>
        </p:nvSpPr>
        <p:spPr>
          <a:xfrm>
            <a:off x="804672" y="4407408"/>
            <a:ext cx="7498080" cy="457200"/>
          </a:xfrm>
          <a:prstGeom prst="rect">
            <a:avLst/>
          </a:prstGeom>
          <a:noFill/>
        </p:spPr>
        <p:txBody>
          <a:bodyPr wrap="square" lIns="0" tIns="0" rIns="0" bIns="0" anchor="ctr"/>
          <a:lstStyle/>
          <a:p>
            <a:pPr marL="0" indent="0" algn="l">
              <a:buNone/>
            </a:pPr>
            <a:r>
              <a:rPr lang="en-US" sz="1550">
                <a:solidFill>
                  <a:srgbClr val="E7E2DF"/>
                </a:solidFill>
                <a:latin typeface="Calibri"/>
                <a:ea typeface="Calibri"/>
                <a:cs typeface="Calibri"/>
              </a:rPr>
              <a:t>Cómo medir el impacto de GitHub Copilot</a:t>
            </a:r>
            <a:endParaRPr sz="1550">
              <a:solidFill>
                <a:srgbClr val="E7E2DF"/>
              </a:solidFill>
              <a:latin typeface="Calibri"/>
              <a:ea typeface="Calibri"/>
              <a:cs typeface="Calibri"/>
            </a:endParaRPr>
          </a:p>
        </p:txBody>
      </p:sp>
      <p:sp>
        <p:nvSpPr>
          <p:cNvPr id="8" name="Text 6">
            <a:extLst>
              <a:ext uri="{FF2B5EF4-FFF2-40B4-BE49-F238E27FC236}">
                <a16:creationId xmlns:a16="http://schemas.microsoft.com/office/drawing/2014/main" id="{83730261-8883-470D-936E-A3EE4308BDF4}"/>
              </a:ext>
            </a:extLst>
          </p:cNvPr>
          <p:cNvSpPr>
            <a:spLocks noGrp="1"/>
          </p:cNvSpPr>
          <p:nvPr/>
        </p:nvSpPr>
        <p:spPr>
          <a:xfrm>
            <a:off x="804672" y="5138928"/>
            <a:ext cx="8229600" cy="365760"/>
          </a:xfrm>
          <a:prstGeom prst="rect">
            <a:avLst/>
          </a:prstGeom>
          <a:noFill/>
        </p:spPr>
        <p:txBody>
          <a:bodyPr wrap="square" lIns="0" tIns="0" rIns="0" bIns="0" anchor="ctr"/>
          <a:lstStyle/>
          <a:p>
            <a:pPr marL="0" indent="0" algn="l">
              <a:buNone/>
            </a:pPr>
            <a:r>
              <a:rPr lang="en-US" sz="1250" b="1">
                <a:solidFill>
                  <a:srgbClr val="FFFFFF"/>
                </a:solidFill>
                <a:latin typeface="Calibri"/>
                <a:ea typeface="Calibri"/>
                <a:cs typeface="Calibri"/>
              </a:rPr>
              <a:t>Tuya      Sesión ejecutiva      Tecnología y Negocio</a:t>
            </a:r>
            <a:endParaRPr sz="1250" b="1">
              <a:solidFill>
                <a:srgbClr val="FFFFFF"/>
              </a:solidFill>
              <a:latin typeface="Calibri"/>
              <a:ea typeface="Calibri"/>
              <a:cs typeface="Calibri"/>
            </a:endParaRPr>
          </a:p>
        </p:txBody>
      </p:sp>
      <p:sp>
        <p:nvSpPr>
          <p:cNvPr id="9" name="Text 7">
            <a:extLst>
              <a:ext uri="{FF2B5EF4-FFF2-40B4-BE49-F238E27FC236}">
                <a16:creationId xmlns:a16="http://schemas.microsoft.com/office/drawing/2014/main" id="{7FDE7B6D-7954-4AF2-89FA-15912E1E9C50}"/>
              </a:ext>
            </a:extLst>
          </p:cNvPr>
          <p:cNvSpPr>
            <a:spLocks noGrp="1"/>
          </p:cNvSpPr>
          <p:nvPr/>
        </p:nvSpPr>
        <p:spPr>
          <a:xfrm>
            <a:off x="8778240" y="6272784"/>
            <a:ext cx="2880360" cy="310896"/>
          </a:xfrm>
          <a:prstGeom prst="rect">
            <a:avLst/>
          </a:prstGeom>
          <a:noFill/>
        </p:spPr>
        <p:txBody>
          <a:bodyPr wrap="square" lIns="0" tIns="0" rIns="0" bIns="0" anchor="ctr"/>
          <a:lstStyle/>
          <a:p>
            <a:pPr marL="0" indent="0" algn="r">
              <a:buNone/>
            </a:pPr>
            <a:r>
              <a:rPr lang="en-US" sz="1000" b="1">
                <a:solidFill>
                  <a:srgbClr val="9A928C"/>
                </a:solidFill>
                <a:latin typeface="Trebuchet MS"/>
                <a:ea typeface="Trebuchet MS"/>
                <a:cs typeface="Trebuchet MS"/>
              </a:rPr>
              <a:t>Copilot  ·  Valor</a:t>
            </a:r>
            <a:endParaRPr sz="1000" b="1">
              <a:solidFill>
                <a:srgbClr val="9A928C"/>
              </a:solidFill>
              <a:latin typeface="Trebuchet MS"/>
              <a:ea typeface="Trebuchet MS"/>
              <a:cs typeface="Trebuchet MS"/>
            </a:endParaRPr>
          </a:p>
        </p:txBody>
      </p:sp>
      <p:sp>
        <p:nvSpPr>
          <p:cNvPr id="20" name="Logo Card">
            <a:extLst>
              <a:ext uri="{FF2B5EF4-FFF2-40B4-BE49-F238E27FC236}">
                <a16:creationId xmlns:a16="http://schemas.microsoft.com/office/drawing/2014/main" id="{20EA5C85-926F-40D8-9F8F-441A18E914B8}"/>
              </a:ext>
            </a:extLst>
          </p:cNvPr>
          <p:cNvSpPr>
            <a:spLocks noGrp="1"/>
          </p:cNvSpPr>
          <p:nvPr/>
        </p:nvSpPr>
        <p:spPr>
          <a:xfrm>
            <a:off x="822960" y="470000"/>
            <a:ext cx="2438400" cy="1280160"/>
          </a:xfrm>
          <a:prstGeom prst="roundRect">
            <a:avLst>
              <a:gd name="adj" fmla="val 8000"/>
            </a:avLst>
          </a:prstGeom>
          <a:solidFill>
            <a:srgbClr val="FFFFFF"/>
          </a:solidFill>
          <a:ln>
            <a:noFill/>
          </a:ln>
        </p:spPr>
        <p:txBody>
          <a:bodyPr/>
          <a:lstStyle/>
          <a:p>
            <a:endParaRPr/>
          </a:p>
        </p:txBody>
      </p:sp>
      <p:pic>
        <p:nvPicPr>
          <p:cNvPr id="29" name="Imagen 9"/>
          <p:cNvPicPr>
            <a:picLocks noChangeAspect="1"/>
          </p:cNvPicPr>
          <p:nvPr/>
        </p:nvPicPr>
        <p:blipFill>
          <a:blip r:embed="rId3"/>
          <a:stretch>
            <a:fillRect/>
          </a:stretch>
        </p:blipFill>
        <p:spPr>
          <a:xfrm>
            <a:off x="1142160" y="660080"/>
            <a:ext cx="1800000" cy="900000"/>
          </a:xfrm>
          <a:prstGeom prst="rect">
            <a:avLst/>
          </a:prstGeom>
        </p:spPr>
      </p:pic>
    </p:spTree>
    <p:extLst>
      <p:ext uri="{BB962C8B-B14F-4D97-AF65-F5344CB8AC3E}">
        <p14:creationId xmlns:p14="http://schemas.microsoft.com/office/powerpoint/2010/main" val="15559844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 name="sh138"/>
          <p:cNvSpPr/>
          <p:nvPr/>
        </p:nvSpPr>
        <p:spPr>
          <a:xfrm>
            <a:off x="658368" y="384048"/>
            <a:ext cx="146304" cy="146304"/>
          </a:xfrm>
          <a:prstGeom prst="rect">
            <a:avLst/>
          </a:prstGeom>
          <a:solidFill>
            <a:srgbClr val="ED1C29"/>
          </a:solidFill>
          <a:ln>
            <a:noFill/>
          </a:ln>
        </p:spPr>
        <p:txBody>
          <a:bodyPr lIns="146304" tIns="73152" rIns="146304" bIns="73152" anchor="ctr">
            <a:normAutofit fontScale="25000" lnSpcReduction="20000"/>
          </a:bodyPr>
          <a:lstStyle/>
          <a:p>
            <a:endParaRPr lang="es-ES"/>
          </a:p>
        </p:txBody>
      </p:sp>
      <p:sp>
        <p:nvSpPr>
          <p:cNvPr id="139" name="tb139"/>
          <p:cNvSpPr txBox="1"/>
          <p:nvPr/>
        </p:nvSpPr>
        <p:spPr>
          <a:xfrm>
            <a:off x="914400" y="365760"/>
            <a:ext cx="7315200" cy="237744"/>
          </a:xfrm>
          <a:prstGeom prst="rect">
            <a:avLst/>
          </a:prstGeom>
          <a:noFill/>
        </p:spPr>
        <p:txBody>
          <a:bodyPr wrap="square" lIns="0" tIns="0" rIns="0" bIns="0" anchor="t">
            <a:normAutofit/>
          </a:bodyPr>
          <a:lstStyle/>
          <a:p>
            <a:pPr algn="l">
              <a:lnSpc>
                <a:spcPct val="100000"/>
              </a:lnSpc>
              <a:spcBef>
                <a:spcPts val="0"/>
              </a:spcBef>
            </a:pPr>
            <a:r>
              <a:rPr lang="es-ES" sz="1050" b="1" i="0" spc="120" dirty="0">
                <a:solidFill>
                  <a:srgbClr val="ED1C29"/>
                </a:solidFill>
              </a:rPr>
              <a:t>QUÉ </a:t>
            </a:r>
            <a:r>
              <a:rPr lang="es-ES" sz="1050" b="1" i="0" spc="120">
                <a:solidFill>
                  <a:srgbClr val="ED1C29"/>
                </a:solidFill>
              </a:rPr>
              <a:t>APRENDIMOS DEL EJERCICIO ANTERIOR</a:t>
            </a:r>
            <a:endParaRPr lang="es-ES" sz="1050" b="1" i="0" spc="120" dirty="0">
              <a:solidFill>
                <a:srgbClr val="ED1C29"/>
              </a:solidFill>
            </a:endParaRPr>
          </a:p>
        </p:txBody>
      </p:sp>
      <p:sp>
        <p:nvSpPr>
          <p:cNvPr id="140" name="tb140"/>
          <p:cNvSpPr txBox="1"/>
          <p:nvPr/>
        </p:nvSpPr>
        <p:spPr>
          <a:xfrm>
            <a:off x="658368" y="713232"/>
            <a:ext cx="9326880" cy="685800"/>
          </a:xfrm>
          <a:prstGeom prst="rect">
            <a:avLst/>
          </a:prstGeom>
          <a:noFill/>
        </p:spPr>
        <p:txBody>
          <a:bodyPr wrap="square" lIns="0" tIns="0" rIns="0" bIns="0" anchor="t">
            <a:normAutofit/>
          </a:bodyPr>
          <a:lstStyle/>
          <a:p>
            <a:pPr algn="l">
              <a:lnSpc>
                <a:spcPct val="100000"/>
              </a:lnSpc>
              <a:spcBef>
                <a:spcPts val="0"/>
              </a:spcBef>
            </a:pPr>
            <a:r>
              <a:rPr lang="es-ES" sz="3000" b="1" i="0">
                <a:solidFill>
                  <a:srgbClr val="211915"/>
                </a:solidFill>
              </a:rPr>
              <a:t>Copilot aceleró la migración y dejó dos preguntas abiertas</a:t>
            </a:r>
            <a:endParaRPr lang="es-ES" sz="3000" b="1" i="0" dirty="0">
              <a:solidFill>
                <a:srgbClr val="211915"/>
              </a:solidFill>
            </a:endParaRPr>
          </a:p>
        </p:txBody>
      </p:sp>
      <p:sp>
        <p:nvSpPr>
          <p:cNvPr id="128" name="sh128"/>
          <p:cNvSpPr/>
          <p:nvPr/>
        </p:nvSpPr>
        <p:spPr>
          <a:xfrm>
            <a:off x="658368" y="1691640"/>
            <a:ext cx="4892040" cy="3566160"/>
          </a:xfrm>
          <a:prstGeom prst="rect">
            <a:avLst/>
          </a:prstGeom>
          <a:solidFill>
            <a:srgbClr val="ED1C29"/>
          </a:solidFill>
          <a:ln>
            <a:noFill/>
          </a:ln>
        </p:spPr>
        <p:txBody>
          <a:bodyPr lIns="457200" tIns="73152" rIns="457200" bIns="73152" anchor="ctr">
            <a:normAutofit/>
          </a:bodyPr>
          <a:lstStyle/>
          <a:p>
            <a:pPr algn="l">
              <a:lnSpc>
                <a:spcPct val="100000"/>
              </a:lnSpc>
              <a:spcBef>
                <a:spcPts val="0"/>
              </a:spcBef>
            </a:pPr>
            <a:r>
              <a:rPr lang="es-ES" sz="1900" b="1" i="0">
                <a:solidFill>
                  <a:srgbClr val="FFFFFF"/>
                </a:solidFill>
              </a:rPr>
              <a:t>En el PoC anterior,</a:t>
            </a:r>
            <a:r>
              <a:rPr lang="es-ES" sz="1900" b="1" i="0" dirty="0">
                <a:solidFill>
                  <a:srgbClr val="FFFFFF"/>
                </a:solidFill>
              </a:rPr>
              <a:t> </a:t>
            </a:r>
            <a:r>
              <a:rPr lang="es-ES" sz="1900" b="1" i="0">
                <a:solidFill>
                  <a:srgbClr val="FFFFFF"/>
                </a:solidFill>
              </a:rPr>
              <a:t>GitHub Copilot redujo </a:t>
            </a:r>
            <a:r>
              <a:rPr lang="es-ES" sz="1900" b="1" i="0" dirty="0">
                <a:solidFill>
                  <a:srgbClr val="FFFFFF"/>
                </a:solidFill>
              </a:rPr>
              <a:t>el </a:t>
            </a:r>
            <a:r>
              <a:rPr lang="es-ES" sz="1900" b="1" i="0">
                <a:solidFill>
                  <a:srgbClr val="FFFFFF"/>
                </a:solidFill>
              </a:rPr>
              <a:t>tiempo observado en un ejercicio de migración de software</a:t>
            </a:r>
            <a:r>
              <a:rPr lang="es-ES" sz="1900" b="1" i="0" dirty="0">
                <a:solidFill>
                  <a:srgbClr val="FFFFFF"/>
                </a:solidFill>
              </a:rPr>
              <a:t>.</a:t>
            </a:r>
          </a:p>
        </p:txBody>
      </p:sp>
      <p:sp>
        <p:nvSpPr>
          <p:cNvPr id="129" name="tb129"/>
          <p:cNvSpPr txBox="1"/>
          <p:nvPr/>
        </p:nvSpPr>
        <p:spPr>
          <a:xfrm>
            <a:off x="6099048" y="1783080"/>
            <a:ext cx="5434554" cy="320040"/>
          </a:xfrm>
          <a:prstGeom prst="rect">
            <a:avLst/>
          </a:prstGeom>
          <a:noFill/>
        </p:spPr>
        <p:txBody>
          <a:bodyPr wrap="square" lIns="0" tIns="0" rIns="0" bIns="0" anchor="t">
            <a:normAutofit/>
          </a:bodyPr>
          <a:lstStyle/>
          <a:p>
            <a:pPr algn="l">
              <a:lnSpc>
                <a:spcPct val="100000"/>
              </a:lnSpc>
              <a:spcBef>
                <a:spcPts val="0"/>
              </a:spcBef>
            </a:pPr>
            <a:r>
              <a:rPr lang="es-ES" sz="1600" b="1" i="0">
                <a:solidFill>
                  <a:srgbClr val="211915"/>
                </a:solidFill>
              </a:rPr>
              <a:t>El resultado fue real</a:t>
            </a:r>
            <a:endParaRPr lang="es-ES" sz="1600" b="1" i="0" dirty="0">
              <a:solidFill>
                <a:srgbClr val="211915"/>
              </a:solidFill>
            </a:endParaRPr>
          </a:p>
        </p:txBody>
      </p:sp>
      <p:sp>
        <p:nvSpPr>
          <p:cNvPr id="130" name="tb130"/>
          <p:cNvSpPr txBox="1"/>
          <p:nvPr/>
        </p:nvSpPr>
        <p:spPr>
          <a:xfrm>
            <a:off x="6099048" y="2167128"/>
            <a:ext cx="5434554" cy="640080"/>
          </a:xfrm>
          <a:prstGeom prst="rect">
            <a:avLst/>
          </a:prstGeom>
          <a:noFill/>
        </p:spPr>
        <p:txBody>
          <a:bodyPr wrap="square" lIns="0" tIns="0" rIns="0" bIns="0" anchor="t">
            <a:normAutofit/>
          </a:bodyPr>
          <a:lstStyle/>
          <a:p>
            <a:pPr algn="l">
              <a:lnSpc>
                <a:spcPct val="100000"/>
              </a:lnSpc>
              <a:spcBef>
                <a:spcPts val="0"/>
              </a:spcBef>
            </a:pPr>
            <a:r>
              <a:rPr lang="es-ES" sz="1200" b="0" i="0">
                <a:solidFill>
                  <a:srgbClr val="7A7A7A"/>
                </a:solidFill>
              </a:rPr>
              <a:t>La migración se completó en menos tiempo</a:t>
            </a:r>
            <a:r>
              <a:rPr lang="es-ES" sz="1200" b="0" i="0" dirty="0">
                <a:solidFill>
                  <a:srgbClr val="7A7A7A"/>
                </a:solidFill>
              </a:rPr>
              <a:t>.</a:t>
            </a:r>
          </a:p>
        </p:txBody>
      </p:sp>
      <p:sp>
        <p:nvSpPr>
          <p:cNvPr id="131" name="sh131"/>
          <p:cNvSpPr/>
          <p:nvPr/>
        </p:nvSpPr>
        <p:spPr>
          <a:xfrm>
            <a:off x="6099048" y="2880360"/>
            <a:ext cx="5434554" cy="10973"/>
          </a:xfrm>
          <a:prstGeom prst="rect">
            <a:avLst/>
          </a:prstGeom>
          <a:solidFill>
            <a:srgbClr val="E3E0DE"/>
          </a:solidFill>
          <a:ln>
            <a:noFill/>
          </a:ln>
        </p:spPr>
        <p:txBody>
          <a:bodyPr lIns="146304" tIns="73152" rIns="146304" bIns="73152" anchor="ctr">
            <a:normAutofit fontScale="25000" lnSpcReduction="20000"/>
          </a:bodyPr>
          <a:lstStyle/>
          <a:p>
            <a:endParaRPr lang="es-ES"/>
          </a:p>
        </p:txBody>
      </p:sp>
      <p:sp>
        <p:nvSpPr>
          <p:cNvPr id="132" name="tb132"/>
          <p:cNvSpPr txBox="1"/>
          <p:nvPr/>
        </p:nvSpPr>
        <p:spPr>
          <a:xfrm>
            <a:off x="6099048" y="3017520"/>
            <a:ext cx="5434554" cy="320040"/>
          </a:xfrm>
          <a:prstGeom prst="rect">
            <a:avLst/>
          </a:prstGeom>
          <a:noFill/>
        </p:spPr>
        <p:txBody>
          <a:bodyPr wrap="square" lIns="0" tIns="0" rIns="0" bIns="0" anchor="t">
            <a:normAutofit/>
          </a:bodyPr>
          <a:lstStyle/>
          <a:p>
            <a:pPr algn="l">
              <a:lnSpc>
                <a:spcPct val="100000"/>
              </a:lnSpc>
              <a:spcBef>
                <a:spcPts val="0"/>
              </a:spcBef>
            </a:pPr>
            <a:r>
              <a:rPr lang="es-ES" sz="1600" b="1" i="0">
                <a:solidFill>
                  <a:srgbClr val="211915"/>
                </a:solidFill>
              </a:rPr>
              <a:t>Una migración no es el día a día</a:t>
            </a:r>
            <a:endParaRPr lang="es-ES" sz="1600" b="1" i="0" dirty="0">
              <a:solidFill>
                <a:srgbClr val="211915"/>
              </a:solidFill>
            </a:endParaRPr>
          </a:p>
        </p:txBody>
      </p:sp>
      <p:sp>
        <p:nvSpPr>
          <p:cNvPr id="133" name="tb133"/>
          <p:cNvSpPr txBox="1"/>
          <p:nvPr/>
        </p:nvSpPr>
        <p:spPr>
          <a:xfrm>
            <a:off x="6099048" y="3401568"/>
            <a:ext cx="5434554" cy="640080"/>
          </a:xfrm>
          <a:prstGeom prst="rect">
            <a:avLst/>
          </a:prstGeom>
          <a:noFill/>
        </p:spPr>
        <p:txBody>
          <a:bodyPr wrap="square" lIns="0" tIns="0" rIns="0" bIns="0" anchor="t">
            <a:normAutofit/>
          </a:bodyPr>
          <a:lstStyle/>
          <a:p>
            <a:pPr algn="l">
              <a:lnSpc>
                <a:spcPct val="100000"/>
              </a:lnSpc>
              <a:spcBef>
                <a:spcPts val="0"/>
              </a:spcBef>
            </a:pPr>
            <a:r>
              <a:rPr lang="es-ES" sz="1200" b="0" i="0">
                <a:solidFill>
                  <a:srgbClr val="7A7A7A"/>
                </a:solidFill>
              </a:rPr>
              <a:t>No representa necesariamente </a:t>
            </a:r>
            <a:r>
              <a:rPr lang="es-ES" sz="1200" b="0" i="0" dirty="0">
                <a:solidFill>
                  <a:srgbClr val="7A7A7A"/>
                </a:solidFill>
              </a:rPr>
              <a:t>el trabajo </a:t>
            </a:r>
            <a:r>
              <a:rPr lang="es-ES" sz="1200" b="0" i="0">
                <a:solidFill>
                  <a:srgbClr val="7A7A7A"/>
                </a:solidFill>
              </a:rPr>
              <a:t>cotidiano de todos los equipos</a:t>
            </a:r>
            <a:r>
              <a:rPr lang="es-ES" sz="1200" b="0" i="0" dirty="0">
                <a:solidFill>
                  <a:srgbClr val="7A7A7A"/>
                </a:solidFill>
              </a:rPr>
              <a:t>.</a:t>
            </a:r>
          </a:p>
        </p:txBody>
      </p:sp>
      <p:sp>
        <p:nvSpPr>
          <p:cNvPr id="134" name="sh134"/>
          <p:cNvSpPr/>
          <p:nvPr/>
        </p:nvSpPr>
        <p:spPr>
          <a:xfrm>
            <a:off x="6099048" y="4114800"/>
            <a:ext cx="5434554" cy="10973"/>
          </a:xfrm>
          <a:prstGeom prst="rect">
            <a:avLst/>
          </a:prstGeom>
          <a:solidFill>
            <a:srgbClr val="E3E0DE"/>
          </a:solidFill>
          <a:ln>
            <a:noFill/>
          </a:ln>
        </p:spPr>
        <p:txBody>
          <a:bodyPr lIns="146304" tIns="73152" rIns="146304" bIns="73152" anchor="ctr">
            <a:normAutofit fontScale="25000" lnSpcReduction="20000"/>
          </a:bodyPr>
          <a:lstStyle/>
          <a:p>
            <a:endParaRPr lang="es-ES"/>
          </a:p>
        </p:txBody>
      </p:sp>
      <p:sp>
        <p:nvSpPr>
          <p:cNvPr id="135" name="tb135"/>
          <p:cNvSpPr txBox="1"/>
          <p:nvPr/>
        </p:nvSpPr>
        <p:spPr>
          <a:xfrm>
            <a:off x="6099048" y="4251960"/>
            <a:ext cx="5434554" cy="320040"/>
          </a:xfrm>
          <a:prstGeom prst="rect">
            <a:avLst/>
          </a:prstGeom>
          <a:noFill/>
        </p:spPr>
        <p:txBody>
          <a:bodyPr wrap="square" lIns="0" tIns="0" rIns="0" bIns="0" anchor="t">
            <a:normAutofit/>
          </a:bodyPr>
          <a:lstStyle/>
          <a:p>
            <a:pPr algn="l">
              <a:lnSpc>
                <a:spcPct val="100000"/>
              </a:lnSpc>
              <a:spcBef>
                <a:spcPts val="0"/>
              </a:spcBef>
            </a:pPr>
            <a:r>
              <a:rPr lang="es-ES" sz="1600" b="1" i="0">
                <a:solidFill>
                  <a:srgbClr val="211915"/>
                </a:solidFill>
              </a:rPr>
              <a:t>Horas liberadas no son dinero</a:t>
            </a:r>
            <a:endParaRPr lang="es-ES" sz="1600" b="1" i="0" dirty="0">
              <a:solidFill>
                <a:srgbClr val="211915"/>
              </a:solidFill>
            </a:endParaRPr>
          </a:p>
        </p:txBody>
      </p:sp>
      <p:sp>
        <p:nvSpPr>
          <p:cNvPr id="136" name="tb136"/>
          <p:cNvSpPr txBox="1"/>
          <p:nvPr/>
        </p:nvSpPr>
        <p:spPr>
          <a:xfrm>
            <a:off x="6099048" y="4636008"/>
            <a:ext cx="5434554" cy="640080"/>
          </a:xfrm>
          <a:prstGeom prst="rect">
            <a:avLst/>
          </a:prstGeom>
          <a:noFill/>
        </p:spPr>
        <p:txBody>
          <a:bodyPr wrap="square" lIns="0" tIns="0" rIns="0" bIns="0" anchor="t">
            <a:normAutofit/>
          </a:bodyPr>
          <a:lstStyle/>
          <a:p>
            <a:pPr algn="l">
              <a:lnSpc>
                <a:spcPct val="100000"/>
              </a:lnSpc>
              <a:spcBef>
                <a:spcPts val="0"/>
              </a:spcBef>
            </a:pPr>
            <a:r>
              <a:rPr lang="es-ES" sz="1200" b="0" i="0" dirty="0">
                <a:solidFill>
                  <a:srgbClr val="7A7A7A"/>
                </a:solidFill>
              </a:rPr>
              <a:t>El </a:t>
            </a:r>
            <a:r>
              <a:rPr lang="es-ES" sz="1200" b="0" i="0">
                <a:solidFill>
                  <a:srgbClr val="7A7A7A"/>
                </a:solidFill>
              </a:rPr>
              <a:t>tiempo liberado representa capacidad, </a:t>
            </a:r>
            <a:r>
              <a:rPr lang="es-ES" sz="1200" b="0" i="0" dirty="0">
                <a:solidFill>
                  <a:srgbClr val="7A7A7A"/>
                </a:solidFill>
              </a:rPr>
              <a:t>no </a:t>
            </a:r>
            <a:r>
              <a:rPr lang="es-ES" sz="1200" b="0" i="0">
                <a:solidFill>
                  <a:srgbClr val="7A7A7A"/>
                </a:solidFill>
              </a:rPr>
              <a:t>ahorro automático</a:t>
            </a:r>
            <a:r>
              <a:rPr lang="es-ES" sz="1200" b="0" i="0" dirty="0">
                <a:solidFill>
                  <a:srgbClr val="7A7A7A"/>
                </a:solidFill>
              </a:rPr>
              <a:t>.</a:t>
            </a:r>
          </a:p>
        </p:txBody>
      </p:sp>
      <p:sp>
        <p:nvSpPr>
          <p:cNvPr id="137" name="tb137"/>
          <p:cNvSpPr txBox="1"/>
          <p:nvPr/>
        </p:nvSpPr>
        <p:spPr>
          <a:xfrm>
            <a:off x="658368" y="5577840"/>
            <a:ext cx="10881360" cy="457200"/>
          </a:xfrm>
          <a:prstGeom prst="rect">
            <a:avLst/>
          </a:prstGeom>
          <a:noFill/>
        </p:spPr>
        <p:txBody>
          <a:bodyPr wrap="square" lIns="0" tIns="0" rIns="0" bIns="0" anchor="t">
            <a:normAutofit/>
          </a:bodyPr>
          <a:lstStyle/>
          <a:p>
            <a:pPr algn="l">
              <a:lnSpc>
                <a:spcPct val="100000"/>
              </a:lnSpc>
              <a:spcBef>
                <a:spcPts val="0"/>
              </a:spcBef>
            </a:pPr>
            <a:r>
              <a:rPr lang="es-ES" sz="1250" b="0" i="1">
                <a:solidFill>
                  <a:srgbClr val="7A7A7A"/>
                </a:solidFill>
              </a:rPr>
              <a:t>Por eso cambiamos la pregunta: no solamente cuánto tiempo podemos liberar, sino qué hacemos con esa capacidad y qué resultado produce</a:t>
            </a:r>
            <a:r>
              <a:rPr lang="es-ES" sz="1250" b="0" i="1" dirty="0">
                <a:solidFill>
                  <a:srgbClr val="7A7A7A"/>
                </a:solidFill>
              </a:rPr>
              <a:t>.</a:t>
            </a:r>
          </a:p>
        </p:txBody>
      </p:sp>
      <p:sp>
        <p:nvSpPr>
          <p:cNvPr id="141" name="tb141"/>
          <p:cNvSpPr txBox="1"/>
          <p:nvPr/>
        </p:nvSpPr>
        <p:spPr>
          <a:xfrm>
            <a:off x="658368" y="6272784"/>
            <a:ext cx="5486400" cy="228600"/>
          </a:xfrm>
          <a:prstGeom prst="rect">
            <a:avLst/>
          </a:prstGeom>
          <a:noFill/>
        </p:spPr>
        <p:txBody>
          <a:bodyPr wrap="square" lIns="0" tIns="0" rIns="0" bIns="0" anchor="t">
            <a:normAutofit/>
          </a:bodyPr>
          <a:lstStyle/>
          <a:p>
            <a:pPr algn="l">
              <a:lnSpc>
                <a:spcPct val="100000"/>
              </a:lnSpc>
              <a:spcBef>
                <a:spcPts val="0"/>
              </a:spcBef>
            </a:pPr>
            <a:r>
              <a:rPr lang="es-ES" sz="900" b="1" i="0" dirty="0">
                <a:solidFill>
                  <a:srgbClr val="211915"/>
                </a:solidFill>
              </a:rPr>
              <a:t>Tuya   ·   </a:t>
            </a:r>
            <a:r>
              <a:rPr lang="es-ES" sz="900" b="1" i="0">
                <a:solidFill>
                  <a:srgbClr val="211915"/>
                </a:solidFill>
              </a:rPr>
              <a:t>Del valor de GitHub Copilot</a:t>
            </a:r>
            <a:endParaRPr lang="es-ES" sz="900" b="1" i="0" dirty="0">
              <a:solidFill>
                <a:srgbClr val="211915"/>
              </a:solidFill>
            </a:endParaRPr>
          </a:p>
        </p:txBody>
      </p:sp>
      <p:sp>
        <p:nvSpPr>
          <p:cNvPr id="142" name="tb142"/>
          <p:cNvSpPr txBox="1"/>
          <p:nvPr/>
        </p:nvSpPr>
        <p:spPr>
          <a:xfrm>
            <a:off x="10436322" y="6272784"/>
            <a:ext cx="1097280" cy="228600"/>
          </a:xfrm>
          <a:prstGeom prst="rect">
            <a:avLst/>
          </a:prstGeom>
          <a:noFill/>
        </p:spPr>
        <p:txBody>
          <a:bodyPr wrap="square" lIns="0" tIns="0" rIns="0" bIns="0" anchor="t">
            <a:normAutofit/>
          </a:bodyPr>
          <a:lstStyle/>
          <a:p>
            <a:pPr algn="r">
              <a:lnSpc>
                <a:spcPct val="100000"/>
              </a:lnSpc>
              <a:spcBef>
                <a:spcPts val="0"/>
              </a:spcBef>
            </a:pPr>
            <a:r>
              <a:rPr lang="es-ES" sz="900" b="1" i="0">
                <a:solidFill>
                  <a:srgbClr val="ED1C29"/>
                </a:solidFill>
              </a:rPr>
              <a:t>02</a:t>
            </a:r>
            <a:endParaRPr lang="es-ES" sz="900" b="1" i="0" dirty="0">
              <a:solidFill>
                <a:srgbClr val="ED1C29"/>
              </a:solidFill>
            </a:endParaRPr>
          </a:p>
        </p:txBody>
      </p:sp>
      <p:pic>
        <p:nvPicPr>
          <p:cNvPr id="900" name="Logo Tuya"/>
          <p:cNvPicPr>
            <a:picLocks noChangeAspect="1"/>
          </p:cNvPicPr>
          <p:nvPr/>
        </p:nvPicPr>
        <p:blipFill>
          <a:blip r:embed="rId3"/>
          <a:stretch>
            <a:fillRect/>
          </a:stretch>
        </p:blipFill>
        <p:spPr>
          <a:xfrm>
            <a:off x="11152200" y="321276"/>
            <a:ext cx="640080" cy="32004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 name="sh47"/>
          <p:cNvSpPr/>
          <p:nvPr/>
        </p:nvSpPr>
        <p:spPr>
          <a:xfrm>
            <a:off x="658368" y="384048"/>
            <a:ext cx="146304" cy="146304"/>
          </a:xfrm>
          <a:prstGeom prst="rect">
            <a:avLst/>
          </a:prstGeom>
          <a:solidFill>
            <a:srgbClr val="ED1C29"/>
          </a:solidFill>
          <a:ln>
            <a:noFill/>
          </a:ln>
        </p:spPr>
        <p:txBody>
          <a:bodyPr lIns="146304" tIns="73152" rIns="146304" bIns="73152" anchor="ctr">
            <a:normAutofit fontScale="25000" lnSpcReduction="20000"/>
          </a:bodyPr>
          <a:lstStyle/>
          <a:p>
            <a:endParaRPr lang="es-ES"/>
          </a:p>
        </p:txBody>
      </p:sp>
      <p:sp>
        <p:nvSpPr>
          <p:cNvPr id="48" name="tb48"/>
          <p:cNvSpPr txBox="1"/>
          <p:nvPr/>
        </p:nvSpPr>
        <p:spPr>
          <a:xfrm>
            <a:off x="914400" y="365760"/>
            <a:ext cx="7315200" cy="237744"/>
          </a:xfrm>
          <a:prstGeom prst="rect">
            <a:avLst/>
          </a:prstGeom>
          <a:noFill/>
        </p:spPr>
        <p:txBody>
          <a:bodyPr wrap="square" lIns="0" tIns="0" rIns="0" bIns="0" anchor="t">
            <a:normAutofit/>
          </a:bodyPr>
          <a:lstStyle/>
          <a:p>
            <a:pPr algn="l">
              <a:lnSpc>
                <a:spcPct val="100000"/>
              </a:lnSpc>
              <a:spcBef>
                <a:spcPts val="0"/>
              </a:spcBef>
            </a:pPr>
            <a:r>
              <a:rPr lang="es-ES" sz="1050" b="1" i="0" spc="120">
                <a:solidFill>
                  <a:srgbClr val="ED1C29"/>
                </a:solidFill>
              </a:rPr>
              <a:t>PRODUCTIVIDAD NO ES ROI</a:t>
            </a:r>
            <a:endParaRPr lang="es-ES" sz="1050" b="1" i="0" spc="120" dirty="0">
              <a:solidFill>
                <a:srgbClr val="ED1C29"/>
              </a:solidFill>
            </a:endParaRPr>
          </a:p>
        </p:txBody>
      </p:sp>
      <p:sp>
        <p:nvSpPr>
          <p:cNvPr id="49" name="tb49"/>
          <p:cNvSpPr txBox="1"/>
          <p:nvPr/>
        </p:nvSpPr>
        <p:spPr>
          <a:xfrm>
            <a:off x="658368" y="713232"/>
            <a:ext cx="9326880" cy="685800"/>
          </a:xfrm>
          <a:prstGeom prst="rect">
            <a:avLst/>
          </a:prstGeom>
          <a:noFill/>
        </p:spPr>
        <p:txBody>
          <a:bodyPr wrap="square" lIns="0" tIns="0" rIns="0" bIns="0" anchor="t">
            <a:normAutofit/>
          </a:bodyPr>
          <a:lstStyle/>
          <a:p>
            <a:pPr algn="l">
              <a:lnSpc>
                <a:spcPct val="100000"/>
              </a:lnSpc>
              <a:spcBef>
                <a:spcPts val="0"/>
              </a:spcBef>
            </a:pPr>
            <a:r>
              <a:rPr lang="es-ES" sz="3000" b="1" i="0">
                <a:solidFill>
                  <a:srgbClr val="211915"/>
                </a:solidFill>
              </a:rPr>
              <a:t>Medir horas no es medir valor</a:t>
            </a:r>
            <a:endParaRPr lang="es-ES" sz="3000" b="1" i="0" dirty="0">
              <a:solidFill>
                <a:srgbClr val="211915"/>
              </a:solidFill>
            </a:endParaRPr>
          </a:p>
        </p:txBody>
      </p:sp>
      <p:sp>
        <p:nvSpPr>
          <p:cNvPr id="31" name="tb31"/>
          <p:cNvSpPr txBox="1"/>
          <p:nvPr/>
        </p:nvSpPr>
        <p:spPr>
          <a:xfrm>
            <a:off x="658368" y="1572768"/>
            <a:ext cx="10881360" cy="274320"/>
          </a:xfrm>
          <a:prstGeom prst="rect">
            <a:avLst/>
          </a:prstGeom>
          <a:noFill/>
        </p:spPr>
        <p:txBody>
          <a:bodyPr wrap="square" lIns="0" tIns="0" rIns="0" bIns="0" anchor="t">
            <a:normAutofit/>
          </a:bodyPr>
          <a:lstStyle/>
          <a:p>
            <a:pPr algn="l">
              <a:lnSpc>
                <a:spcPct val="100000"/>
              </a:lnSpc>
              <a:spcBef>
                <a:spcPts val="0"/>
              </a:spcBef>
            </a:pPr>
            <a:r>
              <a:rPr lang="es-ES" sz="1250" b="0" i="1">
                <a:solidFill>
                  <a:srgbClr val="7A7A7A"/>
                </a:solidFill>
              </a:rPr>
              <a:t>Dos preguntas distintas, las dos necesarias</a:t>
            </a:r>
            <a:r>
              <a:rPr lang="es-ES" sz="1250" b="0" i="1" dirty="0">
                <a:solidFill>
                  <a:srgbClr val="7A7A7A"/>
                </a:solidFill>
              </a:rPr>
              <a:t>.</a:t>
            </a:r>
          </a:p>
        </p:txBody>
      </p:sp>
      <p:sp>
        <p:nvSpPr>
          <p:cNvPr id="32" name="sh32"/>
          <p:cNvSpPr/>
          <p:nvPr/>
        </p:nvSpPr>
        <p:spPr>
          <a:xfrm>
            <a:off x="658368" y="1993392"/>
            <a:ext cx="5209017" cy="420624"/>
          </a:xfrm>
          <a:prstGeom prst="rect">
            <a:avLst/>
          </a:prstGeom>
          <a:solidFill>
            <a:srgbClr val="F3F1F0"/>
          </a:solidFill>
          <a:ln>
            <a:noFill/>
          </a:ln>
        </p:spPr>
        <p:txBody>
          <a:bodyPr lIns="146304" tIns="73152" rIns="146304" bIns="73152" anchor="ctr">
            <a:normAutofit/>
          </a:bodyPr>
          <a:lstStyle/>
          <a:p>
            <a:pPr algn="l">
              <a:lnSpc>
                <a:spcPct val="100000"/>
              </a:lnSpc>
              <a:spcBef>
                <a:spcPts val="0"/>
              </a:spcBef>
            </a:pPr>
            <a:r>
              <a:rPr lang="es-ES" sz="1200" b="1" i="0" spc="100">
                <a:solidFill>
                  <a:srgbClr val="211915"/>
                </a:solidFill>
              </a:rPr>
              <a:t>PRODUCTIVIDAD TÉCNICA</a:t>
            </a:r>
            <a:endParaRPr lang="es-ES" sz="1200" b="1" i="0" spc="100" dirty="0">
              <a:solidFill>
                <a:srgbClr val="211915"/>
              </a:solidFill>
            </a:endParaRPr>
          </a:p>
        </p:txBody>
      </p:sp>
      <p:sp>
        <p:nvSpPr>
          <p:cNvPr id="33" name="sh33"/>
          <p:cNvSpPr/>
          <p:nvPr/>
        </p:nvSpPr>
        <p:spPr>
          <a:xfrm>
            <a:off x="6324585" y="1993392"/>
            <a:ext cx="5209017" cy="420624"/>
          </a:xfrm>
          <a:prstGeom prst="rect">
            <a:avLst/>
          </a:prstGeom>
          <a:solidFill>
            <a:srgbClr val="ED1C29"/>
          </a:solidFill>
          <a:ln>
            <a:noFill/>
          </a:ln>
        </p:spPr>
        <p:txBody>
          <a:bodyPr lIns="146304" tIns="73152" rIns="146304" bIns="73152" anchor="ctr">
            <a:normAutofit/>
          </a:bodyPr>
          <a:lstStyle/>
          <a:p>
            <a:pPr algn="l">
              <a:lnSpc>
                <a:spcPct val="100000"/>
              </a:lnSpc>
              <a:spcBef>
                <a:spcPts val="0"/>
              </a:spcBef>
            </a:pPr>
            <a:r>
              <a:rPr lang="es-ES" sz="1200" b="1" i="0" spc="100">
                <a:solidFill>
                  <a:srgbClr val="FFFFFF"/>
                </a:solidFill>
              </a:rPr>
              <a:t>VALOR PARA EL NEGOCIO</a:t>
            </a:r>
            <a:endParaRPr lang="es-ES" sz="1200" b="1" i="0" spc="100" dirty="0">
              <a:solidFill>
                <a:srgbClr val="FFFFFF"/>
              </a:solidFill>
            </a:endParaRPr>
          </a:p>
        </p:txBody>
      </p:sp>
      <p:sp>
        <p:nvSpPr>
          <p:cNvPr id="34" name="tb34"/>
          <p:cNvSpPr txBox="1"/>
          <p:nvPr/>
        </p:nvSpPr>
        <p:spPr>
          <a:xfrm>
            <a:off x="658368" y="2615184"/>
            <a:ext cx="5209017" cy="219456"/>
          </a:xfrm>
          <a:prstGeom prst="rect">
            <a:avLst/>
          </a:prstGeom>
          <a:noFill/>
        </p:spPr>
        <p:txBody>
          <a:bodyPr wrap="square" lIns="0" tIns="0" rIns="0" bIns="0" anchor="t">
            <a:normAutofit/>
          </a:bodyPr>
          <a:lstStyle/>
          <a:p>
            <a:pPr algn="l">
              <a:lnSpc>
                <a:spcPct val="100000"/>
              </a:lnSpc>
              <a:spcBef>
                <a:spcPts val="0"/>
              </a:spcBef>
            </a:pPr>
            <a:r>
              <a:rPr lang="es-ES" sz="950" b="1" i="0" spc="90">
                <a:solidFill>
                  <a:srgbClr val="7A7A7A"/>
                </a:solidFill>
              </a:rPr>
              <a:t>QUÉ MIDE</a:t>
            </a:r>
            <a:endParaRPr lang="es-ES" sz="950" b="1" i="0" spc="90" dirty="0">
              <a:solidFill>
                <a:srgbClr val="7A7A7A"/>
              </a:solidFill>
            </a:endParaRPr>
          </a:p>
        </p:txBody>
      </p:sp>
      <p:sp>
        <p:nvSpPr>
          <p:cNvPr id="35" name="tb35"/>
          <p:cNvSpPr txBox="1"/>
          <p:nvPr/>
        </p:nvSpPr>
        <p:spPr>
          <a:xfrm>
            <a:off x="658368" y="2871216"/>
            <a:ext cx="5209017" cy="548640"/>
          </a:xfrm>
          <a:prstGeom prst="rect">
            <a:avLst/>
          </a:prstGeom>
          <a:noFill/>
        </p:spPr>
        <p:txBody>
          <a:bodyPr wrap="square" lIns="0" tIns="0" rIns="0" bIns="0" anchor="t">
            <a:normAutofit/>
          </a:bodyPr>
          <a:lstStyle/>
          <a:p>
            <a:pPr algn="l">
              <a:lnSpc>
                <a:spcPct val="100000"/>
              </a:lnSpc>
              <a:spcBef>
                <a:spcPts val="0"/>
              </a:spcBef>
            </a:pPr>
            <a:r>
              <a:rPr lang="es-ES" sz="1300" b="0" i="0">
                <a:solidFill>
                  <a:srgbClr val="211915"/>
                </a:solidFill>
              </a:rPr>
              <a:t>Tiempo y esfuerzo del desarrollo</a:t>
            </a:r>
            <a:r>
              <a:rPr lang="es-ES" sz="1300" b="0" i="0" dirty="0">
                <a:solidFill>
                  <a:srgbClr val="211915"/>
                </a:solidFill>
              </a:rPr>
              <a:t>.</a:t>
            </a:r>
          </a:p>
        </p:txBody>
      </p:sp>
      <p:sp>
        <p:nvSpPr>
          <p:cNvPr id="36" name="tb36"/>
          <p:cNvSpPr txBox="1"/>
          <p:nvPr/>
        </p:nvSpPr>
        <p:spPr>
          <a:xfrm>
            <a:off x="6324585" y="2871216"/>
            <a:ext cx="5209017" cy="548640"/>
          </a:xfrm>
          <a:prstGeom prst="rect">
            <a:avLst/>
          </a:prstGeom>
          <a:noFill/>
        </p:spPr>
        <p:txBody>
          <a:bodyPr wrap="square" lIns="0" tIns="0" rIns="0" bIns="0" anchor="t">
            <a:normAutofit/>
          </a:bodyPr>
          <a:lstStyle/>
          <a:p>
            <a:pPr algn="l">
              <a:lnSpc>
                <a:spcPct val="100000"/>
              </a:lnSpc>
              <a:spcBef>
                <a:spcPts val="0"/>
              </a:spcBef>
            </a:pPr>
            <a:r>
              <a:rPr lang="es-ES" sz="1300" b="1" i="0">
                <a:solidFill>
                  <a:srgbClr val="211915"/>
                </a:solidFill>
              </a:rPr>
              <a:t>Lo que cambia para </a:t>
            </a:r>
            <a:r>
              <a:rPr lang="es-ES" sz="1300" b="1" i="0" dirty="0">
                <a:solidFill>
                  <a:srgbClr val="211915"/>
                </a:solidFill>
              </a:rPr>
              <a:t>el </a:t>
            </a:r>
            <a:r>
              <a:rPr lang="es-ES" sz="1300" b="1" i="0">
                <a:solidFill>
                  <a:srgbClr val="211915"/>
                </a:solidFill>
              </a:rPr>
              <a:t>cliente o la operación</a:t>
            </a:r>
            <a:r>
              <a:rPr lang="es-ES" sz="1300" b="1" i="0" dirty="0">
                <a:solidFill>
                  <a:srgbClr val="211915"/>
                </a:solidFill>
              </a:rPr>
              <a:t>.</a:t>
            </a:r>
          </a:p>
        </p:txBody>
      </p:sp>
      <p:sp>
        <p:nvSpPr>
          <p:cNvPr id="37" name="sh37"/>
          <p:cNvSpPr/>
          <p:nvPr/>
        </p:nvSpPr>
        <p:spPr>
          <a:xfrm>
            <a:off x="658368" y="3547872"/>
            <a:ext cx="10875234" cy="10973"/>
          </a:xfrm>
          <a:prstGeom prst="rect">
            <a:avLst/>
          </a:prstGeom>
          <a:solidFill>
            <a:srgbClr val="E3E0DE"/>
          </a:solidFill>
          <a:ln>
            <a:noFill/>
          </a:ln>
        </p:spPr>
        <p:txBody>
          <a:bodyPr lIns="146304" tIns="73152" rIns="146304" bIns="73152" anchor="ctr">
            <a:normAutofit fontScale="25000" lnSpcReduction="20000"/>
          </a:bodyPr>
          <a:lstStyle/>
          <a:p>
            <a:endParaRPr lang="es-ES"/>
          </a:p>
        </p:txBody>
      </p:sp>
      <p:sp>
        <p:nvSpPr>
          <p:cNvPr id="38" name="tb38"/>
          <p:cNvSpPr txBox="1"/>
          <p:nvPr/>
        </p:nvSpPr>
        <p:spPr>
          <a:xfrm>
            <a:off x="658368" y="3758184"/>
            <a:ext cx="5209017" cy="219456"/>
          </a:xfrm>
          <a:prstGeom prst="rect">
            <a:avLst/>
          </a:prstGeom>
          <a:noFill/>
        </p:spPr>
        <p:txBody>
          <a:bodyPr wrap="square" lIns="0" tIns="0" rIns="0" bIns="0" anchor="t">
            <a:normAutofit/>
          </a:bodyPr>
          <a:lstStyle/>
          <a:p>
            <a:pPr algn="l">
              <a:lnSpc>
                <a:spcPct val="100000"/>
              </a:lnSpc>
              <a:spcBef>
                <a:spcPts val="0"/>
              </a:spcBef>
            </a:pPr>
            <a:r>
              <a:rPr lang="es-ES" sz="950" b="1" i="0" spc="90">
                <a:solidFill>
                  <a:srgbClr val="7A7A7A"/>
                </a:solidFill>
              </a:rPr>
              <a:t>QUIÉN LO VALIDA</a:t>
            </a:r>
            <a:endParaRPr lang="es-ES" sz="950" b="1" i="0" spc="90" dirty="0">
              <a:solidFill>
                <a:srgbClr val="7A7A7A"/>
              </a:solidFill>
            </a:endParaRPr>
          </a:p>
        </p:txBody>
      </p:sp>
      <p:sp>
        <p:nvSpPr>
          <p:cNvPr id="39" name="tb39"/>
          <p:cNvSpPr txBox="1"/>
          <p:nvPr/>
        </p:nvSpPr>
        <p:spPr>
          <a:xfrm>
            <a:off x="658368" y="4014216"/>
            <a:ext cx="5209017" cy="548640"/>
          </a:xfrm>
          <a:prstGeom prst="rect">
            <a:avLst/>
          </a:prstGeom>
          <a:noFill/>
        </p:spPr>
        <p:txBody>
          <a:bodyPr wrap="square" lIns="0" tIns="0" rIns="0" bIns="0" anchor="t">
            <a:normAutofit/>
          </a:bodyPr>
          <a:lstStyle/>
          <a:p>
            <a:pPr algn="l">
              <a:lnSpc>
                <a:spcPct val="100000"/>
              </a:lnSpc>
              <a:spcBef>
                <a:spcPts val="0"/>
              </a:spcBef>
            </a:pPr>
            <a:r>
              <a:rPr lang="es-ES" sz="1300" b="0" i="0">
                <a:solidFill>
                  <a:srgbClr val="211915"/>
                </a:solidFill>
              </a:rPr>
              <a:t>Equipo técnico y líder técnico</a:t>
            </a:r>
            <a:r>
              <a:rPr lang="es-ES" sz="1300" b="0" i="0" dirty="0">
                <a:solidFill>
                  <a:srgbClr val="211915"/>
                </a:solidFill>
              </a:rPr>
              <a:t>.</a:t>
            </a:r>
          </a:p>
        </p:txBody>
      </p:sp>
      <p:sp>
        <p:nvSpPr>
          <p:cNvPr id="40" name="tb40"/>
          <p:cNvSpPr txBox="1"/>
          <p:nvPr/>
        </p:nvSpPr>
        <p:spPr>
          <a:xfrm>
            <a:off x="6324585" y="4014216"/>
            <a:ext cx="5209017" cy="548640"/>
          </a:xfrm>
          <a:prstGeom prst="rect">
            <a:avLst/>
          </a:prstGeom>
          <a:noFill/>
        </p:spPr>
        <p:txBody>
          <a:bodyPr wrap="square" lIns="0" tIns="0" rIns="0" bIns="0" anchor="t">
            <a:normAutofit/>
          </a:bodyPr>
          <a:lstStyle/>
          <a:p>
            <a:pPr algn="l">
              <a:lnSpc>
                <a:spcPct val="100000"/>
              </a:lnSpc>
              <a:spcBef>
                <a:spcPts val="0"/>
              </a:spcBef>
            </a:pPr>
            <a:r>
              <a:rPr lang="es-ES" sz="1300" b="1" i="0">
                <a:solidFill>
                  <a:srgbClr val="211915"/>
                </a:solidFill>
              </a:rPr>
              <a:t>Product Owner, Negocio y Finanzas. Talento Humano participa cuando el caso afecta capacidades, habilidades o workforce planning</a:t>
            </a:r>
            <a:r>
              <a:rPr lang="es-ES" sz="1300" b="1" i="0" dirty="0">
                <a:solidFill>
                  <a:srgbClr val="211915"/>
                </a:solidFill>
              </a:rPr>
              <a:t>.</a:t>
            </a:r>
          </a:p>
        </p:txBody>
      </p:sp>
      <p:sp>
        <p:nvSpPr>
          <p:cNvPr id="41" name="sh41"/>
          <p:cNvSpPr/>
          <p:nvPr/>
        </p:nvSpPr>
        <p:spPr>
          <a:xfrm>
            <a:off x="658368" y="4690872"/>
            <a:ext cx="10875234" cy="10973"/>
          </a:xfrm>
          <a:prstGeom prst="rect">
            <a:avLst/>
          </a:prstGeom>
          <a:solidFill>
            <a:srgbClr val="E3E0DE"/>
          </a:solidFill>
          <a:ln>
            <a:noFill/>
          </a:ln>
        </p:spPr>
        <p:txBody>
          <a:bodyPr lIns="146304" tIns="73152" rIns="146304" bIns="73152" anchor="ctr">
            <a:normAutofit fontScale="25000" lnSpcReduction="20000"/>
          </a:bodyPr>
          <a:lstStyle/>
          <a:p>
            <a:endParaRPr lang="es-ES"/>
          </a:p>
        </p:txBody>
      </p:sp>
      <p:sp>
        <p:nvSpPr>
          <p:cNvPr id="42" name="tb42"/>
          <p:cNvSpPr txBox="1"/>
          <p:nvPr/>
        </p:nvSpPr>
        <p:spPr>
          <a:xfrm>
            <a:off x="658368" y="4901184"/>
            <a:ext cx="5209017" cy="219456"/>
          </a:xfrm>
          <a:prstGeom prst="rect">
            <a:avLst/>
          </a:prstGeom>
          <a:noFill/>
        </p:spPr>
        <p:txBody>
          <a:bodyPr wrap="square" lIns="0" tIns="0" rIns="0" bIns="0" anchor="t">
            <a:normAutofit/>
          </a:bodyPr>
          <a:lstStyle/>
          <a:p>
            <a:pPr algn="l">
              <a:lnSpc>
                <a:spcPct val="100000"/>
              </a:lnSpc>
              <a:spcBef>
                <a:spcPts val="0"/>
              </a:spcBef>
            </a:pPr>
            <a:r>
              <a:rPr lang="es-ES" sz="950" b="1" i="0" spc="90" dirty="0">
                <a:solidFill>
                  <a:srgbClr val="7A7A7A"/>
                </a:solidFill>
              </a:rPr>
              <a:t>QUÉ </a:t>
            </a:r>
            <a:r>
              <a:rPr lang="es-ES" sz="950" b="1" i="0" spc="90">
                <a:solidFill>
                  <a:srgbClr val="7A7A7A"/>
                </a:solidFill>
              </a:rPr>
              <a:t>DEMUESTRA</a:t>
            </a:r>
            <a:endParaRPr lang="es-ES" sz="950" b="1" i="0" spc="90" dirty="0">
              <a:solidFill>
                <a:srgbClr val="7A7A7A"/>
              </a:solidFill>
            </a:endParaRPr>
          </a:p>
        </p:txBody>
      </p:sp>
      <p:sp>
        <p:nvSpPr>
          <p:cNvPr id="43" name="tb43"/>
          <p:cNvSpPr txBox="1"/>
          <p:nvPr/>
        </p:nvSpPr>
        <p:spPr>
          <a:xfrm>
            <a:off x="658368" y="5157216"/>
            <a:ext cx="5209017" cy="548640"/>
          </a:xfrm>
          <a:prstGeom prst="rect">
            <a:avLst/>
          </a:prstGeom>
          <a:noFill/>
        </p:spPr>
        <p:txBody>
          <a:bodyPr wrap="square" lIns="0" tIns="0" rIns="0" bIns="0" anchor="t">
            <a:normAutofit/>
          </a:bodyPr>
          <a:lstStyle/>
          <a:p>
            <a:pPr algn="l">
              <a:lnSpc>
                <a:spcPct val="100000"/>
              </a:lnSpc>
              <a:spcBef>
                <a:spcPts val="0"/>
              </a:spcBef>
            </a:pPr>
            <a:r>
              <a:rPr lang="es-ES" sz="1300" b="0" i="0">
                <a:solidFill>
                  <a:srgbClr val="211915"/>
                </a:solidFill>
              </a:rPr>
              <a:t>Que se generó capacidad</a:t>
            </a:r>
            <a:r>
              <a:rPr lang="es-ES" sz="1300" b="0" i="0" dirty="0">
                <a:solidFill>
                  <a:srgbClr val="211915"/>
                </a:solidFill>
              </a:rPr>
              <a:t>.</a:t>
            </a:r>
          </a:p>
        </p:txBody>
      </p:sp>
      <p:sp>
        <p:nvSpPr>
          <p:cNvPr id="44" name="tb44"/>
          <p:cNvSpPr txBox="1"/>
          <p:nvPr/>
        </p:nvSpPr>
        <p:spPr>
          <a:xfrm>
            <a:off x="6324585" y="5157216"/>
            <a:ext cx="5209017" cy="548640"/>
          </a:xfrm>
          <a:prstGeom prst="rect">
            <a:avLst/>
          </a:prstGeom>
          <a:noFill/>
        </p:spPr>
        <p:txBody>
          <a:bodyPr wrap="square" lIns="0" tIns="0" rIns="0" bIns="0" anchor="t">
            <a:normAutofit/>
          </a:bodyPr>
          <a:lstStyle/>
          <a:p>
            <a:pPr algn="l">
              <a:lnSpc>
                <a:spcPct val="100000"/>
              </a:lnSpc>
              <a:spcBef>
                <a:spcPts val="0"/>
              </a:spcBef>
            </a:pPr>
            <a:r>
              <a:rPr lang="es-ES" sz="1300" b="1" i="0">
                <a:solidFill>
                  <a:srgbClr val="211915"/>
                </a:solidFill>
              </a:rPr>
              <a:t>Que la capacidad produjo un resultado</a:t>
            </a:r>
            <a:r>
              <a:rPr lang="es-ES" sz="1300" b="1" i="0" dirty="0">
                <a:solidFill>
                  <a:srgbClr val="211915"/>
                </a:solidFill>
              </a:rPr>
              <a:t>.</a:t>
            </a:r>
          </a:p>
        </p:txBody>
      </p:sp>
      <p:sp>
        <p:nvSpPr>
          <p:cNvPr id="45" name="sh45"/>
          <p:cNvSpPr/>
          <p:nvPr/>
        </p:nvSpPr>
        <p:spPr>
          <a:xfrm>
            <a:off x="658368" y="5833872"/>
            <a:ext cx="10875234" cy="10973"/>
          </a:xfrm>
          <a:prstGeom prst="rect">
            <a:avLst/>
          </a:prstGeom>
          <a:solidFill>
            <a:srgbClr val="E3E0DE"/>
          </a:solidFill>
          <a:ln>
            <a:noFill/>
          </a:ln>
        </p:spPr>
        <p:txBody>
          <a:bodyPr lIns="146304" tIns="73152" rIns="146304" bIns="73152" anchor="ctr">
            <a:normAutofit fontScale="25000" lnSpcReduction="20000"/>
          </a:bodyPr>
          <a:lstStyle/>
          <a:p>
            <a:endParaRPr lang="es-ES"/>
          </a:p>
        </p:txBody>
      </p:sp>
      <p:sp>
        <p:nvSpPr>
          <p:cNvPr id="46" name="tb46"/>
          <p:cNvSpPr txBox="1"/>
          <p:nvPr/>
        </p:nvSpPr>
        <p:spPr>
          <a:xfrm>
            <a:off x="658368" y="5897880"/>
            <a:ext cx="10881360" cy="384048"/>
          </a:xfrm>
          <a:prstGeom prst="rect">
            <a:avLst/>
          </a:prstGeom>
          <a:noFill/>
        </p:spPr>
        <p:txBody>
          <a:bodyPr wrap="square" lIns="0" tIns="0" rIns="0" bIns="0" anchor="t">
            <a:normAutofit/>
          </a:bodyPr>
          <a:lstStyle/>
          <a:p>
            <a:pPr algn="l">
              <a:lnSpc>
                <a:spcPct val="100000"/>
              </a:lnSpc>
              <a:spcBef>
                <a:spcPts val="0"/>
              </a:spcBef>
            </a:pPr>
            <a:r>
              <a:rPr lang="es-ES" sz="1200" b="0" i="1">
                <a:solidFill>
                  <a:srgbClr val="7A7A7A"/>
                </a:solidFill>
              </a:rPr>
              <a:t>Las horas liberadas son capacidad. Solo se convierten en ahorro cuando permiten reducir o evitar un costo real</a:t>
            </a:r>
            <a:r>
              <a:rPr lang="es-ES" sz="1200" b="0" i="1" dirty="0">
                <a:solidFill>
                  <a:srgbClr val="7A7A7A"/>
                </a:solidFill>
              </a:rPr>
              <a:t>.</a:t>
            </a:r>
          </a:p>
        </p:txBody>
      </p:sp>
      <p:sp>
        <p:nvSpPr>
          <p:cNvPr id="50" name="tb50"/>
          <p:cNvSpPr txBox="1"/>
          <p:nvPr/>
        </p:nvSpPr>
        <p:spPr>
          <a:xfrm>
            <a:off x="658368" y="6272784"/>
            <a:ext cx="5486400" cy="228600"/>
          </a:xfrm>
          <a:prstGeom prst="rect">
            <a:avLst/>
          </a:prstGeom>
          <a:noFill/>
        </p:spPr>
        <p:txBody>
          <a:bodyPr wrap="square" lIns="0" tIns="0" rIns="0" bIns="0" anchor="t">
            <a:normAutofit/>
          </a:bodyPr>
          <a:lstStyle/>
          <a:p>
            <a:pPr algn="l">
              <a:lnSpc>
                <a:spcPct val="100000"/>
              </a:lnSpc>
              <a:spcBef>
                <a:spcPts val="0"/>
              </a:spcBef>
            </a:pPr>
            <a:r>
              <a:rPr lang="es-ES" sz="900" b="1" i="0" dirty="0">
                <a:solidFill>
                  <a:srgbClr val="211915"/>
                </a:solidFill>
              </a:rPr>
              <a:t>Tuya   ·   </a:t>
            </a:r>
            <a:r>
              <a:rPr lang="es-ES" sz="900" b="1" i="0">
                <a:solidFill>
                  <a:srgbClr val="211915"/>
                </a:solidFill>
              </a:rPr>
              <a:t>Del valor de GitHub Copilot</a:t>
            </a:r>
            <a:endParaRPr lang="es-ES" sz="900" b="1" i="0" dirty="0">
              <a:solidFill>
                <a:srgbClr val="211915"/>
              </a:solidFill>
            </a:endParaRPr>
          </a:p>
        </p:txBody>
      </p:sp>
      <p:sp>
        <p:nvSpPr>
          <p:cNvPr id="51" name="tb51"/>
          <p:cNvSpPr txBox="1"/>
          <p:nvPr/>
        </p:nvSpPr>
        <p:spPr>
          <a:xfrm>
            <a:off x="10436322" y="6272784"/>
            <a:ext cx="1097280" cy="228600"/>
          </a:xfrm>
          <a:prstGeom prst="rect">
            <a:avLst/>
          </a:prstGeom>
          <a:noFill/>
        </p:spPr>
        <p:txBody>
          <a:bodyPr wrap="square" lIns="0" tIns="0" rIns="0" bIns="0" anchor="t">
            <a:normAutofit/>
          </a:bodyPr>
          <a:lstStyle/>
          <a:p>
            <a:pPr algn="r">
              <a:lnSpc>
                <a:spcPct val="100000"/>
              </a:lnSpc>
              <a:spcBef>
                <a:spcPts val="0"/>
              </a:spcBef>
            </a:pPr>
            <a:r>
              <a:rPr lang="es-ES" sz="900" b="1" i="0">
                <a:solidFill>
                  <a:srgbClr val="ED1C29"/>
                </a:solidFill>
              </a:rPr>
              <a:t>03</a:t>
            </a:r>
            <a:endParaRPr lang="es-ES" sz="900" b="1" i="0" dirty="0">
              <a:solidFill>
                <a:srgbClr val="ED1C29"/>
              </a:solidFill>
            </a:endParaRPr>
          </a:p>
        </p:txBody>
      </p:sp>
      <p:pic>
        <p:nvPicPr>
          <p:cNvPr id="900" name="Logo Tuya"/>
          <p:cNvPicPr>
            <a:picLocks noChangeAspect="1"/>
          </p:cNvPicPr>
          <p:nvPr/>
        </p:nvPicPr>
        <p:blipFill>
          <a:blip r:embed="rId3"/>
          <a:stretch>
            <a:fillRect/>
          </a:stretch>
        </p:blipFill>
        <p:spPr>
          <a:xfrm>
            <a:off x="11152200" y="321276"/>
            <a:ext cx="640080" cy="32004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sh26">
            <a:extLst>
              <a:ext uri="{C183D7F6-B498-43B3-948B-1728B52AA6E4}">
                <adec:decorative xmlns:adec="http://schemas.microsoft.com/office/drawing/2017/decorative" val="1"/>
              </a:ext>
            </a:extLst>
          </p:cNvPr>
          <p:cNvSpPr/>
          <p:nvPr/>
        </p:nvSpPr>
        <p:spPr>
          <a:xfrm>
            <a:off x="658368" y="384048"/>
            <a:ext cx="146304" cy="146304"/>
          </a:xfrm>
          <a:prstGeom prst="rect">
            <a:avLst/>
          </a:prstGeom>
          <a:solidFill>
            <a:srgbClr val="ED1C29"/>
          </a:solidFill>
          <a:ln>
            <a:noFill/>
          </a:ln>
        </p:spPr>
        <p:txBody>
          <a:bodyPr lIns="146304" tIns="73152" rIns="146304" bIns="73152" anchor="ctr">
            <a:normAutofit fontScale="25000" lnSpcReduction="20000"/>
          </a:bodyPr>
          <a:lstStyle/>
          <a:p>
            <a:endParaRPr lang="es-ES"/>
          </a:p>
        </p:txBody>
      </p:sp>
      <p:sp>
        <p:nvSpPr>
          <p:cNvPr id="27" name="tb27"/>
          <p:cNvSpPr txBox="1"/>
          <p:nvPr/>
        </p:nvSpPr>
        <p:spPr>
          <a:xfrm>
            <a:off x="914400" y="365760"/>
            <a:ext cx="7315200" cy="237744"/>
          </a:xfrm>
          <a:prstGeom prst="rect">
            <a:avLst/>
          </a:prstGeom>
          <a:noFill/>
        </p:spPr>
        <p:txBody>
          <a:bodyPr wrap="square" lIns="0" tIns="0" rIns="0" bIns="0" anchor="t">
            <a:normAutofit/>
          </a:bodyPr>
          <a:lstStyle/>
          <a:p>
            <a:pPr algn="l">
              <a:lnSpc>
                <a:spcPct val="100000"/>
              </a:lnSpc>
              <a:spcBef>
                <a:spcPts val="0"/>
              </a:spcBef>
            </a:pPr>
            <a:r>
              <a:rPr lang="es-ES" sz="1050" b="1" i="0" spc="120">
                <a:solidFill>
                  <a:srgbClr val="ED1C29"/>
                </a:solidFill>
              </a:rPr>
              <a:t>CADENA DE VALOR</a:t>
            </a:r>
          </a:p>
        </p:txBody>
      </p:sp>
      <p:sp>
        <p:nvSpPr>
          <p:cNvPr id="28" name="tb28"/>
          <p:cNvSpPr txBox="1"/>
          <p:nvPr/>
        </p:nvSpPr>
        <p:spPr>
          <a:xfrm>
            <a:off x="658368" y="713232"/>
            <a:ext cx="9326880" cy="685800"/>
          </a:xfrm>
          <a:prstGeom prst="rect">
            <a:avLst/>
          </a:prstGeom>
          <a:noFill/>
        </p:spPr>
        <p:txBody>
          <a:bodyPr wrap="square" lIns="0" tIns="0" rIns="0" bIns="0" anchor="t">
            <a:normAutofit/>
          </a:bodyPr>
          <a:lstStyle/>
          <a:p>
            <a:pPr algn="l">
              <a:lnSpc>
                <a:spcPct val="100000"/>
              </a:lnSpc>
              <a:spcBef>
                <a:spcPts val="0"/>
              </a:spcBef>
            </a:pPr>
            <a:r>
              <a:rPr lang="es-ES" sz="3000" b="1" i="0">
                <a:solidFill>
                  <a:srgbClr val="211915"/>
                </a:solidFill>
              </a:rPr>
              <a:t>De la herramienta al resultado económico</a:t>
            </a:r>
          </a:p>
        </p:txBody>
      </p:sp>
      <p:sp>
        <p:nvSpPr>
          <p:cNvPr id="40" name="objetivo"/>
          <p:cNvSpPr/>
          <p:nvPr/>
        </p:nvSpPr>
        <p:spPr>
          <a:xfrm>
            <a:off x="5029200" y="1508760"/>
            <a:ext cx="2133600" cy="356616"/>
          </a:xfrm>
          <a:prstGeom prst="rect">
            <a:avLst/>
          </a:prstGeom>
          <a:noFill/>
          <a:ln w="19050">
            <a:solidFill>
              <a:srgbClr val="211915"/>
            </a:solidFill>
          </a:ln>
        </p:spPr>
        <p:txBody>
          <a:bodyPr lIns="45720" tIns="18288" rIns="45720" bIns="18288" anchor="ctr">
            <a:normAutofit/>
          </a:bodyPr>
          <a:lstStyle/>
          <a:p>
            <a:pPr algn="ctr">
              <a:lnSpc>
                <a:spcPct val="100000"/>
              </a:lnSpc>
            </a:pPr>
            <a:r>
              <a:rPr lang="es-ES" sz="1100" b="1" i="0" spc="100">
                <a:solidFill>
                  <a:srgbClr val="211915"/>
                </a:solidFill>
              </a:rPr>
              <a:t>DECISIÓN DEL EQUIPO</a:t>
            </a:r>
          </a:p>
        </p:txBody>
      </p:sp>
      <p:sp>
        <p:nvSpPr>
          <p:cNvPr id="41" name="flechaObjetivo">
            <a:extLst>
              <a:ext uri="{C183D7F6-B498-43B3-948B-1728B52AA6E4}">
                <adec:decorative xmlns:adec="http://schemas.microsoft.com/office/drawing/2017/decorative" val="1"/>
              </a:ext>
            </a:extLst>
          </p:cNvPr>
          <p:cNvSpPr/>
          <p:nvPr/>
        </p:nvSpPr>
        <p:spPr>
          <a:xfrm>
            <a:off x="6004560" y="1929384"/>
            <a:ext cx="182880" cy="182880"/>
          </a:xfrm>
          <a:prstGeom prst="downArrow">
            <a:avLst/>
          </a:prstGeom>
          <a:solidFill>
            <a:srgbClr val="ED1C29"/>
          </a:solidFill>
          <a:ln>
            <a:noFill/>
          </a:ln>
        </p:spPr>
        <p:txBody>
          <a:bodyPr lIns="0" tIns="0" rIns="0" bIns="0" anchor="ctr">
            <a:normAutofit fontScale="62500" lnSpcReduction="20000"/>
          </a:bodyPr>
          <a:lstStyle/>
          <a:p>
            <a:endParaRPr lang="es-ES"/>
          </a:p>
        </p:txBody>
      </p:sp>
      <p:sp>
        <p:nvSpPr>
          <p:cNvPr id="42" name="cajaModelo"/>
          <p:cNvSpPr/>
          <p:nvPr/>
        </p:nvSpPr>
        <p:spPr>
          <a:xfrm>
            <a:off x="1203960" y="2176272"/>
            <a:ext cx="2103120" cy="438912"/>
          </a:xfrm>
          <a:prstGeom prst="rect">
            <a:avLst/>
          </a:prstGeom>
          <a:solidFill>
            <a:srgbClr val="ED1C29"/>
          </a:solidFill>
          <a:ln>
            <a:noFill/>
          </a:ln>
        </p:spPr>
        <p:txBody>
          <a:bodyPr lIns="45720" tIns="18288" rIns="45720" bIns="18288" anchor="ctr">
            <a:normAutofit/>
          </a:bodyPr>
          <a:lstStyle/>
          <a:p>
            <a:pPr algn="ctr">
              <a:lnSpc>
                <a:spcPct val="100000"/>
              </a:lnSpc>
            </a:pPr>
            <a:r>
              <a:rPr lang="es-ES" sz="1300" b="1" i="0" spc="100">
                <a:solidFill>
                  <a:srgbClr val="FFFFFF"/>
                </a:solidFill>
              </a:rPr>
              <a:t>COPILOT</a:t>
            </a:r>
          </a:p>
        </p:txBody>
      </p:sp>
      <p:sp>
        <p:nvSpPr>
          <p:cNvPr id="43" name="flecha1">
            <a:extLst>
              <a:ext uri="{C183D7F6-B498-43B3-948B-1728B52AA6E4}">
                <adec:decorative xmlns:adec="http://schemas.microsoft.com/office/drawing/2017/decorative" val="1"/>
              </a:ext>
            </a:extLst>
          </p:cNvPr>
          <p:cNvSpPr/>
          <p:nvPr/>
        </p:nvSpPr>
        <p:spPr>
          <a:xfrm>
            <a:off x="3444240" y="2304288"/>
            <a:ext cx="182880" cy="182880"/>
          </a:xfrm>
          <a:prstGeom prst="rightArrow">
            <a:avLst/>
          </a:prstGeom>
          <a:solidFill>
            <a:srgbClr val="211915"/>
          </a:solidFill>
          <a:ln>
            <a:noFill/>
          </a:ln>
        </p:spPr>
        <p:txBody>
          <a:bodyPr lIns="0" tIns="0" rIns="0" bIns="0" anchor="ctr">
            <a:normAutofit fontScale="40000" lnSpcReduction="20000"/>
          </a:bodyPr>
          <a:lstStyle/>
          <a:p>
            <a:endParaRPr lang="es-ES"/>
          </a:p>
        </p:txBody>
      </p:sp>
      <p:sp>
        <p:nvSpPr>
          <p:cNvPr id="44" name="cajaHarness"/>
          <p:cNvSpPr/>
          <p:nvPr/>
        </p:nvSpPr>
        <p:spPr>
          <a:xfrm>
            <a:off x="3764280" y="2176272"/>
            <a:ext cx="2103120" cy="438912"/>
          </a:xfrm>
          <a:prstGeom prst="rect">
            <a:avLst/>
          </a:prstGeom>
          <a:solidFill>
            <a:srgbClr val="211915"/>
          </a:solidFill>
          <a:ln>
            <a:noFill/>
          </a:ln>
        </p:spPr>
        <p:txBody>
          <a:bodyPr lIns="45720" tIns="18288" rIns="45720" bIns="18288" anchor="ctr">
            <a:normAutofit/>
          </a:bodyPr>
          <a:lstStyle/>
          <a:p>
            <a:pPr algn="ctr">
              <a:lnSpc>
                <a:spcPct val="100000"/>
              </a:lnSpc>
            </a:pPr>
            <a:r>
              <a:rPr lang="es-ES" sz="1300" b="1" i="0" spc="100">
                <a:solidFill>
                  <a:srgbClr val="FFFFFF"/>
                </a:solidFill>
              </a:rPr>
              <a:t>FORMA DE TRABAJAR</a:t>
            </a:r>
          </a:p>
        </p:txBody>
      </p:sp>
      <p:sp>
        <p:nvSpPr>
          <p:cNvPr id="45" name="flecha2">
            <a:extLst>
              <a:ext uri="{C183D7F6-B498-43B3-948B-1728B52AA6E4}">
                <adec:decorative xmlns:adec="http://schemas.microsoft.com/office/drawing/2017/decorative" val="1"/>
              </a:ext>
            </a:extLst>
          </p:cNvPr>
          <p:cNvSpPr/>
          <p:nvPr/>
        </p:nvSpPr>
        <p:spPr>
          <a:xfrm>
            <a:off x="6004560" y="2304288"/>
            <a:ext cx="182880" cy="182880"/>
          </a:xfrm>
          <a:prstGeom prst="rightArrow">
            <a:avLst/>
          </a:prstGeom>
          <a:solidFill>
            <a:srgbClr val="211915"/>
          </a:solidFill>
          <a:ln>
            <a:noFill/>
          </a:ln>
        </p:spPr>
        <p:txBody>
          <a:bodyPr lIns="0" tIns="0" rIns="0" bIns="0" anchor="ctr">
            <a:normAutofit fontScale="40000" lnSpcReduction="20000"/>
          </a:bodyPr>
          <a:lstStyle/>
          <a:p>
            <a:endParaRPr lang="es-ES"/>
          </a:p>
        </p:txBody>
      </p:sp>
      <p:sp>
        <p:nvSpPr>
          <p:cNvPr id="46" name="cajaAgente"/>
          <p:cNvSpPr/>
          <p:nvPr/>
        </p:nvSpPr>
        <p:spPr>
          <a:xfrm>
            <a:off x="6324600" y="2176272"/>
            <a:ext cx="2103120" cy="438912"/>
          </a:xfrm>
          <a:prstGeom prst="rect">
            <a:avLst/>
          </a:prstGeom>
          <a:solidFill>
            <a:srgbClr val="ED1C29"/>
          </a:solidFill>
          <a:ln>
            <a:noFill/>
          </a:ln>
        </p:spPr>
        <p:txBody>
          <a:bodyPr lIns="45720" tIns="18288" rIns="45720" bIns="18288" anchor="ctr">
            <a:normAutofit/>
          </a:bodyPr>
          <a:lstStyle/>
          <a:p>
            <a:pPr algn="ctr">
              <a:lnSpc>
                <a:spcPct val="100000"/>
              </a:lnSpc>
            </a:pPr>
            <a:r>
              <a:rPr lang="es-ES" sz="1300" b="1" i="0" spc="100">
                <a:solidFill>
                  <a:srgbClr val="FFFFFF"/>
                </a:solidFill>
              </a:rPr>
              <a:t>CAPACIDAD</a:t>
            </a:r>
          </a:p>
        </p:txBody>
      </p:sp>
      <p:sp>
        <p:nvSpPr>
          <p:cNvPr id="47" name="flecha3">
            <a:extLst>
              <a:ext uri="{C183D7F6-B498-43B3-948B-1728B52AA6E4}">
                <adec:decorative xmlns:adec="http://schemas.microsoft.com/office/drawing/2017/decorative" val="1"/>
              </a:ext>
            </a:extLst>
          </p:cNvPr>
          <p:cNvSpPr/>
          <p:nvPr/>
        </p:nvSpPr>
        <p:spPr>
          <a:xfrm>
            <a:off x="8564880" y="2304288"/>
            <a:ext cx="182880" cy="182880"/>
          </a:xfrm>
          <a:prstGeom prst="rightArrow">
            <a:avLst/>
          </a:prstGeom>
          <a:solidFill>
            <a:srgbClr val="211915"/>
          </a:solidFill>
          <a:ln>
            <a:noFill/>
          </a:ln>
        </p:spPr>
        <p:txBody>
          <a:bodyPr lIns="0" tIns="0" rIns="0" bIns="0" anchor="ctr">
            <a:normAutofit fontScale="40000" lnSpcReduction="20000"/>
          </a:bodyPr>
          <a:lstStyle/>
          <a:p>
            <a:endParaRPr lang="es-ES"/>
          </a:p>
        </p:txBody>
      </p:sp>
      <p:sp>
        <p:nvSpPr>
          <p:cNvPr id="48" name="cajaResultado"/>
          <p:cNvSpPr/>
          <p:nvPr/>
        </p:nvSpPr>
        <p:spPr>
          <a:xfrm>
            <a:off x="8884920" y="2176272"/>
            <a:ext cx="2103120" cy="438912"/>
          </a:xfrm>
          <a:prstGeom prst="rect">
            <a:avLst/>
          </a:prstGeom>
          <a:noFill/>
          <a:ln w="19050">
            <a:solidFill>
              <a:srgbClr val="211915"/>
            </a:solidFill>
          </a:ln>
        </p:spPr>
        <p:txBody>
          <a:bodyPr lIns="45720" tIns="18288" rIns="45720" bIns="18288" anchor="ctr">
            <a:normAutofit/>
          </a:bodyPr>
          <a:lstStyle/>
          <a:p>
            <a:pPr algn="ctr">
              <a:lnSpc>
                <a:spcPct val="100000"/>
              </a:lnSpc>
            </a:pPr>
            <a:r>
              <a:rPr lang="es-ES" sz="1300" b="1" i="0" spc="100">
                <a:solidFill>
                  <a:srgbClr val="211915"/>
                </a:solidFill>
              </a:rPr>
              <a:t>RESULTADO DE NEGOCIO</a:t>
            </a:r>
          </a:p>
        </p:txBody>
      </p:sp>
      <p:sp>
        <p:nvSpPr>
          <p:cNvPr id="49" name="conectorHarness">
            <a:extLst>
              <a:ext uri="{C183D7F6-B498-43B3-948B-1728B52AA6E4}">
                <adec:decorative xmlns:adec="http://schemas.microsoft.com/office/drawing/2017/decorative" val="1"/>
              </a:ext>
            </a:extLst>
          </p:cNvPr>
          <p:cNvSpPr/>
          <p:nvPr/>
        </p:nvSpPr>
        <p:spPr>
          <a:xfrm>
            <a:off x="4802124" y="2615184"/>
            <a:ext cx="27432" cy="228600"/>
          </a:xfrm>
          <a:prstGeom prst="rect">
            <a:avLst/>
          </a:prstGeom>
          <a:solidFill>
            <a:srgbClr val="7A7A7A"/>
          </a:solidFill>
          <a:ln>
            <a:noFill/>
          </a:ln>
        </p:spPr>
        <p:txBody>
          <a:bodyPr lIns="0" tIns="0" rIns="0" bIns="0" anchor="ctr">
            <a:normAutofit fontScale="92500" lnSpcReduction="20000"/>
          </a:bodyPr>
          <a:lstStyle/>
          <a:p>
            <a:endParaRPr lang="es-ES"/>
          </a:p>
        </p:txBody>
      </p:sp>
      <p:sp>
        <p:nvSpPr>
          <p:cNvPr id="50" name="tbContextoEstado"/>
          <p:cNvSpPr txBox="1"/>
          <p:nvPr/>
        </p:nvSpPr>
        <p:spPr>
          <a:xfrm>
            <a:off x="3764280" y="2865120"/>
            <a:ext cx="2103120" cy="228600"/>
          </a:xfrm>
          <a:prstGeom prst="rect">
            <a:avLst/>
          </a:prstGeom>
          <a:noFill/>
        </p:spPr>
        <p:txBody>
          <a:bodyPr wrap="square" lIns="0" tIns="0" rIns="0" bIns="0" anchor="t">
            <a:normAutofit/>
          </a:bodyPr>
          <a:lstStyle/>
          <a:p>
            <a:pPr algn="ctr">
              <a:lnSpc>
                <a:spcPct val="100000"/>
              </a:lnSpc>
            </a:pPr>
            <a:r>
              <a:rPr lang="es-ES" sz="1000" b="1" i="0" spc="80">
                <a:solidFill>
                  <a:srgbClr val="7A7A7A"/>
                </a:solidFill>
              </a:rPr>
              <a:t>CAMBIO DE PRÁCTICA</a:t>
            </a:r>
          </a:p>
        </p:txBody>
      </p:sp>
      <p:sp>
        <p:nvSpPr>
          <p:cNvPr id="51" name="conectorAgente">
            <a:extLst>
              <a:ext uri="{C183D7F6-B498-43B3-948B-1728B52AA6E4}">
                <adec:decorative xmlns:adec="http://schemas.microsoft.com/office/drawing/2017/decorative" val="1"/>
              </a:ext>
            </a:extLst>
          </p:cNvPr>
          <p:cNvSpPr/>
          <p:nvPr/>
        </p:nvSpPr>
        <p:spPr>
          <a:xfrm>
            <a:off x="7362444" y="2615184"/>
            <a:ext cx="27432" cy="228600"/>
          </a:xfrm>
          <a:prstGeom prst="rect">
            <a:avLst/>
          </a:prstGeom>
          <a:solidFill>
            <a:srgbClr val="ED1C29"/>
          </a:solidFill>
          <a:ln>
            <a:noFill/>
          </a:ln>
        </p:spPr>
        <p:txBody>
          <a:bodyPr lIns="0" tIns="0" rIns="0" bIns="0" anchor="ctr">
            <a:normAutofit fontScale="92500" lnSpcReduction="20000"/>
          </a:bodyPr>
          <a:lstStyle/>
          <a:p>
            <a:endParaRPr lang="es-ES"/>
          </a:p>
        </p:txBody>
      </p:sp>
      <p:sp>
        <p:nvSpPr>
          <p:cNvPr id="52" name="tbHerramientas"/>
          <p:cNvSpPr txBox="1"/>
          <p:nvPr/>
        </p:nvSpPr>
        <p:spPr>
          <a:xfrm>
            <a:off x="6324600" y="2865120"/>
            <a:ext cx="2103120" cy="228600"/>
          </a:xfrm>
          <a:prstGeom prst="rect">
            <a:avLst/>
          </a:prstGeom>
          <a:noFill/>
        </p:spPr>
        <p:txBody>
          <a:bodyPr wrap="square" lIns="0" tIns="0" rIns="0" bIns="0" anchor="t">
            <a:normAutofit/>
          </a:bodyPr>
          <a:lstStyle/>
          <a:p>
            <a:pPr algn="ctr">
              <a:lnSpc>
                <a:spcPct val="100000"/>
              </a:lnSpc>
            </a:pPr>
            <a:r>
              <a:rPr lang="es-ES" sz="1000" b="1" i="0" spc="80">
                <a:solidFill>
                  <a:srgbClr val="ED1C29"/>
                </a:solidFill>
              </a:rPr>
              <a:t>RESULTADO OPERATIVO</a:t>
            </a:r>
          </a:p>
        </p:txBody>
      </p:sp>
      <p:sp>
        <p:nvSpPr>
          <p:cNvPr id="53" name="conectorTools">
            <a:extLst>
              <a:ext uri="{C183D7F6-B498-43B3-948B-1728B52AA6E4}">
                <adec:decorative xmlns:adec="http://schemas.microsoft.com/office/drawing/2017/decorative" val="1"/>
              </a:ext>
            </a:extLst>
          </p:cNvPr>
          <p:cNvSpPr/>
          <p:nvPr/>
        </p:nvSpPr>
        <p:spPr>
          <a:xfrm>
            <a:off x="7362444" y="3117088"/>
            <a:ext cx="27432" cy="182880"/>
          </a:xfrm>
          <a:prstGeom prst="rect">
            <a:avLst/>
          </a:prstGeom>
          <a:solidFill>
            <a:srgbClr val="ED1C29"/>
          </a:solidFill>
          <a:ln>
            <a:noFill/>
          </a:ln>
        </p:spPr>
        <p:txBody>
          <a:bodyPr lIns="0" tIns="0" rIns="0" bIns="0" anchor="ctr">
            <a:normAutofit fontScale="77500" lnSpcReduction="20000"/>
          </a:bodyPr>
          <a:lstStyle/>
          <a:p>
            <a:endParaRPr lang="es-ES"/>
          </a:p>
        </p:txBody>
      </p:sp>
      <p:sp>
        <p:nvSpPr>
          <p:cNvPr id="54" name="tbEntorno"/>
          <p:cNvSpPr txBox="1"/>
          <p:nvPr/>
        </p:nvSpPr>
        <p:spPr>
          <a:xfrm>
            <a:off x="5486400" y="3319272"/>
            <a:ext cx="3779520" cy="246888"/>
          </a:xfrm>
          <a:prstGeom prst="rect">
            <a:avLst/>
          </a:prstGeom>
          <a:noFill/>
        </p:spPr>
        <p:txBody>
          <a:bodyPr wrap="square" lIns="0" tIns="0" rIns="0" bIns="0" anchor="t">
            <a:normAutofit/>
          </a:bodyPr>
          <a:lstStyle/>
          <a:p>
            <a:pPr algn="ctr">
              <a:lnSpc>
                <a:spcPct val="100000"/>
              </a:lnSpc>
            </a:pPr>
            <a:r>
              <a:rPr lang="es-ES" sz="1100" b="0" i="0">
                <a:solidFill>
                  <a:srgbClr val="7A7A7A"/>
                </a:solidFill>
              </a:rPr>
              <a:t>Entregas  ·  Reprocesos  ·  Tiempo de ciclo</a:t>
            </a:r>
          </a:p>
        </p:txBody>
      </p:sp>
      <p:sp>
        <p:nvSpPr>
          <p:cNvPr id="60" name="regla1">
            <a:extLst>
              <a:ext uri="{C183D7F6-B498-43B3-948B-1728B52AA6E4}">
                <adec:decorative xmlns:adec="http://schemas.microsoft.com/office/drawing/2017/decorative" val="1"/>
              </a:ext>
            </a:extLst>
          </p:cNvPr>
          <p:cNvSpPr/>
          <p:nvPr/>
        </p:nvSpPr>
        <p:spPr>
          <a:xfrm>
            <a:off x="658368" y="4114800"/>
            <a:ext cx="2500000" cy="45720"/>
          </a:xfrm>
          <a:prstGeom prst="rect">
            <a:avLst/>
          </a:prstGeom>
          <a:solidFill>
            <a:srgbClr val="ED1C29"/>
          </a:solidFill>
          <a:ln>
            <a:noFill/>
          </a:ln>
        </p:spPr>
        <p:txBody>
          <a:bodyPr lIns="0" tIns="0" rIns="0" bIns="0" anchor="ctr">
            <a:normAutofit fontScale="25000" lnSpcReduction="20000"/>
          </a:bodyPr>
          <a:lstStyle/>
          <a:p>
            <a:endParaRPr lang="es-ES"/>
          </a:p>
        </p:txBody>
      </p:sp>
      <p:sp>
        <p:nvSpPr>
          <p:cNvPr id="61" name="tbDef1"/>
          <p:cNvSpPr txBox="1"/>
          <p:nvPr/>
        </p:nvSpPr>
        <p:spPr>
          <a:xfrm>
            <a:off x="658368" y="4260976"/>
            <a:ext cx="2500000" cy="1188720"/>
          </a:xfrm>
          <a:prstGeom prst="rect">
            <a:avLst/>
          </a:prstGeom>
          <a:noFill/>
        </p:spPr>
        <p:txBody>
          <a:bodyPr wrap="square" lIns="0" tIns="0" rIns="0" bIns="0" anchor="t">
            <a:normAutofit/>
          </a:bodyPr>
          <a:lstStyle/>
          <a:p>
            <a:pPr algn="l">
              <a:lnSpc>
                <a:spcPct val="100000"/>
              </a:lnSpc>
              <a:spcAft>
                <a:spcPts val="400"/>
              </a:spcAft>
            </a:pPr>
            <a:r>
              <a:rPr lang="en-US" sz="1100" b="1" i="0" spc="100">
                <a:solidFill>
                  <a:srgbClr val="ED1C29"/>
                </a:solidFill>
              </a:rPr>
              <a:t>CAPACIDAD</a:t>
            </a:r>
          </a:p>
          <a:p>
            <a:pPr algn="l">
              <a:lnSpc>
                <a:spcPct val="110000"/>
              </a:lnSpc>
            </a:pPr>
            <a:r>
              <a:rPr lang="en-US" sz="1100" b="0" i="0">
                <a:solidFill>
                  <a:srgbClr val="7A7A7A"/>
                </a:solidFill>
              </a:rPr>
              <a:t>Tiempo y foco disponibles cuando cambia la forma de trabajar.</a:t>
            </a:r>
            <a:endParaRPr lang="es-ES" sz="1100" b="0" i="0">
              <a:solidFill>
                <a:srgbClr val="7A7A7A"/>
              </a:solidFill>
            </a:endParaRPr>
          </a:p>
        </p:txBody>
      </p:sp>
      <p:sp>
        <p:nvSpPr>
          <p:cNvPr id="62" name="regla2">
            <a:extLst>
              <a:ext uri="{C183D7F6-B498-43B3-948B-1728B52AA6E4}">
                <adec:decorative xmlns:adec="http://schemas.microsoft.com/office/drawing/2017/decorative" val="1"/>
              </a:ext>
            </a:extLst>
          </p:cNvPr>
          <p:cNvSpPr/>
          <p:nvPr/>
        </p:nvSpPr>
        <p:spPr>
          <a:xfrm>
            <a:off x="3432688" y="4114800"/>
            <a:ext cx="2500000" cy="45720"/>
          </a:xfrm>
          <a:prstGeom prst="rect">
            <a:avLst/>
          </a:prstGeom>
          <a:solidFill>
            <a:srgbClr val="211915"/>
          </a:solidFill>
          <a:ln>
            <a:noFill/>
          </a:ln>
        </p:spPr>
        <p:txBody>
          <a:bodyPr lIns="0" tIns="0" rIns="0" bIns="0" anchor="ctr">
            <a:normAutofit fontScale="25000" lnSpcReduction="20000"/>
          </a:bodyPr>
          <a:lstStyle/>
          <a:p>
            <a:endParaRPr lang="es-ES"/>
          </a:p>
        </p:txBody>
      </p:sp>
      <p:sp>
        <p:nvSpPr>
          <p:cNvPr id="63" name="tbDef2"/>
          <p:cNvSpPr txBox="1"/>
          <p:nvPr/>
        </p:nvSpPr>
        <p:spPr>
          <a:xfrm>
            <a:off x="3432688" y="4260976"/>
            <a:ext cx="2500000" cy="1188720"/>
          </a:xfrm>
          <a:prstGeom prst="rect">
            <a:avLst/>
          </a:prstGeom>
          <a:noFill/>
        </p:spPr>
        <p:txBody>
          <a:bodyPr wrap="square" lIns="0" tIns="0" rIns="0" bIns="0" anchor="t">
            <a:normAutofit/>
          </a:bodyPr>
          <a:lstStyle/>
          <a:p>
            <a:pPr algn="l">
              <a:lnSpc>
                <a:spcPct val="100000"/>
              </a:lnSpc>
              <a:spcAft>
                <a:spcPts val="400"/>
              </a:spcAft>
            </a:pPr>
            <a:r>
              <a:rPr lang="en-US" sz="1100" b="1" i="0" spc="100">
                <a:solidFill>
                  <a:srgbClr val="211915"/>
                </a:solidFill>
              </a:rPr>
              <a:t>RESULTADO OPERATIVO</a:t>
            </a:r>
          </a:p>
          <a:p>
            <a:pPr algn="l">
              <a:lnSpc>
                <a:spcPct val="110000"/>
              </a:lnSpc>
            </a:pPr>
            <a:r>
              <a:rPr lang="en-US" sz="1100" b="0" i="0">
                <a:solidFill>
                  <a:srgbClr val="7A7A7A"/>
                </a:solidFill>
              </a:rPr>
              <a:t>Lo que cambia en el flujo: entregas, reprocesos, tiempo de ciclo.</a:t>
            </a:r>
            <a:endParaRPr lang="es-ES" sz="1100" b="0" i="0">
              <a:solidFill>
                <a:srgbClr val="7A7A7A"/>
              </a:solidFill>
            </a:endParaRPr>
          </a:p>
        </p:txBody>
      </p:sp>
      <p:sp>
        <p:nvSpPr>
          <p:cNvPr id="64" name="regla3">
            <a:extLst>
              <a:ext uri="{C183D7F6-B498-43B3-948B-1728B52AA6E4}">
                <adec:decorative xmlns:adec="http://schemas.microsoft.com/office/drawing/2017/decorative" val="1"/>
              </a:ext>
            </a:extLst>
          </p:cNvPr>
          <p:cNvSpPr/>
          <p:nvPr/>
        </p:nvSpPr>
        <p:spPr>
          <a:xfrm>
            <a:off x="6207008" y="4114800"/>
            <a:ext cx="2500000" cy="45720"/>
          </a:xfrm>
          <a:prstGeom prst="rect">
            <a:avLst/>
          </a:prstGeom>
          <a:solidFill>
            <a:srgbClr val="ED1C29"/>
          </a:solidFill>
          <a:ln>
            <a:noFill/>
          </a:ln>
        </p:spPr>
        <p:txBody>
          <a:bodyPr lIns="0" tIns="0" rIns="0" bIns="0" anchor="ctr">
            <a:normAutofit fontScale="25000" lnSpcReduction="20000"/>
          </a:bodyPr>
          <a:lstStyle/>
          <a:p>
            <a:endParaRPr lang="es-ES"/>
          </a:p>
        </p:txBody>
      </p:sp>
      <p:sp>
        <p:nvSpPr>
          <p:cNvPr id="65" name="tbDef3"/>
          <p:cNvSpPr txBox="1"/>
          <p:nvPr/>
        </p:nvSpPr>
        <p:spPr>
          <a:xfrm>
            <a:off x="6207008" y="4260976"/>
            <a:ext cx="2500000" cy="1188720"/>
          </a:xfrm>
          <a:prstGeom prst="rect">
            <a:avLst/>
          </a:prstGeom>
          <a:noFill/>
        </p:spPr>
        <p:txBody>
          <a:bodyPr wrap="square" lIns="0" tIns="0" rIns="0" bIns="0" anchor="t">
            <a:normAutofit/>
          </a:bodyPr>
          <a:lstStyle/>
          <a:p>
            <a:pPr algn="l">
              <a:lnSpc>
                <a:spcPct val="100000"/>
              </a:lnSpc>
              <a:spcAft>
                <a:spcPts val="400"/>
              </a:spcAft>
            </a:pPr>
            <a:r>
              <a:rPr lang="en-US" sz="1100" b="1" i="0" spc="100">
                <a:solidFill>
                  <a:srgbClr val="ED1C29"/>
                </a:solidFill>
              </a:rPr>
              <a:t>RESULTADO DE NEGOCIO</a:t>
            </a:r>
          </a:p>
          <a:p>
            <a:pPr algn="l">
              <a:lnSpc>
                <a:spcPct val="110000"/>
              </a:lnSpc>
            </a:pPr>
            <a:r>
              <a:rPr lang="en-US" sz="1100" b="0" i="0">
                <a:solidFill>
                  <a:srgbClr val="7A7A7A"/>
                </a:solidFill>
              </a:rPr>
              <a:t>Lo que percibe el cliente o la operación.</a:t>
            </a:r>
            <a:endParaRPr lang="es-ES" sz="1100" b="0" i="0">
              <a:solidFill>
                <a:srgbClr val="7A7A7A"/>
              </a:solidFill>
            </a:endParaRPr>
          </a:p>
        </p:txBody>
      </p:sp>
      <p:sp>
        <p:nvSpPr>
          <p:cNvPr id="66" name="regla4">
            <a:extLst>
              <a:ext uri="{C183D7F6-B498-43B3-948B-1728B52AA6E4}">
                <adec:decorative xmlns:adec="http://schemas.microsoft.com/office/drawing/2017/decorative" val="1"/>
              </a:ext>
            </a:extLst>
          </p:cNvPr>
          <p:cNvSpPr/>
          <p:nvPr/>
        </p:nvSpPr>
        <p:spPr>
          <a:xfrm>
            <a:off x="8981328" y="4114800"/>
            <a:ext cx="2500000" cy="45720"/>
          </a:xfrm>
          <a:prstGeom prst="rect">
            <a:avLst/>
          </a:prstGeom>
          <a:solidFill>
            <a:srgbClr val="211915"/>
          </a:solidFill>
          <a:ln>
            <a:noFill/>
          </a:ln>
        </p:spPr>
        <p:txBody>
          <a:bodyPr lIns="0" tIns="0" rIns="0" bIns="0" anchor="ctr">
            <a:normAutofit fontScale="25000" lnSpcReduction="20000"/>
          </a:bodyPr>
          <a:lstStyle/>
          <a:p>
            <a:endParaRPr lang="es-ES"/>
          </a:p>
        </p:txBody>
      </p:sp>
      <p:sp>
        <p:nvSpPr>
          <p:cNvPr id="67" name="tbDef4"/>
          <p:cNvSpPr txBox="1"/>
          <p:nvPr/>
        </p:nvSpPr>
        <p:spPr>
          <a:xfrm>
            <a:off x="8981328" y="4260976"/>
            <a:ext cx="2500000" cy="1188720"/>
          </a:xfrm>
          <a:prstGeom prst="rect">
            <a:avLst/>
          </a:prstGeom>
          <a:noFill/>
        </p:spPr>
        <p:txBody>
          <a:bodyPr wrap="square" lIns="0" tIns="0" rIns="0" bIns="0" anchor="t">
            <a:normAutofit/>
          </a:bodyPr>
          <a:lstStyle/>
          <a:p>
            <a:pPr algn="l">
              <a:lnSpc>
                <a:spcPct val="100000"/>
              </a:lnSpc>
              <a:spcAft>
                <a:spcPts val="400"/>
              </a:spcAft>
            </a:pPr>
            <a:r>
              <a:rPr lang="en-US" sz="1100" b="1" i="0" spc="100">
                <a:solidFill>
                  <a:srgbClr val="211915"/>
                </a:solidFill>
              </a:rPr>
              <a:t>VALOR ECONÓMICO</a:t>
            </a:r>
          </a:p>
          <a:p>
            <a:pPr algn="l">
              <a:lnSpc>
                <a:spcPct val="110000"/>
              </a:lnSpc>
            </a:pPr>
            <a:r>
              <a:rPr lang="en-US" sz="1100" b="0" i="0">
                <a:solidFill>
                  <a:srgbClr val="7A7A7A"/>
                </a:solidFill>
              </a:rPr>
              <a:t>Aparece cuando el resultado se materializa en ingreso o margen incremental, reducción de costos, costo evitado validado o pérdida evitada cuantificable.</a:t>
            </a:r>
            <a:endParaRPr lang="es-ES" sz="1100" b="0" i="0">
              <a:solidFill>
                <a:srgbClr val="7A7A7A"/>
              </a:solidFill>
            </a:endParaRPr>
          </a:p>
        </p:txBody>
      </p:sp>
      <p:sp>
        <p:nvSpPr>
          <p:cNvPr id="25" name="sh25"/>
          <p:cNvSpPr/>
          <p:nvPr/>
        </p:nvSpPr>
        <p:spPr>
          <a:xfrm>
            <a:off x="658368" y="5779008"/>
            <a:ext cx="10875234" cy="475488"/>
          </a:xfrm>
          <a:prstGeom prst="rect">
            <a:avLst/>
          </a:prstGeom>
          <a:solidFill>
            <a:srgbClr val="ED1C29"/>
          </a:solidFill>
          <a:ln>
            <a:noFill/>
          </a:ln>
        </p:spPr>
        <p:txBody>
          <a:bodyPr lIns="146304" tIns="73152" rIns="146304" bIns="73152" anchor="ctr">
            <a:normAutofit/>
          </a:bodyPr>
          <a:lstStyle/>
          <a:p>
            <a:pPr algn="ctr">
              <a:lnSpc>
                <a:spcPct val="100000"/>
              </a:lnSpc>
              <a:spcBef>
                <a:spcPts val="0"/>
              </a:spcBef>
            </a:pPr>
            <a:r>
              <a:rPr lang="en-US" sz="1400" b="1" i="0">
                <a:solidFill>
                  <a:srgbClr val="FFFFFF"/>
                </a:solidFill>
              </a:rPr>
              <a:t>Copilot no genera valor por sí solo.</a:t>
            </a:r>
            <a:r>
              <a:rPr lang="en-US" sz="1400" b="1">
                <a:solidFill>
                  <a:srgbClr val="FFFFFF"/>
                </a:solidFill>
              </a:rPr>
              <a:t> </a:t>
            </a:r>
            <a:r>
              <a:rPr lang="en-US" sz="1400" b="1" i="0">
                <a:solidFill>
                  <a:srgbClr val="FFFFFF"/>
                </a:solidFill>
              </a:rPr>
              <a:t>El equipo y el negocio deciden dónde utilizar la capacidad generada.</a:t>
            </a:r>
            <a:endParaRPr lang="es-ES" sz="1400" b="1" i="0" dirty="0">
              <a:solidFill>
                <a:srgbClr val="FFFFFF"/>
              </a:solidFill>
            </a:endParaRPr>
          </a:p>
        </p:txBody>
      </p:sp>
      <p:sp>
        <p:nvSpPr>
          <p:cNvPr id="29" name="tb29"/>
          <p:cNvSpPr txBox="1"/>
          <p:nvPr/>
        </p:nvSpPr>
        <p:spPr>
          <a:xfrm>
            <a:off x="658368" y="6272784"/>
            <a:ext cx="5486400" cy="228600"/>
          </a:xfrm>
          <a:prstGeom prst="rect">
            <a:avLst/>
          </a:prstGeom>
          <a:noFill/>
        </p:spPr>
        <p:txBody>
          <a:bodyPr wrap="square" lIns="0" tIns="0" rIns="0" bIns="0" anchor="t">
            <a:normAutofit/>
          </a:bodyPr>
          <a:lstStyle/>
          <a:p>
            <a:pPr algn="l">
              <a:lnSpc>
                <a:spcPct val="100000"/>
              </a:lnSpc>
              <a:spcBef>
                <a:spcPts val="0"/>
              </a:spcBef>
            </a:pPr>
            <a:r>
              <a:rPr lang="es-ES" sz="900" b="1" i="0">
                <a:solidFill>
                  <a:srgbClr val="211915"/>
                </a:solidFill>
              </a:rPr>
              <a:t>Tuya   ·   Del valor de GitHub Copilot</a:t>
            </a:r>
          </a:p>
        </p:txBody>
      </p:sp>
      <p:sp>
        <p:nvSpPr>
          <p:cNvPr id="30" name="tb30"/>
          <p:cNvSpPr txBox="1"/>
          <p:nvPr/>
        </p:nvSpPr>
        <p:spPr>
          <a:xfrm>
            <a:off x="10436322" y="6272784"/>
            <a:ext cx="1097280" cy="228600"/>
          </a:xfrm>
          <a:prstGeom prst="rect">
            <a:avLst/>
          </a:prstGeom>
          <a:noFill/>
        </p:spPr>
        <p:txBody>
          <a:bodyPr wrap="square" lIns="0" tIns="0" rIns="0" bIns="0" anchor="t">
            <a:normAutofit/>
          </a:bodyPr>
          <a:lstStyle/>
          <a:p>
            <a:pPr algn="r">
              <a:lnSpc>
                <a:spcPct val="100000"/>
              </a:lnSpc>
              <a:spcBef>
                <a:spcPts val="0"/>
              </a:spcBef>
            </a:pPr>
            <a:r>
              <a:rPr lang="es-ES" sz="900" b="1" i="0">
                <a:solidFill>
                  <a:srgbClr val="ED1C29"/>
                </a:solidFill>
              </a:rPr>
              <a:t>04</a:t>
            </a:r>
          </a:p>
        </p:txBody>
      </p:sp>
      <p:pic>
        <p:nvPicPr>
          <p:cNvPr id="900" name="Logo Tuya" descr="Logo corporativo Tuya"/>
          <p:cNvPicPr>
            <a:picLocks noChangeAspect="1"/>
          </p:cNvPicPr>
          <p:nvPr/>
        </p:nvPicPr>
        <p:blipFill>
          <a:blip r:embed="rId3"/>
          <a:stretch>
            <a:fillRect/>
          </a:stretch>
        </p:blipFill>
        <p:spPr>
          <a:xfrm>
            <a:off x="11152200" y="321276"/>
            <a:ext cx="640080" cy="32004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 name="sh123"/>
          <p:cNvSpPr/>
          <p:nvPr/>
        </p:nvSpPr>
        <p:spPr>
          <a:xfrm>
            <a:off x="658368" y="384048"/>
            <a:ext cx="146304" cy="146304"/>
          </a:xfrm>
          <a:prstGeom prst="rect">
            <a:avLst/>
          </a:prstGeom>
          <a:solidFill>
            <a:srgbClr val="ED1C29"/>
          </a:solidFill>
          <a:ln>
            <a:noFill/>
          </a:ln>
        </p:spPr>
        <p:txBody>
          <a:bodyPr lIns="146304" tIns="73152" rIns="146304" bIns="73152" anchor="ctr">
            <a:normAutofit fontScale="25000" lnSpcReduction="20000"/>
          </a:bodyPr>
          <a:lstStyle/>
          <a:p>
            <a:endParaRPr lang="es-ES"/>
          </a:p>
        </p:txBody>
      </p:sp>
      <p:sp>
        <p:nvSpPr>
          <p:cNvPr id="124" name="tb124"/>
          <p:cNvSpPr txBox="1"/>
          <p:nvPr/>
        </p:nvSpPr>
        <p:spPr>
          <a:xfrm>
            <a:off x="914400" y="365760"/>
            <a:ext cx="7315200" cy="237744"/>
          </a:xfrm>
          <a:prstGeom prst="rect">
            <a:avLst/>
          </a:prstGeom>
          <a:noFill/>
        </p:spPr>
        <p:txBody>
          <a:bodyPr wrap="square" lIns="0" tIns="0" rIns="0" bIns="0" anchor="t">
            <a:normAutofit/>
          </a:bodyPr>
          <a:lstStyle/>
          <a:p>
            <a:pPr algn="l">
              <a:lnSpc>
                <a:spcPct val="100000"/>
              </a:lnSpc>
              <a:spcBef>
                <a:spcPts val="0"/>
              </a:spcBef>
            </a:pPr>
            <a:r>
              <a:rPr lang="es-ES" sz="1050" b="1" i="0" spc="120">
                <a:solidFill>
                  <a:srgbClr val="ED1C29"/>
                </a:solidFill>
              </a:rPr>
              <a:t>QUÉ PODEMOS MEDIR HOY</a:t>
            </a:r>
            <a:endParaRPr lang="es-ES" sz="1050" b="1" i="0" spc="120" dirty="0">
              <a:solidFill>
                <a:srgbClr val="ED1C29"/>
              </a:solidFill>
            </a:endParaRPr>
          </a:p>
        </p:txBody>
      </p:sp>
      <p:sp>
        <p:nvSpPr>
          <p:cNvPr id="125" name="tb125"/>
          <p:cNvSpPr txBox="1"/>
          <p:nvPr/>
        </p:nvSpPr>
        <p:spPr>
          <a:xfrm>
            <a:off x="658368" y="713232"/>
            <a:ext cx="9326880" cy="685800"/>
          </a:xfrm>
          <a:prstGeom prst="rect">
            <a:avLst/>
          </a:prstGeom>
          <a:noFill/>
        </p:spPr>
        <p:txBody>
          <a:bodyPr wrap="square" lIns="0" tIns="0" rIns="0" bIns="0" anchor="t">
            <a:normAutofit/>
          </a:bodyPr>
          <a:lstStyle/>
          <a:p>
            <a:pPr algn="l">
              <a:lnSpc>
                <a:spcPct val="100000"/>
              </a:lnSpc>
              <a:spcBef>
                <a:spcPts val="0"/>
              </a:spcBef>
            </a:pPr>
            <a:r>
              <a:rPr lang="es-ES" sz="3000" b="1" i="0">
                <a:solidFill>
                  <a:srgbClr val="211915"/>
                </a:solidFill>
              </a:rPr>
              <a:t>La evidencia no tiene que vivir en GitHub</a:t>
            </a:r>
            <a:endParaRPr lang="es-ES" sz="3000" b="1" i="0" dirty="0">
              <a:solidFill>
                <a:srgbClr val="211915"/>
              </a:solidFill>
            </a:endParaRPr>
          </a:p>
        </p:txBody>
      </p:sp>
      <p:sp>
        <p:nvSpPr>
          <p:cNvPr id="100" name="sh100"/>
          <p:cNvSpPr/>
          <p:nvPr/>
        </p:nvSpPr>
        <p:spPr>
          <a:xfrm>
            <a:off x="658368" y="1645920"/>
            <a:ext cx="10881360" cy="548640"/>
          </a:xfrm>
          <a:prstGeom prst="rect">
            <a:avLst/>
          </a:prstGeom>
          <a:solidFill>
            <a:srgbClr val="F3F1F0"/>
          </a:solidFill>
          <a:ln>
            <a:noFill/>
          </a:ln>
        </p:spPr>
        <p:txBody>
          <a:bodyPr lIns="146304" tIns="73152" rIns="146304" bIns="73152" anchor="ctr">
            <a:normAutofit/>
          </a:bodyPr>
          <a:lstStyle/>
          <a:p>
            <a:endParaRPr lang="es-ES"/>
          </a:p>
        </p:txBody>
      </p:sp>
      <p:sp>
        <p:nvSpPr>
          <p:cNvPr id="101" name="tb101"/>
          <p:cNvSpPr txBox="1">
            <a:spLocks/>
          </p:cNvSpPr>
          <p:nvPr/>
        </p:nvSpPr>
        <p:spPr>
          <a:xfrm>
            <a:off x="804672" y="1801368"/>
            <a:ext cx="10588752" cy="320040"/>
          </a:xfrm>
          <a:prstGeom prst="rect">
            <a:avLst/>
          </a:prstGeom>
          <a:noFill/>
        </p:spPr>
        <p:txBody>
          <a:bodyPr wrap="square" lIns="0" tIns="0" rIns="0" bIns="0" anchor="t">
            <a:normAutofit/>
          </a:bodyPr>
          <a:lstStyle/>
          <a:p>
            <a:pPr algn="l">
              <a:lnSpc>
                <a:spcPct val="100000"/>
              </a:lnSpc>
              <a:spcBef>
                <a:spcPts val="0"/>
              </a:spcBef>
            </a:pPr>
            <a:r>
              <a:rPr lang="es-ES" sz="1200" b="0" i="0">
                <a:solidFill>
                  <a:srgbClr val="5F5A57"/>
                </a:solidFill>
              </a:rPr>
              <a:t>Los repositorios no están alojados actualmente en GitHub y la telemetría disponible de Copilot es limitada. No impide realizar el ejercicio.</a:t>
            </a:r>
          </a:p>
        </p:txBody>
      </p:sp>
      <p:sp>
        <p:nvSpPr>
          <p:cNvPr id="102" name="sh102"/>
          <p:cNvSpPr/>
          <p:nvPr/>
        </p:nvSpPr>
        <p:spPr>
          <a:xfrm>
            <a:off x="658368" y="2468880"/>
            <a:ext cx="2583180" cy="1965960"/>
          </a:xfrm>
          <a:prstGeom prst="rect">
            <a:avLst/>
          </a:prstGeom>
          <a:solidFill>
            <a:srgbClr val="FBE9EA"/>
          </a:solidFill>
          <a:ln>
            <a:noFill/>
          </a:ln>
        </p:spPr>
        <p:txBody>
          <a:bodyPr lIns="146304" tIns="73152" rIns="146304" bIns="73152" anchor="ctr">
            <a:normAutofit/>
          </a:bodyPr>
          <a:lstStyle/>
          <a:p>
            <a:endParaRPr lang="es-ES"/>
          </a:p>
        </p:txBody>
      </p:sp>
      <p:sp>
        <p:nvSpPr>
          <p:cNvPr id="103" name="sh103"/>
          <p:cNvSpPr/>
          <p:nvPr/>
        </p:nvSpPr>
        <p:spPr>
          <a:xfrm>
            <a:off x="658368" y="2468880"/>
            <a:ext cx="2583180" cy="50292"/>
          </a:xfrm>
          <a:prstGeom prst="rect">
            <a:avLst/>
          </a:prstGeom>
          <a:solidFill>
            <a:srgbClr val="ED1C29"/>
          </a:solidFill>
          <a:ln>
            <a:noFill/>
          </a:ln>
        </p:spPr>
        <p:txBody>
          <a:bodyPr lIns="146304" tIns="73152" rIns="146304" bIns="73152" anchor="ctr">
            <a:normAutofit fontScale="25000" lnSpcReduction="20000"/>
          </a:bodyPr>
          <a:lstStyle/>
          <a:p>
            <a:endParaRPr lang="es-ES"/>
          </a:p>
        </p:txBody>
      </p:sp>
      <p:sp>
        <p:nvSpPr>
          <p:cNvPr id="104" name="tb104"/>
          <p:cNvSpPr txBox="1"/>
          <p:nvPr/>
        </p:nvSpPr>
        <p:spPr>
          <a:xfrm>
            <a:off x="932688" y="2788920"/>
            <a:ext cx="2034540" cy="274320"/>
          </a:xfrm>
          <a:prstGeom prst="rect">
            <a:avLst/>
          </a:prstGeom>
          <a:noFill/>
        </p:spPr>
        <p:txBody>
          <a:bodyPr wrap="square" lIns="0" tIns="0" rIns="0" bIns="0" anchor="t">
            <a:normAutofit/>
          </a:bodyPr>
          <a:lstStyle/>
          <a:p>
            <a:pPr algn="l">
              <a:lnSpc>
                <a:spcPct val="100000"/>
              </a:lnSpc>
              <a:spcBef>
                <a:spcPts val="0"/>
              </a:spcBef>
            </a:pPr>
            <a:r>
              <a:rPr lang="es-ES" sz="1100" b="1" i="0" spc="120">
                <a:solidFill>
                  <a:srgbClr val="ED1C29"/>
                </a:solidFill>
              </a:rPr>
              <a:t>TECNOLOGÍA</a:t>
            </a:r>
          </a:p>
        </p:txBody>
      </p:sp>
      <p:sp>
        <p:nvSpPr>
          <p:cNvPr id="105" name="tb105"/>
          <p:cNvSpPr txBox="1"/>
          <p:nvPr/>
        </p:nvSpPr>
        <p:spPr>
          <a:xfrm>
            <a:off x="932688" y="3145536"/>
            <a:ext cx="2034540" cy="914400"/>
          </a:xfrm>
          <a:prstGeom prst="rect">
            <a:avLst/>
          </a:prstGeom>
          <a:noFill/>
        </p:spPr>
        <p:txBody>
          <a:bodyPr wrap="square" lIns="0" tIns="0" rIns="0" bIns="0" anchor="t">
            <a:normAutofit/>
          </a:bodyPr>
          <a:lstStyle/>
          <a:p>
            <a:pPr algn="l">
              <a:lnSpc>
                <a:spcPct val="100000"/>
              </a:lnSpc>
              <a:spcBef>
                <a:spcPts val="0"/>
              </a:spcBef>
            </a:pPr>
            <a:r>
              <a:rPr lang="es-ES" sz="1200" b="0" i="0">
                <a:solidFill>
                  <a:srgbClr val="211915"/>
                </a:solidFill>
              </a:rPr>
              <a:t>Herramientas de gestión, releases, defectos, incidentes, tiempos de ciclo, retrabajo.</a:t>
            </a:r>
          </a:p>
        </p:txBody>
      </p:sp>
      <p:sp>
        <p:nvSpPr>
          <p:cNvPr id="106" name="sh106"/>
          <p:cNvSpPr/>
          <p:nvPr/>
        </p:nvSpPr>
        <p:spPr>
          <a:xfrm>
            <a:off x="3424428" y="2468880"/>
            <a:ext cx="2583180" cy="1965960"/>
          </a:xfrm>
          <a:prstGeom prst="rect">
            <a:avLst/>
          </a:prstGeom>
          <a:solidFill>
            <a:srgbClr val="F3F1F0"/>
          </a:solidFill>
          <a:ln>
            <a:noFill/>
          </a:ln>
        </p:spPr>
        <p:txBody>
          <a:bodyPr lIns="146304" tIns="73152" rIns="146304" bIns="73152" anchor="ctr">
            <a:normAutofit/>
          </a:bodyPr>
          <a:lstStyle/>
          <a:p>
            <a:endParaRPr lang="es-ES"/>
          </a:p>
        </p:txBody>
      </p:sp>
      <p:sp>
        <p:nvSpPr>
          <p:cNvPr id="107" name="sh107"/>
          <p:cNvSpPr>
            <a:spLocks/>
          </p:cNvSpPr>
          <p:nvPr/>
        </p:nvSpPr>
        <p:spPr>
          <a:xfrm>
            <a:off x="3424428" y="2468880"/>
            <a:ext cx="2583180" cy="50292"/>
          </a:xfrm>
          <a:prstGeom prst="rect">
            <a:avLst/>
          </a:prstGeom>
          <a:solidFill>
            <a:srgbClr val="7A7A7A"/>
          </a:solidFill>
          <a:ln>
            <a:noFill/>
          </a:ln>
        </p:spPr>
        <p:txBody>
          <a:bodyPr lIns="146304" tIns="73152" rIns="146304" bIns="73152" anchor="ctr">
            <a:normAutofit fontScale="25000" lnSpcReduction="20000"/>
          </a:bodyPr>
          <a:lstStyle/>
          <a:p>
            <a:endParaRPr lang="es-ES"/>
          </a:p>
        </p:txBody>
      </p:sp>
      <p:sp>
        <p:nvSpPr>
          <p:cNvPr id="108" name="tb108"/>
          <p:cNvSpPr txBox="1">
            <a:spLocks/>
          </p:cNvSpPr>
          <p:nvPr/>
        </p:nvSpPr>
        <p:spPr>
          <a:xfrm>
            <a:off x="3698748" y="2788920"/>
            <a:ext cx="2034540" cy="274320"/>
          </a:xfrm>
          <a:prstGeom prst="rect">
            <a:avLst/>
          </a:prstGeom>
          <a:noFill/>
        </p:spPr>
        <p:txBody>
          <a:bodyPr wrap="square" lIns="0" tIns="0" rIns="0" bIns="0" anchor="t">
            <a:normAutofit/>
          </a:bodyPr>
          <a:lstStyle/>
          <a:p>
            <a:pPr algn="l">
              <a:lnSpc>
                <a:spcPct val="100000"/>
              </a:lnSpc>
              <a:spcBef>
                <a:spcPts val="0"/>
              </a:spcBef>
            </a:pPr>
            <a:r>
              <a:rPr lang="es-ES" sz="1100" b="1" i="0" spc="120">
                <a:solidFill>
                  <a:srgbClr val="7A7A7A"/>
                </a:solidFill>
              </a:rPr>
              <a:t>PRODUCTO</a:t>
            </a:r>
          </a:p>
        </p:txBody>
      </p:sp>
      <p:sp>
        <p:nvSpPr>
          <p:cNvPr id="109" name="tb109"/>
          <p:cNvSpPr txBox="1"/>
          <p:nvPr/>
        </p:nvSpPr>
        <p:spPr>
          <a:xfrm>
            <a:off x="3698748" y="3145536"/>
            <a:ext cx="2034540" cy="914400"/>
          </a:xfrm>
          <a:prstGeom prst="rect">
            <a:avLst/>
          </a:prstGeom>
          <a:noFill/>
        </p:spPr>
        <p:txBody>
          <a:bodyPr wrap="square" lIns="0" tIns="0" rIns="0" bIns="0" anchor="t">
            <a:normAutofit/>
          </a:bodyPr>
          <a:lstStyle/>
          <a:p>
            <a:pPr algn="l">
              <a:lnSpc>
                <a:spcPct val="100000"/>
              </a:lnSpc>
              <a:spcBef>
                <a:spcPts val="0"/>
              </a:spcBef>
            </a:pPr>
            <a:r>
              <a:rPr lang="es-ES" sz="1200" b="0" i="0">
                <a:solidFill>
                  <a:srgbClr val="211915"/>
                </a:solidFill>
              </a:rPr>
              <a:t>Backlog, funcionalidades, adopción, transacciones, KPIs del producto, time-to-market.</a:t>
            </a:r>
          </a:p>
        </p:txBody>
      </p:sp>
      <p:sp>
        <p:nvSpPr>
          <p:cNvPr id="110" name="sh110"/>
          <p:cNvSpPr/>
          <p:nvPr/>
        </p:nvSpPr>
        <p:spPr>
          <a:xfrm>
            <a:off x="6190488" y="2468880"/>
            <a:ext cx="2583180" cy="1965960"/>
          </a:xfrm>
          <a:prstGeom prst="rect">
            <a:avLst/>
          </a:prstGeom>
          <a:solidFill>
            <a:srgbClr val="FBE9EA"/>
          </a:solidFill>
          <a:ln>
            <a:noFill/>
          </a:ln>
        </p:spPr>
        <p:txBody>
          <a:bodyPr lIns="146304" tIns="73152" rIns="146304" bIns="73152" anchor="ctr">
            <a:normAutofit/>
          </a:bodyPr>
          <a:lstStyle/>
          <a:p>
            <a:endParaRPr lang="es-ES"/>
          </a:p>
        </p:txBody>
      </p:sp>
      <p:sp>
        <p:nvSpPr>
          <p:cNvPr id="111" name="sh111"/>
          <p:cNvSpPr>
            <a:spLocks/>
          </p:cNvSpPr>
          <p:nvPr/>
        </p:nvSpPr>
        <p:spPr>
          <a:xfrm>
            <a:off x="6190488" y="2468880"/>
            <a:ext cx="2583180" cy="50292"/>
          </a:xfrm>
          <a:prstGeom prst="rect">
            <a:avLst/>
          </a:prstGeom>
          <a:solidFill>
            <a:srgbClr val="ED1C29"/>
          </a:solidFill>
          <a:ln>
            <a:noFill/>
          </a:ln>
        </p:spPr>
        <p:txBody>
          <a:bodyPr lIns="146304" tIns="73152" rIns="146304" bIns="73152" anchor="ctr">
            <a:normAutofit fontScale="25000" lnSpcReduction="20000"/>
          </a:bodyPr>
          <a:lstStyle/>
          <a:p>
            <a:endParaRPr lang="es-ES"/>
          </a:p>
        </p:txBody>
      </p:sp>
      <p:sp>
        <p:nvSpPr>
          <p:cNvPr id="112" name="tb112"/>
          <p:cNvSpPr txBox="1">
            <a:spLocks/>
          </p:cNvSpPr>
          <p:nvPr/>
        </p:nvSpPr>
        <p:spPr>
          <a:xfrm>
            <a:off x="6464808" y="2788920"/>
            <a:ext cx="2034540" cy="274320"/>
          </a:xfrm>
          <a:prstGeom prst="rect">
            <a:avLst/>
          </a:prstGeom>
          <a:noFill/>
        </p:spPr>
        <p:txBody>
          <a:bodyPr wrap="square" lIns="0" tIns="0" rIns="0" bIns="0" anchor="t">
            <a:normAutofit/>
          </a:bodyPr>
          <a:lstStyle/>
          <a:p>
            <a:pPr algn="l">
              <a:lnSpc>
                <a:spcPct val="100000"/>
              </a:lnSpc>
              <a:spcBef>
                <a:spcPts val="0"/>
              </a:spcBef>
            </a:pPr>
            <a:r>
              <a:rPr lang="es-ES" sz="1100" b="1" i="0" spc="120">
                <a:solidFill>
                  <a:srgbClr val="ED1C29"/>
                </a:solidFill>
              </a:rPr>
              <a:t>FINANZAS</a:t>
            </a:r>
          </a:p>
        </p:txBody>
      </p:sp>
      <p:sp>
        <p:nvSpPr>
          <p:cNvPr id="113" name="tb113"/>
          <p:cNvSpPr txBox="1"/>
          <p:nvPr/>
        </p:nvSpPr>
        <p:spPr>
          <a:xfrm>
            <a:off x="6464808" y="3145536"/>
            <a:ext cx="2034540" cy="914400"/>
          </a:xfrm>
          <a:prstGeom prst="rect">
            <a:avLst/>
          </a:prstGeom>
          <a:noFill/>
        </p:spPr>
        <p:txBody>
          <a:bodyPr wrap="square" lIns="0" tIns="0" rIns="0" bIns="0" anchor="t">
            <a:normAutofit/>
          </a:bodyPr>
          <a:lstStyle/>
          <a:p>
            <a:pPr algn="l">
              <a:lnSpc>
                <a:spcPct val="100000"/>
              </a:lnSpc>
              <a:spcBef>
                <a:spcPts val="0"/>
              </a:spcBef>
            </a:pPr>
            <a:r>
              <a:rPr lang="es-ES" sz="1200" b="0" i="0">
                <a:solidFill>
                  <a:srgbClr val="211915"/>
                </a:solidFill>
              </a:rPr>
              <a:t>Contratos, facturación de proveedores, presupuesto, costos operacionales, capacidad externa contratada.</a:t>
            </a:r>
          </a:p>
        </p:txBody>
      </p:sp>
      <p:sp>
        <p:nvSpPr>
          <p:cNvPr id="114" name="sh114"/>
          <p:cNvSpPr/>
          <p:nvPr/>
        </p:nvSpPr>
        <p:spPr>
          <a:xfrm>
            <a:off x="8956548" y="2468880"/>
            <a:ext cx="2583180" cy="1965960"/>
          </a:xfrm>
          <a:prstGeom prst="rect">
            <a:avLst/>
          </a:prstGeom>
          <a:solidFill>
            <a:srgbClr val="F3F1F0"/>
          </a:solidFill>
          <a:ln>
            <a:noFill/>
          </a:ln>
        </p:spPr>
        <p:txBody>
          <a:bodyPr lIns="146304" tIns="73152" rIns="146304" bIns="73152" anchor="ctr">
            <a:normAutofit/>
          </a:bodyPr>
          <a:lstStyle/>
          <a:p>
            <a:endParaRPr lang="es-ES"/>
          </a:p>
        </p:txBody>
      </p:sp>
      <p:sp>
        <p:nvSpPr>
          <p:cNvPr id="115" name="sh115"/>
          <p:cNvSpPr>
            <a:spLocks/>
          </p:cNvSpPr>
          <p:nvPr/>
        </p:nvSpPr>
        <p:spPr>
          <a:xfrm>
            <a:off x="8956548" y="2468880"/>
            <a:ext cx="2583180" cy="50292"/>
          </a:xfrm>
          <a:prstGeom prst="rect">
            <a:avLst/>
          </a:prstGeom>
          <a:solidFill>
            <a:srgbClr val="7A7A7A"/>
          </a:solidFill>
          <a:ln>
            <a:noFill/>
          </a:ln>
        </p:spPr>
        <p:txBody>
          <a:bodyPr lIns="146304" tIns="73152" rIns="146304" bIns="73152" anchor="ctr">
            <a:normAutofit fontScale="25000" lnSpcReduction="20000"/>
          </a:bodyPr>
          <a:lstStyle/>
          <a:p>
            <a:endParaRPr lang="es-ES"/>
          </a:p>
        </p:txBody>
      </p:sp>
      <p:sp>
        <p:nvSpPr>
          <p:cNvPr id="116" name="tb116"/>
          <p:cNvSpPr txBox="1">
            <a:spLocks/>
          </p:cNvSpPr>
          <p:nvPr/>
        </p:nvSpPr>
        <p:spPr>
          <a:xfrm>
            <a:off x="9230868" y="2788920"/>
            <a:ext cx="2034540" cy="274320"/>
          </a:xfrm>
          <a:prstGeom prst="rect">
            <a:avLst/>
          </a:prstGeom>
          <a:noFill/>
        </p:spPr>
        <p:txBody>
          <a:bodyPr wrap="square" lIns="0" tIns="0" rIns="0" bIns="0" anchor="t">
            <a:normAutofit/>
          </a:bodyPr>
          <a:lstStyle/>
          <a:p>
            <a:pPr algn="l">
              <a:lnSpc>
                <a:spcPct val="100000"/>
              </a:lnSpc>
              <a:spcBef>
                <a:spcPts val="0"/>
              </a:spcBef>
            </a:pPr>
            <a:r>
              <a:rPr lang="es-ES" sz="1100" b="1" i="0" spc="120">
                <a:solidFill>
                  <a:srgbClr val="7A7A7A"/>
                </a:solidFill>
              </a:rPr>
              <a:t>TALENTO HUMANO</a:t>
            </a:r>
          </a:p>
        </p:txBody>
      </p:sp>
      <p:sp>
        <p:nvSpPr>
          <p:cNvPr id="117" name="tb117"/>
          <p:cNvSpPr txBox="1"/>
          <p:nvPr/>
        </p:nvSpPr>
        <p:spPr>
          <a:xfrm>
            <a:off x="9230868" y="3145536"/>
            <a:ext cx="2034540" cy="914400"/>
          </a:xfrm>
          <a:prstGeom prst="rect">
            <a:avLst/>
          </a:prstGeom>
          <a:noFill/>
        </p:spPr>
        <p:txBody>
          <a:bodyPr wrap="square" lIns="0" tIns="0" rIns="0" bIns="0" anchor="t">
            <a:normAutofit/>
          </a:bodyPr>
          <a:lstStyle/>
          <a:p>
            <a:pPr algn="l">
              <a:lnSpc>
                <a:spcPct val="100000"/>
              </a:lnSpc>
              <a:spcBef>
                <a:spcPts val="0"/>
              </a:spcBef>
            </a:pPr>
            <a:r>
              <a:rPr lang="es-ES" sz="1200" b="0" i="0">
                <a:solidFill>
                  <a:srgbClr val="211915"/>
                </a:solidFill>
              </a:rPr>
              <a:t>Onboarding, desarrollo de habilidades, reskilling, movilidad, evolución de roles, workforce planning.</a:t>
            </a:r>
          </a:p>
        </p:txBody>
      </p:sp>
      <p:sp>
        <p:nvSpPr>
          <p:cNvPr id="118" name="sh118"/>
          <p:cNvSpPr/>
          <p:nvPr/>
        </p:nvSpPr>
        <p:spPr>
          <a:xfrm>
            <a:off x="658368" y="4754880"/>
            <a:ext cx="10881360" cy="594360"/>
          </a:xfrm>
          <a:prstGeom prst="rect">
            <a:avLst/>
          </a:prstGeom>
          <a:solidFill>
            <a:srgbClr val="ED1C29"/>
          </a:solidFill>
          <a:ln>
            <a:noFill/>
          </a:ln>
        </p:spPr>
        <p:txBody>
          <a:bodyPr lIns="146304" tIns="73152" rIns="146304" bIns="73152" anchor="ctr">
            <a:normAutofit/>
          </a:bodyPr>
          <a:lstStyle/>
          <a:p>
            <a:endParaRPr lang="es-ES"/>
          </a:p>
        </p:txBody>
      </p:sp>
      <p:sp>
        <p:nvSpPr>
          <p:cNvPr id="119" name="tb119"/>
          <p:cNvSpPr txBox="1"/>
          <p:nvPr/>
        </p:nvSpPr>
        <p:spPr>
          <a:xfrm>
            <a:off x="932688" y="4937760"/>
            <a:ext cx="10332720" cy="320040"/>
          </a:xfrm>
          <a:prstGeom prst="rect">
            <a:avLst/>
          </a:prstGeom>
          <a:noFill/>
        </p:spPr>
        <p:txBody>
          <a:bodyPr wrap="square" lIns="0" tIns="0" rIns="0" bIns="0" anchor="t">
            <a:normAutofit/>
          </a:bodyPr>
          <a:lstStyle/>
          <a:p>
            <a:pPr algn="ctr">
              <a:lnSpc>
                <a:spcPct val="100000"/>
              </a:lnSpc>
              <a:spcBef>
                <a:spcPts val="0"/>
              </a:spcBef>
            </a:pPr>
            <a:r>
              <a:rPr lang="es-ES" sz="1300" b="1" i="0">
                <a:solidFill>
                  <a:srgbClr val="FFFFFF"/>
                </a:solidFill>
              </a:rPr>
              <a:t>Copilot puede ser la intervención. La evidencia del resultado puede encontrarse en diferentes fuentes de la organización.</a:t>
            </a:r>
          </a:p>
        </p:txBody>
      </p:sp>
      <p:sp>
        <p:nvSpPr>
          <p:cNvPr id="126" name="tb126"/>
          <p:cNvSpPr txBox="1"/>
          <p:nvPr/>
        </p:nvSpPr>
        <p:spPr>
          <a:xfrm>
            <a:off x="658368" y="6272784"/>
            <a:ext cx="5486400" cy="228600"/>
          </a:xfrm>
          <a:prstGeom prst="rect">
            <a:avLst/>
          </a:prstGeom>
          <a:noFill/>
        </p:spPr>
        <p:txBody>
          <a:bodyPr wrap="square" lIns="0" tIns="0" rIns="0" bIns="0" anchor="t">
            <a:normAutofit/>
          </a:bodyPr>
          <a:lstStyle/>
          <a:p>
            <a:pPr algn="l">
              <a:lnSpc>
                <a:spcPct val="100000"/>
              </a:lnSpc>
              <a:spcBef>
                <a:spcPts val="0"/>
              </a:spcBef>
            </a:pPr>
            <a:r>
              <a:rPr lang="es-ES" sz="900" b="1" i="0" dirty="0">
                <a:solidFill>
                  <a:srgbClr val="211915"/>
                </a:solidFill>
              </a:rPr>
              <a:t>Tuya   ·   </a:t>
            </a:r>
            <a:r>
              <a:rPr lang="es-ES" sz="900" b="1" i="0">
                <a:solidFill>
                  <a:srgbClr val="211915"/>
                </a:solidFill>
              </a:rPr>
              <a:t>Del valor de GitHub Copilot</a:t>
            </a:r>
            <a:endParaRPr lang="es-ES" sz="900" b="1" i="0" dirty="0">
              <a:solidFill>
                <a:srgbClr val="211915"/>
              </a:solidFill>
            </a:endParaRPr>
          </a:p>
        </p:txBody>
      </p:sp>
      <p:sp>
        <p:nvSpPr>
          <p:cNvPr id="127" name="tb127"/>
          <p:cNvSpPr txBox="1"/>
          <p:nvPr/>
        </p:nvSpPr>
        <p:spPr>
          <a:xfrm>
            <a:off x="10436322" y="6272784"/>
            <a:ext cx="1097280" cy="228600"/>
          </a:xfrm>
          <a:prstGeom prst="rect">
            <a:avLst/>
          </a:prstGeom>
          <a:noFill/>
        </p:spPr>
        <p:txBody>
          <a:bodyPr wrap="square" lIns="0" tIns="0" rIns="0" bIns="0" anchor="t">
            <a:normAutofit/>
          </a:bodyPr>
          <a:lstStyle/>
          <a:p>
            <a:pPr algn="r">
              <a:lnSpc>
                <a:spcPct val="100000"/>
              </a:lnSpc>
              <a:spcBef>
                <a:spcPts val="0"/>
              </a:spcBef>
            </a:pPr>
            <a:r>
              <a:rPr lang="es-ES" sz="900" b="1" i="0">
                <a:solidFill>
                  <a:srgbClr val="ED1C29"/>
                </a:solidFill>
              </a:rPr>
              <a:t>05</a:t>
            </a:r>
            <a:endParaRPr lang="es-ES" sz="900" b="1" i="0" dirty="0">
              <a:solidFill>
                <a:srgbClr val="ED1C29"/>
              </a:solidFill>
            </a:endParaRPr>
          </a:p>
        </p:txBody>
      </p:sp>
      <p:pic>
        <p:nvPicPr>
          <p:cNvPr id="900" name="Logo Tuya"/>
          <p:cNvPicPr>
            <a:picLocks noChangeAspect="1"/>
          </p:cNvPicPr>
          <p:nvPr/>
        </p:nvPicPr>
        <p:blipFill>
          <a:blip r:embed="rId3"/>
          <a:stretch>
            <a:fillRect/>
          </a:stretch>
        </p:blipFill>
        <p:spPr>
          <a:xfrm>
            <a:off x="11152200" y="321276"/>
            <a:ext cx="640080" cy="32004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sh26">
            <a:extLst>
              <a:ext uri="{C183D7F6-B498-43B3-948B-1728B52AA6E4}">
                <adec:decorative xmlns:adec="http://schemas.microsoft.com/office/drawing/2017/decorative" val="1"/>
              </a:ext>
            </a:extLst>
          </p:cNvPr>
          <p:cNvSpPr/>
          <p:nvPr/>
        </p:nvSpPr>
        <p:spPr>
          <a:xfrm>
            <a:off x="658368" y="384048"/>
            <a:ext cx="146304" cy="146304"/>
          </a:xfrm>
          <a:prstGeom prst="rect">
            <a:avLst/>
          </a:prstGeom>
          <a:solidFill>
            <a:srgbClr val="ED1C29"/>
          </a:solidFill>
          <a:ln>
            <a:noFill/>
          </a:ln>
        </p:spPr>
        <p:txBody>
          <a:bodyPr lIns="0" tIns="0" rIns="0" bIns="0" anchor="ctr">
            <a:normAutofit fontScale="62500" lnSpcReduction="20000"/>
          </a:bodyPr>
          <a:lstStyle/>
          <a:p>
            <a:endParaRPr lang="es-ES"/>
          </a:p>
        </p:txBody>
      </p:sp>
      <p:sp>
        <p:nvSpPr>
          <p:cNvPr id="27" name="tb27"/>
          <p:cNvSpPr txBox="1"/>
          <p:nvPr/>
        </p:nvSpPr>
        <p:spPr>
          <a:xfrm>
            <a:off x="914400" y="365760"/>
            <a:ext cx="7315200" cy="237744"/>
          </a:xfrm>
          <a:prstGeom prst="rect">
            <a:avLst/>
          </a:prstGeom>
          <a:noFill/>
        </p:spPr>
        <p:txBody>
          <a:bodyPr wrap="square" lIns="0" tIns="0" rIns="0" bIns="0" anchor="t">
            <a:normAutofit/>
          </a:bodyPr>
          <a:lstStyle/>
          <a:p>
            <a:pPr algn="l">
              <a:lnSpc>
                <a:spcPct val="100000"/>
              </a:lnSpc>
              <a:spcBef>
                <a:spcPts val="0"/>
              </a:spcBef>
            </a:pPr>
            <a:r>
              <a:rPr lang="es-ES" sz="1050" b="1" i="0" spc="120">
                <a:solidFill>
                  <a:srgbClr val="ED1C29"/>
                </a:solidFill>
              </a:rPr>
              <a:t>CUATRO MECANISMOS DE VALOR</a:t>
            </a:r>
          </a:p>
        </p:txBody>
      </p:sp>
      <p:sp>
        <p:nvSpPr>
          <p:cNvPr id="28" name="tb28"/>
          <p:cNvSpPr txBox="1"/>
          <p:nvPr/>
        </p:nvSpPr>
        <p:spPr>
          <a:xfrm>
            <a:off x="658368" y="713232"/>
            <a:ext cx="9326880" cy="685800"/>
          </a:xfrm>
          <a:prstGeom prst="rect">
            <a:avLst/>
          </a:prstGeom>
          <a:noFill/>
        </p:spPr>
        <p:txBody>
          <a:bodyPr wrap="square" lIns="0" tIns="0" rIns="0" bIns="0" anchor="t">
            <a:normAutofit/>
          </a:bodyPr>
          <a:lstStyle/>
          <a:p>
            <a:pPr algn="l">
              <a:lnSpc>
                <a:spcPct val="100000"/>
              </a:lnSpc>
              <a:spcBef>
                <a:spcPts val="0"/>
              </a:spcBef>
            </a:pPr>
            <a:r>
              <a:rPr lang="es-ES" sz="3000" b="1" i="0">
                <a:solidFill>
                  <a:srgbClr val="211915"/>
                </a:solidFill>
              </a:rPr>
              <a:t>Cómo la capacidad se convierte en resultado</a:t>
            </a:r>
          </a:p>
        </p:txBody>
      </p:sp>
      <p:sp>
        <p:nvSpPr>
          <p:cNvPr id="40" name="ruleA">
            <a:extLst>
              <a:ext uri="{C183D7F6-B498-43B3-948B-1728B52AA6E4}">
                <adec:decorative xmlns:adec="http://schemas.microsoft.com/office/drawing/2017/decorative" val="1"/>
              </a:ext>
            </a:extLst>
          </p:cNvPr>
          <p:cNvSpPr/>
          <p:nvPr/>
        </p:nvSpPr>
        <p:spPr>
          <a:xfrm>
            <a:off x="658368" y="1645920"/>
            <a:ext cx="2450000" cy="54864"/>
          </a:xfrm>
          <a:prstGeom prst="rect">
            <a:avLst/>
          </a:prstGeom>
          <a:solidFill>
            <a:srgbClr val="ED1C29"/>
          </a:solidFill>
          <a:ln>
            <a:noFill/>
          </a:ln>
        </p:spPr>
        <p:txBody>
          <a:bodyPr lIns="0" tIns="0" rIns="0" bIns="0" anchor="ctr">
            <a:normAutofit fontScale="25000" lnSpcReduction="20000"/>
          </a:bodyPr>
          <a:lstStyle/>
          <a:p>
            <a:endParaRPr lang="es-ES"/>
          </a:p>
        </p:txBody>
      </p:sp>
      <p:sp>
        <p:nvSpPr>
          <p:cNvPr id="41" name="tbA"/>
          <p:cNvSpPr txBox="1"/>
          <p:nvPr/>
        </p:nvSpPr>
        <p:spPr>
          <a:xfrm>
            <a:off x="658368" y="1783080"/>
            <a:ext cx="2270000" cy="1371600"/>
          </a:xfrm>
          <a:prstGeom prst="rect">
            <a:avLst/>
          </a:prstGeom>
          <a:noFill/>
        </p:spPr>
        <p:txBody>
          <a:bodyPr wrap="square" lIns="0" tIns="0" rIns="0" bIns="0" anchor="t">
            <a:normAutofit/>
          </a:bodyPr>
          <a:lstStyle/>
          <a:p>
            <a:pPr algn="l">
              <a:lnSpc>
                <a:spcPct val="100000"/>
              </a:lnSpc>
              <a:spcAft>
                <a:spcPts val="500"/>
              </a:spcAft>
            </a:pPr>
            <a:r>
              <a:rPr lang="en-US" sz="1400" b="1" i="0" spc="100">
                <a:solidFill>
                  <a:srgbClr val="211915"/>
                </a:solidFill>
              </a:rPr>
              <a:t>LO MISMO CON MENOS</a:t>
            </a:r>
          </a:p>
          <a:p>
            <a:pPr algn="l">
              <a:lnSpc>
                <a:spcPct val="110000"/>
              </a:lnSpc>
            </a:pPr>
            <a:r>
              <a:rPr lang="en-US" sz="1100" b="0" i="0">
                <a:solidFill>
                  <a:srgbClr val="7A7A7A"/>
                </a:solidFill>
              </a:rPr>
              <a:t>Mismo resultado, alcance y nivel de servicio con menor costo total o menor capacidad externa requerida.</a:t>
            </a:r>
          </a:p>
          <a:p>
            <a:pPr algn="l">
              <a:lnSpc>
                <a:spcPct val="110000"/>
              </a:lnSpc>
              <a:spcBef>
                <a:spcPts val="400"/>
              </a:spcBef>
            </a:pPr>
            <a:r>
              <a:rPr lang="en-US" sz="950" b="1" i="0">
                <a:solidFill>
                  <a:srgbClr val="ED1C29"/>
                </a:solidFill>
              </a:rPr>
              <a:t>Terceros · contratos · capacidad externa adicional evitada</a:t>
            </a:r>
            <a:endParaRPr lang="es-ES" sz="1100" b="0" i="0">
              <a:solidFill>
                <a:srgbClr val="7A7A7A"/>
              </a:solidFill>
            </a:endParaRPr>
          </a:p>
        </p:txBody>
      </p:sp>
      <p:sp>
        <p:nvSpPr>
          <p:cNvPr id="42" name="arrowA">
            <a:extLst>
              <a:ext uri="{C183D7F6-B498-43B3-948B-1728B52AA6E4}">
                <adec:decorative xmlns:adec="http://schemas.microsoft.com/office/drawing/2017/decorative" val="1"/>
              </a:ext>
            </a:extLst>
          </p:cNvPr>
          <p:cNvSpPr/>
          <p:nvPr/>
        </p:nvSpPr>
        <p:spPr>
          <a:xfrm>
            <a:off x="3191928" y="2148840"/>
            <a:ext cx="182880" cy="182880"/>
          </a:xfrm>
          <a:prstGeom prst="rightArrow">
            <a:avLst/>
          </a:prstGeom>
          <a:solidFill>
            <a:srgbClr val="ED1C29"/>
          </a:solidFill>
          <a:ln>
            <a:noFill/>
          </a:ln>
        </p:spPr>
        <p:txBody>
          <a:bodyPr lIns="0" tIns="0" rIns="0" bIns="0" anchor="ctr">
            <a:normAutofit fontScale="40000" lnSpcReduction="20000"/>
          </a:bodyPr>
          <a:lstStyle/>
          <a:p>
            <a:endParaRPr lang="es-ES"/>
          </a:p>
        </p:txBody>
      </p:sp>
      <p:sp>
        <p:nvSpPr>
          <p:cNvPr id="43" name="ruleB">
            <a:extLst>
              <a:ext uri="{C183D7F6-B498-43B3-948B-1728B52AA6E4}">
                <adec:decorative xmlns:adec="http://schemas.microsoft.com/office/drawing/2017/decorative" val="1"/>
              </a:ext>
            </a:extLst>
          </p:cNvPr>
          <p:cNvSpPr/>
          <p:nvPr/>
        </p:nvSpPr>
        <p:spPr>
          <a:xfrm>
            <a:off x="3458368" y="1645920"/>
            <a:ext cx="2450000" cy="54864"/>
          </a:xfrm>
          <a:prstGeom prst="rect">
            <a:avLst/>
          </a:prstGeom>
          <a:solidFill>
            <a:srgbClr val="211915"/>
          </a:solidFill>
          <a:ln>
            <a:noFill/>
          </a:ln>
        </p:spPr>
        <p:txBody>
          <a:bodyPr lIns="0" tIns="0" rIns="0" bIns="0" anchor="ctr">
            <a:normAutofit fontScale="25000" lnSpcReduction="20000"/>
          </a:bodyPr>
          <a:lstStyle/>
          <a:p>
            <a:endParaRPr lang="es-ES"/>
          </a:p>
        </p:txBody>
      </p:sp>
      <p:sp>
        <p:nvSpPr>
          <p:cNvPr id="44" name="tbB"/>
          <p:cNvSpPr txBox="1"/>
          <p:nvPr/>
        </p:nvSpPr>
        <p:spPr>
          <a:xfrm>
            <a:off x="3458368" y="1783080"/>
            <a:ext cx="2270000" cy="1371600"/>
          </a:xfrm>
          <a:prstGeom prst="rect">
            <a:avLst/>
          </a:prstGeom>
          <a:noFill/>
        </p:spPr>
        <p:txBody>
          <a:bodyPr wrap="square" lIns="0" tIns="0" rIns="0" bIns="0" anchor="t">
            <a:normAutofit/>
          </a:bodyPr>
          <a:lstStyle/>
          <a:p>
            <a:pPr algn="l">
              <a:lnSpc>
                <a:spcPct val="100000"/>
              </a:lnSpc>
              <a:spcAft>
                <a:spcPts val="500"/>
              </a:spcAft>
            </a:pPr>
            <a:r>
              <a:rPr lang="es-ES" sz="1400" b="1" i="0" spc="100">
                <a:solidFill>
                  <a:srgbClr val="211915"/>
                </a:solidFill>
              </a:rPr>
              <a:t>MÁS CON LO MISMO</a:t>
            </a:r>
          </a:p>
          <a:p>
            <a:pPr algn="l">
              <a:lnSpc>
                <a:spcPct val="110000"/>
              </a:lnSpc>
            </a:pPr>
            <a:r>
              <a:rPr lang="es-ES" sz="1100" b="0" i="0">
                <a:solidFill>
                  <a:srgbClr val="7A7A7A"/>
                </a:solidFill>
              </a:rPr>
              <a:t>La misma estructura genera más resultados.</a:t>
            </a:r>
          </a:p>
          <a:p>
            <a:pPr algn="l">
              <a:lnSpc>
                <a:spcPct val="110000"/>
              </a:lnSpc>
              <a:spcBef>
                <a:spcPts val="400"/>
              </a:spcBef>
            </a:pPr>
            <a:r>
              <a:rPr lang="es-ES" sz="950" b="1" i="0">
                <a:solidFill>
                  <a:srgbClr val="ED1C29"/>
                </a:solidFill>
              </a:rPr>
              <a:t>Más iniciativas · más funcionalidades · más backlog atendido</a:t>
            </a:r>
            <a:endParaRPr lang="es-ES" sz="1100" b="0" i="0">
              <a:solidFill>
                <a:srgbClr val="7A7A7A"/>
              </a:solidFill>
            </a:endParaRPr>
          </a:p>
        </p:txBody>
      </p:sp>
      <p:sp>
        <p:nvSpPr>
          <p:cNvPr id="45" name="arrowB">
            <a:extLst>
              <a:ext uri="{C183D7F6-B498-43B3-948B-1728B52AA6E4}">
                <adec:decorative xmlns:adec="http://schemas.microsoft.com/office/drawing/2017/decorative" val="1"/>
              </a:ext>
            </a:extLst>
          </p:cNvPr>
          <p:cNvSpPr/>
          <p:nvPr/>
        </p:nvSpPr>
        <p:spPr>
          <a:xfrm>
            <a:off x="5991928" y="2148840"/>
            <a:ext cx="182880" cy="182880"/>
          </a:xfrm>
          <a:prstGeom prst="rightArrow">
            <a:avLst/>
          </a:prstGeom>
          <a:solidFill>
            <a:srgbClr val="ED1C29"/>
          </a:solidFill>
          <a:ln>
            <a:noFill/>
          </a:ln>
        </p:spPr>
        <p:txBody>
          <a:bodyPr lIns="0" tIns="0" rIns="0" bIns="0" anchor="ctr">
            <a:normAutofit fontScale="40000" lnSpcReduction="20000"/>
          </a:bodyPr>
          <a:lstStyle/>
          <a:p>
            <a:endParaRPr lang="es-ES"/>
          </a:p>
        </p:txBody>
      </p:sp>
      <p:sp>
        <p:nvSpPr>
          <p:cNvPr id="46" name="ruleC">
            <a:extLst>
              <a:ext uri="{C183D7F6-B498-43B3-948B-1728B52AA6E4}">
                <adec:decorative xmlns:adec="http://schemas.microsoft.com/office/drawing/2017/decorative" val="1"/>
              </a:ext>
            </a:extLst>
          </p:cNvPr>
          <p:cNvSpPr/>
          <p:nvPr/>
        </p:nvSpPr>
        <p:spPr>
          <a:xfrm>
            <a:off x="6258368" y="1645920"/>
            <a:ext cx="2450000" cy="54864"/>
          </a:xfrm>
          <a:prstGeom prst="rect">
            <a:avLst/>
          </a:prstGeom>
          <a:solidFill>
            <a:srgbClr val="ED1C29"/>
          </a:solidFill>
          <a:ln>
            <a:noFill/>
          </a:ln>
        </p:spPr>
        <p:txBody>
          <a:bodyPr lIns="0" tIns="0" rIns="0" bIns="0" anchor="ctr">
            <a:normAutofit fontScale="25000" lnSpcReduction="20000"/>
          </a:bodyPr>
          <a:lstStyle/>
          <a:p>
            <a:endParaRPr lang="es-ES"/>
          </a:p>
        </p:txBody>
      </p:sp>
      <p:sp>
        <p:nvSpPr>
          <p:cNvPr id="47" name="tbC"/>
          <p:cNvSpPr txBox="1"/>
          <p:nvPr/>
        </p:nvSpPr>
        <p:spPr>
          <a:xfrm>
            <a:off x="6258368" y="1783080"/>
            <a:ext cx="2270000" cy="1371600"/>
          </a:xfrm>
          <a:prstGeom prst="rect">
            <a:avLst/>
          </a:prstGeom>
          <a:noFill/>
        </p:spPr>
        <p:txBody>
          <a:bodyPr wrap="square" lIns="0" tIns="0" rIns="0" bIns="0" anchor="t">
            <a:normAutofit/>
          </a:bodyPr>
          <a:lstStyle/>
          <a:p>
            <a:pPr algn="l">
              <a:lnSpc>
                <a:spcPct val="100000"/>
              </a:lnSpc>
              <a:spcAft>
                <a:spcPts val="500"/>
              </a:spcAft>
            </a:pPr>
            <a:r>
              <a:rPr lang="en-US" sz="1400" b="1" i="0" spc="100">
                <a:solidFill>
                  <a:srgbClr val="211915"/>
                </a:solidFill>
              </a:rPr>
              <a:t>VALOR ANTES</a:t>
            </a:r>
          </a:p>
          <a:p>
            <a:pPr algn="l">
              <a:lnSpc>
                <a:spcPct val="110000"/>
              </a:lnSpc>
            </a:pPr>
            <a:r>
              <a:rPr lang="en-US" sz="1100" b="0" i="0">
                <a:solidFill>
                  <a:srgbClr val="7A7A7A"/>
                </a:solidFill>
              </a:rPr>
              <a:t>El mismo resultado genera beneficios antes.</a:t>
            </a:r>
            <a:endParaRPr lang="es-ES" sz="1100" b="0" i="0">
              <a:solidFill>
                <a:srgbClr val="7A7A7A"/>
              </a:solidFill>
            </a:endParaRPr>
          </a:p>
        </p:txBody>
      </p:sp>
      <p:sp>
        <p:nvSpPr>
          <p:cNvPr id="48" name="arrowC">
            <a:extLst>
              <a:ext uri="{C183D7F6-B498-43B3-948B-1728B52AA6E4}">
                <adec:decorative xmlns:adec="http://schemas.microsoft.com/office/drawing/2017/decorative" val="1"/>
              </a:ext>
            </a:extLst>
          </p:cNvPr>
          <p:cNvSpPr/>
          <p:nvPr/>
        </p:nvSpPr>
        <p:spPr>
          <a:xfrm>
            <a:off x="8791928" y="2148840"/>
            <a:ext cx="182880" cy="182880"/>
          </a:xfrm>
          <a:prstGeom prst="rightArrow">
            <a:avLst/>
          </a:prstGeom>
          <a:solidFill>
            <a:srgbClr val="ED1C29"/>
          </a:solidFill>
          <a:ln>
            <a:noFill/>
          </a:ln>
        </p:spPr>
        <p:txBody>
          <a:bodyPr lIns="0" tIns="0" rIns="0" bIns="0" anchor="ctr">
            <a:normAutofit fontScale="40000" lnSpcReduction="20000"/>
          </a:bodyPr>
          <a:lstStyle/>
          <a:p>
            <a:endParaRPr lang="es-ES"/>
          </a:p>
        </p:txBody>
      </p:sp>
      <p:sp>
        <p:nvSpPr>
          <p:cNvPr id="49" name="ruleD">
            <a:extLst>
              <a:ext uri="{C183D7F6-B498-43B3-948B-1728B52AA6E4}">
                <adec:decorative xmlns:adec="http://schemas.microsoft.com/office/drawing/2017/decorative" val="1"/>
              </a:ext>
            </a:extLst>
          </p:cNvPr>
          <p:cNvSpPr/>
          <p:nvPr/>
        </p:nvSpPr>
        <p:spPr>
          <a:xfrm>
            <a:off x="9058368" y="1645920"/>
            <a:ext cx="2450000" cy="54864"/>
          </a:xfrm>
          <a:prstGeom prst="rect">
            <a:avLst/>
          </a:prstGeom>
          <a:solidFill>
            <a:srgbClr val="211915"/>
          </a:solidFill>
          <a:ln>
            <a:noFill/>
          </a:ln>
        </p:spPr>
        <p:txBody>
          <a:bodyPr lIns="0" tIns="0" rIns="0" bIns="0" anchor="ctr">
            <a:normAutofit fontScale="25000" lnSpcReduction="20000"/>
          </a:bodyPr>
          <a:lstStyle/>
          <a:p>
            <a:endParaRPr lang="es-ES"/>
          </a:p>
        </p:txBody>
      </p:sp>
      <p:sp>
        <p:nvSpPr>
          <p:cNvPr id="50" name="tbD"/>
          <p:cNvSpPr txBox="1"/>
          <p:nvPr/>
        </p:nvSpPr>
        <p:spPr>
          <a:xfrm>
            <a:off x="9058368" y="1783080"/>
            <a:ext cx="2270000" cy="1371600"/>
          </a:xfrm>
          <a:prstGeom prst="rect">
            <a:avLst/>
          </a:prstGeom>
          <a:noFill/>
        </p:spPr>
        <p:txBody>
          <a:bodyPr wrap="square" lIns="0" tIns="0" rIns="0" bIns="0" anchor="t">
            <a:normAutofit/>
          </a:bodyPr>
          <a:lstStyle/>
          <a:p>
            <a:pPr algn="l">
              <a:lnSpc>
                <a:spcPct val="100000"/>
              </a:lnSpc>
              <a:spcAft>
                <a:spcPts val="500"/>
              </a:spcAft>
            </a:pPr>
            <a:r>
              <a:rPr lang="en-US" sz="1400" b="1" i="0" spc="100">
                <a:solidFill>
                  <a:srgbClr val="211915"/>
                </a:solidFill>
              </a:rPr>
              <a:t>MENOS PÉRDIDA Y RIESGO</a:t>
            </a:r>
          </a:p>
          <a:p>
            <a:pPr algn="l">
              <a:lnSpc>
                <a:spcPct val="110000"/>
              </a:lnSpc>
            </a:pPr>
            <a:r>
              <a:rPr lang="en-US" sz="1100" b="0" i="0">
                <a:solidFill>
                  <a:srgbClr val="7A7A7A"/>
                </a:solidFill>
              </a:rPr>
              <a:t>Reducimos pérdidas o costos asociados a defectos, incidentes, reprocesos, fallas o interrupciones.</a:t>
            </a:r>
            <a:endParaRPr lang="es-ES" sz="1100" b="0" i="0">
              <a:solidFill>
                <a:srgbClr val="7A7A7A"/>
              </a:solidFill>
            </a:endParaRPr>
          </a:p>
        </p:txBody>
      </p:sp>
      <p:sp>
        <p:nvSpPr>
          <p:cNvPr id="55" name="bandaPreguntas"/>
          <p:cNvSpPr/>
          <p:nvPr/>
        </p:nvSpPr>
        <p:spPr>
          <a:xfrm>
            <a:off x="658368" y="3566160"/>
            <a:ext cx="10850000" cy="329184"/>
          </a:xfrm>
          <a:prstGeom prst="rect">
            <a:avLst/>
          </a:prstGeom>
          <a:solidFill>
            <a:srgbClr val="211915"/>
          </a:solidFill>
          <a:ln>
            <a:noFill/>
          </a:ln>
        </p:spPr>
        <p:txBody>
          <a:bodyPr lIns="146304" tIns="18288" rIns="146304" bIns="18288" anchor="ctr">
            <a:normAutofit/>
          </a:bodyPr>
          <a:lstStyle/>
          <a:p>
            <a:pPr algn="l">
              <a:lnSpc>
                <a:spcPct val="100000"/>
              </a:lnSpc>
            </a:pPr>
            <a:r>
              <a:rPr lang="es-ES" sz="1000" b="1" i="0" spc="120">
                <a:solidFill>
                  <a:srgbClr val="FFFFFF"/>
                </a:solidFill>
              </a:rPr>
              <a:t>QUÉ PREGUNTA RESPONDE CADA MECANISMO</a:t>
            </a:r>
          </a:p>
        </p:txBody>
      </p:sp>
      <p:sp>
        <p:nvSpPr>
          <p:cNvPr id="56" name="tbQ1"/>
          <p:cNvSpPr txBox="1"/>
          <p:nvPr/>
        </p:nvSpPr>
        <p:spPr>
          <a:xfrm>
            <a:off x="658368" y="4160520"/>
            <a:ext cx="2450000" cy="731520"/>
          </a:xfrm>
          <a:prstGeom prst="rect">
            <a:avLst/>
          </a:prstGeom>
          <a:noFill/>
        </p:spPr>
        <p:txBody>
          <a:bodyPr wrap="square" lIns="0" tIns="0" rIns="0" bIns="0" anchor="t">
            <a:normAutofit/>
          </a:bodyPr>
          <a:lstStyle/>
          <a:p>
            <a:pPr algn="l">
              <a:lnSpc>
                <a:spcPct val="100000"/>
              </a:lnSpc>
              <a:spcAft>
                <a:spcPts val="400"/>
              </a:spcAft>
            </a:pPr>
            <a:r>
              <a:rPr lang="en-US" sz="1000" b="1" i="0" spc="100">
                <a:solidFill>
                  <a:srgbClr val="ED1C29"/>
                </a:solidFill>
              </a:rPr>
              <a:t>MENOS</a:t>
            </a:r>
          </a:p>
          <a:p>
            <a:pPr algn="l">
              <a:lnSpc>
                <a:spcPct val="100000"/>
              </a:lnSpc>
            </a:pPr>
            <a:r>
              <a:rPr lang="en-US" sz="1300" b="1" i="0">
                <a:solidFill>
                  <a:srgbClr val="211915"/>
                </a:solidFill>
              </a:rPr>
              <a:t>¿Qué costo dejamos de tener o evitamos realmente?</a:t>
            </a:r>
            <a:endParaRPr lang="es-ES" sz="1400" b="1" i="0">
              <a:solidFill>
                <a:srgbClr val="211915"/>
              </a:solidFill>
            </a:endParaRPr>
          </a:p>
        </p:txBody>
      </p:sp>
      <p:sp>
        <p:nvSpPr>
          <p:cNvPr id="57" name="tbQ2"/>
          <p:cNvSpPr txBox="1"/>
          <p:nvPr/>
        </p:nvSpPr>
        <p:spPr>
          <a:xfrm>
            <a:off x="3458368" y="4160520"/>
            <a:ext cx="2450000" cy="731520"/>
          </a:xfrm>
          <a:prstGeom prst="rect">
            <a:avLst/>
          </a:prstGeom>
          <a:noFill/>
        </p:spPr>
        <p:txBody>
          <a:bodyPr wrap="square" lIns="0" tIns="0" rIns="0" bIns="0" anchor="t">
            <a:normAutofit lnSpcReduction="10000"/>
          </a:bodyPr>
          <a:lstStyle/>
          <a:p>
            <a:pPr algn="l">
              <a:lnSpc>
                <a:spcPct val="100000"/>
              </a:lnSpc>
              <a:spcAft>
                <a:spcPts val="400"/>
              </a:spcAft>
            </a:pPr>
            <a:r>
              <a:rPr lang="en-US" sz="1000" b="1" i="0" spc="100">
                <a:solidFill>
                  <a:srgbClr val="ED1C29"/>
                </a:solidFill>
              </a:rPr>
              <a:t>MÁS</a:t>
            </a:r>
          </a:p>
          <a:p>
            <a:pPr algn="l">
              <a:lnSpc>
                <a:spcPct val="100000"/>
              </a:lnSpc>
            </a:pPr>
            <a:r>
              <a:rPr lang="en-US" sz="1300" b="1" i="0">
                <a:solidFill>
                  <a:srgbClr val="211915"/>
                </a:solidFill>
              </a:rPr>
              <a:t>¿Qué podemos hacer adicionalmente con la misma estructura?</a:t>
            </a:r>
            <a:endParaRPr lang="es-ES" sz="1400" b="1" i="0">
              <a:solidFill>
                <a:srgbClr val="211915"/>
              </a:solidFill>
            </a:endParaRPr>
          </a:p>
        </p:txBody>
      </p:sp>
      <p:sp>
        <p:nvSpPr>
          <p:cNvPr id="58" name="tbQ3"/>
          <p:cNvSpPr txBox="1"/>
          <p:nvPr/>
        </p:nvSpPr>
        <p:spPr>
          <a:xfrm>
            <a:off x="6258368" y="4160520"/>
            <a:ext cx="2450000" cy="731520"/>
          </a:xfrm>
          <a:prstGeom prst="rect">
            <a:avLst/>
          </a:prstGeom>
          <a:noFill/>
        </p:spPr>
        <p:txBody>
          <a:bodyPr wrap="square" lIns="0" tIns="0" rIns="0" bIns="0" anchor="t">
            <a:normAutofit/>
          </a:bodyPr>
          <a:lstStyle/>
          <a:p>
            <a:pPr algn="l">
              <a:lnSpc>
                <a:spcPct val="100000"/>
              </a:lnSpc>
              <a:spcAft>
                <a:spcPts val="400"/>
              </a:spcAft>
            </a:pPr>
            <a:r>
              <a:rPr lang="es-ES" sz="1000" b="1" i="0" spc="100">
                <a:solidFill>
                  <a:srgbClr val="ED1C29"/>
                </a:solidFill>
              </a:rPr>
              <a:t>ANTES</a:t>
            </a:r>
          </a:p>
          <a:p>
            <a:pPr algn="l">
              <a:lnSpc>
                <a:spcPct val="100000"/>
              </a:lnSpc>
            </a:pPr>
            <a:r>
              <a:rPr lang="es-ES" sz="1300" b="1" i="0">
                <a:solidFill>
                  <a:srgbClr val="211915"/>
                </a:solidFill>
              </a:rPr>
              <a:t>¿Cuánto adelantamos la captura de valor?</a:t>
            </a:r>
            <a:endParaRPr lang="es-ES" sz="1400" b="1" i="0">
              <a:solidFill>
                <a:srgbClr val="211915"/>
              </a:solidFill>
            </a:endParaRPr>
          </a:p>
        </p:txBody>
      </p:sp>
      <p:sp>
        <p:nvSpPr>
          <p:cNvPr id="59" name="tbQ4"/>
          <p:cNvSpPr txBox="1"/>
          <p:nvPr/>
        </p:nvSpPr>
        <p:spPr>
          <a:xfrm>
            <a:off x="9058368" y="4160520"/>
            <a:ext cx="2450000" cy="731520"/>
          </a:xfrm>
          <a:prstGeom prst="rect">
            <a:avLst/>
          </a:prstGeom>
          <a:noFill/>
        </p:spPr>
        <p:txBody>
          <a:bodyPr wrap="square" lIns="0" tIns="0" rIns="0" bIns="0" anchor="t">
            <a:normAutofit/>
          </a:bodyPr>
          <a:lstStyle/>
          <a:p>
            <a:pPr algn="l">
              <a:lnSpc>
                <a:spcPct val="100000"/>
              </a:lnSpc>
              <a:spcAft>
                <a:spcPts val="400"/>
              </a:spcAft>
            </a:pPr>
            <a:r>
              <a:rPr lang="es-ES" sz="1000" b="1" i="0" spc="100">
                <a:solidFill>
                  <a:srgbClr val="ED1C29"/>
                </a:solidFill>
              </a:rPr>
              <a:t>MENOS RIESGO</a:t>
            </a:r>
          </a:p>
          <a:p>
            <a:pPr algn="l">
              <a:lnSpc>
                <a:spcPct val="100000"/>
              </a:lnSpc>
            </a:pPr>
            <a:r>
              <a:rPr lang="es-ES" sz="1300" b="1" i="0">
                <a:solidFill>
                  <a:srgbClr val="211915"/>
                </a:solidFill>
              </a:rPr>
              <a:t>¿Qué pérdida o costo evitamos?</a:t>
            </a:r>
            <a:endParaRPr lang="es-ES" sz="1400" b="1" i="0">
              <a:solidFill>
                <a:srgbClr val="211915"/>
              </a:solidFill>
            </a:endParaRPr>
          </a:p>
        </p:txBody>
      </p:sp>
      <p:sp>
        <p:nvSpPr>
          <p:cNvPr id="25" name="sh25"/>
          <p:cNvSpPr/>
          <p:nvPr/>
        </p:nvSpPr>
        <p:spPr>
          <a:xfrm>
            <a:off x="658368" y="5779008"/>
            <a:ext cx="10875234" cy="475488"/>
          </a:xfrm>
          <a:prstGeom prst="rect">
            <a:avLst/>
          </a:prstGeom>
          <a:solidFill>
            <a:srgbClr val="ED1C29"/>
          </a:solidFill>
          <a:ln>
            <a:noFill/>
          </a:ln>
        </p:spPr>
        <p:txBody>
          <a:bodyPr lIns="146304" tIns="73152" rIns="146304" bIns="73152" anchor="ctr">
            <a:normAutofit/>
          </a:bodyPr>
          <a:lstStyle/>
          <a:p>
            <a:pPr algn="ctr">
              <a:lnSpc>
                <a:spcPct val="100000"/>
              </a:lnSpc>
              <a:spcBef>
                <a:spcPts val="0"/>
              </a:spcBef>
            </a:pPr>
            <a:r>
              <a:rPr lang="es-ES" sz="1400" b="1" i="0">
                <a:solidFill>
                  <a:srgbClr val="FFFFFF"/>
                </a:solidFill>
              </a:rPr>
              <a:t>Cada equipo elige </a:t>
            </a:r>
            <a:r>
              <a:rPr lang="es-ES" sz="1400" b="1" i="0" dirty="0">
                <a:solidFill>
                  <a:srgbClr val="FFFFFF"/>
                </a:solidFill>
              </a:rPr>
              <a:t>el </a:t>
            </a:r>
            <a:r>
              <a:rPr lang="es-ES" sz="1400" b="1" i="0">
                <a:solidFill>
                  <a:srgbClr val="FFFFFF"/>
                </a:solidFill>
              </a:rPr>
              <a:t>mecanismo </a:t>
            </a:r>
            <a:r>
              <a:rPr lang="es-ES" sz="1400" b="1" i="0" dirty="0">
                <a:solidFill>
                  <a:srgbClr val="FFFFFF"/>
                </a:solidFill>
              </a:rPr>
              <a:t>que </a:t>
            </a:r>
            <a:r>
              <a:rPr lang="es-ES" sz="1400" b="1" i="0">
                <a:solidFill>
                  <a:srgbClr val="FFFFFF"/>
                </a:solidFill>
              </a:rPr>
              <a:t>mejor representa su realidad. No necesita utilizar los cuatro</a:t>
            </a:r>
            <a:r>
              <a:rPr lang="es-ES" sz="1400" b="1" i="0" dirty="0">
                <a:solidFill>
                  <a:srgbClr val="FFFFFF"/>
                </a:solidFill>
              </a:rPr>
              <a:t>.</a:t>
            </a:r>
          </a:p>
        </p:txBody>
      </p:sp>
      <p:sp>
        <p:nvSpPr>
          <p:cNvPr id="29" name="tb29"/>
          <p:cNvSpPr txBox="1"/>
          <p:nvPr/>
        </p:nvSpPr>
        <p:spPr>
          <a:xfrm>
            <a:off x="658368" y="6272784"/>
            <a:ext cx="5486400" cy="228600"/>
          </a:xfrm>
          <a:prstGeom prst="rect">
            <a:avLst/>
          </a:prstGeom>
          <a:noFill/>
        </p:spPr>
        <p:txBody>
          <a:bodyPr wrap="square" lIns="0" tIns="0" rIns="0" bIns="0" anchor="t">
            <a:normAutofit/>
          </a:bodyPr>
          <a:lstStyle/>
          <a:p>
            <a:pPr algn="l">
              <a:lnSpc>
                <a:spcPct val="100000"/>
              </a:lnSpc>
              <a:spcBef>
                <a:spcPts val="0"/>
              </a:spcBef>
            </a:pPr>
            <a:r>
              <a:rPr lang="es-ES" sz="900" b="1" i="0">
                <a:solidFill>
                  <a:srgbClr val="211915"/>
                </a:solidFill>
              </a:rPr>
              <a:t>Tuya   ·   Del valor de GitHub Copilot</a:t>
            </a:r>
          </a:p>
        </p:txBody>
      </p:sp>
      <p:sp>
        <p:nvSpPr>
          <p:cNvPr id="30" name="tb30"/>
          <p:cNvSpPr txBox="1"/>
          <p:nvPr/>
        </p:nvSpPr>
        <p:spPr>
          <a:xfrm>
            <a:off x="10436322" y="6272784"/>
            <a:ext cx="1097280" cy="228600"/>
          </a:xfrm>
          <a:prstGeom prst="rect">
            <a:avLst/>
          </a:prstGeom>
          <a:noFill/>
        </p:spPr>
        <p:txBody>
          <a:bodyPr wrap="square" lIns="0" tIns="0" rIns="0" bIns="0" anchor="t">
            <a:normAutofit/>
          </a:bodyPr>
          <a:lstStyle/>
          <a:p>
            <a:pPr algn="r">
              <a:lnSpc>
                <a:spcPct val="100000"/>
              </a:lnSpc>
              <a:spcBef>
                <a:spcPts val="0"/>
              </a:spcBef>
            </a:pPr>
            <a:r>
              <a:rPr lang="es-ES" sz="900" b="1" i="0">
                <a:solidFill>
                  <a:srgbClr val="ED1C29"/>
                </a:solidFill>
              </a:rPr>
              <a:t>06</a:t>
            </a:r>
          </a:p>
        </p:txBody>
      </p:sp>
      <p:pic>
        <p:nvPicPr>
          <p:cNvPr id="900" name="Logo Tuya" descr="Logo corporativo Tuya"/>
          <p:cNvPicPr>
            <a:picLocks noChangeAspect="1"/>
          </p:cNvPicPr>
          <p:nvPr/>
        </p:nvPicPr>
        <p:blipFill>
          <a:blip r:embed="rId3"/>
          <a:stretch>
            <a:fillRect/>
          </a:stretch>
        </p:blipFill>
        <p:spPr>
          <a:xfrm>
            <a:off x="11152200" y="321276"/>
            <a:ext cx="640080" cy="3200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sh26">
            <a:extLst>
              <a:ext uri="{C183D7F6-B498-43B3-948B-1728B52AA6E4}">
                <adec:decorative xmlns:adec="http://schemas.microsoft.com/office/drawing/2017/decorative" val="1"/>
              </a:ext>
            </a:extLst>
          </p:cNvPr>
          <p:cNvSpPr/>
          <p:nvPr/>
        </p:nvSpPr>
        <p:spPr>
          <a:xfrm>
            <a:off x="658368" y="384048"/>
            <a:ext cx="146304" cy="146304"/>
          </a:xfrm>
          <a:prstGeom prst="rect">
            <a:avLst/>
          </a:prstGeom>
          <a:solidFill>
            <a:srgbClr val="ED1C29"/>
          </a:solidFill>
          <a:ln>
            <a:noFill/>
          </a:ln>
        </p:spPr>
        <p:txBody>
          <a:bodyPr lIns="0" tIns="0" rIns="0" bIns="0" anchor="ctr">
            <a:normAutofit fontScale="62500" lnSpcReduction="20000"/>
          </a:bodyPr>
          <a:lstStyle/>
          <a:p>
            <a:endParaRPr lang="es-ES"/>
          </a:p>
        </p:txBody>
      </p:sp>
      <p:sp>
        <p:nvSpPr>
          <p:cNvPr id="27" name="tb27"/>
          <p:cNvSpPr txBox="1"/>
          <p:nvPr/>
        </p:nvSpPr>
        <p:spPr>
          <a:xfrm>
            <a:off x="914400" y="365760"/>
            <a:ext cx="7315200" cy="237744"/>
          </a:xfrm>
          <a:prstGeom prst="rect">
            <a:avLst/>
          </a:prstGeom>
          <a:noFill/>
        </p:spPr>
        <p:txBody>
          <a:bodyPr wrap="square" lIns="0" tIns="0" rIns="0" bIns="0" anchor="t">
            <a:normAutofit/>
          </a:bodyPr>
          <a:lstStyle/>
          <a:p>
            <a:pPr algn="l">
              <a:lnSpc>
                <a:spcPct val="100000"/>
              </a:lnSpc>
              <a:spcBef>
                <a:spcPts val="0"/>
              </a:spcBef>
            </a:pPr>
            <a:r>
              <a:rPr lang="es-ES" sz="1050" b="1" i="0" spc="120">
                <a:solidFill>
                  <a:srgbClr val="ED1C29"/>
                </a:solidFill>
              </a:rPr>
              <a:t>CÓMO LO PODEMOS MEDIR</a:t>
            </a:r>
          </a:p>
        </p:txBody>
      </p:sp>
      <p:sp>
        <p:nvSpPr>
          <p:cNvPr id="28" name="tb28"/>
          <p:cNvSpPr txBox="1"/>
          <p:nvPr/>
        </p:nvSpPr>
        <p:spPr>
          <a:xfrm>
            <a:off x="658368" y="713232"/>
            <a:ext cx="9326880" cy="640080"/>
          </a:xfrm>
          <a:prstGeom prst="rect">
            <a:avLst/>
          </a:prstGeom>
          <a:noFill/>
        </p:spPr>
        <p:txBody>
          <a:bodyPr wrap="square" lIns="0" tIns="0" rIns="0" bIns="0" anchor="t">
            <a:normAutofit/>
          </a:bodyPr>
          <a:lstStyle/>
          <a:p>
            <a:pPr algn="l">
              <a:lnSpc>
                <a:spcPct val="100000"/>
              </a:lnSpc>
              <a:spcBef>
                <a:spcPts val="0"/>
              </a:spcBef>
            </a:pPr>
            <a:r>
              <a:rPr lang="es-ES" sz="2800" b="1" i="0">
                <a:solidFill>
                  <a:srgbClr val="211915"/>
                </a:solidFill>
              </a:rPr>
              <a:t>No necesitamos empezar con telemetría perfecta</a:t>
            </a:r>
          </a:p>
        </p:txBody>
      </p:sp>
      <p:sp>
        <p:nvSpPr>
          <p:cNvPr id="55" name="bandaFlujo"/>
          <p:cNvSpPr/>
          <p:nvPr/>
        </p:nvSpPr>
        <p:spPr>
          <a:xfrm>
            <a:off x="658368" y="1527048"/>
            <a:ext cx="10400000" cy="329184"/>
          </a:xfrm>
          <a:prstGeom prst="rect">
            <a:avLst/>
          </a:prstGeom>
          <a:solidFill>
            <a:srgbClr val="211915"/>
          </a:solidFill>
          <a:ln>
            <a:noFill/>
          </a:ln>
        </p:spPr>
        <p:txBody>
          <a:bodyPr lIns="146304" tIns="18288" rIns="146304" bIns="18288" anchor="ctr">
            <a:normAutofit/>
          </a:bodyPr>
          <a:lstStyle/>
          <a:p>
            <a:pPr algn="l">
              <a:lnSpc>
                <a:spcPct val="100000"/>
              </a:lnSpc>
            </a:pPr>
            <a:r>
              <a:rPr lang="es-ES" sz="1000" b="1" i="0" spc="120">
                <a:solidFill>
                  <a:srgbClr val="FFFFFF"/>
                </a:solidFill>
              </a:rPr>
              <a:t>SEIS PASOS: DEL PUNTO DE PARTIDA AL RESULTADO</a:t>
            </a:r>
          </a:p>
        </p:txBody>
      </p:sp>
      <p:sp>
        <p:nvSpPr>
          <p:cNvPr id="40" name="rule1">
            <a:extLst>
              <a:ext uri="{C183D7F6-B498-43B3-948B-1728B52AA6E4}">
                <adec:decorative xmlns:adec="http://schemas.microsoft.com/office/drawing/2017/decorative" val="1"/>
              </a:ext>
            </a:extLst>
          </p:cNvPr>
          <p:cNvSpPr/>
          <p:nvPr/>
        </p:nvSpPr>
        <p:spPr>
          <a:xfrm>
            <a:off x="658368" y="2103120"/>
            <a:ext cx="3200000" cy="54864"/>
          </a:xfrm>
          <a:prstGeom prst="rect">
            <a:avLst/>
          </a:prstGeom>
          <a:solidFill>
            <a:srgbClr val="ED1C29"/>
          </a:solidFill>
          <a:ln>
            <a:noFill/>
          </a:ln>
        </p:spPr>
        <p:txBody>
          <a:bodyPr lIns="0" tIns="0" rIns="0" bIns="0" anchor="ctr">
            <a:normAutofit fontScale="25000" lnSpcReduction="20000"/>
          </a:bodyPr>
          <a:lstStyle/>
          <a:p>
            <a:endParaRPr lang="es-ES"/>
          </a:p>
        </p:txBody>
      </p:sp>
      <p:sp>
        <p:nvSpPr>
          <p:cNvPr id="41" name="tb1"/>
          <p:cNvSpPr txBox="1"/>
          <p:nvPr/>
        </p:nvSpPr>
        <p:spPr>
          <a:xfrm>
            <a:off x="658368" y="2240280"/>
            <a:ext cx="3200000" cy="1250000"/>
          </a:xfrm>
          <a:prstGeom prst="rect">
            <a:avLst/>
          </a:prstGeom>
          <a:noFill/>
        </p:spPr>
        <p:txBody>
          <a:bodyPr wrap="square" lIns="0" tIns="0" rIns="0" bIns="0" anchor="t">
            <a:normAutofit/>
          </a:bodyPr>
          <a:lstStyle/>
          <a:p>
            <a:pPr algn="l">
              <a:lnSpc>
                <a:spcPct val="100000"/>
              </a:lnSpc>
              <a:spcAft>
                <a:spcPts val="400"/>
              </a:spcAft>
            </a:pPr>
            <a:r>
              <a:rPr lang="en-US" sz="1000" b="1" i="0" spc="100">
                <a:solidFill>
                  <a:srgbClr val="ED1C29"/>
                </a:solidFill>
              </a:rPr>
              <a:t>01 · BASELINE</a:t>
            </a:r>
          </a:p>
          <a:p>
            <a:pPr algn="l">
              <a:lnSpc>
                <a:spcPct val="100000"/>
              </a:lnSpc>
              <a:spcAft>
                <a:spcPts val="400"/>
              </a:spcAft>
            </a:pPr>
            <a:r>
              <a:rPr lang="en-US" sz="1400" b="1" i="0">
                <a:solidFill>
                  <a:srgbClr val="211915"/>
                </a:solidFill>
              </a:rPr>
              <a:t>¿Cómo trabaja hoy el equipo?</a:t>
            </a:r>
          </a:p>
          <a:p>
            <a:pPr algn="l">
              <a:lnSpc>
                <a:spcPct val="110000"/>
              </a:lnSpc>
            </a:pPr>
            <a:r>
              <a:rPr lang="en-US" sz="1100" b="0" i="0">
                <a:solidFill>
                  <a:srgbClr val="7A7A7A"/>
                </a:solidFill>
              </a:rPr>
              <a:t>Definir un período de referencia y utilizar trabajo suficientemente comparable.</a:t>
            </a:r>
            <a:endParaRPr lang="es-ES" sz="1100" b="0" i="0">
              <a:solidFill>
                <a:srgbClr val="7A7A7A"/>
              </a:solidFill>
            </a:endParaRPr>
          </a:p>
        </p:txBody>
      </p:sp>
      <p:sp>
        <p:nvSpPr>
          <p:cNvPr id="42" name="arrow1">
            <a:extLst>
              <a:ext uri="{C183D7F6-B498-43B3-948B-1728B52AA6E4}">
                <adec:decorative xmlns:adec="http://schemas.microsoft.com/office/drawing/2017/decorative" val="1"/>
              </a:ext>
            </a:extLst>
          </p:cNvPr>
          <p:cNvSpPr/>
          <p:nvPr/>
        </p:nvSpPr>
        <p:spPr>
          <a:xfrm>
            <a:off x="3950000" y="2560320"/>
            <a:ext cx="182880" cy="182880"/>
          </a:xfrm>
          <a:prstGeom prst="rightArrow">
            <a:avLst/>
          </a:prstGeom>
          <a:solidFill>
            <a:srgbClr val="ED1C29"/>
          </a:solidFill>
          <a:ln>
            <a:noFill/>
          </a:ln>
        </p:spPr>
        <p:txBody>
          <a:bodyPr lIns="0" tIns="0" rIns="0" bIns="0" anchor="ctr">
            <a:normAutofit fontScale="40000" lnSpcReduction="20000"/>
          </a:bodyPr>
          <a:lstStyle/>
          <a:p>
            <a:endParaRPr lang="es-ES"/>
          </a:p>
        </p:txBody>
      </p:sp>
      <p:sp>
        <p:nvSpPr>
          <p:cNvPr id="43" name="rule2">
            <a:extLst>
              <a:ext uri="{C183D7F6-B498-43B3-948B-1728B52AA6E4}">
                <adec:decorative xmlns:adec="http://schemas.microsoft.com/office/drawing/2017/decorative" val="1"/>
              </a:ext>
            </a:extLst>
          </p:cNvPr>
          <p:cNvSpPr/>
          <p:nvPr/>
        </p:nvSpPr>
        <p:spPr>
          <a:xfrm>
            <a:off x="4258368" y="2103120"/>
            <a:ext cx="3200000" cy="54864"/>
          </a:xfrm>
          <a:prstGeom prst="rect">
            <a:avLst/>
          </a:prstGeom>
          <a:solidFill>
            <a:srgbClr val="211915"/>
          </a:solidFill>
          <a:ln>
            <a:noFill/>
          </a:ln>
        </p:spPr>
        <p:txBody>
          <a:bodyPr lIns="0" tIns="0" rIns="0" bIns="0" anchor="ctr">
            <a:normAutofit fontScale="25000" lnSpcReduction="20000"/>
          </a:bodyPr>
          <a:lstStyle/>
          <a:p>
            <a:endParaRPr lang="es-ES"/>
          </a:p>
        </p:txBody>
      </p:sp>
      <p:sp>
        <p:nvSpPr>
          <p:cNvPr id="44" name="tb2"/>
          <p:cNvSpPr txBox="1"/>
          <p:nvPr/>
        </p:nvSpPr>
        <p:spPr>
          <a:xfrm>
            <a:off x="4258368" y="2240280"/>
            <a:ext cx="3200000" cy="1250000"/>
          </a:xfrm>
          <a:prstGeom prst="rect">
            <a:avLst/>
          </a:prstGeom>
          <a:noFill/>
        </p:spPr>
        <p:txBody>
          <a:bodyPr wrap="square" lIns="0" tIns="0" rIns="0" bIns="0" anchor="t">
            <a:normAutofit/>
          </a:bodyPr>
          <a:lstStyle/>
          <a:p>
            <a:pPr algn="l">
              <a:lnSpc>
                <a:spcPct val="100000"/>
              </a:lnSpc>
              <a:spcAft>
                <a:spcPts val="400"/>
              </a:spcAft>
            </a:pPr>
            <a:r>
              <a:rPr lang="en-US" sz="1000" b="1" i="0" spc="100">
                <a:solidFill>
                  <a:srgbClr val="ED1C29"/>
                </a:solidFill>
              </a:rPr>
              <a:t>02 · HIPÓTESIS</a:t>
            </a:r>
          </a:p>
          <a:p>
            <a:pPr algn="l">
              <a:lnSpc>
                <a:spcPct val="100000"/>
              </a:lnSpc>
              <a:spcAft>
                <a:spcPts val="400"/>
              </a:spcAft>
            </a:pPr>
            <a:r>
              <a:rPr lang="en-US" sz="1400" b="1" i="0">
                <a:solidFill>
                  <a:srgbClr val="211915"/>
                </a:solidFill>
              </a:rPr>
              <a:t>¿Qué creemos que cambiará con Copilot?</a:t>
            </a:r>
          </a:p>
          <a:p>
            <a:pPr algn="l">
              <a:lnSpc>
                <a:spcPct val="110000"/>
              </a:lnSpc>
            </a:pPr>
            <a:r>
              <a:rPr lang="en-US" sz="1100" b="0" i="0">
                <a:solidFill>
                  <a:srgbClr val="7A7A7A"/>
                </a:solidFill>
              </a:rPr>
              <a:t>Definir un cambio concreto y observable.</a:t>
            </a:r>
            <a:endParaRPr lang="es-ES" sz="1100" b="0" i="0">
              <a:solidFill>
                <a:srgbClr val="7A7A7A"/>
              </a:solidFill>
            </a:endParaRPr>
          </a:p>
        </p:txBody>
      </p:sp>
      <p:sp>
        <p:nvSpPr>
          <p:cNvPr id="45" name="arrow2">
            <a:extLst>
              <a:ext uri="{C183D7F6-B498-43B3-948B-1728B52AA6E4}">
                <adec:decorative xmlns:adec="http://schemas.microsoft.com/office/drawing/2017/decorative" val="1"/>
              </a:ext>
            </a:extLst>
          </p:cNvPr>
          <p:cNvSpPr/>
          <p:nvPr/>
        </p:nvSpPr>
        <p:spPr>
          <a:xfrm>
            <a:off x="7550000" y="2560320"/>
            <a:ext cx="182880" cy="182880"/>
          </a:xfrm>
          <a:prstGeom prst="rightArrow">
            <a:avLst/>
          </a:prstGeom>
          <a:solidFill>
            <a:srgbClr val="ED1C29"/>
          </a:solidFill>
          <a:ln>
            <a:noFill/>
          </a:ln>
        </p:spPr>
        <p:txBody>
          <a:bodyPr lIns="0" tIns="0" rIns="0" bIns="0" anchor="ctr">
            <a:normAutofit fontScale="40000" lnSpcReduction="20000"/>
          </a:bodyPr>
          <a:lstStyle/>
          <a:p>
            <a:endParaRPr lang="es-ES"/>
          </a:p>
        </p:txBody>
      </p:sp>
      <p:sp>
        <p:nvSpPr>
          <p:cNvPr id="46" name="rule3">
            <a:extLst>
              <a:ext uri="{C183D7F6-B498-43B3-948B-1728B52AA6E4}">
                <adec:decorative xmlns:adec="http://schemas.microsoft.com/office/drawing/2017/decorative" val="1"/>
              </a:ext>
            </a:extLst>
          </p:cNvPr>
          <p:cNvSpPr/>
          <p:nvPr/>
        </p:nvSpPr>
        <p:spPr>
          <a:xfrm>
            <a:off x="7858368" y="2103120"/>
            <a:ext cx="3200000" cy="54864"/>
          </a:xfrm>
          <a:prstGeom prst="rect">
            <a:avLst/>
          </a:prstGeom>
          <a:solidFill>
            <a:srgbClr val="ED1C29"/>
          </a:solidFill>
          <a:ln>
            <a:noFill/>
          </a:ln>
        </p:spPr>
        <p:txBody>
          <a:bodyPr lIns="0" tIns="0" rIns="0" bIns="0" anchor="ctr">
            <a:normAutofit fontScale="25000" lnSpcReduction="20000"/>
          </a:bodyPr>
          <a:lstStyle/>
          <a:p>
            <a:endParaRPr lang="es-ES"/>
          </a:p>
        </p:txBody>
      </p:sp>
      <p:sp>
        <p:nvSpPr>
          <p:cNvPr id="47" name="tb3"/>
          <p:cNvSpPr txBox="1"/>
          <p:nvPr/>
        </p:nvSpPr>
        <p:spPr>
          <a:xfrm>
            <a:off x="7858368" y="2240280"/>
            <a:ext cx="3200000" cy="1250000"/>
          </a:xfrm>
          <a:prstGeom prst="rect">
            <a:avLst/>
          </a:prstGeom>
          <a:noFill/>
        </p:spPr>
        <p:txBody>
          <a:bodyPr wrap="square" lIns="0" tIns="0" rIns="0" bIns="0" anchor="t">
            <a:normAutofit/>
          </a:bodyPr>
          <a:lstStyle/>
          <a:p>
            <a:pPr algn="l">
              <a:lnSpc>
                <a:spcPct val="100000"/>
              </a:lnSpc>
              <a:spcAft>
                <a:spcPts val="400"/>
              </a:spcAft>
            </a:pPr>
            <a:r>
              <a:rPr lang="en-US" sz="1000" b="1" i="0" spc="100">
                <a:solidFill>
                  <a:srgbClr val="ED1C29"/>
                </a:solidFill>
              </a:rPr>
              <a:t>03 · INTERVENCIÓN</a:t>
            </a:r>
          </a:p>
          <a:p>
            <a:pPr algn="l">
              <a:lnSpc>
                <a:spcPct val="100000"/>
              </a:lnSpc>
              <a:spcAft>
                <a:spcPts val="400"/>
              </a:spcAft>
            </a:pPr>
            <a:r>
              <a:rPr lang="en-US" sz="1400" b="1" i="0">
                <a:solidFill>
                  <a:srgbClr val="211915"/>
                </a:solidFill>
              </a:rPr>
              <a:t>Usar Copilot en trabajo cotidiano comparable</a:t>
            </a:r>
          </a:p>
          <a:p>
            <a:pPr algn="l">
              <a:lnSpc>
                <a:spcPct val="110000"/>
              </a:lnSpc>
            </a:pPr>
            <a:r>
              <a:rPr lang="en-US" sz="1100" b="0" i="0">
                <a:solidFill>
                  <a:srgbClr val="7A7A7A"/>
                </a:solidFill>
              </a:rPr>
              <a:t>Evitar evaluar únicamente actividades extraordinarias como migraciones.</a:t>
            </a:r>
            <a:endParaRPr lang="es-ES" sz="1100" b="0" i="0">
              <a:solidFill>
                <a:srgbClr val="7A7A7A"/>
              </a:solidFill>
            </a:endParaRPr>
          </a:p>
        </p:txBody>
      </p:sp>
      <p:sp>
        <p:nvSpPr>
          <p:cNvPr id="49" name="rule4">
            <a:extLst>
              <a:ext uri="{C183D7F6-B498-43B3-948B-1728B52AA6E4}">
                <adec:decorative xmlns:adec="http://schemas.microsoft.com/office/drawing/2017/decorative" val="1"/>
              </a:ext>
            </a:extLst>
          </p:cNvPr>
          <p:cNvSpPr/>
          <p:nvPr/>
        </p:nvSpPr>
        <p:spPr>
          <a:xfrm>
            <a:off x="658368" y="3657600"/>
            <a:ext cx="3200000" cy="54864"/>
          </a:xfrm>
          <a:prstGeom prst="rect">
            <a:avLst/>
          </a:prstGeom>
          <a:solidFill>
            <a:srgbClr val="211915"/>
          </a:solidFill>
          <a:ln>
            <a:noFill/>
          </a:ln>
        </p:spPr>
        <p:txBody>
          <a:bodyPr lIns="0" tIns="0" rIns="0" bIns="0" anchor="ctr">
            <a:normAutofit fontScale="25000" lnSpcReduction="20000"/>
          </a:bodyPr>
          <a:lstStyle/>
          <a:p>
            <a:endParaRPr lang="es-ES"/>
          </a:p>
        </p:txBody>
      </p:sp>
      <p:sp>
        <p:nvSpPr>
          <p:cNvPr id="50" name="tb4"/>
          <p:cNvSpPr txBox="1"/>
          <p:nvPr/>
        </p:nvSpPr>
        <p:spPr>
          <a:xfrm>
            <a:off x="658368" y="3794760"/>
            <a:ext cx="3200000" cy="1250000"/>
          </a:xfrm>
          <a:prstGeom prst="rect">
            <a:avLst/>
          </a:prstGeom>
          <a:noFill/>
        </p:spPr>
        <p:txBody>
          <a:bodyPr wrap="square" lIns="0" tIns="0" rIns="0" bIns="0" anchor="t">
            <a:normAutofit/>
          </a:bodyPr>
          <a:lstStyle/>
          <a:p>
            <a:pPr algn="l">
              <a:lnSpc>
                <a:spcPct val="100000"/>
              </a:lnSpc>
              <a:spcAft>
                <a:spcPts val="400"/>
              </a:spcAft>
            </a:pPr>
            <a:r>
              <a:rPr lang="en-US" sz="1000" b="1" i="0" spc="100">
                <a:solidFill>
                  <a:srgbClr val="ED1C29"/>
                </a:solidFill>
              </a:rPr>
              <a:t>04 · OBSERVACIÓN</a:t>
            </a:r>
          </a:p>
          <a:p>
            <a:pPr algn="l">
              <a:lnSpc>
                <a:spcPct val="100000"/>
              </a:lnSpc>
              <a:spcAft>
                <a:spcPts val="400"/>
              </a:spcAft>
            </a:pPr>
            <a:r>
              <a:rPr lang="en-US" sz="1400" b="1" i="0">
                <a:solidFill>
                  <a:srgbClr val="211915"/>
                </a:solidFill>
              </a:rPr>
              <a:t>¿Cambió realmente el indicador sin deteriorar otro resultado?</a:t>
            </a:r>
          </a:p>
          <a:p>
            <a:pPr algn="l">
              <a:lnSpc>
                <a:spcPct val="100000"/>
              </a:lnSpc>
              <a:spcAft>
                <a:spcPts val="400"/>
              </a:spcAft>
            </a:pPr>
            <a:r>
              <a:rPr lang="en-US" sz="1100" b="0" i="0">
                <a:solidFill>
                  <a:srgbClr val="7A7A7A"/>
                </a:solidFill>
              </a:rPr>
              <a:t>Comparar antes y después considerando velocidad, calidad, estabilidad y retrabajo.</a:t>
            </a:r>
            <a:endParaRPr lang="es-ES" sz="1100" b="0" i="0">
              <a:solidFill>
                <a:srgbClr val="7A7A7A"/>
              </a:solidFill>
            </a:endParaRPr>
          </a:p>
        </p:txBody>
      </p:sp>
      <p:sp>
        <p:nvSpPr>
          <p:cNvPr id="48" name="arrow3">
            <a:extLst>
              <a:ext uri="{C183D7F6-B498-43B3-948B-1728B52AA6E4}">
                <adec:decorative xmlns:adec="http://schemas.microsoft.com/office/drawing/2017/decorative" val="1"/>
              </a:ext>
            </a:extLst>
          </p:cNvPr>
          <p:cNvSpPr/>
          <p:nvPr/>
        </p:nvSpPr>
        <p:spPr>
          <a:xfrm>
            <a:off x="3950000" y="4114800"/>
            <a:ext cx="182880" cy="182880"/>
          </a:xfrm>
          <a:prstGeom prst="rightArrow">
            <a:avLst/>
          </a:prstGeom>
          <a:solidFill>
            <a:srgbClr val="ED1C29"/>
          </a:solidFill>
          <a:ln>
            <a:noFill/>
          </a:ln>
        </p:spPr>
        <p:txBody>
          <a:bodyPr lIns="0" tIns="0" rIns="0" bIns="0" anchor="ctr">
            <a:normAutofit fontScale="40000" lnSpcReduction="20000"/>
          </a:bodyPr>
          <a:lstStyle/>
          <a:p>
            <a:endParaRPr lang="es-ES"/>
          </a:p>
        </p:txBody>
      </p:sp>
      <p:sp>
        <p:nvSpPr>
          <p:cNvPr id="51" name="rule5">
            <a:extLst>
              <a:ext uri="{C183D7F6-B498-43B3-948B-1728B52AA6E4}">
                <adec:decorative xmlns:adec="http://schemas.microsoft.com/office/drawing/2017/decorative" val="1"/>
              </a:ext>
            </a:extLst>
          </p:cNvPr>
          <p:cNvSpPr/>
          <p:nvPr/>
        </p:nvSpPr>
        <p:spPr>
          <a:xfrm>
            <a:off x="4258368" y="3657600"/>
            <a:ext cx="3200000" cy="54864"/>
          </a:xfrm>
          <a:prstGeom prst="rect">
            <a:avLst/>
          </a:prstGeom>
          <a:solidFill>
            <a:srgbClr val="ED1C29"/>
          </a:solidFill>
          <a:ln>
            <a:noFill/>
          </a:ln>
        </p:spPr>
        <p:txBody>
          <a:bodyPr lIns="0" tIns="0" rIns="0" bIns="0" anchor="ctr">
            <a:normAutofit fontScale="25000" lnSpcReduction="20000"/>
          </a:bodyPr>
          <a:lstStyle/>
          <a:p>
            <a:endParaRPr lang="es-ES"/>
          </a:p>
        </p:txBody>
      </p:sp>
      <p:sp>
        <p:nvSpPr>
          <p:cNvPr id="52" name="tb5"/>
          <p:cNvSpPr txBox="1"/>
          <p:nvPr/>
        </p:nvSpPr>
        <p:spPr>
          <a:xfrm>
            <a:off x="4258368" y="3794760"/>
            <a:ext cx="3200000" cy="1250000"/>
          </a:xfrm>
          <a:prstGeom prst="rect">
            <a:avLst/>
          </a:prstGeom>
          <a:noFill/>
        </p:spPr>
        <p:txBody>
          <a:bodyPr wrap="square" lIns="0" tIns="0" rIns="0" bIns="0" anchor="t">
            <a:normAutofit/>
          </a:bodyPr>
          <a:lstStyle/>
          <a:p>
            <a:pPr algn="l">
              <a:lnSpc>
                <a:spcPct val="100000"/>
              </a:lnSpc>
              <a:spcAft>
                <a:spcPts val="400"/>
              </a:spcAft>
            </a:pPr>
            <a:r>
              <a:rPr lang="en-US" sz="1000" b="1" i="0" spc="100">
                <a:solidFill>
                  <a:srgbClr val="ED1C29"/>
                </a:solidFill>
              </a:rPr>
              <a:t>05 · DESTINO</a:t>
            </a:r>
          </a:p>
          <a:p>
            <a:pPr algn="l">
              <a:lnSpc>
                <a:spcPct val="100000"/>
              </a:lnSpc>
              <a:spcAft>
                <a:spcPts val="400"/>
              </a:spcAft>
            </a:pPr>
            <a:r>
              <a:rPr lang="en-US" sz="1400" b="1" i="0">
                <a:solidFill>
                  <a:srgbClr val="211915"/>
                </a:solidFill>
              </a:rPr>
              <a:t>¿Qué hicimos con la capacidad generada?</a:t>
            </a:r>
          </a:p>
          <a:p>
            <a:pPr algn="l">
              <a:lnSpc>
                <a:spcPct val="110000"/>
              </a:lnSpc>
            </a:pPr>
            <a:r>
              <a:rPr lang="en-US" sz="1100" b="0" i="0">
                <a:solidFill>
                  <a:srgbClr val="7A7A7A"/>
                </a:solidFill>
              </a:rPr>
              <a:t>Identificar si redujo un costo, permitió trabajo adicional, adelantó una entrega o redujo reprocesos.</a:t>
            </a:r>
            <a:endParaRPr lang="es-ES" sz="1100" b="0" i="0">
              <a:solidFill>
                <a:srgbClr val="7A7A7A"/>
              </a:solidFill>
            </a:endParaRPr>
          </a:p>
        </p:txBody>
      </p:sp>
      <p:sp>
        <p:nvSpPr>
          <p:cNvPr id="53" name="arrow4">
            <a:extLst>
              <a:ext uri="{C183D7F6-B498-43B3-948B-1728B52AA6E4}">
                <adec:decorative xmlns:adec="http://schemas.microsoft.com/office/drawing/2017/decorative" val="1"/>
              </a:ext>
            </a:extLst>
          </p:cNvPr>
          <p:cNvSpPr/>
          <p:nvPr/>
        </p:nvSpPr>
        <p:spPr>
          <a:xfrm>
            <a:off x="7550000" y="4114800"/>
            <a:ext cx="182880" cy="182880"/>
          </a:xfrm>
          <a:prstGeom prst="rightArrow">
            <a:avLst/>
          </a:prstGeom>
          <a:solidFill>
            <a:srgbClr val="ED1C29"/>
          </a:solidFill>
          <a:ln>
            <a:noFill/>
          </a:ln>
        </p:spPr>
        <p:txBody>
          <a:bodyPr lIns="0" tIns="0" rIns="0" bIns="0" anchor="ctr">
            <a:normAutofit fontScale="40000" lnSpcReduction="20000"/>
          </a:bodyPr>
          <a:lstStyle/>
          <a:p>
            <a:endParaRPr lang="es-ES"/>
          </a:p>
        </p:txBody>
      </p:sp>
      <p:sp>
        <p:nvSpPr>
          <p:cNvPr id="54" name="rule6">
            <a:extLst>
              <a:ext uri="{C183D7F6-B498-43B3-948B-1728B52AA6E4}">
                <adec:decorative xmlns:adec="http://schemas.microsoft.com/office/drawing/2017/decorative" val="1"/>
              </a:ext>
            </a:extLst>
          </p:cNvPr>
          <p:cNvSpPr/>
          <p:nvPr/>
        </p:nvSpPr>
        <p:spPr>
          <a:xfrm>
            <a:off x="7858368" y="3657600"/>
            <a:ext cx="3200000" cy="54864"/>
          </a:xfrm>
          <a:prstGeom prst="rect">
            <a:avLst/>
          </a:prstGeom>
          <a:solidFill>
            <a:srgbClr val="211915"/>
          </a:solidFill>
          <a:ln>
            <a:noFill/>
          </a:ln>
        </p:spPr>
        <p:txBody>
          <a:bodyPr lIns="0" tIns="0" rIns="0" bIns="0" anchor="ctr">
            <a:normAutofit fontScale="25000" lnSpcReduction="20000"/>
          </a:bodyPr>
          <a:lstStyle/>
          <a:p>
            <a:endParaRPr lang="es-ES"/>
          </a:p>
        </p:txBody>
      </p:sp>
      <p:sp>
        <p:nvSpPr>
          <p:cNvPr id="56" name="tb6"/>
          <p:cNvSpPr txBox="1"/>
          <p:nvPr/>
        </p:nvSpPr>
        <p:spPr>
          <a:xfrm>
            <a:off x="7858368" y="3794760"/>
            <a:ext cx="3200000" cy="1250000"/>
          </a:xfrm>
          <a:prstGeom prst="rect">
            <a:avLst/>
          </a:prstGeom>
          <a:noFill/>
        </p:spPr>
        <p:txBody>
          <a:bodyPr wrap="square" lIns="0" tIns="0" rIns="0" bIns="0" anchor="t">
            <a:normAutofit/>
          </a:bodyPr>
          <a:lstStyle/>
          <a:p>
            <a:pPr algn="l">
              <a:lnSpc>
                <a:spcPct val="100000"/>
              </a:lnSpc>
              <a:spcAft>
                <a:spcPts val="400"/>
              </a:spcAft>
            </a:pPr>
            <a:r>
              <a:rPr lang="en-US" sz="1000" b="1" i="0" spc="100">
                <a:solidFill>
                  <a:srgbClr val="ED1C29"/>
                </a:solidFill>
              </a:rPr>
              <a:t>06 · RESULTADO</a:t>
            </a:r>
          </a:p>
          <a:p>
            <a:pPr algn="l">
              <a:lnSpc>
                <a:spcPct val="100000"/>
              </a:lnSpc>
              <a:spcAft>
                <a:spcPts val="400"/>
              </a:spcAft>
            </a:pPr>
            <a:r>
              <a:rPr lang="en-US" sz="1400" b="1" i="0">
                <a:solidFill>
                  <a:srgbClr val="211915"/>
                </a:solidFill>
              </a:rPr>
              <a:t>¿Cambió un resultado operativo o de negocio?</a:t>
            </a:r>
          </a:p>
          <a:p>
            <a:pPr algn="l">
              <a:lnSpc>
                <a:spcPct val="110000"/>
              </a:lnSpc>
            </a:pPr>
            <a:r>
              <a:rPr lang="en-US" sz="1100" b="0" i="0">
                <a:solidFill>
                  <a:srgbClr val="7A7A7A"/>
                </a:solidFill>
              </a:rPr>
              <a:t>Conectar la capacidad con un KPI observable.</a:t>
            </a:r>
            <a:endParaRPr lang="es-ES" sz="1100" b="0" i="0">
              <a:solidFill>
                <a:srgbClr val="7A7A7A"/>
              </a:solidFill>
            </a:endParaRPr>
          </a:p>
        </p:txBody>
      </p:sp>
      <p:sp>
        <p:nvSpPr>
          <p:cNvPr id="25" name="sh25"/>
          <p:cNvSpPr/>
          <p:nvPr/>
        </p:nvSpPr>
        <p:spPr>
          <a:xfrm>
            <a:off x="658368" y="5303520"/>
            <a:ext cx="10400000" cy="475488"/>
          </a:xfrm>
          <a:prstGeom prst="rect">
            <a:avLst/>
          </a:prstGeom>
          <a:solidFill>
            <a:srgbClr val="ED1C29"/>
          </a:solidFill>
          <a:ln>
            <a:noFill/>
          </a:ln>
        </p:spPr>
        <p:txBody>
          <a:bodyPr lIns="146304" tIns="73152" rIns="146304" bIns="73152" anchor="ctr">
            <a:normAutofit fontScale="92500" lnSpcReduction="20000"/>
          </a:bodyPr>
          <a:lstStyle/>
          <a:p>
            <a:pPr algn="ctr">
              <a:lnSpc>
                <a:spcPct val="100000"/>
              </a:lnSpc>
              <a:spcBef>
                <a:spcPts val="0"/>
              </a:spcBef>
            </a:pPr>
            <a:r>
              <a:rPr lang="es-ES" sz="1400" b="1" i="0">
                <a:solidFill>
                  <a:srgbClr val="FFFFFF"/>
                </a:solidFill>
              </a:rPr>
              <a:t>Primero demostramos el cambio técnico. Después demostramos cómo utilizamos esa capacidad y qué resultado produjo. Una mejora local no es suficiente si desplaza el problema a otra parte del flujo.</a:t>
            </a:r>
          </a:p>
        </p:txBody>
      </p:sp>
      <p:sp>
        <p:nvSpPr>
          <p:cNvPr id="57" name="chipCondicionBg">
            <a:extLst>
              <a:ext uri="{C183D7F6-B498-43B3-948B-1728B52AA6E4}">
                <adec:decorative xmlns:adec="http://schemas.microsoft.com/office/drawing/2017/decorative" val="1"/>
              </a:ext>
            </a:extLst>
          </p:cNvPr>
          <p:cNvSpPr/>
          <p:nvPr/>
        </p:nvSpPr>
        <p:spPr>
          <a:xfrm>
            <a:off x="658368" y="5870000"/>
            <a:ext cx="6400000" cy="330200"/>
          </a:xfrm>
          <a:prstGeom prst="rect">
            <a:avLst/>
          </a:prstGeom>
          <a:solidFill>
            <a:srgbClr val="211915"/>
          </a:solidFill>
          <a:ln>
            <a:noFill/>
          </a:ln>
        </p:spPr>
        <p:txBody>
          <a:bodyPr lIns="0" tIns="0" rIns="0" bIns="0" anchor="ctr">
            <a:normAutofit/>
          </a:bodyPr>
          <a:lstStyle/>
          <a:p>
            <a:endParaRPr lang="es-ES"/>
          </a:p>
        </p:txBody>
      </p:sp>
      <p:sp>
        <p:nvSpPr>
          <p:cNvPr id="58" name="chipCondicionTxt"/>
          <p:cNvSpPr txBox="1"/>
          <p:nvPr/>
        </p:nvSpPr>
        <p:spPr>
          <a:xfrm>
            <a:off x="804672" y="5906000"/>
            <a:ext cx="6107392" cy="258200"/>
          </a:xfrm>
          <a:prstGeom prst="rect">
            <a:avLst/>
          </a:prstGeom>
          <a:noFill/>
        </p:spPr>
        <p:txBody>
          <a:bodyPr wrap="square" lIns="0" tIns="0" rIns="0" bIns="0" anchor="ctr">
            <a:normAutofit fontScale="92500" lnSpcReduction="10000"/>
          </a:bodyPr>
          <a:lstStyle/>
          <a:p>
            <a:pPr algn="l">
              <a:lnSpc>
                <a:spcPct val="100000"/>
              </a:lnSpc>
            </a:pPr>
            <a:r>
              <a:rPr lang="es-ES" sz="900" b="1" i="0" spc="120">
                <a:solidFill>
                  <a:srgbClr val="FFFFFF"/>
                </a:solidFill>
              </a:rPr>
              <a:t>COMPARABILIDAD</a:t>
            </a:r>
          </a:p>
          <a:p>
            <a:pPr algn="l">
              <a:lnSpc>
                <a:spcPct val="100000"/>
              </a:lnSpc>
            </a:pPr>
            <a:r>
              <a:rPr lang="es-ES" sz="1000" b="0" i="0">
                <a:solidFill>
                  <a:srgbClr val="FFFFFF"/>
                </a:solidFill>
              </a:rPr>
              <a:t>Mismo tipo de trabajo · equipo relativamente estable · período definido</a:t>
            </a:r>
          </a:p>
        </p:txBody>
      </p:sp>
      <p:sp>
        <p:nvSpPr>
          <p:cNvPr id="29" name="tb29"/>
          <p:cNvSpPr txBox="1"/>
          <p:nvPr/>
        </p:nvSpPr>
        <p:spPr>
          <a:xfrm>
            <a:off x="658368" y="6272784"/>
            <a:ext cx="5486400" cy="228600"/>
          </a:xfrm>
          <a:prstGeom prst="rect">
            <a:avLst/>
          </a:prstGeom>
          <a:noFill/>
        </p:spPr>
        <p:txBody>
          <a:bodyPr wrap="square" lIns="0" tIns="0" rIns="0" bIns="0" anchor="t">
            <a:normAutofit/>
          </a:bodyPr>
          <a:lstStyle/>
          <a:p>
            <a:pPr algn="l">
              <a:lnSpc>
                <a:spcPct val="100000"/>
              </a:lnSpc>
              <a:spcBef>
                <a:spcPts val="0"/>
              </a:spcBef>
            </a:pPr>
            <a:r>
              <a:rPr lang="es-ES" sz="900" b="1" i="0">
                <a:solidFill>
                  <a:srgbClr val="211915"/>
                </a:solidFill>
              </a:rPr>
              <a:t>Tuya   ·   Del valor de GitHub Copilot</a:t>
            </a:r>
          </a:p>
        </p:txBody>
      </p:sp>
      <p:sp>
        <p:nvSpPr>
          <p:cNvPr id="30" name="tb30"/>
          <p:cNvSpPr txBox="1"/>
          <p:nvPr/>
        </p:nvSpPr>
        <p:spPr>
          <a:xfrm>
            <a:off x="10436322" y="6272784"/>
            <a:ext cx="1097280" cy="228600"/>
          </a:xfrm>
          <a:prstGeom prst="rect">
            <a:avLst/>
          </a:prstGeom>
          <a:noFill/>
        </p:spPr>
        <p:txBody>
          <a:bodyPr wrap="square" lIns="0" tIns="0" rIns="0" bIns="0" anchor="t">
            <a:normAutofit/>
          </a:bodyPr>
          <a:lstStyle/>
          <a:p>
            <a:pPr algn="r">
              <a:lnSpc>
                <a:spcPct val="100000"/>
              </a:lnSpc>
              <a:spcBef>
                <a:spcPts val="0"/>
              </a:spcBef>
            </a:pPr>
            <a:r>
              <a:rPr lang="es-ES" sz="900" b="1" i="0">
                <a:solidFill>
                  <a:srgbClr val="ED1C29"/>
                </a:solidFill>
              </a:rPr>
              <a:t>07</a:t>
            </a:r>
          </a:p>
        </p:txBody>
      </p:sp>
      <p:pic>
        <p:nvPicPr>
          <p:cNvPr id="900" name="Logo Tuya" descr="Logo corporativo Tuya"/>
          <p:cNvPicPr>
            <a:picLocks noChangeAspect="1"/>
          </p:cNvPicPr>
          <p:nvPr/>
        </p:nvPicPr>
        <p:blipFill>
          <a:blip r:embed="rId3"/>
          <a:stretch>
            <a:fillRect/>
          </a:stretch>
        </p:blipFill>
        <p:spPr>
          <a:xfrm>
            <a:off x="11152200" y="321276"/>
            <a:ext cx="640080" cy="3200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 name="sh95"/>
          <p:cNvSpPr/>
          <p:nvPr/>
        </p:nvSpPr>
        <p:spPr>
          <a:xfrm>
            <a:off x="658368" y="384048"/>
            <a:ext cx="146304" cy="146304"/>
          </a:xfrm>
          <a:prstGeom prst="rect">
            <a:avLst/>
          </a:prstGeom>
          <a:solidFill>
            <a:srgbClr val="ED1C29"/>
          </a:solidFill>
          <a:ln>
            <a:noFill/>
          </a:ln>
        </p:spPr>
        <p:txBody>
          <a:bodyPr lIns="146304" tIns="73152" rIns="146304" bIns="73152" anchor="ctr">
            <a:normAutofit fontScale="25000" lnSpcReduction="20000"/>
          </a:bodyPr>
          <a:lstStyle/>
          <a:p>
            <a:endParaRPr lang="es-ES"/>
          </a:p>
        </p:txBody>
      </p:sp>
      <p:sp>
        <p:nvSpPr>
          <p:cNvPr id="96" name="tb96"/>
          <p:cNvSpPr txBox="1"/>
          <p:nvPr/>
        </p:nvSpPr>
        <p:spPr>
          <a:xfrm>
            <a:off x="914400" y="365760"/>
            <a:ext cx="7315200" cy="237744"/>
          </a:xfrm>
          <a:prstGeom prst="rect">
            <a:avLst/>
          </a:prstGeom>
          <a:noFill/>
        </p:spPr>
        <p:txBody>
          <a:bodyPr wrap="square" lIns="0" tIns="0" rIns="0" bIns="0" anchor="t">
            <a:normAutofit/>
          </a:bodyPr>
          <a:lstStyle/>
          <a:p>
            <a:pPr algn="l">
              <a:lnSpc>
                <a:spcPct val="100000"/>
              </a:lnSpc>
              <a:spcBef>
                <a:spcPts val="0"/>
              </a:spcBef>
            </a:pPr>
            <a:r>
              <a:rPr lang="es-ES" sz="1050" b="1" i="0" spc="120">
                <a:solidFill>
                  <a:srgbClr val="ED1C29"/>
                </a:solidFill>
              </a:rPr>
              <a:t>TRES TIPOS DE EVIDENCIA</a:t>
            </a:r>
          </a:p>
        </p:txBody>
      </p:sp>
      <p:sp>
        <p:nvSpPr>
          <p:cNvPr id="97" name="tb97"/>
          <p:cNvSpPr txBox="1"/>
          <p:nvPr/>
        </p:nvSpPr>
        <p:spPr>
          <a:xfrm>
            <a:off x="658368" y="713232"/>
            <a:ext cx="9326880" cy="685800"/>
          </a:xfrm>
          <a:prstGeom prst="rect">
            <a:avLst/>
          </a:prstGeom>
          <a:noFill/>
        </p:spPr>
        <p:txBody>
          <a:bodyPr wrap="square" lIns="0" tIns="0" rIns="0" bIns="0" anchor="t">
            <a:normAutofit/>
          </a:bodyPr>
          <a:lstStyle/>
          <a:p>
            <a:pPr algn="l">
              <a:lnSpc>
                <a:spcPct val="100000"/>
              </a:lnSpc>
              <a:spcBef>
                <a:spcPts val="0"/>
              </a:spcBef>
            </a:pPr>
            <a:r>
              <a:rPr lang="es-ES" sz="3000" b="1" i="0">
                <a:solidFill>
                  <a:srgbClr val="211915"/>
                </a:solidFill>
              </a:rPr>
              <a:t>Ninguna fuente por sí sola demuestra valor</a:t>
            </a:r>
          </a:p>
        </p:txBody>
      </p:sp>
      <p:sp>
        <p:nvSpPr>
          <p:cNvPr id="78" name="sh78"/>
          <p:cNvSpPr/>
          <p:nvPr/>
        </p:nvSpPr>
        <p:spPr>
          <a:xfrm>
            <a:off x="658368" y="1783080"/>
            <a:ext cx="3442198" cy="3611880"/>
          </a:xfrm>
          <a:prstGeom prst="rect">
            <a:avLst/>
          </a:prstGeom>
          <a:solidFill>
            <a:srgbClr val="FFFFFF"/>
          </a:solidFill>
          <a:ln w="12700">
            <a:solidFill>
              <a:srgbClr val="E3E0DE"/>
            </a:solidFill>
          </a:ln>
        </p:spPr>
        <p:txBody>
          <a:bodyPr lIns="146304" tIns="73152" rIns="146304" bIns="73152" anchor="ctr">
            <a:normAutofit/>
          </a:bodyPr>
          <a:lstStyle/>
          <a:p>
            <a:endParaRPr lang="es-ES"/>
          </a:p>
        </p:txBody>
      </p:sp>
      <p:sp>
        <p:nvSpPr>
          <p:cNvPr id="80" name="tb80"/>
          <p:cNvSpPr txBox="1"/>
          <p:nvPr/>
        </p:nvSpPr>
        <p:spPr>
          <a:xfrm>
            <a:off x="978408" y="2103120"/>
            <a:ext cx="2802118" cy="304800"/>
          </a:xfrm>
          <a:prstGeom prst="rect">
            <a:avLst/>
          </a:prstGeom>
          <a:noFill/>
        </p:spPr>
        <p:txBody>
          <a:bodyPr wrap="square" lIns="0" tIns="0" rIns="0" bIns="0" anchor="t">
            <a:normAutofit/>
          </a:bodyPr>
          <a:lstStyle/>
          <a:p>
            <a:pPr algn="l">
              <a:lnSpc>
                <a:spcPct val="100000"/>
              </a:lnSpc>
              <a:spcBef>
                <a:spcPts val="0"/>
              </a:spcBef>
            </a:pPr>
            <a:r>
              <a:rPr lang="es-ES" sz="1200" b="1" i="0" spc="100">
                <a:solidFill>
                  <a:srgbClr val="ED1C29"/>
                </a:solidFill>
              </a:rPr>
              <a:t>EVIDENCIA CUANTITATIVA</a:t>
            </a:r>
          </a:p>
        </p:txBody>
      </p:sp>
      <p:sp>
        <p:nvSpPr>
          <p:cNvPr id="81" name="tb81"/>
          <p:cNvSpPr txBox="1"/>
          <p:nvPr/>
        </p:nvSpPr>
        <p:spPr>
          <a:xfrm>
            <a:off x="978408" y="2529840"/>
            <a:ext cx="2802118" cy="2819400"/>
          </a:xfrm>
          <a:prstGeom prst="rect">
            <a:avLst/>
          </a:prstGeom>
          <a:noFill/>
        </p:spPr>
        <p:txBody>
          <a:bodyPr wrap="square" lIns="0" tIns="0" rIns="0" bIns="0" anchor="t">
            <a:normAutofit/>
          </a:bodyPr>
          <a:lstStyle/>
          <a:p>
            <a:pPr marL="182880" indent="-182880" algn="l">
              <a:lnSpc>
                <a:spcPct val="100000"/>
              </a:lnSpc>
              <a:spcBef>
                <a:spcPts val="500"/>
              </a:spcBef>
              <a:buChar char="•"/>
            </a:pPr>
            <a:r>
              <a:rPr lang="es-ES" sz="1100" b="0" i="0">
                <a:solidFill>
                  <a:srgbClr val="7A7A7A"/>
                </a:solidFill>
              </a:rPr>
              <a:t>Tiempo de ciclo</a:t>
            </a:r>
          </a:p>
          <a:p>
            <a:pPr marL="182880" indent="-182880" algn="l">
              <a:lnSpc>
                <a:spcPct val="100000"/>
              </a:lnSpc>
              <a:spcBef>
                <a:spcPts val="500"/>
              </a:spcBef>
              <a:buChar char="•"/>
            </a:pPr>
            <a:r>
              <a:rPr lang="es-ES" sz="1100" b="0" i="0">
                <a:solidFill>
                  <a:srgbClr val="7A7A7A"/>
                </a:solidFill>
              </a:rPr>
              <a:t>Entregas</a:t>
            </a:r>
          </a:p>
          <a:p>
            <a:pPr marL="182880" indent="-182880" algn="l">
              <a:lnSpc>
                <a:spcPct val="100000"/>
              </a:lnSpc>
              <a:spcBef>
                <a:spcPts val="500"/>
              </a:spcBef>
              <a:buChar char="•"/>
            </a:pPr>
            <a:r>
              <a:rPr lang="es-ES" sz="1100" b="0" i="0">
                <a:solidFill>
                  <a:srgbClr val="7A7A7A"/>
                </a:solidFill>
              </a:rPr>
              <a:t>Throughput</a:t>
            </a:r>
          </a:p>
          <a:p>
            <a:pPr marL="182880" indent="-182880" algn="l">
              <a:lnSpc>
                <a:spcPct val="100000"/>
              </a:lnSpc>
              <a:spcBef>
                <a:spcPts val="500"/>
              </a:spcBef>
              <a:buChar char="•"/>
            </a:pPr>
            <a:r>
              <a:rPr lang="es-ES" sz="1100" b="0" i="0">
                <a:solidFill>
                  <a:srgbClr val="7A7A7A"/>
                </a:solidFill>
              </a:rPr>
              <a:t>Defectos</a:t>
            </a:r>
          </a:p>
          <a:p>
            <a:pPr marL="182880" indent="-182880" algn="l">
              <a:lnSpc>
                <a:spcPct val="100000"/>
              </a:lnSpc>
              <a:spcBef>
                <a:spcPts val="500"/>
              </a:spcBef>
              <a:buChar char="•"/>
            </a:pPr>
            <a:r>
              <a:rPr lang="es-ES" sz="1100" b="0" i="0">
                <a:solidFill>
                  <a:srgbClr val="7A7A7A"/>
                </a:solidFill>
              </a:rPr>
              <a:t>Incidentes</a:t>
            </a:r>
          </a:p>
          <a:p>
            <a:pPr marL="182880" indent="-182880" algn="l">
              <a:lnSpc>
                <a:spcPct val="100000"/>
              </a:lnSpc>
              <a:spcBef>
                <a:spcPts val="500"/>
              </a:spcBef>
              <a:buChar char="•"/>
            </a:pPr>
            <a:r>
              <a:rPr lang="es-ES" sz="1100" b="0" i="0">
                <a:solidFill>
                  <a:srgbClr val="7A7A7A"/>
                </a:solidFill>
              </a:rPr>
              <a:t>Reprocesos</a:t>
            </a:r>
          </a:p>
          <a:p>
            <a:pPr marL="182880" indent="-182880" algn="l">
              <a:lnSpc>
                <a:spcPct val="100000"/>
              </a:lnSpc>
              <a:spcBef>
                <a:spcPts val="500"/>
              </a:spcBef>
              <a:buChar char="•"/>
            </a:pPr>
            <a:r>
              <a:rPr lang="es-ES" sz="1100" b="0" i="0">
                <a:solidFill>
                  <a:srgbClr val="7A7A7A"/>
                </a:solidFill>
              </a:rPr>
              <a:t>Iniciativas terminadas</a:t>
            </a:r>
          </a:p>
          <a:p>
            <a:pPr marL="182880" indent="-182880" algn="l">
              <a:lnSpc>
                <a:spcPct val="100000"/>
              </a:lnSpc>
              <a:spcBef>
                <a:spcPts val="500"/>
              </a:spcBef>
              <a:buChar char="•"/>
            </a:pPr>
            <a:r>
              <a:rPr lang="es-ES" sz="1100" b="0" i="0">
                <a:solidFill>
                  <a:srgbClr val="7A7A7A"/>
                </a:solidFill>
              </a:rPr>
              <a:t>Gasto de terceros</a:t>
            </a:r>
          </a:p>
        </p:txBody>
      </p:sp>
      <p:sp>
        <p:nvSpPr>
          <p:cNvPr id="82" name="sh82"/>
          <p:cNvSpPr/>
          <p:nvPr/>
        </p:nvSpPr>
        <p:spPr>
          <a:xfrm>
            <a:off x="4374886" y="1783080"/>
            <a:ext cx="3442198" cy="3611880"/>
          </a:xfrm>
          <a:prstGeom prst="rect">
            <a:avLst/>
          </a:prstGeom>
          <a:solidFill>
            <a:srgbClr val="FFFFFF"/>
          </a:solidFill>
          <a:ln w="12700">
            <a:solidFill>
              <a:srgbClr val="E3E0DE"/>
            </a:solidFill>
          </a:ln>
        </p:spPr>
        <p:txBody>
          <a:bodyPr lIns="146304" tIns="73152" rIns="146304" bIns="73152" anchor="ctr">
            <a:normAutofit/>
          </a:bodyPr>
          <a:lstStyle/>
          <a:p>
            <a:endParaRPr lang="es-ES"/>
          </a:p>
        </p:txBody>
      </p:sp>
      <p:sp>
        <p:nvSpPr>
          <p:cNvPr id="84" name="tb84"/>
          <p:cNvSpPr txBox="1"/>
          <p:nvPr/>
        </p:nvSpPr>
        <p:spPr>
          <a:xfrm>
            <a:off x="4694926" y="2103120"/>
            <a:ext cx="2802118" cy="304800"/>
          </a:xfrm>
          <a:prstGeom prst="rect">
            <a:avLst/>
          </a:prstGeom>
          <a:noFill/>
        </p:spPr>
        <p:txBody>
          <a:bodyPr wrap="square" lIns="0" tIns="0" rIns="0" bIns="0" anchor="t">
            <a:normAutofit/>
          </a:bodyPr>
          <a:lstStyle/>
          <a:p>
            <a:pPr algn="l">
              <a:lnSpc>
                <a:spcPct val="100000"/>
              </a:lnSpc>
              <a:spcBef>
                <a:spcPts val="0"/>
              </a:spcBef>
            </a:pPr>
            <a:r>
              <a:rPr lang="es-ES" sz="1200" b="1" i="0" spc="100">
                <a:solidFill>
                  <a:srgbClr val="ED1C29"/>
                </a:solidFill>
              </a:rPr>
              <a:t>EVIDENCIA CUALITATIVA</a:t>
            </a:r>
          </a:p>
        </p:txBody>
      </p:sp>
      <p:sp>
        <p:nvSpPr>
          <p:cNvPr id="85" name="tb85"/>
          <p:cNvSpPr txBox="1"/>
          <p:nvPr/>
        </p:nvSpPr>
        <p:spPr>
          <a:xfrm>
            <a:off x="4694926" y="2529840"/>
            <a:ext cx="2802118" cy="2819400"/>
          </a:xfrm>
          <a:prstGeom prst="rect">
            <a:avLst/>
          </a:prstGeom>
          <a:noFill/>
        </p:spPr>
        <p:txBody>
          <a:bodyPr wrap="square" lIns="0" tIns="0" rIns="0" bIns="0" anchor="t">
            <a:normAutofit/>
          </a:bodyPr>
          <a:lstStyle/>
          <a:p>
            <a:pPr marL="182880" indent="-182880" algn="l">
              <a:lnSpc>
                <a:spcPct val="100000"/>
              </a:lnSpc>
              <a:spcBef>
                <a:spcPts val="500"/>
              </a:spcBef>
              <a:buChar char="•"/>
            </a:pPr>
            <a:r>
              <a:rPr lang="es-ES" sz="1100" b="0" i="0">
                <a:solidFill>
                  <a:srgbClr val="7A7A7A"/>
                </a:solidFill>
              </a:rPr>
              <a:t>Facilidad para completar tareas</a:t>
            </a:r>
          </a:p>
          <a:p>
            <a:pPr marL="182880" indent="-182880" algn="l">
              <a:lnSpc>
                <a:spcPct val="100000"/>
              </a:lnSpc>
              <a:spcBef>
                <a:spcPts val="500"/>
              </a:spcBef>
              <a:buChar char="•"/>
            </a:pPr>
            <a:r>
              <a:rPr lang="es-ES" sz="1100" b="0" i="0">
                <a:solidFill>
                  <a:srgbClr val="7A7A7A"/>
                </a:solidFill>
              </a:rPr>
              <a:t>Carga cognitiva percibida</a:t>
            </a:r>
          </a:p>
          <a:p>
            <a:pPr marL="182880" indent="-182880" algn="l">
              <a:lnSpc>
                <a:spcPct val="100000"/>
              </a:lnSpc>
              <a:spcBef>
                <a:spcPts val="500"/>
              </a:spcBef>
              <a:buChar char="•"/>
            </a:pPr>
            <a:r>
              <a:rPr lang="es-ES" sz="1100" b="0" i="0">
                <a:solidFill>
                  <a:srgbClr val="7A7A7A"/>
                </a:solidFill>
              </a:rPr>
              <a:t>Confianza trabajando con código desconocido</a:t>
            </a:r>
          </a:p>
          <a:p>
            <a:pPr marL="182880" indent="-182880" algn="l">
              <a:lnSpc>
                <a:spcPct val="100000"/>
              </a:lnSpc>
              <a:spcBef>
                <a:spcPts val="500"/>
              </a:spcBef>
              <a:buChar char="•"/>
            </a:pPr>
            <a:r>
              <a:rPr lang="es-ES" sz="1100" b="0" i="0">
                <a:solidFill>
                  <a:srgbClr val="7A7A7A"/>
                </a:solidFill>
              </a:rPr>
              <a:t>Actividades donde Copilot aporta</a:t>
            </a:r>
          </a:p>
          <a:p>
            <a:pPr marL="182880" indent="-182880" algn="l">
              <a:lnSpc>
                <a:spcPct val="100000"/>
              </a:lnSpc>
              <a:spcBef>
                <a:spcPts val="500"/>
              </a:spcBef>
              <a:buChar char="•"/>
            </a:pPr>
            <a:r>
              <a:rPr lang="es-ES" sz="1100" b="0" i="0">
                <a:solidFill>
                  <a:srgbClr val="7A7A7A"/>
                </a:solidFill>
              </a:rPr>
              <a:t>Actividades donde Copilot no aporta</a:t>
            </a:r>
          </a:p>
          <a:p>
            <a:pPr marL="182880" indent="-182880" algn="l">
              <a:lnSpc>
                <a:spcPct val="100000"/>
              </a:lnSpc>
              <a:spcBef>
                <a:spcPts val="500"/>
              </a:spcBef>
              <a:buChar char="•"/>
            </a:pPr>
            <a:r>
              <a:rPr lang="es-ES" sz="1100" b="0" i="0">
                <a:solidFill>
                  <a:srgbClr val="7A7A7A"/>
                </a:solidFill>
              </a:rPr>
              <a:t>Satisfacción del desarrollador</a:t>
            </a:r>
          </a:p>
          <a:p>
            <a:pPr marL="182880" indent="-182880" algn="l">
              <a:lnSpc>
                <a:spcPct val="100000"/>
              </a:lnSpc>
              <a:spcBef>
                <a:spcPts val="500"/>
              </a:spcBef>
              <a:buChar char="•"/>
            </a:pPr>
            <a:r>
              <a:rPr lang="es-ES" sz="1100" b="0" i="0">
                <a:solidFill>
                  <a:srgbClr val="7A7A7A"/>
                </a:solidFill>
              </a:rPr>
              <a:t>Cambios observados en la forma de trabajar</a:t>
            </a:r>
          </a:p>
        </p:txBody>
      </p:sp>
      <p:sp>
        <p:nvSpPr>
          <p:cNvPr id="86" name="sh86"/>
          <p:cNvSpPr/>
          <p:nvPr/>
        </p:nvSpPr>
        <p:spPr>
          <a:xfrm>
            <a:off x="8091404" y="1783080"/>
            <a:ext cx="3442198" cy="3611880"/>
          </a:xfrm>
          <a:prstGeom prst="rect">
            <a:avLst/>
          </a:prstGeom>
          <a:solidFill>
            <a:srgbClr val="FFFFFF"/>
          </a:solidFill>
          <a:ln w="12700">
            <a:solidFill>
              <a:srgbClr val="E3E0DE"/>
            </a:solidFill>
          </a:ln>
        </p:spPr>
        <p:txBody>
          <a:bodyPr lIns="146304" tIns="73152" rIns="146304" bIns="73152" anchor="ctr">
            <a:normAutofit/>
          </a:bodyPr>
          <a:lstStyle/>
          <a:p>
            <a:endParaRPr lang="es-ES"/>
          </a:p>
        </p:txBody>
      </p:sp>
      <p:sp>
        <p:nvSpPr>
          <p:cNvPr id="88" name="tb88"/>
          <p:cNvSpPr txBox="1"/>
          <p:nvPr/>
        </p:nvSpPr>
        <p:spPr>
          <a:xfrm>
            <a:off x="8411444" y="2103120"/>
            <a:ext cx="2802118" cy="304800"/>
          </a:xfrm>
          <a:prstGeom prst="rect">
            <a:avLst/>
          </a:prstGeom>
          <a:noFill/>
        </p:spPr>
        <p:txBody>
          <a:bodyPr wrap="square" lIns="0" tIns="0" rIns="0" bIns="0" anchor="t">
            <a:normAutofit/>
          </a:bodyPr>
          <a:lstStyle/>
          <a:p>
            <a:pPr algn="l">
              <a:lnSpc>
                <a:spcPct val="100000"/>
              </a:lnSpc>
              <a:spcBef>
                <a:spcPts val="0"/>
              </a:spcBef>
            </a:pPr>
            <a:r>
              <a:rPr lang="es-ES" sz="1200" b="1" i="0" spc="100">
                <a:solidFill>
                  <a:srgbClr val="ED1C29"/>
                </a:solidFill>
              </a:rPr>
              <a:t>EVIDENCIA DE NEGOCIO</a:t>
            </a:r>
          </a:p>
        </p:txBody>
      </p:sp>
      <p:sp>
        <p:nvSpPr>
          <p:cNvPr id="89" name="tb89"/>
          <p:cNvSpPr txBox="1"/>
          <p:nvPr/>
        </p:nvSpPr>
        <p:spPr>
          <a:xfrm>
            <a:off x="8411444" y="2529840"/>
            <a:ext cx="2802118" cy="2819400"/>
          </a:xfrm>
          <a:prstGeom prst="rect">
            <a:avLst/>
          </a:prstGeom>
          <a:noFill/>
        </p:spPr>
        <p:txBody>
          <a:bodyPr wrap="square" lIns="0" tIns="0" rIns="0" bIns="0" anchor="t">
            <a:normAutofit/>
          </a:bodyPr>
          <a:lstStyle/>
          <a:p>
            <a:pPr marL="182880" indent="-182880" algn="l">
              <a:lnSpc>
                <a:spcPct val="100000"/>
              </a:lnSpc>
              <a:spcBef>
                <a:spcPts val="500"/>
              </a:spcBef>
              <a:buChar char="•"/>
            </a:pPr>
            <a:r>
              <a:rPr lang="es-ES" sz="1100" b="0" i="0">
                <a:solidFill>
                  <a:srgbClr val="7A7A7A"/>
                </a:solidFill>
              </a:rPr>
              <a:t>KPI del producto</a:t>
            </a:r>
          </a:p>
          <a:p>
            <a:pPr marL="182880" indent="-182880" algn="l">
              <a:lnSpc>
                <a:spcPct val="100000"/>
              </a:lnSpc>
              <a:spcBef>
                <a:spcPts val="500"/>
              </a:spcBef>
              <a:buChar char="•"/>
            </a:pPr>
            <a:r>
              <a:rPr lang="es-ES" sz="1100" b="0" i="0">
                <a:solidFill>
                  <a:srgbClr val="7A7A7A"/>
                </a:solidFill>
              </a:rPr>
              <a:t>Transacciones</a:t>
            </a:r>
          </a:p>
          <a:p>
            <a:pPr marL="182880" indent="-182880" algn="l">
              <a:lnSpc>
                <a:spcPct val="100000"/>
              </a:lnSpc>
              <a:spcBef>
                <a:spcPts val="500"/>
              </a:spcBef>
              <a:buChar char="•"/>
            </a:pPr>
            <a:r>
              <a:rPr lang="es-ES" sz="1100" b="0" i="0">
                <a:solidFill>
                  <a:srgbClr val="7A7A7A"/>
                </a:solidFill>
              </a:rPr>
              <a:t>Conversión</a:t>
            </a:r>
          </a:p>
          <a:p>
            <a:pPr marL="182880" indent="-182880" algn="l">
              <a:lnSpc>
                <a:spcPct val="100000"/>
              </a:lnSpc>
              <a:spcBef>
                <a:spcPts val="500"/>
              </a:spcBef>
              <a:buChar char="•"/>
            </a:pPr>
            <a:r>
              <a:rPr lang="es-ES" sz="1100" b="0" i="0">
                <a:solidFill>
                  <a:srgbClr val="7A7A7A"/>
                </a:solidFill>
              </a:rPr>
              <a:t>Costo</a:t>
            </a:r>
          </a:p>
          <a:p>
            <a:pPr marL="182880" indent="-182880" algn="l">
              <a:lnSpc>
                <a:spcPct val="100000"/>
              </a:lnSpc>
              <a:spcBef>
                <a:spcPts val="500"/>
              </a:spcBef>
              <a:buChar char="•"/>
            </a:pPr>
            <a:r>
              <a:rPr lang="es-ES" sz="1100" b="0" i="0">
                <a:solidFill>
                  <a:srgbClr val="7A7A7A"/>
                </a:solidFill>
              </a:rPr>
              <a:t>Ingreso o margen</a:t>
            </a:r>
          </a:p>
          <a:p>
            <a:pPr marL="182880" indent="-182880" algn="l">
              <a:lnSpc>
                <a:spcPct val="100000"/>
              </a:lnSpc>
              <a:spcBef>
                <a:spcPts val="500"/>
              </a:spcBef>
              <a:buChar char="•"/>
            </a:pPr>
            <a:r>
              <a:rPr lang="es-ES" sz="1100" b="0" i="0">
                <a:solidFill>
                  <a:srgbClr val="7A7A7A"/>
                </a:solidFill>
              </a:rPr>
              <a:t>Time-to-market</a:t>
            </a:r>
          </a:p>
          <a:p>
            <a:pPr marL="182880" indent="-182880" algn="l">
              <a:lnSpc>
                <a:spcPct val="100000"/>
              </a:lnSpc>
              <a:spcBef>
                <a:spcPts val="500"/>
              </a:spcBef>
              <a:buChar char="•"/>
            </a:pPr>
            <a:r>
              <a:rPr lang="es-ES" sz="1100" b="0" i="0">
                <a:solidFill>
                  <a:srgbClr val="7A7A7A"/>
                </a:solidFill>
              </a:rPr>
              <a:t>Pérdida evitada</a:t>
            </a:r>
          </a:p>
        </p:txBody>
      </p:sp>
      <p:sp>
        <p:nvSpPr>
          <p:cNvPr id="94" name="tb94"/>
          <p:cNvSpPr txBox="1"/>
          <p:nvPr/>
        </p:nvSpPr>
        <p:spPr>
          <a:xfrm>
            <a:off x="658368" y="5623560"/>
            <a:ext cx="10881360" cy="457200"/>
          </a:xfrm>
          <a:prstGeom prst="rect">
            <a:avLst/>
          </a:prstGeom>
          <a:noFill/>
        </p:spPr>
        <p:txBody>
          <a:bodyPr wrap="square" lIns="0" tIns="0" rIns="0" bIns="0" anchor="t">
            <a:normAutofit/>
          </a:bodyPr>
          <a:lstStyle/>
          <a:p>
            <a:pPr algn="l">
              <a:lnSpc>
                <a:spcPct val="100000"/>
              </a:lnSpc>
              <a:spcBef>
                <a:spcPts val="0"/>
              </a:spcBef>
            </a:pPr>
            <a:r>
              <a:rPr lang="es-ES" sz="1250" b="0" i="1">
                <a:solidFill>
                  <a:srgbClr val="7A7A7A"/>
                </a:solidFill>
              </a:rPr>
              <a:t>Combinamos evidencia técnica, experiencia del equipo y resultados de negocio.</a:t>
            </a:r>
          </a:p>
        </p:txBody>
      </p:sp>
      <p:sp>
        <p:nvSpPr>
          <p:cNvPr id="98" name="tb98"/>
          <p:cNvSpPr txBox="1"/>
          <p:nvPr/>
        </p:nvSpPr>
        <p:spPr>
          <a:xfrm>
            <a:off x="658368" y="6272784"/>
            <a:ext cx="5486400" cy="228600"/>
          </a:xfrm>
          <a:prstGeom prst="rect">
            <a:avLst/>
          </a:prstGeom>
          <a:noFill/>
        </p:spPr>
        <p:txBody>
          <a:bodyPr wrap="square" lIns="0" tIns="0" rIns="0" bIns="0" anchor="t">
            <a:normAutofit/>
          </a:bodyPr>
          <a:lstStyle/>
          <a:p>
            <a:pPr algn="l">
              <a:lnSpc>
                <a:spcPct val="100000"/>
              </a:lnSpc>
              <a:spcBef>
                <a:spcPts val="0"/>
              </a:spcBef>
            </a:pPr>
            <a:r>
              <a:rPr lang="es-ES" sz="900" b="1" i="0">
                <a:solidFill>
                  <a:srgbClr val="211915"/>
                </a:solidFill>
              </a:rPr>
              <a:t>Tuya   ·   Del valor de GitHub Copilot</a:t>
            </a:r>
          </a:p>
        </p:txBody>
      </p:sp>
      <p:sp>
        <p:nvSpPr>
          <p:cNvPr id="99" name="tb99"/>
          <p:cNvSpPr txBox="1"/>
          <p:nvPr/>
        </p:nvSpPr>
        <p:spPr>
          <a:xfrm>
            <a:off x="10436322" y="6272784"/>
            <a:ext cx="1097280" cy="228600"/>
          </a:xfrm>
          <a:prstGeom prst="rect">
            <a:avLst/>
          </a:prstGeom>
          <a:noFill/>
        </p:spPr>
        <p:txBody>
          <a:bodyPr wrap="square" lIns="0" tIns="0" rIns="0" bIns="0" anchor="t">
            <a:normAutofit/>
          </a:bodyPr>
          <a:lstStyle/>
          <a:p>
            <a:pPr algn="r">
              <a:lnSpc>
                <a:spcPct val="100000"/>
              </a:lnSpc>
              <a:spcBef>
                <a:spcPts val="0"/>
              </a:spcBef>
            </a:pPr>
            <a:r>
              <a:rPr lang="es-ES" sz="900" b="1" i="0">
                <a:solidFill>
                  <a:srgbClr val="ED1C29"/>
                </a:solidFill>
              </a:rPr>
              <a:t>08</a:t>
            </a:r>
          </a:p>
        </p:txBody>
      </p:sp>
      <p:pic>
        <p:nvPicPr>
          <p:cNvPr id="900" name="Logo Tuya" descr="Logotipo de Tuya"/>
          <p:cNvPicPr>
            <a:picLocks noChangeAspect="1"/>
          </p:cNvPicPr>
          <p:nvPr/>
        </p:nvPicPr>
        <p:blipFill>
          <a:blip r:embed="rId3"/>
          <a:stretch>
            <a:fillRect/>
          </a:stretch>
        </p:blipFill>
        <p:spPr>
          <a:xfrm>
            <a:off x="11152200" y="321276"/>
            <a:ext cx="640080" cy="32004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 name="sh95"/>
          <p:cNvSpPr/>
          <p:nvPr/>
        </p:nvSpPr>
        <p:spPr>
          <a:xfrm>
            <a:off x="658368" y="384048"/>
            <a:ext cx="146304" cy="146304"/>
          </a:xfrm>
          <a:prstGeom prst="rect">
            <a:avLst/>
          </a:prstGeom>
          <a:solidFill>
            <a:srgbClr val="ED1C29"/>
          </a:solidFill>
          <a:ln>
            <a:noFill/>
          </a:ln>
        </p:spPr>
        <p:txBody>
          <a:bodyPr lIns="146304" tIns="73152" rIns="146304" bIns="73152" anchor="ctr">
            <a:normAutofit fontScale="25000" lnSpcReduction="20000"/>
          </a:bodyPr>
          <a:lstStyle/>
          <a:p>
            <a:endParaRPr lang="es-ES"/>
          </a:p>
        </p:txBody>
      </p:sp>
      <p:sp>
        <p:nvSpPr>
          <p:cNvPr id="96" name="tb96"/>
          <p:cNvSpPr txBox="1"/>
          <p:nvPr/>
        </p:nvSpPr>
        <p:spPr>
          <a:xfrm>
            <a:off x="914400" y="365760"/>
            <a:ext cx="7315200" cy="237744"/>
          </a:xfrm>
          <a:prstGeom prst="rect">
            <a:avLst/>
          </a:prstGeom>
          <a:noFill/>
        </p:spPr>
        <p:txBody>
          <a:bodyPr wrap="square" lIns="0" tIns="0" rIns="0" bIns="0" anchor="t">
            <a:normAutofit/>
          </a:bodyPr>
          <a:lstStyle/>
          <a:p>
            <a:pPr algn="l">
              <a:lnSpc>
                <a:spcPct val="100000"/>
              </a:lnSpc>
              <a:spcBef>
                <a:spcPts val="0"/>
              </a:spcBef>
            </a:pPr>
            <a:r>
              <a:rPr lang="es-ES" sz="1050" b="1" i="0" spc="120">
                <a:solidFill>
                  <a:srgbClr val="ED1C29"/>
                </a:solidFill>
              </a:rPr>
              <a:t>TRES MÉTRICAS PARA EVALUAR UNA HIPÓTESIS</a:t>
            </a:r>
          </a:p>
        </p:txBody>
      </p:sp>
      <p:sp>
        <p:nvSpPr>
          <p:cNvPr id="97" name="tb97"/>
          <p:cNvSpPr txBox="1"/>
          <p:nvPr/>
        </p:nvSpPr>
        <p:spPr>
          <a:xfrm>
            <a:off x="658368" y="713232"/>
            <a:ext cx="9326880" cy="685800"/>
          </a:xfrm>
          <a:prstGeom prst="rect">
            <a:avLst/>
          </a:prstGeom>
          <a:noFill/>
        </p:spPr>
        <p:txBody>
          <a:bodyPr wrap="square" lIns="0" tIns="0" rIns="0" bIns="0" anchor="t">
            <a:normAutofit/>
          </a:bodyPr>
          <a:lstStyle/>
          <a:p>
            <a:pPr algn="l">
              <a:lnSpc>
                <a:spcPct val="100000"/>
              </a:lnSpc>
              <a:spcBef>
                <a:spcPts val="0"/>
              </a:spcBef>
            </a:pPr>
            <a:r>
              <a:rPr lang="es-ES" sz="3000" b="1" i="0">
                <a:solidFill>
                  <a:srgbClr val="211915"/>
                </a:solidFill>
              </a:rPr>
              <a:t>Medimos cambio, protección del resultado y valor</a:t>
            </a:r>
          </a:p>
        </p:txBody>
      </p:sp>
      <p:sp>
        <p:nvSpPr>
          <p:cNvPr id="78" name="sh78"/>
          <p:cNvSpPr/>
          <p:nvPr/>
        </p:nvSpPr>
        <p:spPr>
          <a:xfrm>
            <a:off x="658368" y="1783080"/>
            <a:ext cx="3442198" cy="3611880"/>
          </a:xfrm>
          <a:prstGeom prst="rect">
            <a:avLst/>
          </a:prstGeom>
          <a:solidFill>
            <a:srgbClr val="FFFFFF"/>
          </a:solidFill>
          <a:ln w="12700">
            <a:solidFill>
              <a:srgbClr val="E3E0DE"/>
            </a:solidFill>
          </a:ln>
        </p:spPr>
        <p:txBody>
          <a:bodyPr lIns="146304" tIns="73152" rIns="146304" bIns="73152" anchor="ctr">
            <a:normAutofit/>
          </a:bodyPr>
          <a:lstStyle/>
          <a:p>
            <a:endParaRPr lang="es-ES"/>
          </a:p>
        </p:txBody>
      </p:sp>
      <p:sp>
        <p:nvSpPr>
          <p:cNvPr id="80" name="tb80"/>
          <p:cNvSpPr txBox="1"/>
          <p:nvPr/>
        </p:nvSpPr>
        <p:spPr>
          <a:xfrm>
            <a:off x="978408" y="2103120"/>
            <a:ext cx="2802118" cy="304800"/>
          </a:xfrm>
          <a:prstGeom prst="rect">
            <a:avLst/>
          </a:prstGeom>
          <a:noFill/>
        </p:spPr>
        <p:txBody>
          <a:bodyPr wrap="square" lIns="0" tIns="0" rIns="0" bIns="0" anchor="t">
            <a:normAutofit/>
          </a:bodyPr>
          <a:lstStyle/>
          <a:p>
            <a:pPr algn="l">
              <a:lnSpc>
                <a:spcPct val="100000"/>
              </a:lnSpc>
              <a:spcBef>
                <a:spcPts val="0"/>
              </a:spcBef>
            </a:pPr>
            <a:r>
              <a:rPr lang="es-ES" sz="1200" b="1" i="0" spc="100">
                <a:solidFill>
                  <a:srgbClr val="ED1C29"/>
                </a:solidFill>
              </a:rPr>
              <a:t>MÉTRICA DE CAPACIDAD</a:t>
            </a:r>
          </a:p>
        </p:txBody>
      </p:sp>
      <p:sp>
        <p:nvSpPr>
          <p:cNvPr id="81" name="tb81"/>
          <p:cNvSpPr txBox="1"/>
          <p:nvPr/>
        </p:nvSpPr>
        <p:spPr>
          <a:xfrm>
            <a:off x="978408" y="2529840"/>
            <a:ext cx="2802118" cy="2645664"/>
          </a:xfrm>
          <a:prstGeom prst="rect">
            <a:avLst/>
          </a:prstGeom>
          <a:noFill/>
        </p:spPr>
        <p:txBody>
          <a:bodyPr wrap="square" lIns="0" tIns="0" rIns="0" bIns="0" anchor="t">
            <a:normAutofit/>
          </a:bodyPr>
          <a:lstStyle/>
          <a:p>
            <a:pPr marL="182880" indent="-182880" algn="l">
              <a:lnSpc>
                <a:spcPct val="100000"/>
              </a:lnSpc>
              <a:spcBef>
                <a:spcPts val="500"/>
              </a:spcBef>
              <a:buChar char="•"/>
            </a:pPr>
            <a:r>
              <a:rPr lang="es-ES" sz="1100" b="0" i="0">
                <a:solidFill>
                  <a:srgbClr val="7A7A7A"/>
                </a:solidFill>
              </a:rPr>
              <a:t>¿Cambió nuestra forma de trabajar?</a:t>
            </a:r>
          </a:p>
          <a:p>
            <a:pPr marL="182880" indent="-182880" algn="l">
              <a:lnSpc>
                <a:spcPct val="100000"/>
              </a:lnSpc>
              <a:spcBef>
                <a:spcPts val="500"/>
              </a:spcBef>
              <a:buChar char="•"/>
            </a:pPr>
            <a:r>
              <a:rPr lang="es-ES" sz="1100" b="0" i="0">
                <a:solidFill>
                  <a:srgbClr val="7A7A7A"/>
                </a:solidFill>
              </a:rPr>
              <a:t>Tiempo de ciclo</a:t>
            </a:r>
          </a:p>
          <a:p>
            <a:pPr marL="182880" indent="-182880" algn="l">
              <a:lnSpc>
                <a:spcPct val="100000"/>
              </a:lnSpc>
              <a:spcBef>
                <a:spcPts val="500"/>
              </a:spcBef>
              <a:buChar char="•"/>
            </a:pPr>
            <a:r>
              <a:rPr lang="es-ES" sz="1100" b="0" i="0">
                <a:solidFill>
                  <a:srgbClr val="7A7A7A"/>
                </a:solidFill>
              </a:rPr>
              <a:t>Throughput</a:t>
            </a:r>
          </a:p>
          <a:p>
            <a:pPr marL="182880" indent="-182880" algn="l">
              <a:lnSpc>
                <a:spcPct val="100000"/>
              </a:lnSpc>
              <a:spcBef>
                <a:spcPts val="500"/>
              </a:spcBef>
              <a:buChar char="•"/>
            </a:pPr>
            <a:r>
              <a:rPr lang="es-ES" sz="1100" b="0" i="0">
                <a:solidFill>
                  <a:srgbClr val="7A7A7A"/>
                </a:solidFill>
              </a:rPr>
              <a:t>Esfuerzo</a:t>
            </a:r>
          </a:p>
          <a:p>
            <a:pPr marL="182880" indent="-182880" algn="l">
              <a:lnSpc>
                <a:spcPct val="100000"/>
              </a:lnSpc>
              <a:spcBef>
                <a:spcPts val="500"/>
              </a:spcBef>
              <a:buChar char="•"/>
            </a:pPr>
            <a:r>
              <a:rPr lang="es-ES" sz="1100" b="0" i="0">
                <a:solidFill>
                  <a:srgbClr val="7A7A7A"/>
                </a:solidFill>
              </a:rPr>
              <a:t>Entregas</a:t>
            </a:r>
          </a:p>
          <a:p>
            <a:pPr marL="182880" indent="-182880" algn="l">
              <a:lnSpc>
                <a:spcPct val="100000"/>
              </a:lnSpc>
              <a:spcBef>
                <a:spcPts val="500"/>
              </a:spcBef>
              <a:buChar char="•"/>
            </a:pPr>
            <a:r>
              <a:rPr lang="es-ES" sz="1100" b="0" i="0">
                <a:solidFill>
                  <a:srgbClr val="7A7A7A"/>
                </a:solidFill>
              </a:rPr>
              <a:t>Demuestra si existe un cambio técnico u operativo.</a:t>
            </a:r>
          </a:p>
        </p:txBody>
      </p:sp>
      <p:sp>
        <p:nvSpPr>
          <p:cNvPr id="82" name="sh82"/>
          <p:cNvSpPr/>
          <p:nvPr/>
        </p:nvSpPr>
        <p:spPr>
          <a:xfrm>
            <a:off x="4374886" y="1783080"/>
            <a:ext cx="3442198" cy="3611880"/>
          </a:xfrm>
          <a:prstGeom prst="rect">
            <a:avLst/>
          </a:prstGeom>
          <a:solidFill>
            <a:srgbClr val="FFFFFF"/>
          </a:solidFill>
          <a:ln w="12700">
            <a:solidFill>
              <a:srgbClr val="E3E0DE"/>
            </a:solidFill>
          </a:ln>
        </p:spPr>
        <p:txBody>
          <a:bodyPr lIns="146304" tIns="73152" rIns="146304" bIns="73152" anchor="ctr">
            <a:normAutofit/>
          </a:bodyPr>
          <a:lstStyle/>
          <a:p>
            <a:endParaRPr lang="es-ES"/>
          </a:p>
        </p:txBody>
      </p:sp>
      <p:sp>
        <p:nvSpPr>
          <p:cNvPr id="84" name="tb84"/>
          <p:cNvSpPr txBox="1"/>
          <p:nvPr/>
        </p:nvSpPr>
        <p:spPr>
          <a:xfrm>
            <a:off x="4694926" y="2103120"/>
            <a:ext cx="2802118" cy="304800"/>
          </a:xfrm>
          <a:prstGeom prst="rect">
            <a:avLst/>
          </a:prstGeom>
          <a:noFill/>
        </p:spPr>
        <p:txBody>
          <a:bodyPr wrap="square" lIns="0" tIns="0" rIns="0" bIns="0" anchor="t">
            <a:normAutofit/>
          </a:bodyPr>
          <a:lstStyle/>
          <a:p>
            <a:pPr algn="l">
              <a:lnSpc>
                <a:spcPct val="100000"/>
              </a:lnSpc>
              <a:spcBef>
                <a:spcPts val="0"/>
              </a:spcBef>
            </a:pPr>
            <a:r>
              <a:rPr lang="es-ES" sz="1200" b="1" i="0" spc="100">
                <a:solidFill>
                  <a:srgbClr val="ED1C29"/>
                </a:solidFill>
              </a:rPr>
              <a:t>GUARDRAIL</a:t>
            </a:r>
          </a:p>
        </p:txBody>
      </p:sp>
      <p:sp>
        <p:nvSpPr>
          <p:cNvPr id="85" name="tb85"/>
          <p:cNvSpPr txBox="1"/>
          <p:nvPr/>
        </p:nvSpPr>
        <p:spPr>
          <a:xfrm>
            <a:off x="4694926" y="2529840"/>
            <a:ext cx="2802118" cy="2645664"/>
          </a:xfrm>
          <a:prstGeom prst="rect">
            <a:avLst/>
          </a:prstGeom>
          <a:noFill/>
        </p:spPr>
        <p:txBody>
          <a:bodyPr wrap="square" lIns="0" tIns="0" rIns="0" bIns="0" anchor="t">
            <a:normAutofit/>
          </a:bodyPr>
          <a:lstStyle/>
          <a:p>
            <a:pPr marL="182880" indent="-182880" algn="l">
              <a:lnSpc>
                <a:spcPct val="100000"/>
              </a:lnSpc>
              <a:spcBef>
                <a:spcPts val="500"/>
              </a:spcBef>
              <a:buChar char="•"/>
            </a:pPr>
            <a:r>
              <a:rPr lang="es-ES" sz="1100" b="0" i="0">
                <a:solidFill>
                  <a:srgbClr val="7A7A7A"/>
                </a:solidFill>
              </a:rPr>
              <a:t>¿Mejoramos sin deteriorar otro resultado?</a:t>
            </a:r>
          </a:p>
          <a:p>
            <a:pPr marL="182880" indent="-182880" algn="l">
              <a:lnSpc>
                <a:spcPct val="100000"/>
              </a:lnSpc>
              <a:spcBef>
                <a:spcPts val="500"/>
              </a:spcBef>
              <a:buChar char="•"/>
            </a:pPr>
            <a:r>
              <a:rPr lang="es-ES" sz="1100" b="0" i="0">
                <a:solidFill>
                  <a:srgbClr val="7A7A7A"/>
                </a:solidFill>
              </a:rPr>
              <a:t>Defectos</a:t>
            </a:r>
          </a:p>
          <a:p>
            <a:pPr marL="182880" indent="-182880" algn="l">
              <a:lnSpc>
                <a:spcPct val="100000"/>
              </a:lnSpc>
              <a:spcBef>
                <a:spcPts val="500"/>
              </a:spcBef>
              <a:buChar char="•"/>
            </a:pPr>
            <a:r>
              <a:rPr lang="es-ES" sz="1100" b="0" i="0">
                <a:solidFill>
                  <a:srgbClr val="7A7A7A"/>
                </a:solidFill>
              </a:rPr>
              <a:t>Incidentes</a:t>
            </a:r>
          </a:p>
          <a:p>
            <a:pPr marL="182880" indent="-182880" algn="l">
              <a:lnSpc>
                <a:spcPct val="100000"/>
              </a:lnSpc>
              <a:spcBef>
                <a:spcPts val="500"/>
              </a:spcBef>
              <a:buChar char="•"/>
            </a:pPr>
            <a:r>
              <a:rPr lang="es-ES" sz="1100" b="0" i="0">
                <a:solidFill>
                  <a:srgbClr val="7A7A7A"/>
                </a:solidFill>
              </a:rPr>
              <a:t>Retrabajo</a:t>
            </a:r>
          </a:p>
          <a:p>
            <a:pPr marL="182880" indent="-182880" algn="l">
              <a:lnSpc>
                <a:spcPct val="100000"/>
              </a:lnSpc>
              <a:spcBef>
                <a:spcPts val="500"/>
              </a:spcBef>
              <a:buChar char="•"/>
            </a:pPr>
            <a:r>
              <a:rPr lang="es-ES" sz="1100" b="0" i="0">
                <a:solidFill>
                  <a:srgbClr val="7A7A7A"/>
                </a:solidFill>
              </a:rPr>
              <a:t>Estabilidad</a:t>
            </a:r>
          </a:p>
          <a:p>
            <a:pPr marL="182880" indent="-182880" algn="l">
              <a:lnSpc>
                <a:spcPct val="100000"/>
              </a:lnSpc>
              <a:spcBef>
                <a:spcPts val="500"/>
              </a:spcBef>
              <a:buChar char="•"/>
            </a:pPr>
            <a:r>
              <a:rPr lang="es-ES" sz="1100" b="0" i="0">
                <a:solidFill>
                  <a:srgbClr val="7A7A7A"/>
                </a:solidFill>
              </a:rPr>
              <a:t>Calidad</a:t>
            </a:r>
          </a:p>
          <a:p>
            <a:pPr marL="182880" indent="-182880" algn="l">
              <a:lnSpc>
                <a:spcPct val="100000"/>
              </a:lnSpc>
              <a:spcBef>
                <a:spcPts val="500"/>
              </a:spcBef>
              <a:buChar char="•"/>
            </a:pPr>
            <a:r>
              <a:rPr lang="es-ES" sz="1100" b="0" i="0">
                <a:solidFill>
                  <a:srgbClr val="7A7A7A"/>
                </a:solidFill>
              </a:rPr>
              <a:t>Nivel de servicio</a:t>
            </a:r>
          </a:p>
          <a:p>
            <a:pPr marL="182880" indent="-182880" algn="l">
              <a:lnSpc>
                <a:spcPct val="100000"/>
              </a:lnSpc>
              <a:spcBef>
                <a:spcPts val="500"/>
              </a:spcBef>
              <a:buChar char="•"/>
            </a:pPr>
            <a:r>
              <a:rPr lang="es-ES" sz="1100" b="0" i="0">
                <a:solidFill>
                  <a:srgbClr val="7A7A7A"/>
                </a:solidFill>
              </a:rPr>
              <a:t>Evita declarar éxito trasladando el problema a otra parte del flujo.</a:t>
            </a:r>
          </a:p>
        </p:txBody>
      </p:sp>
      <p:sp>
        <p:nvSpPr>
          <p:cNvPr id="86" name="sh86"/>
          <p:cNvSpPr/>
          <p:nvPr/>
        </p:nvSpPr>
        <p:spPr>
          <a:xfrm>
            <a:off x="8091404" y="1783080"/>
            <a:ext cx="3442198" cy="3611880"/>
          </a:xfrm>
          <a:prstGeom prst="rect">
            <a:avLst/>
          </a:prstGeom>
          <a:solidFill>
            <a:srgbClr val="FFFFFF"/>
          </a:solidFill>
          <a:ln w="12700">
            <a:solidFill>
              <a:srgbClr val="E3E0DE"/>
            </a:solidFill>
          </a:ln>
        </p:spPr>
        <p:txBody>
          <a:bodyPr lIns="146304" tIns="73152" rIns="146304" bIns="73152" anchor="ctr">
            <a:normAutofit/>
          </a:bodyPr>
          <a:lstStyle/>
          <a:p>
            <a:endParaRPr lang="es-ES"/>
          </a:p>
        </p:txBody>
      </p:sp>
      <p:sp>
        <p:nvSpPr>
          <p:cNvPr id="88" name="tb88"/>
          <p:cNvSpPr txBox="1"/>
          <p:nvPr/>
        </p:nvSpPr>
        <p:spPr>
          <a:xfrm>
            <a:off x="8411444" y="2103120"/>
            <a:ext cx="2802118" cy="304800"/>
          </a:xfrm>
          <a:prstGeom prst="rect">
            <a:avLst/>
          </a:prstGeom>
          <a:noFill/>
        </p:spPr>
        <p:txBody>
          <a:bodyPr wrap="square" lIns="0" tIns="0" rIns="0" bIns="0" anchor="t">
            <a:normAutofit/>
          </a:bodyPr>
          <a:lstStyle/>
          <a:p>
            <a:pPr algn="l">
              <a:lnSpc>
                <a:spcPct val="100000"/>
              </a:lnSpc>
              <a:spcBef>
                <a:spcPts val="0"/>
              </a:spcBef>
            </a:pPr>
            <a:r>
              <a:rPr lang="es-ES" sz="1200" b="1" i="0" spc="100">
                <a:solidFill>
                  <a:srgbClr val="ED1C29"/>
                </a:solidFill>
              </a:rPr>
              <a:t>MÉTRICA DE RESULTADO</a:t>
            </a:r>
          </a:p>
        </p:txBody>
      </p:sp>
      <p:sp>
        <p:nvSpPr>
          <p:cNvPr id="89" name="tb89"/>
          <p:cNvSpPr txBox="1"/>
          <p:nvPr/>
        </p:nvSpPr>
        <p:spPr>
          <a:xfrm>
            <a:off x="8411444" y="2529840"/>
            <a:ext cx="2802118" cy="2645664"/>
          </a:xfrm>
          <a:prstGeom prst="rect">
            <a:avLst/>
          </a:prstGeom>
          <a:noFill/>
        </p:spPr>
        <p:txBody>
          <a:bodyPr wrap="square" lIns="0" tIns="0" rIns="0" bIns="0" anchor="t">
            <a:normAutofit/>
          </a:bodyPr>
          <a:lstStyle/>
          <a:p>
            <a:pPr marL="182880" indent="-182880" algn="l">
              <a:lnSpc>
                <a:spcPct val="100000"/>
              </a:lnSpc>
              <a:spcBef>
                <a:spcPts val="500"/>
              </a:spcBef>
              <a:buChar char="•"/>
            </a:pPr>
            <a:r>
              <a:rPr lang="es-ES" sz="1100" b="0" i="0">
                <a:solidFill>
                  <a:srgbClr val="7A7A7A"/>
                </a:solidFill>
              </a:rPr>
              <a:t>¿Qué resultado observamos después de utilizar la capacidad generada?</a:t>
            </a:r>
          </a:p>
          <a:p>
            <a:pPr marL="182880" indent="-182880" algn="l">
              <a:lnSpc>
                <a:spcPct val="100000"/>
              </a:lnSpc>
              <a:spcBef>
                <a:spcPts val="500"/>
              </a:spcBef>
              <a:buChar char="•"/>
            </a:pPr>
            <a:r>
              <a:rPr lang="es-ES" sz="1100" b="0" i="0">
                <a:solidFill>
                  <a:srgbClr val="7A7A7A"/>
                </a:solidFill>
              </a:rPr>
              <a:t>Menor factura de proveedor</a:t>
            </a:r>
          </a:p>
          <a:p>
            <a:pPr marL="182880" indent="-182880" algn="l">
              <a:lnSpc>
                <a:spcPct val="100000"/>
              </a:lnSpc>
              <a:spcBef>
                <a:spcPts val="500"/>
              </a:spcBef>
              <a:buChar char="•"/>
            </a:pPr>
            <a:r>
              <a:rPr lang="es-ES" sz="1100" b="0" i="0">
                <a:solidFill>
                  <a:srgbClr val="7A7A7A"/>
                </a:solidFill>
              </a:rPr>
              <a:t>Iniciativa adicional</a:t>
            </a:r>
          </a:p>
          <a:p>
            <a:pPr marL="182880" indent="-182880" algn="l">
              <a:lnSpc>
                <a:spcPct val="100000"/>
              </a:lnSpc>
              <a:spcBef>
                <a:spcPts val="500"/>
              </a:spcBef>
              <a:buChar char="•"/>
            </a:pPr>
            <a:r>
              <a:rPr lang="es-ES" sz="1100" b="0" i="0">
                <a:solidFill>
                  <a:srgbClr val="7A7A7A"/>
                </a:solidFill>
              </a:rPr>
              <a:t>Menor time-to-market</a:t>
            </a:r>
          </a:p>
          <a:p>
            <a:pPr marL="182880" indent="-182880" algn="l">
              <a:lnSpc>
                <a:spcPct val="100000"/>
              </a:lnSpc>
              <a:spcBef>
                <a:spcPts val="500"/>
              </a:spcBef>
              <a:buChar char="•"/>
            </a:pPr>
            <a:r>
              <a:rPr lang="es-ES" sz="1100" b="0" i="0">
                <a:solidFill>
                  <a:srgbClr val="7A7A7A"/>
                </a:solidFill>
              </a:rPr>
              <a:t>Más transacciones</a:t>
            </a:r>
          </a:p>
          <a:p>
            <a:pPr marL="182880" indent="-182880" algn="l">
              <a:lnSpc>
                <a:spcPct val="100000"/>
              </a:lnSpc>
              <a:spcBef>
                <a:spcPts val="500"/>
              </a:spcBef>
              <a:buChar char="•"/>
            </a:pPr>
            <a:r>
              <a:rPr lang="es-ES" sz="1100" b="0" i="0">
                <a:solidFill>
                  <a:srgbClr val="7A7A7A"/>
                </a:solidFill>
              </a:rPr>
              <a:t>Menor costo operacional</a:t>
            </a:r>
          </a:p>
        </p:txBody>
      </p:sp>
      <p:cxnSp>
        <p:nvCxnSpPr>
          <p:cNvPr id="310" name="cxnLink310">
            <a:extLst>
              <a:ext uri="{C183D7F6-B498-43B3-948B-1728B52AA6E4}">
                <adec:decorative xmlns:adec="http://schemas.microsoft.com/office/drawing/2017/decorative" val="1"/>
              </a:ext>
            </a:extLst>
          </p:cNvPr>
          <p:cNvCxnSpPr/>
          <p:nvPr/>
        </p:nvCxnSpPr>
        <p:spPr>
          <a:xfrm>
            <a:off x="4146286" y="3589020"/>
            <a:ext cx="182880" cy="0"/>
          </a:xfrm>
          <a:prstGeom prst="line">
            <a:avLst/>
          </a:prstGeom>
          <a:ln w="25400" cap="rnd">
            <a:solidFill>
              <a:srgbClr val="ED1C29"/>
            </a:solidFill>
            <a:tailEnd type="triangle"/>
          </a:ln>
        </p:spPr>
      </p:cxnSp>
      <p:cxnSp>
        <p:nvCxnSpPr>
          <p:cNvPr id="311" name="cxnLink311">
            <a:extLst>
              <a:ext uri="{C183D7F6-B498-43B3-948B-1728B52AA6E4}">
                <adec:decorative xmlns:adec="http://schemas.microsoft.com/office/drawing/2017/decorative" val="1"/>
              </a:ext>
            </a:extLst>
          </p:cNvPr>
          <p:cNvCxnSpPr/>
          <p:nvPr/>
        </p:nvCxnSpPr>
        <p:spPr>
          <a:xfrm>
            <a:off x="7862804" y="3589020"/>
            <a:ext cx="182880" cy="0"/>
          </a:xfrm>
          <a:prstGeom prst="line">
            <a:avLst/>
          </a:prstGeom>
          <a:ln w="25400" cap="rnd">
            <a:solidFill>
              <a:srgbClr val="ED1C29"/>
            </a:solidFill>
            <a:tailEnd type="triangle"/>
          </a:ln>
        </p:spPr>
      </p:cxnSp>
      <p:sp>
        <p:nvSpPr>
          <p:cNvPr id="94" name="tb94"/>
          <p:cNvSpPr txBox="1"/>
          <p:nvPr/>
        </p:nvSpPr>
        <p:spPr>
          <a:xfrm>
            <a:off x="658368" y="5623560"/>
            <a:ext cx="10881360" cy="457200"/>
          </a:xfrm>
          <a:prstGeom prst="rect">
            <a:avLst/>
          </a:prstGeom>
          <a:noFill/>
        </p:spPr>
        <p:txBody>
          <a:bodyPr wrap="square" lIns="0" tIns="0" rIns="0" bIns="0" anchor="t">
            <a:normAutofit/>
          </a:bodyPr>
          <a:lstStyle/>
          <a:p>
            <a:pPr algn="l">
              <a:lnSpc>
                <a:spcPct val="100000"/>
              </a:lnSpc>
              <a:spcBef>
                <a:spcPts val="0"/>
              </a:spcBef>
            </a:pPr>
            <a:r>
              <a:rPr lang="es-ES" sz="1250" b="0" i="1">
                <a:solidFill>
                  <a:srgbClr val="7A7A7A"/>
                </a:solidFill>
              </a:rPr>
              <a:t>Una hipótesis se fortalece cuando mejora la capacidad, mantiene sus guardrails y produce un resultado observable.</a:t>
            </a:r>
          </a:p>
        </p:txBody>
      </p:sp>
      <p:sp>
        <p:nvSpPr>
          <p:cNvPr id="98" name="tb98"/>
          <p:cNvSpPr txBox="1"/>
          <p:nvPr/>
        </p:nvSpPr>
        <p:spPr>
          <a:xfrm>
            <a:off x="658368" y="6272784"/>
            <a:ext cx="5486400" cy="228600"/>
          </a:xfrm>
          <a:prstGeom prst="rect">
            <a:avLst/>
          </a:prstGeom>
          <a:noFill/>
        </p:spPr>
        <p:txBody>
          <a:bodyPr wrap="square" lIns="0" tIns="0" rIns="0" bIns="0" anchor="t">
            <a:normAutofit/>
          </a:bodyPr>
          <a:lstStyle/>
          <a:p>
            <a:pPr algn="l">
              <a:lnSpc>
                <a:spcPct val="100000"/>
              </a:lnSpc>
              <a:spcBef>
                <a:spcPts val="0"/>
              </a:spcBef>
            </a:pPr>
            <a:r>
              <a:rPr lang="es-ES" sz="900" b="1" i="0">
                <a:solidFill>
                  <a:srgbClr val="211915"/>
                </a:solidFill>
              </a:rPr>
              <a:t>Tuya   ·   Del valor de GitHub Copilot</a:t>
            </a:r>
          </a:p>
        </p:txBody>
      </p:sp>
      <p:sp>
        <p:nvSpPr>
          <p:cNvPr id="99" name="tb99"/>
          <p:cNvSpPr txBox="1"/>
          <p:nvPr/>
        </p:nvSpPr>
        <p:spPr>
          <a:xfrm>
            <a:off x="10436322" y="6272784"/>
            <a:ext cx="1097280" cy="228600"/>
          </a:xfrm>
          <a:prstGeom prst="rect">
            <a:avLst/>
          </a:prstGeom>
          <a:noFill/>
        </p:spPr>
        <p:txBody>
          <a:bodyPr wrap="square" lIns="0" tIns="0" rIns="0" bIns="0" anchor="t">
            <a:normAutofit/>
          </a:bodyPr>
          <a:lstStyle/>
          <a:p>
            <a:pPr algn="r">
              <a:lnSpc>
                <a:spcPct val="100000"/>
              </a:lnSpc>
              <a:spcBef>
                <a:spcPts val="0"/>
              </a:spcBef>
            </a:pPr>
            <a:r>
              <a:rPr lang="es-ES" sz="900" b="1" i="0">
                <a:solidFill>
                  <a:srgbClr val="ED1C29"/>
                </a:solidFill>
              </a:rPr>
              <a:t>09</a:t>
            </a:r>
          </a:p>
        </p:txBody>
      </p:sp>
      <p:pic>
        <p:nvPicPr>
          <p:cNvPr id="900" name="Logo Tuya" descr="Logotipo de Tuya"/>
          <p:cNvPicPr>
            <a:picLocks noChangeAspect="1"/>
          </p:cNvPicPr>
          <p:nvPr/>
        </p:nvPicPr>
        <p:blipFill>
          <a:blip r:embed="rId3"/>
          <a:stretch>
            <a:fillRect/>
          </a:stretch>
        </p:blipFill>
        <p:spPr>
          <a:xfrm>
            <a:off x="11152200" y="321276"/>
            <a:ext cx="640080" cy="320040"/>
          </a:xfrm>
          <a:prstGeom prst="rect">
            <a:avLst/>
          </a:prstGeom>
        </p:spPr>
      </p:pic>
    </p:spTree>
    <p:extLst>
      <p:ext uri="{BB962C8B-B14F-4D97-AF65-F5344CB8AC3E}">
        <p14:creationId xmlns:p14="http://schemas.microsoft.com/office/powerpoint/2010/main" val="513887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 name="sh95"/>
          <p:cNvSpPr/>
          <p:nvPr/>
        </p:nvSpPr>
        <p:spPr>
          <a:xfrm>
            <a:off x="658368" y="384048"/>
            <a:ext cx="146304" cy="146304"/>
          </a:xfrm>
          <a:prstGeom prst="rect">
            <a:avLst/>
          </a:prstGeom>
          <a:solidFill>
            <a:srgbClr val="ED1C29"/>
          </a:solidFill>
          <a:ln>
            <a:noFill/>
          </a:ln>
        </p:spPr>
        <p:txBody>
          <a:bodyPr lIns="146304" tIns="73152" rIns="146304" bIns="73152" anchor="ctr">
            <a:normAutofit fontScale="25000" lnSpcReduction="20000"/>
          </a:bodyPr>
          <a:lstStyle/>
          <a:p>
            <a:endParaRPr lang="es-ES"/>
          </a:p>
        </p:txBody>
      </p:sp>
      <p:sp>
        <p:nvSpPr>
          <p:cNvPr id="96" name="tb96"/>
          <p:cNvSpPr txBox="1"/>
          <p:nvPr/>
        </p:nvSpPr>
        <p:spPr>
          <a:xfrm>
            <a:off x="914400" y="365760"/>
            <a:ext cx="7315200" cy="237744"/>
          </a:xfrm>
          <a:prstGeom prst="rect">
            <a:avLst/>
          </a:prstGeom>
          <a:noFill/>
        </p:spPr>
        <p:txBody>
          <a:bodyPr wrap="square" lIns="0" tIns="0" rIns="0" bIns="0" anchor="t">
            <a:normAutofit/>
          </a:bodyPr>
          <a:lstStyle/>
          <a:p>
            <a:pPr algn="l">
              <a:lnSpc>
                <a:spcPct val="100000"/>
              </a:lnSpc>
              <a:spcBef>
                <a:spcPts val="0"/>
              </a:spcBef>
            </a:pPr>
            <a:r>
              <a:rPr lang="es-ES" sz="1050" b="1" i="0" spc="120">
                <a:solidFill>
                  <a:srgbClr val="ED1C29"/>
                </a:solidFill>
              </a:rPr>
              <a:t>EJEMPLOS ILUSTRATIVOS</a:t>
            </a:r>
            <a:endParaRPr lang="es-ES" sz="1050" b="1" i="0" spc="120" dirty="0">
              <a:solidFill>
                <a:srgbClr val="ED1C29"/>
              </a:solidFill>
            </a:endParaRPr>
          </a:p>
        </p:txBody>
      </p:sp>
      <p:sp>
        <p:nvSpPr>
          <p:cNvPr id="97" name="tb97"/>
          <p:cNvSpPr txBox="1"/>
          <p:nvPr/>
        </p:nvSpPr>
        <p:spPr>
          <a:xfrm>
            <a:off x="658368" y="713232"/>
            <a:ext cx="9326880" cy="685800"/>
          </a:xfrm>
          <a:prstGeom prst="rect">
            <a:avLst/>
          </a:prstGeom>
          <a:noFill/>
        </p:spPr>
        <p:txBody>
          <a:bodyPr wrap="square" lIns="0" tIns="0" rIns="0" bIns="0" anchor="t">
            <a:normAutofit/>
          </a:bodyPr>
          <a:lstStyle/>
          <a:p>
            <a:pPr algn="l">
              <a:lnSpc>
                <a:spcPct val="100000"/>
              </a:lnSpc>
              <a:spcBef>
                <a:spcPts val="0"/>
              </a:spcBef>
            </a:pPr>
            <a:r>
              <a:rPr lang="es-ES" sz="3000" b="1" i="0">
                <a:solidFill>
                  <a:srgbClr val="211915"/>
                </a:solidFill>
              </a:rPr>
              <a:t>Cómo se vería cada mecanismo en la práctica</a:t>
            </a:r>
            <a:endParaRPr lang="es-ES" sz="3000" b="1" i="0" dirty="0">
              <a:solidFill>
                <a:srgbClr val="211915"/>
              </a:solidFill>
            </a:endParaRPr>
          </a:p>
        </p:txBody>
      </p:sp>
      <p:sp>
        <p:nvSpPr>
          <p:cNvPr id="78" name="sh78"/>
          <p:cNvSpPr/>
          <p:nvPr/>
        </p:nvSpPr>
        <p:spPr>
          <a:xfrm>
            <a:off x="658368" y="1740000"/>
            <a:ext cx="5186157" cy="1660000"/>
          </a:xfrm>
          <a:prstGeom prst="rect">
            <a:avLst/>
          </a:prstGeom>
          <a:solidFill>
            <a:srgbClr val="FFFFFF"/>
          </a:solidFill>
          <a:ln w="12700">
            <a:solidFill>
              <a:srgbClr val="E3E0DE"/>
            </a:solidFill>
          </a:ln>
        </p:spPr>
        <p:txBody>
          <a:bodyPr lIns="146304" tIns="73152" rIns="146304" bIns="73152" anchor="ctr">
            <a:normAutofit/>
          </a:bodyPr>
          <a:lstStyle/>
          <a:p>
            <a:endParaRPr lang="es-ES"/>
          </a:p>
        </p:txBody>
      </p:sp>
      <p:sp>
        <p:nvSpPr>
          <p:cNvPr id="79" name="tb79"/>
          <p:cNvSpPr txBox="1"/>
          <p:nvPr/>
        </p:nvSpPr>
        <p:spPr>
          <a:xfrm>
            <a:off x="1042416" y="2000000"/>
            <a:ext cx="640080" cy="457200"/>
          </a:xfrm>
          <a:prstGeom prst="rect">
            <a:avLst/>
          </a:prstGeom>
          <a:noFill/>
        </p:spPr>
        <p:txBody>
          <a:bodyPr wrap="square" lIns="0" tIns="0" rIns="0" bIns="0" anchor="t">
            <a:normAutofit/>
          </a:bodyPr>
          <a:lstStyle/>
          <a:p>
            <a:pPr algn="l">
              <a:lnSpc>
                <a:spcPct val="100000"/>
              </a:lnSpc>
              <a:spcBef>
                <a:spcPts val="0"/>
              </a:spcBef>
            </a:pPr>
            <a:r>
              <a:rPr lang="es-ES" sz="2200" b="1" i="0">
                <a:solidFill>
                  <a:srgbClr val="F09FA5"/>
                </a:solidFill>
              </a:rPr>
              <a:t>01</a:t>
            </a:r>
          </a:p>
        </p:txBody>
      </p:sp>
      <p:sp>
        <p:nvSpPr>
          <p:cNvPr id="80" name="tb80"/>
          <p:cNvSpPr txBox="1"/>
          <p:nvPr/>
        </p:nvSpPr>
        <p:spPr>
          <a:xfrm>
            <a:off x="1801368" y="2015000"/>
            <a:ext cx="3850000" cy="300000"/>
          </a:xfrm>
          <a:prstGeom prst="rect">
            <a:avLst/>
          </a:prstGeom>
          <a:noFill/>
        </p:spPr>
        <p:txBody>
          <a:bodyPr wrap="square" lIns="0" tIns="0" rIns="0" bIns="0" anchor="t">
            <a:normAutofit/>
          </a:bodyPr>
          <a:lstStyle/>
          <a:p>
            <a:pPr algn="l">
              <a:lnSpc>
                <a:spcPct val="100000"/>
              </a:lnSpc>
              <a:spcBef>
                <a:spcPts val="0"/>
              </a:spcBef>
            </a:pPr>
            <a:r>
              <a:rPr lang="es-ES" sz="1500" b="1" i="0">
                <a:solidFill>
                  <a:srgbClr val="211915"/>
                </a:solidFill>
              </a:rPr>
              <a:t>Lo mismo con menos</a:t>
            </a:r>
          </a:p>
        </p:txBody>
      </p:sp>
      <p:sp>
        <p:nvSpPr>
          <p:cNvPr id="200" name="chain81_1" descr="Copilot"/>
          <p:cNvSpPr/>
          <p:nvPr/>
        </p:nvSpPr>
        <p:spPr>
          <a:xfrm>
            <a:off x="808368" y="2440000"/>
            <a:ext cx="520000" cy="396240"/>
          </a:xfrm>
          <a:prstGeom prst="roundRect">
            <a:avLst>
              <a:gd name="adj" fmla="val 14000"/>
            </a:avLst>
          </a:prstGeom>
          <a:solidFill>
            <a:srgbClr val="ED1C29"/>
          </a:solidFill>
          <a:ln>
            <a:noFill/>
          </a:ln>
        </p:spPr>
        <p:txBody>
          <a:bodyPr wrap="square" lIns="27432" tIns="18288" rIns="27432" bIns="18288" anchor="ctr">
            <a:normAutofit/>
          </a:bodyPr>
          <a:lstStyle/>
          <a:p>
            <a:pPr algn="ctr">
              <a:lnSpc>
                <a:spcPct val="92000"/>
              </a:lnSpc>
              <a:spcBef>
                <a:spcPts val="0"/>
              </a:spcBef>
              <a:buNone/>
            </a:pPr>
            <a:r>
              <a:rPr lang="es-ES" sz="800" b="1" i="0">
                <a:solidFill>
                  <a:srgbClr val="FFFFFF"/>
                </a:solidFill>
              </a:rPr>
              <a:t>Copilot</a:t>
            </a:r>
          </a:p>
        </p:txBody>
      </p:sp>
      <p:cxnSp>
        <p:nvCxnSpPr>
          <p:cNvPr id="210" name="conn81_1">
            <a:extLst>
              <a:ext uri="{C183D7F6-B498-43B3-948B-1728B52AA6E4}">
                <adec:decorative xmlns:adec="http://schemas.microsoft.com/office/drawing/2017/decorative" val="1"/>
              </a:ext>
            </a:extLst>
          </p:cNvPr>
          <p:cNvCxnSpPr/>
          <p:nvPr/>
        </p:nvCxnSpPr>
        <p:spPr>
          <a:xfrm>
            <a:off x="1334368" y="2638120"/>
            <a:ext cx="48000" cy="0"/>
          </a:xfrm>
          <a:prstGeom prst="straightConnector1">
            <a:avLst/>
          </a:prstGeom>
          <a:ln w="12700" cap="rnd">
            <a:solidFill>
              <a:srgbClr val="F09FA5"/>
            </a:solidFill>
            <a:tailEnd type="triangle" w="med" len="med"/>
          </a:ln>
        </p:spPr>
        <p:style>
          <a:lnRef idx="1">
            <a:scrgbClr r="0" g="0" b="0"/>
          </a:lnRef>
          <a:fillRef idx="0">
            <a:scrgbClr r="0" g="0" b="0"/>
          </a:fillRef>
          <a:effectRef idx="0">
            <a:scrgbClr r="0" g="0" b="0"/>
          </a:effectRef>
          <a:fontRef idx="minor">
            <a:scrgbClr r="0" g="0" b="0"/>
          </a:fontRef>
        </p:style>
      </p:cxnSp>
      <p:sp>
        <p:nvSpPr>
          <p:cNvPr id="201" name="chain81_2" descr="Mayor capacidad interna"/>
          <p:cNvSpPr/>
          <p:nvPr/>
        </p:nvSpPr>
        <p:spPr>
          <a:xfrm>
            <a:off x="1388368" y="2440000"/>
            <a:ext cx="788546" cy="396240"/>
          </a:xfrm>
          <a:prstGeom prst="roundRect">
            <a:avLst>
              <a:gd name="adj" fmla="val 14000"/>
            </a:avLst>
          </a:prstGeom>
          <a:solidFill>
            <a:srgbClr val="FFFFFF"/>
          </a:solidFill>
          <a:ln w="12700">
            <a:solidFill>
              <a:srgbClr val="E3E0DE"/>
            </a:solidFill>
          </a:ln>
        </p:spPr>
        <p:txBody>
          <a:bodyPr wrap="square" lIns="27432" tIns="18288" rIns="27432" bIns="18288" anchor="ctr">
            <a:normAutofit lnSpcReduction="10000"/>
          </a:bodyPr>
          <a:lstStyle/>
          <a:p>
            <a:pPr algn="ctr">
              <a:lnSpc>
                <a:spcPct val="92000"/>
              </a:lnSpc>
              <a:spcBef>
                <a:spcPts val="0"/>
              </a:spcBef>
              <a:buNone/>
            </a:pPr>
            <a:r>
              <a:rPr lang="es-ES" sz="800" b="0" i="0">
                <a:solidFill>
                  <a:srgbClr val="7A7A7A"/>
                </a:solidFill>
              </a:rPr>
              <a:t>Mayor capacidad interna</a:t>
            </a:r>
          </a:p>
        </p:txBody>
      </p:sp>
      <p:cxnSp>
        <p:nvCxnSpPr>
          <p:cNvPr id="211" name="conn81_2">
            <a:extLst>
              <a:ext uri="{C183D7F6-B498-43B3-948B-1728B52AA6E4}">
                <adec:decorative xmlns:adec="http://schemas.microsoft.com/office/drawing/2017/decorative" val="1"/>
              </a:ext>
            </a:extLst>
          </p:cNvPr>
          <p:cNvCxnSpPr/>
          <p:nvPr/>
        </p:nvCxnSpPr>
        <p:spPr>
          <a:xfrm>
            <a:off x="2182914" y="2638120"/>
            <a:ext cx="48000" cy="0"/>
          </a:xfrm>
          <a:prstGeom prst="straightConnector1">
            <a:avLst/>
          </a:prstGeom>
          <a:ln w="12700" cap="rnd">
            <a:solidFill>
              <a:srgbClr val="F09FA5"/>
            </a:solidFill>
            <a:tailEnd type="triangle" w="med" len="med"/>
          </a:ln>
        </p:spPr>
        <p:style>
          <a:lnRef idx="1">
            <a:scrgbClr r="0" g="0" b="0"/>
          </a:lnRef>
          <a:fillRef idx="0">
            <a:scrgbClr r="0" g="0" b="0"/>
          </a:fillRef>
          <a:effectRef idx="0">
            <a:scrgbClr r="0" g="0" b="0"/>
          </a:effectRef>
          <a:fontRef idx="minor">
            <a:scrgbClr r="0" g="0" b="0"/>
          </a:fontRef>
        </p:style>
      </p:cxnSp>
      <p:sp>
        <p:nvSpPr>
          <p:cNvPr id="202" name="chain81_3" descr="El equipo absorbe parte de una actividad actualmente tercerizada"/>
          <p:cNvSpPr/>
          <p:nvPr/>
        </p:nvSpPr>
        <p:spPr>
          <a:xfrm>
            <a:off x="2236914" y="2440000"/>
            <a:ext cx="1437760" cy="396240"/>
          </a:xfrm>
          <a:prstGeom prst="roundRect">
            <a:avLst>
              <a:gd name="adj" fmla="val 14000"/>
            </a:avLst>
          </a:prstGeom>
          <a:solidFill>
            <a:srgbClr val="FFFFFF"/>
          </a:solidFill>
          <a:ln w="12700">
            <a:solidFill>
              <a:srgbClr val="E3E0DE"/>
            </a:solidFill>
          </a:ln>
        </p:spPr>
        <p:txBody>
          <a:bodyPr wrap="square" lIns="27432" tIns="18288" rIns="27432" bIns="18288" anchor="ctr">
            <a:normAutofit lnSpcReduction="10000"/>
          </a:bodyPr>
          <a:lstStyle/>
          <a:p>
            <a:pPr algn="ctr">
              <a:lnSpc>
                <a:spcPct val="92000"/>
              </a:lnSpc>
              <a:spcBef>
                <a:spcPts val="0"/>
              </a:spcBef>
              <a:buNone/>
            </a:pPr>
            <a:r>
              <a:rPr lang="es-ES" sz="800" b="0" i="0">
                <a:solidFill>
                  <a:srgbClr val="7A7A7A"/>
                </a:solidFill>
              </a:rPr>
              <a:t>El equipo absorbe parte de una actividad actualmente tercerizada</a:t>
            </a:r>
          </a:p>
        </p:txBody>
      </p:sp>
      <p:cxnSp>
        <p:nvCxnSpPr>
          <p:cNvPr id="212" name="conn81_3">
            <a:extLst>
              <a:ext uri="{C183D7F6-B498-43B3-948B-1728B52AA6E4}">
                <adec:decorative xmlns:adec="http://schemas.microsoft.com/office/drawing/2017/decorative" val="1"/>
              </a:ext>
            </a:extLst>
          </p:cNvPr>
          <p:cNvCxnSpPr/>
          <p:nvPr/>
        </p:nvCxnSpPr>
        <p:spPr>
          <a:xfrm>
            <a:off x="3680674" y="2638120"/>
            <a:ext cx="48000" cy="0"/>
          </a:xfrm>
          <a:prstGeom prst="straightConnector1">
            <a:avLst/>
          </a:prstGeom>
          <a:ln w="12700" cap="rnd">
            <a:solidFill>
              <a:srgbClr val="F09FA5"/>
            </a:solidFill>
            <a:tailEnd type="triangle" w="med" len="med"/>
          </a:ln>
        </p:spPr>
        <p:style>
          <a:lnRef idx="1">
            <a:scrgbClr r="0" g="0" b="0"/>
          </a:lnRef>
          <a:fillRef idx="0">
            <a:scrgbClr r="0" g="0" b="0"/>
          </a:fillRef>
          <a:effectRef idx="0">
            <a:scrgbClr r="0" g="0" b="0"/>
          </a:effectRef>
          <a:fontRef idx="minor">
            <a:scrgbClr r="0" g="0" b="0"/>
          </a:fontRef>
        </p:style>
      </p:cxnSp>
      <p:sp>
        <p:nvSpPr>
          <p:cNvPr id="203" name="chain81_4" descr="Disminuye la capacidad externa requerida"/>
          <p:cNvSpPr/>
          <p:nvPr/>
        </p:nvSpPr>
        <p:spPr>
          <a:xfrm>
            <a:off x="3734674" y="2440000"/>
            <a:ext cx="1111305" cy="396240"/>
          </a:xfrm>
          <a:prstGeom prst="roundRect">
            <a:avLst>
              <a:gd name="adj" fmla="val 14000"/>
            </a:avLst>
          </a:prstGeom>
          <a:solidFill>
            <a:srgbClr val="FFFFFF"/>
          </a:solidFill>
          <a:ln w="12700">
            <a:solidFill>
              <a:srgbClr val="E3E0DE"/>
            </a:solidFill>
          </a:ln>
        </p:spPr>
        <p:txBody>
          <a:bodyPr wrap="square" lIns="27432" tIns="18288" rIns="27432" bIns="18288" anchor="ctr">
            <a:normAutofit/>
          </a:bodyPr>
          <a:lstStyle/>
          <a:p>
            <a:pPr algn="ctr">
              <a:lnSpc>
                <a:spcPct val="92000"/>
              </a:lnSpc>
              <a:spcBef>
                <a:spcPts val="0"/>
              </a:spcBef>
              <a:buNone/>
            </a:pPr>
            <a:r>
              <a:rPr lang="es-ES" sz="800" b="0" i="0">
                <a:solidFill>
                  <a:srgbClr val="7A7A7A"/>
                </a:solidFill>
              </a:rPr>
              <a:t>Disminuye la capacidad externa requerida</a:t>
            </a:r>
          </a:p>
        </p:txBody>
      </p:sp>
      <p:cxnSp>
        <p:nvCxnSpPr>
          <p:cNvPr id="213" name="conn81_4">
            <a:extLst>
              <a:ext uri="{C183D7F6-B498-43B3-948B-1728B52AA6E4}">
                <adec:decorative xmlns:adec="http://schemas.microsoft.com/office/drawing/2017/decorative" val="1"/>
              </a:ext>
            </a:extLst>
          </p:cNvPr>
          <p:cNvCxnSpPr/>
          <p:nvPr/>
        </p:nvCxnSpPr>
        <p:spPr>
          <a:xfrm>
            <a:off x="4851979" y="2638120"/>
            <a:ext cx="48000" cy="0"/>
          </a:xfrm>
          <a:prstGeom prst="straightConnector1">
            <a:avLst/>
          </a:prstGeom>
          <a:ln w="12700" cap="rnd">
            <a:solidFill>
              <a:srgbClr val="F09FA5"/>
            </a:solidFill>
            <a:tailEnd type="triangle" w="med" len="med"/>
          </a:ln>
        </p:spPr>
        <p:style>
          <a:lnRef idx="1">
            <a:scrgbClr r="0" g="0" b="0"/>
          </a:lnRef>
          <a:fillRef idx="0">
            <a:scrgbClr r="0" g="0" b="0"/>
          </a:fillRef>
          <a:effectRef idx="0">
            <a:scrgbClr r="0" g="0" b="0"/>
          </a:effectRef>
          <a:fontRef idx="minor">
            <a:scrgbClr r="0" g="0" b="0"/>
          </a:fontRef>
        </p:style>
      </p:cxnSp>
      <p:sp>
        <p:nvSpPr>
          <p:cNvPr id="204" name="chain81_5" descr="Menor costo operacional"/>
          <p:cNvSpPr/>
          <p:nvPr/>
        </p:nvSpPr>
        <p:spPr>
          <a:xfrm>
            <a:off x="4905979" y="2440000"/>
            <a:ext cx="788546" cy="396240"/>
          </a:xfrm>
          <a:prstGeom prst="roundRect">
            <a:avLst>
              <a:gd name="adj" fmla="val 14000"/>
            </a:avLst>
          </a:prstGeom>
          <a:solidFill>
            <a:srgbClr val="F09FA5"/>
          </a:solidFill>
          <a:ln w="12700">
            <a:solidFill>
              <a:srgbClr val="F09FA5"/>
            </a:solidFill>
          </a:ln>
        </p:spPr>
        <p:txBody>
          <a:bodyPr wrap="square" lIns="27432" tIns="18288" rIns="27432" bIns="18288" anchor="ctr">
            <a:normAutofit fontScale="92500" lnSpcReduction="20000"/>
          </a:bodyPr>
          <a:lstStyle/>
          <a:p>
            <a:pPr algn="ctr">
              <a:lnSpc>
                <a:spcPct val="92000"/>
              </a:lnSpc>
              <a:spcBef>
                <a:spcPts val="0"/>
              </a:spcBef>
              <a:buNone/>
            </a:pPr>
            <a:r>
              <a:rPr lang="es-ES" sz="800" b="1" i="0">
                <a:solidFill>
                  <a:srgbClr val="211915"/>
                </a:solidFill>
              </a:rPr>
              <a:t>Menor costo operacional o menor capacidad externa requerida</a:t>
            </a:r>
          </a:p>
        </p:txBody>
      </p:sp>
      <p:sp>
        <p:nvSpPr>
          <p:cNvPr id="81" name="tb81"/>
          <p:cNvSpPr txBox="1"/>
          <p:nvPr/>
        </p:nvSpPr>
        <p:spPr>
          <a:xfrm>
            <a:off x="808368" y="2906240"/>
            <a:ext cx="4886157" cy="403760"/>
          </a:xfrm>
          <a:prstGeom prst="rect">
            <a:avLst/>
          </a:prstGeom>
          <a:noFill/>
        </p:spPr>
        <p:txBody>
          <a:bodyPr wrap="square" lIns="0" tIns="0" rIns="0" bIns="0" anchor="t">
            <a:normAutofit/>
          </a:bodyPr>
          <a:lstStyle/>
          <a:p>
            <a:pPr algn="l">
              <a:lnSpc>
                <a:spcPct val="100000"/>
              </a:lnSpc>
              <a:spcBef>
                <a:spcPts val="0"/>
              </a:spcBef>
            </a:pPr>
            <a:r>
              <a:rPr lang="es-ES" sz="800" b="0" i="1">
                <a:solidFill>
                  <a:srgbClr val="7A7A7A"/>
                </a:solidFill>
              </a:rPr>
              <a:t>Manteniendo alcance, calidad y nivel de servicio.</a:t>
            </a:r>
          </a:p>
          <a:p>
            <a:pPr algn="l">
              <a:lnSpc>
                <a:spcPct val="100000"/>
              </a:lnSpc>
              <a:spcBef>
                <a:spcPts val="400"/>
              </a:spcBef>
            </a:pPr>
            <a:r>
              <a:rPr lang="es-ES" sz="900" b="1" i="0" dirty="0">
                <a:solidFill>
                  <a:srgbClr val="ED1C29"/>
                </a:solidFill>
              </a:rPr>
              <a:t>Pregunta: ¿Qué dejamos realmente de gastar?</a:t>
            </a:r>
            <a:endParaRPr lang="es-ES" sz="900" b="1" i="0">
              <a:solidFill>
                <a:srgbClr val="ED1C29"/>
              </a:solidFill>
            </a:endParaRPr>
          </a:p>
        </p:txBody>
      </p:sp>
      <p:sp>
        <p:nvSpPr>
          <p:cNvPr id="82" name="sh82"/>
          <p:cNvSpPr/>
          <p:nvPr/>
        </p:nvSpPr>
        <p:spPr>
          <a:xfrm>
            <a:off x="6347445" y="1740000"/>
            <a:ext cx="5186157" cy="1660000"/>
          </a:xfrm>
          <a:prstGeom prst="rect">
            <a:avLst/>
          </a:prstGeom>
          <a:solidFill>
            <a:srgbClr val="FFFFFF"/>
          </a:solidFill>
          <a:ln w="12700">
            <a:solidFill>
              <a:srgbClr val="E3E0DE"/>
            </a:solidFill>
          </a:ln>
        </p:spPr>
        <p:txBody>
          <a:bodyPr lIns="146304" tIns="73152" rIns="146304" bIns="73152" anchor="ctr">
            <a:normAutofit/>
          </a:bodyPr>
          <a:lstStyle/>
          <a:p>
            <a:endParaRPr lang="es-ES"/>
          </a:p>
        </p:txBody>
      </p:sp>
      <p:sp>
        <p:nvSpPr>
          <p:cNvPr id="83" name="tb83"/>
          <p:cNvSpPr txBox="1"/>
          <p:nvPr/>
        </p:nvSpPr>
        <p:spPr>
          <a:xfrm>
            <a:off x="6731493" y="2000000"/>
            <a:ext cx="640080" cy="457200"/>
          </a:xfrm>
          <a:prstGeom prst="rect">
            <a:avLst/>
          </a:prstGeom>
          <a:noFill/>
        </p:spPr>
        <p:txBody>
          <a:bodyPr wrap="square" lIns="0" tIns="0" rIns="0" bIns="0" anchor="t">
            <a:normAutofit/>
          </a:bodyPr>
          <a:lstStyle/>
          <a:p>
            <a:pPr algn="l">
              <a:lnSpc>
                <a:spcPct val="100000"/>
              </a:lnSpc>
              <a:spcBef>
                <a:spcPts val="0"/>
              </a:spcBef>
            </a:pPr>
            <a:r>
              <a:rPr lang="es-ES" sz="2200" b="1" i="0">
                <a:solidFill>
                  <a:srgbClr val="F09FA5"/>
                </a:solidFill>
              </a:rPr>
              <a:t>02</a:t>
            </a:r>
          </a:p>
        </p:txBody>
      </p:sp>
      <p:sp>
        <p:nvSpPr>
          <p:cNvPr id="84" name="tb84"/>
          <p:cNvSpPr txBox="1"/>
          <p:nvPr/>
        </p:nvSpPr>
        <p:spPr>
          <a:xfrm>
            <a:off x="7490445" y="2015000"/>
            <a:ext cx="3850000" cy="300000"/>
          </a:xfrm>
          <a:prstGeom prst="rect">
            <a:avLst/>
          </a:prstGeom>
          <a:noFill/>
        </p:spPr>
        <p:txBody>
          <a:bodyPr wrap="square" lIns="0" tIns="0" rIns="0" bIns="0" anchor="t">
            <a:normAutofit/>
          </a:bodyPr>
          <a:lstStyle/>
          <a:p>
            <a:pPr algn="l">
              <a:lnSpc>
                <a:spcPct val="100000"/>
              </a:lnSpc>
              <a:spcBef>
                <a:spcPts val="0"/>
              </a:spcBef>
            </a:pPr>
            <a:r>
              <a:rPr lang="es-ES" sz="1500" b="1" i="0">
                <a:solidFill>
                  <a:srgbClr val="211915"/>
                </a:solidFill>
              </a:rPr>
              <a:t>Más con lo mismo</a:t>
            </a:r>
          </a:p>
        </p:txBody>
      </p:sp>
      <p:sp>
        <p:nvSpPr>
          <p:cNvPr id="230" name="chain85_1" descr="Copilot"/>
          <p:cNvSpPr/>
          <p:nvPr/>
        </p:nvSpPr>
        <p:spPr>
          <a:xfrm>
            <a:off x="6497445" y="2440000"/>
            <a:ext cx="520000" cy="396240"/>
          </a:xfrm>
          <a:prstGeom prst="roundRect">
            <a:avLst>
              <a:gd name="adj" fmla="val 14000"/>
            </a:avLst>
          </a:prstGeom>
          <a:solidFill>
            <a:srgbClr val="ED1C29"/>
          </a:solidFill>
          <a:ln>
            <a:noFill/>
          </a:ln>
        </p:spPr>
        <p:txBody>
          <a:bodyPr wrap="square" lIns="27432" tIns="18288" rIns="27432" bIns="18288" anchor="ctr">
            <a:normAutofit/>
          </a:bodyPr>
          <a:lstStyle/>
          <a:p>
            <a:pPr algn="ctr">
              <a:lnSpc>
                <a:spcPct val="92000"/>
              </a:lnSpc>
              <a:spcBef>
                <a:spcPts val="0"/>
              </a:spcBef>
              <a:buNone/>
            </a:pPr>
            <a:r>
              <a:rPr lang="es-ES" sz="800" b="1" i="0">
                <a:solidFill>
                  <a:srgbClr val="FFFFFF"/>
                </a:solidFill>
              </a:rPr>
              <a:t>Copilot</a:t>
            </a:r>
          </a:p>
        </p:txBody>
      </p:sp>
      <p:cxnSp>
        <p:nvCxnSpPr>
          <p:cNvPr id="240" name="conn85_1">
            <a:extLst>
              <a:ext uri="{C183D7F6-B498-43B3-948B-1728B52AA6E4}">
                <adec:decorative xmlns:adec="http://schemas.microsoft.com/office/drawing/2017/decorative" val="1"/>
              </a:ext>
            </a:extLst>
          </p:cNvPr>
          <p:cNvCxnSpPr/>
          <p:nvPr/>
        </p:nvCxnSpPr>
        <p:spPr>
          <a:xfrm>
            <a:off x="7023445" y="2638120"/>
            <a:ext cx="48000" cy="0"/>
          </a:xfrm>
          <a:prstGeom prst="straightConnector1">
            <a:avLst/>
          </a:prstGeom>
          <a:ln w="12700" cap="rnd">
            <a:solidFill>
              <a:srgbClr val="F09FA5"/>
            </a:solidFill>
            <a:tailEnd type="triangle" w="med" len="med"/>
          </a:ln>
        </p:spPr>
        <p:style>
          <a:lnRef idx="1">
            <a:scrgbClr r="0" g="0" b="0"/>
          </a:lnRef>
          <a:fillRef idx="0">
            <a:scrgbClr r="0" g="0" b="0"/>
          </a:fillRef>
          <a:effectRef idx="0">
            <a:scrgbClr r="0" g="0" b="0"/>
          </a:effectRef>
          <a:fontRef idx="minor">
            <a:scrgbClr r="0" g="0" b="0"/>
          </a:fontRef>
        </p:style>
      </p:cxnSp>
      <p:sp>
        <p:nvSpPr>
          <p:cNvPr id="231" name="chain85_2" descr="Capacidad liberada"/>
          <p:cNvSpPr/>
          <p:nvPr/>
        </p:nvSpPr>
        <p:spPr>
          <a:xfrm>
            <a:off x="7077445" y="2440000"/>
            <a:ext cx="667237" cy="396240"/>
          </a:xfrm>
          <a:prstGeom prst="roundRect">
            <a:avLst>
              <a:gd name="adj" fmla="val 14000"/>
            </a:avLst>
          </a:prstGeom>
          <a:solidFill>
            <a:srgbClr val="FFFFFF"/>
          </a:solidFill>
          <a:ln w="12700">
            <a:solidFill>
              <a:srgbClr val="E3E0DE"/>
            </a:solidFill>
          </a:ln>
        </p:spPr>
        <p:txBody>
          <a:bodyPr wrap="square" lIns="27432" tIns="18288" rIns="27432" bIns="18288" anchor="ctr">
            <a:normAutofit/>
          </a:bodyPr>
          <a:lstStyle/>
          <a:p>
            <a:pPr algn="ctr">
              <a:lnSpc>
                <a:spcPct val="92000"/>
              </a:lnSpc>
              <a:spcBef>
                <a:spcPts val="0"/>
              </a:spcBef>
              <a:buNone/>
            </a:pPr>
            <a:r>
              <a:rPr lang="es-ES" sz="800" b="0" i="0">
                <a:solidFill>
                  <a:srgbClr val="7A7A7A"/>
                </a:solidFill>
              </a:rPr>
              <a:t>Capacidad liberada</a:t>
            </a:r>
          </a:p>
        </p:txBody>
      </p:sp>
      <p:cxnSp>
        <p:nvCxnSpPr>
          <p:cNvPr id="241" name="conn85_2">
            <a:extLst>
              <a:ext uri="{C183D7F6-B498-43B3-948B-1728B52AA6E4}">
                <adec:decorative xmlns:adec="http://schemas.microsoft.com/office/drawing/2017/decorative" val="1"/>
              </a:ext>
            </a:extLst>
          </p:cNvPr>
          <p:cNvCxnSpPr/>
          <p:nvPr/>
        </p:nvCxnSpPr>
        <p:spPr>
          <a:xfrm>
            <a:off x="7750682" y="2638120"/>
            <a:ext cx="48000" cy="0"/>
          </a:xfrm>
          <a:prstGeom prst="straightConnector1">
            <a:avLst/>
          </a:prstGeom>
          <a:ln w="12700" cap="rnd">
            <a:solidFill>
              <a:srgbClr val="F09FA5"/>
            </a:solidFill>
            <a:tailEnd type="triangle" w="med" len="med"/>
          </a:ln>
        </p:spPr>
        <p:style>
          <a:lnRef idx="1">
            <a:scrgbClr r="0" g="0" b="0"/>
          </a:lnRef>
          <a:fillRef idx="0">
            <a:scrgbClr r="0" g="0" b="0"/>
          </a:fillRef>
          <a:effectRef idx="0">
            <a:scrgbClr r="0" g="0" b="0"/>
          </a:effectRef>
          <a:fontRef idx="minor">
            <a:scrgbClr r="0" g="0" b="0"/>
          </a:fontRef>
        </p:style>
      </p:cxnSp>
      <p:sp>
        <p:nvSpPr>
          <p:cNvPr id="232" name="chain85_3" descr="El Product Owner prioriza trabajo adicional"/>
          <p:cNvSpPr/>
          <p:nvPr/>
        </p:nvSpPr>
        <p:spPr>
          <a:xfrm>
            <a:off x="7804682" y="2440000"/>
            <a:ext cx="1144884" cy="396240"/>
          </a:xfrm>
          <a:prstGeom prst="roundRect">
            <a:avLst>
              <a:gd name="adj" fmla="val 14000"/>
            </a:avLst>
          </a:prstGeom>
          <a:solidFill>
            <a:srgbClr val="FFFFFF"/>
          </a:solidFill>
          <a:ln w="12700">
            <a:solidFill>
              <a:srgbClr val="E3E0DE"/>
            </a:solidFill>
          </a:ln>
        </p:spPr>
        <p:txBody>
          <a:bodyPr wrap="square" lIns="27432" tIns="18288" rIns="27432" bIns="18288" anchor="ctr">
            <a:normAutofit/>
          </a:bodyPr>
          <a:lstStyle/>
          <a:p>
            <a:pPr algn="ctr">
              <a:lnSpc>
                <a:spcPct val="92000"/>
              </a:lnSpc>
              <a:spcBef>
                <a:spcPts val="0"/>
              </a:spcBef>
              <a:buNone/>
            </a:pPr>
            <a:r>
              <a:rPr lang="es-ES" sz="800" b="0" i="0">
                <a:solidFill>
                  <a:srgbClr val="7A7A7A"/>
                </a:solidFill>
              </a:rPr>
              <a:t>El Product Owner prioriza trabajo adicional</a:t>
            </a:r>
          </a:p>
        </p:txBody>
      </p:sp>
      <p:cxnSp>
        <p:nvCxnSpPr>
          <p:cNvPr id="242" name="conn85_3">
            <a:extLst>
              <a:ext uri="{C183D7F6-B498-43B3-948B-1728B52AA6E4}">
                <adec:decorative xmlns:adec="http://schemas.microsoft.com/office/drawing/2017/decorative" val="1"/>
              </a:ext>
            </a:extLst>
          </p:cNvPr>
          <p:cNvCxnSpPr/>
          <p:nvPr/>
        </p:nvCxnSpPr>
        <p:spPr>
          <a:xfrm>
            <a:off x="8955566" y="2638120"/>
            <a:ext cx="48000" cy="0"/>
          </a:xfrm>
          <a:prstGeom prst="straightConnector1">
            <a:avLst/>
          </a:prstGeom>
          <a:ln w="12700" cap="rnd">
            <a:solidFill>
              <a:srgbClr val="F09FA5"/>
            </a:solidFill>
            <a:tailEnd type="triangle" w="med" len="med"/>
          </a:ln>
        </p:spPr>
        <p:style>
          <a:lnRef idx="1">
            <a:scrgbClr r="0" g="0" b="0"/>
          </a:lnRef>
          <a:fillRef idx="0">
            <a:scrgbClr r="0" g="0" b="0"/>
          </a:fillRef>
          <a:effectRef idx="0">
            <a:scrgbClr r="0" g="0" b="0"/>
          </a:effectRef>
          <a:fontRef idx="minor">
            <a:scrgbClr r="0" g="0" b="0"/>
          </a:fontRef>
        </p:style>
      </p:cxnSp>
      <p:sp>
        <p:nvSpPr>
          <p:cNvPr id="233" name="chain85_4" descr="El mismo equipo entrega una iniciativa adicional"/>
          <p:cNvSpPr/>
          <p:nvPr/>
        </p:nvSpPr>
        <p:spPr>
          <a:xfrm>
            <a:off x="9009566" y="2440000"/>
            <a:ext cx="1169152" cy="396240"/>
          </a:xfrm>
          <a:prstGeom prst="roundRect">
            <a:avLst>
              <a:gd name="adj" fmla="val 14000"/>
            </a:avLst>
          </a:prstGeom>
          <a:solidFill>
            <a:srgbClr val="FFFFFF"/>
          </a:solidFill>
          <a:ln w="12700">
            <a:solidFill>
              <a:srgbClr val="E3E0DE"/>
            </a:solidFill>
          </a:ln>
        </p:spPr>
        <p:txBody>
          <a:bodyPr wrap="square" lIns="27432" tIns="18288" rIns="27432" bIns="18288" anchor="ctr">
            <a:normAutofit/>
          </a:bodyPr>
          <a:lstStyle/>
          <a:p>
            <a:pPr algn="ctr">
              <a:lnSpc>
                <a:spcPct val="92000"/>
              </a:lnSpc>
              <a:spcBef>
                <a:spcPts val="0"/>
              </a:spcBef>
              <a:buNone/>
            </a:pPr>
            <a:r>
              <a:rPr lang="es-ES" sz="800" b="0" i="0">
                <a:solidFill>
                  <a:srgbClr val="7A7A7A"/>
                </a:solidFill>
              </a:rPr>
              <a:t>El mismo equipo entrega una iniciativa adicional</a:t>
            </a:r>
          </a:p>
        </p:txBody>
      </p:sp>
      <p:cxnSp>
        <p:nvCxnSpPr>
          <p:cNvPr id="243" name="conn85_4">
            <a:extLst>
              <a:ext uri="{C183D7F6-B498-43B3-948B-1728B52AA6E4}">
                <adec:decorative xmlns:adec="http://schemas.microsoft.com/office/drawing/2017/decorative" val="1"/>
              </a:ext>
            </a:extLst>
          </p:cNvPr>
          <p:cNvCxnSpPr/>
          <p:nvPr/>
        </p:nvCxnSpPr>
        <p:spPr>
          <a:xfrm>
            <a:off x="10184718" y="2638120"/>
            <a:ext cx="48000" cy="0"/>
          </a:xfrm>
          <a:prstGeom prst="straightConnector1">
            <a:avLst/>
          </a:prstGeom>
          <a:ln w="12700" cap="rnd">
            <a:solidFill>
              <a:srgbClr val="F09FA5"/>
            </a:solidFill>
            <a:tailEnd type="triangle" w="med" len="med"/>
          </a:ln>
        </p:spPr>
        <p:style>
          <a:lnRef idx="1">
            <a:scrgbClr r="0" g="0" b="0"/>
          </a:lnRef>
          <a:fillRef idx="0">
            <a:scrgbClr r="0" g="0" b="0"/>
          </a:fillRef>
          <a:effectRef idx="0">
            <a:scrgbClr r="0" g="0" b="0"/>
          </a:effectRef>
          <a:fontRef idx="minor">
            <a:scrgbClr r="0" g="0" b="0"/>
          </a:fontRef>
        </p:style>
      </p:cxnSp>
      <p:sp>
        <p:nvSpPr>
          <p:cNvPr id="234" name="chain85_5" descr="Se afecta un KPI del producto o del negocio"/>
          <p:cNvSpPr/>
          <p:nvPr/>
        </p:nvSpPr>
        <p:spPr>
          <a:xfrm>
            <a:off x="10238718" y="2440000"/>
            <a:ext cx="1144884" cy="396240"/>
          </a:xfrm>
          <a:prstGeom prst="roundRect">
            <a:avLst>
              <a:gd name="adj" fmla="val 14000"/>
            </a:avLst>
          </a:prstGeom>
          <a:solidFill>
            <a:srgbClr val="F09FA5"/>
          </a:solidFill>
          <a:ln w="12700">
            <a:solidFill>
              <a:srgbClr val="F09FA5"/>
            </a:solidFill>
          </a:ln>
        </p:spPr>
        <p:txBody>
          <a:bodyPr wrap="square" lIns="27432" tIns="18288" rIns="27432" bIns="18288" anchor="ctr">
            <a:normAutofit/>
          </a:bodyPr>
          <a:lstStyle/>
          <a:p>
            <a:pPr algn="ctr">
              <a:lnSpc>
                <a:spcPct val="92000"/>
              </a:lnSpc>
              <a:spcBef>
                <a:spcPts val="0"/>
              </a:spcBef>
              <a:buNone/>
            </a:pPr>
            <a:r>
              <a:rPr lang="es-ES" sz="800" b="1" i="0">
                <a:solidFill>
                  <a:srgbClr val="211915"/>
                </a:solidFill>
              </a:rPr>
              <a:t>Se afecta un KPI del producto o del negocio</a:t>
            </a:r>
          </a:p>
        </p:txBody>
      </p:sp>
      <p:sp>
        <p:nvSpPr>
          <p:cNvPr id="85" name="tb85"/>
          <p:cNvSpPr txBox="1"/>
          <p:nvPr/>
        </p:nvSpPr>
        <p:spPr>
          <a:xfrm>
            <a:off x="6497445" y="2906240"/>
            <a:ext cx="4886157" cy="403760"/>
          </a:xfrm>
          <a:prstGeom prst="rect">
            <a:avLst/>
          </a:prstGeom>
          <a:noFill/>
        </p:spPr>
        <p:txBody>
          <a:bodyPr wrap="square" lIns="0" tIns="0" rIns="0" bIns="0" anchor="t">
            <a:normAutofit/>
          </a:bodyPr>
          <a:lstStyle/>
          <a:p>
            <a:pPr algn="l">
              <a:lnSpc>
                <a:spcPct val="100000"/>
              </a:lnSpc>
              <a:spcBef>
                <a:spcPts val="0"/>
              </a:spcBef>
            </a:pPr>
            <a:r>
              <a:rPr lang="es-ES" sz="900" b="1" i="0">
                <a:solidFill>
                  <a:srgbClr val="ED1C29"/>
                </a:solidFill>
              </a:rPr>
              <a:t>Pregunta: ¿Qué hacemos ahora que antes no cabía?</a:t>
            </a:r>
          </a:p>
        </p:txBody>
      </p:sp>
      <p:sp>
        <p:nvSpPr>
          <p:cNvPr id="86" name="sh86"/>
          <p:cNvSpPr/>
          <p:nvPr/>
        </p:nvSpPr>
        <p:spPr>
          <a:xfrm>
            <a:off x="658368" y="3560000"/>
            <a:ext cx="5186157" cy="1660000"/>
          </a:xfrm>
          <a:prstGeom prst="rect">
            <a:avLst/>
          </a:prstGeom>
          <a:solidFill>
            <a:srgbClr val="FFFFFF"/>
          </a:solidFill>
          <a:ln w="12700">
            <a:solidFill>
              <a:srgbClr val="E3E0DE"/>
            </a:solidFill>
          </a:ln>
        </p:spPr>
        <p:txBody>
          <a:bodyPr lIns="146304" tIns="73152" rIns="146304" bIns="73152" anchor="ctr">
            <a:normAutofit/>
          </a:bodyPr>
          <a:lstStyle/>
          <a:p>
            <a:endParaRPr lang="es-ES"/>
          </a:p>
        </p:txBody>
      </p:sp>
      <p:sp>
        <p:nvSpPr>
          <p:cNvPr id="87" name="tb87"/>
          <p:cNvSpPr txBox="1"/>
          <p:nvPr/>
        </p:nvSpPr>
        <p:spPr>
          <a:xfrm>
            <a:off x="1042416" y="3820000"/>
            <a:ext cx="640080" cy="457200"/>
          </a:xfrm>
          <a:prstGeom prst="rect">
            <a:avLst/>
          </a:prstGeom>
          <a:noFill/>
        </p:spPr>
        <p:txBody>
          <a:bodyPr wrap="square" lIns="0" tIns="0" rIns="0" bIns="0" anchor="t">
            <a:normAutofit/>
          </a:bodyPr>
          <a:lstStyle/>
          <a:p>
            <a:pPr algn="l">
              <a:lnSpc>
                <a:spcPct val="100000"/>
              </a:lnSpc>
              <a:spcBef>
                <a:spcPts val="0"/>
              </a:spcBef>
            </a:pPr>
            <a:r>
              <a:rPr lang="es-ES" sz="2200" b="1" i="0">
                <a:solidFill>
                  <a:srgbClr val="F09FA5"/>
                </a:solidFill>
              </a:rPr>
              <a:t>03</a:t>
            </a:r>
          </a:p>
        </p:txBody>
      </p:sp>
      <p:sp>
        <p:nvSpPr>
          <p:cNvPr id="88" name="tb88"/>
          <p:cNvSpPr txBox="1"/>
          <p:nvPr/>
        </p:nvSpPr>
        <p:spPr>
          <a:xfrm>
            <a:off x="1801368" y="3835000"/>
            <a:ext cx="3850000" cy="300000"/>
          </a:xfrm>
          <a:prstGeom prst="rect">
            <a:avLst/>
          </a:prstGeom>
          <a:noFill/>
        </p:spPr>
        <p:txBody>
          <a:bodyPr wrap="square" lIns="0" tIns="0" rIns="0" bIns="0" anchor="t">
            <a:normAutofit/>
          </a:bodyPr>
          <a:lstStyle/>
          <a:p>
            <a:pPr algn="l">
              <a:lnSpc>
                <a:spcPct val="100000"/>
              </a:lnSpc>
              <a:spcBef>
                <a:spcPts val="0"/>
              </a:spcBef>
            </a:pPr>
            <a:r>
              <a:rPr lang="es-ES" sz="1500" b="1" i="0">
                <a:solidFill>
                  <a:srgbClr val="211915"/>
                </a:solidFill>
              </a:rPr>
              <a:t>Valor antes</a:t>
            </a:r>
          </a:p>
        </p:txBody>
      </p:sp>
      <p:sp>
        <p:nvSpPr>
          <p:cNvPr id="260" name="chain89_1" descr="Copilot"/>
          <p:cNvSpPr/>
          <p:nvPr/>
        </p:nvSpPr>
        <p:spPr>
          <a:xfrm>
            <a:off x="808368" y="4260000"/>
            <a:ext cx="552292" cy="276352"/>
          </a:xfrm>
          <a:prstGeom prst="roundRect">
            <a:avLst>
              <a:gd name="adj" fmla="val 14000"/>
            </a:avLst>
          </a:prstGeom>
          <a:solidFill>
            <a:srgbClr val="ED1C29"/>
          </a:solidFill>
          <a:ln>
            <a:noFill/>
          </a:ln>
        </p:spPr>
        <p:txBody>
          <a:bodyPr wrap="square" lIns="27432" tIns="18288" rIns="27432" bIns="18288" anchor="ctr">
            <a:normAutofit/>
          </a:bodyPr>
          <a:lstStyle/>
          <a:p>
            <a:pPr algn="ctr">
              <a:lnSpc>
                <a:spcPct val="92000"/>
              </a:lnSpc>
              <a:spcBef>
                <a:spcPts val="0"/>
              </a:spcBef>
              <a:buNone/>
            </a:pPr>
            <a:r>
              <a:rPr lang="es-ES" sz="800" b="1" i="0">
                <a:solidFill>
                  <a:srgbClr val="FFFFFF"/>
                </a:solidFill>
              </a:rPr>
              <a:t>Copilot</a:t>
            </a:r>
          </a:p>
        </p:txBody>
      </p:sp>
      <p:cxnSp>
        <p:nvCxnSpPr>
          <p:cNvPr id="270" name="conn89_1">
            <a:extLst>
              <a:ext uri="{C183D7F6-B498-43B3-948B-1728B52AA6E4}">
                <adec:decorative xmlns:adec="http://schemas.microsoft.com/office/drawing/2017/decorative" val="1"/>
              </a:ext>
            </a:extLst>
          </p:cNvPr>
          <p:cNvCxnSpPr/>
          <p:nvPr/>
        </p:nvCxnSpPr>
        <p:spPr>
          <a:xfrm>
            <a:off x="1366660" y="4398176"/>
            <a:ext cx="48000" cy="0"/>
          </a:xfrm>
          <a:prstGeom prst="straightConnector1">
            <a:avLst/>
          </a:prstGeom>
          <a:ln w="12700" cap="rnd">
            <a:solidFill>
              <a:srgbClr val="F09FA5"/>
            </a:solidFill>
            <a:tailEnd type="triangle" w="med" len="med"/>
          </a:ln>
        </p:spPr>
        <p:style>
          <a:lnRef idx="1">
            <a:scrgbClr r="0" g="0" b="0"/>
          </a:lnRef>
          <a:fillRef idx="0">
            <a:scrgbClr r="0" g="0" b="0"/>
          </a:fillRef>
          <a:effectRef idx="0">
            <a:scrgbClr r="0" g="0" b="0"/>
          </a:effectRef>
          <a:fontRef idx="minor">
            <a:scrgbClr r="0" g="0" b="0"/>
          </a:fontRef>
        </p:style>
      </p:cxnSp>
      <p:sp>
        <p:nvSpPr>
          <p:cNvPr id="261" name="chain89_2" descr="Menor tiempo de ciclo técnico"/>
          <p:cNvSpPr/>
          <p:nvPr/>
        </p:nvSpPr>
        <p:spPr>
          <a:xfrm>
            <a:off x="1420660" y="4260000"/>
            <a:ext cx="1068693" cy="276352"/>
          </a:xfrm>
          <a:prstGeom prst="roundRect">
            <a:avLst>
              <a:gd name="adj" fmla="val 14000"/>
            </a:avLst>
          </a:prstGeom>
          <a:solidFill>
            <a:srgbClr val="FFFFFF"/>
          </a:solidFill>
          <a:ln w="12700">
            <a:solidFill>
              <a:srgbClr val="E3E0DE"/>
            </a:solidFill>
          </a:ln>
        </p:spPr>
        <p:txBody>
          <a:bodyPr wrap="square" lIns="27432" tIns="18288" rIns="27432" bIns="18288" anchor="ctr">
            <a:normAutofit lnSpcReduction="10000"/>
          </a:bodyPr>
          <a:lstStyle/>
          <a:p>
            <a:pPr algn="ctr">
              <a:lnSpc>
                <a:spcPct val="92000"/>
              </a:lnSpc>
              <a:spcBef>
                <a:spcPts val="0"/>
              </a:spcBef>
              <a:buNone/>
            </a:pPr>
            <a:r>
              <a:rPr lang="es-ES" sz="800" b="0" i="0">
                <a:solidFill>
                  <a:srgbClr val="7A7A7A"/>
                </a:solidFill>
              </a:rPr>
              <a:t>Menor tiempo de ciclo técnico</a:t>
            </a:r>
          </a:p>
        </p:txBody>
      </p:sp>
      <p:cxnSp>
        <p:nvCxnSpPr>
          <p:cNvPr id="271" name="conn89_2">
            <a:extLst>
              <a:ext uri="{C183D7F6-B498-43B3-948B-1728B52AA6E4}">
                <adec:decorative xmlns:adec="http://schemas.microsoft.com/office/drawing/2017/decorative" val="1"/>
              </a:ext>
            </a:extLst>
          </p:cNvPr>
          <p:cNvCxnSpPr/>
          <p:nvPr/>
        </p:nvCxnSpPr>
        <p:spPr>
          <a:xfrm>
            <a:off x="2495353" y="4398176"/>
            <a:ext cx="48000" cy="0"/>
          </a:xfrm>
          <a:prstGeom prst="straightConnector1">
            <a:avLst/>
          </a:prstGeom>
          <a:ln w="12700" cap="rnd">
            <a:solidFill>
              <a:srgbClr val="F09FA5"/>
            </a:solidFill>
            <a:tailEnd type="triangle" w="med" len="med"/>
          </a:ln>
        </p:spPr>
        <p:style>
          <a:lnRef idx="1">
            <a:scrgbClr r="0" g="0" b="0"/>
          </a:lnRef>
          <a:fillRef idx="0">
            <a:scrgbClr r="0" g="0" b="0"/>
          </a:fillRef>
          <a:effectRef idx="0">
            <a:scrgbClr r="0" g="0" b="0"/>
          </a:effectRef>
          <a:fontRef idx="minor">
            <a:scrgbClr r="0" g="0" b="0"/>
          </a:fontRef>
        </p:style>
      </p:cxnSp>
      <p:sp>
        <p:nvSpPr>
          <p:cNvPr id="262" name="chain89_3" descr="La iniciativa llega antes a producción"/>
          <p:cNvSpPr/>
          <p:nvPr/>
        </p:nvSpPr>
        <p:spPr>
          <a:xfrm>
            <a:off x="2549353" y="4260000"/>
            <a:ext cx="1263665" cy="276352"/>
          </a:xfrm>
          <a:prstGeom prst="roundRect">
            <a:avLst>
              <a:gd name="adj" fmla="val 14000"/>
            </a:avLst>
          </a:prstGeom>
          <a:solidFill>
            <a:srgbClr val="FFFFFF"/>
          </a:solidFill>
          <a:ln w="12700">
            <a:solidFill>
              <a:srgbClr val="E3E0DE"/>
            </a:solidFill>
          </a:ln>
        </p:spPr>
        <p:txBody>
          <a:bodyPr wrap="square" lIns="27432" tIns="18288" rIns="27432" bIns="18288" anchor="ctr">
            <a:normAutofit lnSpcReduction="10000"/>
          </a:bodyPr>
          <a:lstStyle/>
          <a:p>
            <a:pPr algn="ctr">
              <a:lnSpc>
                <a:spcPct val="92000"/>
              </a:lnSpc>
              <a:spcBef>
                <a:spcPts val="0"/>
              </a:spcBef>
              <a:buNone/>
            </a:pPr>
            <a:r>
              <a:rPr lang="es-ES" sz="800" b="0" i="0">
                <a:solidFill>
                  <a:srgbClr val="7A7A7A"/>
                </a:solidFill>
              </a:rPr>
              <a:t>La iniciativa llega antes a producción</a:t>
            </a:r>
          </a:p>
        </p:txBody>
      </p:sp>
      <p:cxnSp>
        <p:nvCxnSpPr>
          <p:cNvPr id="272" name="conn89_3">
            <a:extLst>
              <a:ext uri="{C183D7F6-B498-43B3-948B-1728B52AA6E4}">
                <adec:decorative xmlns:adec="http://schemas.microsoft.com/office/drawing/2017/decorative" val="1"/>
              </a:ext>
            </a:extLst>
          </p:cNvPr>
          <p:cNvCxnSpPr/>
          <p:nvPr/>
        </p:nvCxnSpPr>
        <p:spPr>
          <a:xfrm>
            <a:off x="3819018" y="4398176"/>
            <a:ext cx="48000" cy="0"/>
          </a:xfrm>
          <a:prstGeom prst="straightConnector1">
            <a:avLst/>
          </a:prstGeom>
          <a:ln w="12700" cap="rnd">
            <a:solidFill>
              <a:srgbClr val="F09FA5"/>
            </a:solidFill>
            <a:tailEnd type="triangle" w="med" len="med"/>
          </a:ln>
        </p:spPr>
        <p:style>
          <a:lnRef idx="1">
            <a:scrgbClr r="0" g="0" b="0"/>
          </a:lnRef>
          <a:fillRef idx="0">
            <a:scrgbClr r="0" g="0" b="0"/>
          </a:fillRef>
          <a:effectRef idx="0">
            <a:scrgbClr r="0" g="0" b="0"/>
          </a:effectRef>
          <a:fontRef idx="minor">
            <a:scrgbClr r="0" g="0" b="0"/>
          </a:fontRef>
        </p:style>
      </p:cxnSp>
      <p:sp>
        <p:nvSpPr>
          <p:cNvPr id="263" name="chain89_4" descr="El beneficio comienza antes"/>
          <p:cNvSpPr/>
          <p:nvPr/>
        </p:nvSpPr>
        <p:spPr>
          <a:xfrm>
            <a:off x="3873018" y="4260000"/>
            <a:ext cx="1022378" cy="276352"/>
          </a:xfrm>
          <a:prstGeom prst="roundRect">
            <a:avLst>
              <a:gd name="adj" fmla="val 14000"/>
            </a:avLst>
          </a:prstGeom>
          <a:solidFill>
            <a:srgbClr val="FFFFFF"/>
          </a:solidFill>
          <a:ln w="12700">
            <a:solidFill>
              <a:srgbClr val="E3E0DE"/>
            </a:solidFill>
          </a:ln>
        </p:spPr>
        <p:txBody>
          <a:bodyPr wrap="square" lIns="27432" tIns="18288" rIns="27432" bIns="18288" anchor="ctr">
            <a:normAutofit lnSpcReduction="10000"/>
          </a:bodyPr>
          <a:lstStyle/>
          <a:p>
            <a:pPr algn="ctr">
              <a:lnSpc>
                <a:spcPct val="92000"/>
              </a:lnSpc>
              <a:spcBef>
                <a:spcPts val="0"/>
              </a:spcBef>
              <a:buNone/>
            </a:pPr>
            <a:r>
              <a:rPr lang="es-ES" sz="800" b="0" i="0">
                <a:solidFill>
                  <a:srgbClr val="7A7A7A"/>
                </a:solidFill>
              </a:rPr>
              <a:t>El beneficio comienza antes</a:t>
            </a:r>
          </a:p>
        </p:txBody>
      </p:sp>
      <p:cxnSp>
        <p:nvCxnSpPr>
          <p:cNvPr id="273" name="conn89_4">
            <a:extLst>
              <a:ext uri="{C183D7F6-B498-43B3-948B-1728B52AA6E4}">
                <adec:decorative xmlns:adec="http://schemas.microsoft.com/office/drawing/2017/decorative" val="1"/>
              </a:ext>
            </a:extLst>
          </p:cNvPr>
          <p:cNvCxnSpPr/>
          <p:nvPr/>
        </p:nvCxnSpPr>
        <p:spPr>
          <a:xfrm>
            <a:off x="4901396" y="4398176"/>
            <a:ext cx="48000" cy="0"/>
          </a:xfrm>
          <a:prstGeom prst="straightConnector1">
            <a:avLst/>
          </a:prstGeom>
          <a:ln w="12700" cap="rnd">
            <a:solidFill>
              <a:srgbClr val="F09FA5"/>
            </a:solidFill>
            <a:tailEnd type="triangle" w="med" len="med"/>
          </a:ln>
        </p:spPr>
        <p:style>
          <a:lnRef idx="1">
            <a:scrgbClr r="0" g="0" b="0"/>
          </a:lnRef>
          <a:fillRef idx="0">
            <a:scrgbClr r="0" g="0" b="0"/>
          </a:fillRef>
          <a:effectRef idx="0">
            <a:scrgbClr r="0" g="0" b="0"/>
          </a:effectRef>
          <a:fontRef idx="minor">
            <a:scrgbClr r="0" g="0" b="0"/>
          </a:fontRef>
        </p:style>
      </p:cxnSp>
      <p:sp>
        <p:nvSpPr>
          <p:cNvPr id="264" name="chain89_5" descr="Valor adelantado"/>
          <p:cNvSpPr/>
          <p:nvPr/>
        </p:nvSpPr>
        <p:spPr>
          <a:xfrm>
            <a:off x="4955396" y="4260000"/>
            <a:ext cx="739129" cy="276352"/>
          </a:xfrm>
          <a:prstGeom prst="roundRect">
            <a:avLst>
              <a:gd name="adj" fmla="val 14000"/>
            </a:avLst>
          </a:prstGeom>
          <a:solidFill>
            <a:srgbClr val="F09FA5"/>
          </a:solidFill>
          <a:ln w="12700">
            <a:solidFill>
              <a:srgbClr val="F09FA5"/>
            </a:solidFill>
          </a:ln>
        </p:spPr>
        <p:txBody>
          <a:bodyPr wrap="square" lIns="27432" tIns="18288" rIns="27432" bIns="18288" anchor="ctr">
            <a:normAutofit lnSpcReduction="10000"/>
          </a:bodyPr>
          <a:lstStyle/>
          <a:p>
            <a:pPr algn="ctr">
              <a:lnSpc>
                <a:spcPct val="92000"/>
              </a:lnSpc>
              <a:spcBef>
                <a:spcPts val="0"/>
              </a:spcBef>
              <a:buNone/>
            </a:pPr>
            <a:r>
              <a:rPr lang="es-ES" sz="800" b="1" i="0">
                <a:solidFill>
                  <a:srgbClr val="211915"/>
                </a:solidFill>
              </a:rPr>
              <a:t>Valor adelantado</a:t>
            </a:r>
          </a:p>
        </p:txBody>
      </p:sp>
      <p:sp>
        <p:nvSpPr>
          <p:cNvPr id="89" name="tb89"/>
          <p:cNvSpPr txBox="1"/>
          <p:nvPr/>
        </p:nvSpPr>
        <p:spPr>
          <a:xfrm>
            <a:off x="808368" y="4606352"/>
            <a:ext cx="4886157" cy="523648"/>
          </a:xfrm>
          <a:prstGeom prst="rect">
            <a:avLst/>
          </a:prstGeom>
          <a:noFill/>
        </p:spPr>
        <p:txBody>
          <a:bodyPr wrap="square" lIns="0" tIns="0" rIns="0" bIns="0" anchor="t">
            <a:normAutofit/>
          </a:bodyPr>
          <a:lstStyle/>
          <a:p>
            <a:pPr algn="l">
              <a:lnSpc>
                <a:spcPct val="100000"/>
              </a:lnSpc>
              <a:spcBef>
                <a:spcPts val="0"/>
              </a:spcBef>
            </a:pPr>
            <a:r>
              <a:rPr lang="es-ES" sz="900" b="1" i="0">
                <a:solidFill>
                  <a:srgbClr val="ED1C29"/>
                </a:solidFill>
              </a:rPr>
              <a:t>Pregunta: ¿Qué beneficio capturamos antes?</a:t>
            </a:r>
          </a:p>
        </p:txBody>
      </p:sp>
      <p:sp>
        <p:nvSpPr>
          <p:cNvPr id="90" name="sh90"/>
          <p:cNvSpPr/>
          <p:nvPr/>
        </p:nvSpPr>
        <p:spPr>
          <a:xfrm>
            <a:off x="6347445" y="3560000"/>
            <a:ext cx="5186157" cy="1660000"/>
          </a:xfrm>
          <a:prstGeom prst="rect">
            <a:avLst/>
          </a:prstGeom>
          <a:solidFill>
            <a:srgbClr val="FFFFFF"/>
          </a:solidFill>
          <a:ln w="12700">
            <a:solidFill>
              <a:srgbClr val="E3E0DE"/>
            </a:solidFill>
          </a:ln>
        </p:spPr>
        <p:txBody>
          <a:bodyPr lIns="146304" tIns="73152" rIns="146304" bIns="73152" anchor="ctr">
            <a:normAutofit/>
          </a:bodyPr>
          <a:lstStyle/>
          <a:p>
            <a:endParaRPr lang="es-ES"/>
          </a:p>
        </p:txBody>
      </p:sp>
      <p:sp>
        <p:nvSpPr>
          <p:cNvPr id="91" name="tb91"/>
          <p:cNvSpPr txBox="1"/>
          <p:nvPr/>
        </p:nvSpPr>
        <p:spPr>
          <a:xfrm>
            <a:off x="6731493" y="3820000"/>
            <a:ext cx="640080" cy="457200"/>
          </a:xfrm>
          <a:prstGeom prst="rect">
            <a:avLst/>
          </a:prstGeom>
          <a:noFill/>
        </p:spPr>
        <p:txBody>
          <a:bodyPr wrap="square" lIns="0" tIns="0" rIns="0" bIns="0" anchor="t">
            <a:normAutofit/>
          </a:bodyPr>
          <a:lstStyle/>
          <a:p>
            <a:pPr algn="l">
              <a:lnSpc>
                <a:spcPct val="100000"/>
              </a:lnSpc>
              <a:spcBef>
                <a:spcPts val="0"/>
              </a:spcBef>
            </a:pPr>
            <a:r>
              <a:rPr lang="es-ES" sz="2200" b="1" i="0">
                <a:solidFill>
                  <a:srgbClr val="F09FA5"/>
                </a:solidFill>
              </a:rPr>
              <a:t>04</a:t>
            </a:r>
          </a:p>
        </p:txBody>
      </p:sp>
      <p:sp>
        <p:nvSpPr>
          <p:cNvPr id="92" name="tb92"/>
          <p:cNvSpPr txBox="1"/>
          <p:nvPr/>
        </p:nvSpPr>
        <p:spPr>
          <a:xfrm>
            <a:off x="7490445" y="3835000"/>
            <a:ext cx="3850000" cy="300000"/>
          </a:xfrm>
          <a:prstGeom prst="rect">
            <a:avLst/>
          </a:prstGeom>
          <a:noFill/>
        </p:spPr>
        <p:txBody>
          <a:bodyPr wrap="square" lIns="0" tIns="0" rIns="0" bIns="0" anchor="t">
            <a:normAutofit/>
          </a:bodyPr>
          <a:lstStyle/>
          <a:p>
            <a:pPr algn="l">
              <a:lnSpc>
                <a:spcPct val="100000"/>
              </a:lnSpc>
              <a:spcBef>
                <a:spcPts val="0"/>
              </a:spcBef>
            </a:pPr>
            <a:r>
              <a:rPr lang="es-ES" sz="1500" b="1" i="0">
                <a:solidFill>
                  <a:srgbClr val="211915"/>
                </a:solidFill>
              </a:rPr>
              <a:t>Menos pérdida o riesgo</a:t>
            </a:r>
          </a:p>
        </p:txBody>
      </p:sp>
      <p:sp>
        <p:nvSpPr>
          <p:cNvPr id="290" name="chain93_1" descr="Copilot"/>
          <p:cNvSpPr/>
          <p:nvPr/>
        </p:nvSpPr>
        <p:spPr>
          <a:xfrm>
            <a:off x="6497445" y="4260000"/>
            <a:ext cx="520000" cy="276352"/>
          </a:xfrm>
          <a:prstGeom prst="roundRect">
            <a:avLst>
              <a:gd name="adj" fmla="val 14000"/>
            </a:avLst>
          </a:prstGeom>
          <a:solidFill>
            <a:srgbClr val="ED1C29"/>
          </a:solidFill>
          <a:ln>
            <a:noFill/>
          </a:ln>
        </p:spPr>
        <p:txBody>
          <a:bodyPr wrap="square" lIns="27432" tIns="18288" rIns="27432" bIns="18288" anchor="ctr">
            <a:normAutofit/>
          </a:bodyPr>
          <a:lstStyle/>
          <a:p>
            <a:pPr algn="ctr">
              <a:lnSpc>
                <a:spcPct val="92000"/>
              </a:lnSpc>
              <a:spcBef>
                <a:spcPts val="0"/>
              </a:spcBef>
              <a:buNone/>
            </a:pPr>
            <a:r>
              <a:rPr lang="es-ES" sz="800" b="1" i="0">
                <a:solidFill>
                  <a:srgbClr val="FFFFFF"/>
                </a:solidFill>
              </a:rPr>
              <a:t>Copilot</a:t>
            </a:r>
          </a:p>
        </p:txBody>
      </p:sp>
      <p:cxnSp>
        <p:nvCxnSpPr>
          <p:cNvPr id="300" name="conn93_1">
            <a:extLst>
              <a:ext uri="{C183D7F6-B498-43B3-948B-1728B52AA6E4}">
                <adec:decorative xmlns:adec="http://schemas.microsoft.com/office/drawing/2017/decorative" val="1"/>
              </a:ext>
            </a:extLst>
          </p:cNvPr>
          <p:cNvCxnSpPr/>
          <p:nvPr/>
        </p:nvCxnSpPr>
        <p:spPr>
          <a:xfrm>
            <a:off x="7023445" y="4398176"/>
            <a:ext cx="48000" cy="0"/>
          </a:xfrm>
          <a:prstGeom prst="straightConnector1">
            <a:avLst/>
          </a:prstGeom>
          <a:ln w="12700" cap="rnd">
            <a:solidFill>
              <a:srgbClr val="F09FA5"/>
            </a:solidFill>
            <a:tailEnd type="triangle" w="med" len="med"/>
          </a:ln>
        </p:spPr>
        <p:style>
          <a:lnRef idx="1">
            <a:scrgbClr r="0" g="0" b="0"/>
          </a:lnRef>
          <a:fillRef idx="0">
            <a:scrgbClr r="0" g="0" b="0"/>
          </a:fillRef>
          <a:effectRef idx="0">
            <a:scrgbClr r="0" g="0" b="0"/>
          </a:effectRef>
          <a:fontRef idx="minor">
            <a:scrgbClr r="0" g="0" b="0"/>
          </a:fontRef>
        </p:style>
      </p:cxnSp>
      <p:sp>
        <p:nvSpPr>
          <p:cNvPr id="291" name="chain93_2" descr="Apoyo en pruebas, revisión o debugging"/>
          <p:cNvSpPr/>
          <p:nvPr/>
        </p:nvSpPr>
        <p:spPr>
          <a:xfrm>
            <a:off x="7077445" y="4260000"/>
            <a:ext cx="1141936" cy="276352"/>
          </a:xfrm>
          <a:prstGeom prst="roundRect">
            <a:avLst>
              <a:gd name="adj" fmla="val 14000"/>
            </a:avLst>
          </a:prstGeom>
          <a:solidFill>
            <a:srgbClr val="FFFFFF"/>
          </a:solidFill>
          <a:ln w="12700">
            <a:solidFill>
              <a:srgbClr val="E3E0DE"/>
            </a:solidFill>
          </a:ln>
        </p:spPr>
        <p:txBody>
          <a:bodyPr wrap="square" lIns="27432" tIns="18288" rIns="27432" bIns="18288" anchor="ctr">
            <a:normAutofit lnSpcReduction="10000"/>
          </a:bodyPr>
          <a:lstStyle/>
          <a:p>
            <a:pPr algn="ctr">
              <a:lnSpc>
                <a:spcPct val="92000"/>
              </a:lnSpc>
              <a:spcBef>
                <a:spcPts val="0"/>
              </a:spcBef>
              <a:buNone/>
            </a:pPr>
            <a:r>
              <a:rPr lang="es-ES" sz="800" b="0" i="0">
                <a:solidFill>
                  <a:srgbClr val="7A7A7A"/>
                </a:solidFill>
              </a:rPr>
              <a:t>Apoyo en pruebas, revisión o debugging</a:t>
            </a:r>
          </a:p>
        </p:txBody>
      </p:sp>
      <p:cxnSp>
        <p:nvCxnSpPr>
          <p:cNvPr id="301" name="conn93_2">
            <a:extLst>
              <a:ext uri="{C183D7F6-B498-43B3-948B-1728B52AA6E4}">
                <adec:decorative xmlns:adec="http://schemas.microsoft.com/office/drawing/2017/decorative" val="1"/>
              </a:ext>
            </a:extLst>
          </p:cNvPr>
          <p:cNvCxnSpPr/>
          <p:nvPr/>
        </p:nvCxnSpPr>
        <p:spPr>
          <a:xfrm>
            <a:off x="8225381" y="4398176"/>
            <a:ext cx="48000" cy="0"/>
          </a:xfrm>
          <a:prstGeom prst="straightConnector1">
            <a:avLst/>
          </a:prstGeom>
          <a:ln w="12700" cap="rnd">
            <a:solidFill>
              <a:srgbClr val="F09FA5"/>
            </a:solidFill>
            <a:tailEnd type="triangle" w="med" len="med"/>
          </a:ln>
        </p:spPr>
        <p:style>
          <a:lnRef idx="1">
            <a:scrgbClr r="0" g="0" b="0"/>
          </a:lnRef>
          <a:fillRef idx="0">
            <a:scrgbClr r="0" g="0" b="0"/>
          </a:fillRef>
          <a:effectRef idx="0">
            <a:scrgbClr r="0" g="0" b="0"/>
          </a:effectRef>
          <a:fontRef idx="minor">
            <a:scrgbClr r="0" g="0" b="0"/>
          </a:fontRef>
        </p:style>
      </p:cxnSp>
      <p:sp>
        <p:nvSpPr>
          <p:cNvPr id="292" name="chain93_3" descr="Menos defectos o reprocesos"/>
          <p:cNvSpPr/>
          <p:nvPr/>
        </p:nvSpPr>
        <p:spPr>
          <a:xfrm>
            <a:off x="8279381" y="4260000"/>
            <a:ext cx="935665" cy="276352"/>
          </a:xfrm>
          <a:prstGeom prst="roundRect">
            <a:avLst>
              <a:gd name="adj" fmla="val 14000"/>
            </a:avLst>
          </a:prstGeom>
          <a:solidFill>
            <a:srgbClr val="FFFFFF"/>
          </a:solidFill>
          <a:ln w="12700">
            <a:solidFill>
              <a:srgbClr val="E3E0DE"/>
            </a:solidFill>
          </a:ln>
        </p:spPr>
        <p:txBody>
          <a:bodyPr wrap="square" lIns="27432" tIns="18288" rIns="27432" bIns="18288" anchor="ctr">
            <a:normAutofit lnSpcReduction="10000"/>
          </a:bodyPr>
          <a:lstStyle/>
          <a:p>
            <a:pPr algn="ctr">
              <a:lnSpc>
                <a:spcPct val="92000"/>
              </a:lnSpc>
              <a:spcBef>
                <a:spcPts val="0"/>
              </a:spcBef>
              <a:buNone/>
            </a:pPr>
            <a:r>
              <a:rPr lang="es-ES" sz="800" b="0" i="0">
                <a:solidFill>
                  <a:srgbClr val="7A7A7A"/>
                </a:solidFill>
              </a:rPr>
              <a:t>Menos defectos o reprocesos</a:t>
            </a:r>
          </a:p>
        </p:txBody>
      </p:sp>
      <p:cxnSp>
        <p:nvCxnSpPr>
          <p:cNvPr id="302" name="conn93_3">
            <a:extLst>
              <a:ext uri="{C183D7F6-B498-43B3-948B-1728B52AA6E4}">
                <adec:decorative xmlns:adec="http://schemas.microsoft.com/office/drawing/2017/decorative" val="1"/>
              </a:ext>
            </a:extLst>
          </p:cNvPr>
          <p:cNvCxnSpPr/>
          <p:nvPr/>
        </p:nvCxnSpPr>
        <p:spPr>
          <a:xfrm>
            <a:off x="9221046" y="4398176"/>
            <a:ext cx="48000" cy="0"/>
          </a:xfrm>
          <a:prstGeom prst="straightConnector1">
            <a:avLst/>
          </a:prstGeom>
          <a:ln w="12700" cap="rnd">
            <a:solidFill>
              <a:srgbClr val="F09FA5"/>
            </a:solidFill>
            <a:tailEnd type="triangle" w="med" len="med"/>
          </a:ln>
        </p:spPr>
        <p:style>
          <a:lnRef idx="1">
            <a:scrgbClr r="0" g="0" b="0"/>
          </a:lnRef>
          <a:fillRef idx="0">
            <a:scrgbClr r="0" g="0" b="0"/>
          </a:fillRef>
          <a:effectRef idx="0">
            <a:scrgbClr r="0" g="0" b="0"/>
          </a:effectRef>
          <a:fontRef idx="minor">
            <a:scrgbClr r="0" g="0" b="0"/>
          </a:fontRef>
        </p:style>
      </p:cxnSp>
      <p:sp>
        <p:nvSpPr>
          <p:cNvPr id="293" name="chain93_4" descr="Menos incidentes o esfuerzo correctivo"/>
          <p:cNvSpPr/>
          <p:nvPr/>
        </p:nvSpPr>
        <p:spPr>
          <a:xfrm>
            <a:off x="9275046" y="4260000"/>
            <a:ext cx="1156488" cy="276352"/>
          </a:xfrm>
          <a:prstGeom prst="roundRect">
            <a:avLst>
              <a:gd name="adj" fmla="val 14000"/>
            </a:avLst>
          </a:prstGeom>
          <a:solidFill>
            <a:srgbClr val="FFFFFF"/>
          </a:solidFill>
          <a:ln w="12700">
            <a:solidFill>
              <a:srgbClr val="E3E0DE"/>
            </a:solidFill>
          </a:ln>
        </p:spPr>
        <p:txBody>
          <a:bodyPr wrap="square" lIns="27432" tIns="18288" rIns="27432" bIns="18288" anchor="ctr">
            <a:normAutofit lnSpcReduction="10000"/>
          </a:bodyPr>
          <a:lstStyle/>
          <a:p>
            <a:pPr algn="ctr">
              <a:lnSpc>
                <a:spcPct val="92000"/>
              </a:lnSpc>
              <a:spcBef>
                <a:spcPts val="0"/>
              </a:spcBef>
              <a:buNone/>
            </a:pPr>
            <a:r>
              <a:rPr lang="es-ES" sz="800" b="0" i="0">
                <a:solidFill>
                  <a:srgbClr val="7A7A7A"/>
                </a:solidFill>
              </a:rPr>
              <a:t>Menos incidentes o esfuerzo correctivo</a:t>
            </a:r>
          </a:p>
        </p:txBody>
      </p:sp>
      <p:cxnSp>
        <p:nvCxnSpPr>
          <p:cNvPr id="303" name="conn93_4">
            <a:extLst>
              <a:ext uri="{C183D7F6-B498-43B3-948B-1728B52AA6E4}">
                <adec:decorative xmlns:adec="http://schemas.microsoft.com/office/drawing/2017/decorative" val="1"/>
              </a:ext>
            </a:extLst>
          </p:cNvPr>
          <p:cNvCxnSpPr/>
          <p:nvPr/>
        </p:nvCxnSpPr>
        <p:spPr>
          <a:xfrm>
            <a:off x="10437534" y="4398176"/>
            <a:ext cx="48000" cy="0"/>
          </a:xfrm>
          <a:prstGeom prst="straightConnector1">
            <a:avLst/>
          </a:prstGeom>
          <a:ln w="12700" cap="rnd">
            <a:solidFill>
              <a:srgbClr val="F09FA5"/>
            </a:solidFill>
            <a:tailEnd type="triangle" w="med" len="med"/>
          </a:ln>
        </p:spPr>
        <p:style>
          <a:lnRef idx="1">
            <a:scrgbClr r="0" g="0" b="0"/>
          </a:lnRef>
          <a:fillRef idx="0">
            <a:scrgbClr r="0" g="0" b="0"/>
          </a:fillRef>
          <a:effectRef idx="0">
            <a:scrgbClr r="0" g="0" b="0"/>
          </a:effectRef>
          <a:fontRef idx="minor">
            <a:scrgbClr r="0" g="0" b="0"/>
          </a:fontRef>
        </p:style>
      </p:cxnSp>
      <p:sp>
        <p:nvSpPr>
          <p:cNvPr id="294" name="chain93_5" descr="Menor pérdida operacional"/>
          <p:cNvSpPr/>
          <p:nvPr/>
        </p:nvSpPr>
        <p:spPr>
          <a:xfrm>
            <a:off x="10491534" y="4260000"/>
            <a:ext cx="892068" cy="276352"/>
          </a:xfrm>
          <a:prstGeom prst="roundRect">
            <a:avLst>
              <a:gd name="adj" fmla="val 14000"/>
            </a:avLst>
          </a:prstGeom>
          <a:solidFill>
            <a:srgbClr val="F09FA5"/>
          </a:solidFill>
          <a:ln w="12700">
            <a:solidFill>
              <a:srgbClr val="F09FA5"/>
            </a:solidFill>
          </a:ln>
        </p:spPr>
        <p:txBody>
          <a:bodyPr wrap="square" lIns="27432" tIns="18288" rIns="27432" bIns="18288" anchor="ctr">
            <a:normAutofit lnSpcReduction="10000"/>
          </a:bodyPr>
          <a:lstStyle/>
          <a:p>
            <a:pPr algn="ctr">
              <a:lnSpc>
                <a:spcPct val="92000"/>
              </a:lnSpc>
              <a:spcBef>
                <a:spcPts val="0"/>
              </a:spcBef>
              <a:buNone/>
            </a:pPr>
            <a:r>
              <a:rPr lang="es-ES" sz="800" b="1" i="0">
                <a:solidFill>
                  <a:srgbClr val="211915"/>
                </a:solidFill>
              </a:rPr>
              <a:t>Menor pérdida operacional</a:t>
            </a:r>
          </a:p>
        </p:txBody>
      </p:sp>
      <p:sp>
        <p:nvSpPr>
          <p:cNvPr id="93" name="tb93"/>
          <p:cNvSpPr txBox="1"/>
          <p:nvPr/>
        </p:nvSpPr>
        <p:spPr>
          <a:xfrm>
            <a:off x="6497445" y="4606352"/>
            <a:ext cx="4886157" cy="523648"/>
          </a:xfrm>
          <a:prstGeom prst="rect">
            <a:avLst/>
          </a:prstGeom>
          <a:noFill/>
        </p:spPr>
        <p:txBody>
          <a:bodyPr wrap="square" lIns="0" tIns="0" rIns="0" bIns="0" anchor="t">
            <a:normAutofit/>
          </a:bodyPr>
          <a:lstStyle/>
          <a:p>
            <a:pPr algn="l">
              <a:lnSpc>
                <a:spcPct val="100000"/>
              </a:lnSpc>
              <a:spcBef>
                <a:spcPts val="0"/>
              </a:spcBef>
            </a:pPr>
            <a:r>
              <a:rPr lang="es-ES" sz="900" b="1" i="0">
                <a:solidFill>
                  <a:srgbClr val="ED1C29"/>
                </a:solidFill>
              </a:rPr>
              <a:t>Pregunta: ¿Qué pérdida evitamos?</a:t>
            </a:r>
          </a:p>
        </p:txBody>
      </p:sp>
      <p:sp>
        <p:nvSpPr>
          <p:cNvPr id="94" name="tb94"/>
          <p:cNvSpPr txBox="1"/>
          <p:nvPr/>
        </p:nvSpPr>
        <p:spPr>
          <a:xfrm>
            <a:off x="658368" y="5623560"/>
            <a:ext cx="10881360" cy="457200"/>
          </a:xfrm>
          <a:prstGeom prst="rect">
            <a:avLst/>
          </a:prstGeom>
          <a:noFill/>
        </p:spPr>
        <p:txBody>
          <a:bodyPr wrap="square" lIns="0" tIns="0" rIns="0" bIns="0" anchor="t">
            <a:normAutofit/>
          </a:bodyPr>
          <a:lstStyle/>
          <a:p>
            <a:pPr algn="l">
              <a:lnSpc>
                <a:spcPct val="100000"/>
              </a:lnSpc>
              <a:spcBef>
                <a:spcPts val="0"/>
              </a:spcBef>
            </a:pPr>
            <a:r>
              <a:rPr lang="es-ES" sz="1250" b="0" i="1">
                <a:solidFill>
                  <a:srgbClr val="7A7A7A"/>
                </a:solidFill>
              </a:rPr>
              <a:t>Ejemplos ilustrativos. No representan resultados medidos en Tuya</a:t>
            </a:r>
            <a:r>
              <a:rPr lang="es-ES" sz="1250" b="0" i="1" dirty="0">
                <a:solidFill>
                  <a:srgbClr val="7A7A7A"/>
                </a:solidFill>
              </a:rPr>
              <a:t>.</a:t>
            </a:r>
          </a:p>
        </p:txBody>
      </p:sp>
      <p:sp>
        <p:nvSpPr>
          <p:cNvPr id="98" name="tb98"/>
          <p:cNvSpPr txBox="1"/>
          <p:nvPr/>
        </p:nvSpPr>
        <p:spPr>
          <a:xfrm>
            <a:off x="658368" y="6272784"/>
            <a:ext cx="5486400" cy="228600"/>
          </a:xfrm>
          <a:prstGeom prst="rect">
            <a:avLst/>
          </a:prstGeom>
          <a:noFill/>
        </p:spPr>
        <p:txBody>
          <a:bodyPr wrap="square" lIns="0" tIns="0" rIns="0" bIns="0" anchor="t">
            <a:normAutofit/>
          </a:bodyPr>
          <a:lstStyle/>
          <a:p>
            <a:pPr algn="l">
              <a:lnSpc>
                <a:spcPct val="100000"/>
              </a:lnSpc>
              <a:spcBef>
                <a:spcPts val="0"/>
              </a:spcBef>
            </a:pPr>
            <a:r>
              <a:rPr lang="es-ES" sz="900" b="1" i="0" dirty="0">
                <a:solidFill>
                  <a:srgbClr val="211915"/>
                </a:solidFill>
              </a:rPr>
              <a:t>Tuya   ·   </a:t>
            </a:r>
            <a:r>
              <a:rPr lang="es-ES" sz="900" b="1" i="0">
                <a:solidFill>
                  <a:srgbClr val="211915"/>
                </a:solidFill>
              </a:rPr>
              <a:t>Del valor de GitHub Copilot</a:t>
            </a:r>
            <a:endParaRPr lang="es-ES" sz="900" b="1" i="0" dirty="0">
              <a:solidFill>
                <a:srgbClr val="211915"/>
              </a:solidFill>
            </a:endParaRPr>
          </a:p>
        </p:txBody>
      </p:sp>
      <p:sp>
        <p:nvSpPr>
          <p:cNvPr id="99" name="tb99"/>
          <p:cNvSpPr txBox="1"/>
          <p:nvPr/>
        </p:nvSpPr>
        <p:spPr>
          <a:xfrm>
            <a:off x="10436322" y="6272784"/>
            <a:ext cx="1097280" cy="228600"/>
          </a:xfrm>
          <a:prstGeom prst="rect">
            <a:avLst/>
          </a:prstGeom>
          <a:noFill/>
        </p:spPr>
        <p:txBody>
          <a:bodyPr wrap="square" lIns="0" tIns="0" rIns="0" bIns="0" anchor="t">
            <a:normAutofit/>
          </a:bodyPr>
          <a:lstStyle/>
          <a:p>
            <a:pPr algn="r">
              <a:lnSpc>
                <a:spcPct val="100000"/>
              </a:lnSpc>
              <a:spcBef>
                <a:spcPts val="0"/>
              </a:spcBef>
            </a:pPr>
            <a:r>
              <a:rPr lang="es-ES" sz="900" b="1" i="0">
                <a:solidFill>
                  <a:srgbClr val="ED1C29"/>
                </a:solidFill>
              </a:rPr>
              <a:t>10</a:t>
            </a:r>
            <a:endParaRPr lang="es-ES" sz="900" b="1" i="0" dirty="0">
              <a:solidFill>
                <a:srgbClr val="ED1C29"/>
              </a:solidFill>
            </a:endParaRPr>
          </a:p>
        </p:txBody>
      </p:sp>
      <p:pic>
        <p:nvPicPr>
          <p:cNvPr id="900" name="Logo Tuya"/>
          <p:cNvPicPr>
            <a:picLocks noChangeAspect="1"/>
          </p:cNvPicPr>
          <p:nvPr/>
        </p:nvPicPr>
        <p:blipFill>
          <a:blip r:embed="rId3"/>
          <a:stretch>
            <a:fillRect/>
          </a:stretch>
        </p:blipFill>
        <p:spPr>
          <a:xfrm>
            <a:off x="11152200" y="321276"/>
            <a:ext cx="640080" cy="32004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sh26"/>
          <p:cNvSpPr/>
          <p:nvPr/>
        </p:nvSpPr>
        <p:spPr>
          <a:xfrm>
            <a:off x="658368" y="384048"/>
            <a:ext cx="146304" cy="146304"/>
          </a:xfrm>
          <a:prstGeom prst="rect">
            <a:avLst/>
          </a:prstGeom>
          <a:solidFill>
            <a:srgbClr val="ED1C29"/>
          </a:solidFill>
          <a:ln>
            <a:noFill/>
          </a:ln>
        </p:spPr>
        <p:txBody>
          <a:bodyPr lIns="146304" tIns="73152" rIns="146304" bIns="73152" anchor="ctr">
            <a:normAutofit fontScale="25000" lnSpcReduction="20000"/>
          </a:bodyPr>
          <a:lstStyle/>
          <a:p>
            <a:endParaRPr lang="es-ES"/>
          </a:p>
        </p:txBody>
      </p:sp>
      <p:sp>
        <p:nvSpPr>
          <p:cNvPr id="27" name="tb27"/>
          <p:cNvSpPr txBox="1"/>
          <p:nvPr/>
        </p:nvSpPr>
        <p:spPr>
          <a:xfrm>
            <a:off x="914400" y="365760"/>
            <a:ext cx="7315200" cy="237744"/>
          </a:xfrm>
          <a:prstGeom prst="rect">
            <a:avLst/>
          </a:prstGeom>
          <a:noFill/>
        </p:spPr>
        <p:txBody>
          <a:bodyPr wrap="square" lIns="0" tIns="0" rIns="0" bIns="0" anchor="t">
            <a:normAutofit/>
          </a:bodyPr>
          <a:lstStyle/>
          <a:p>
            <a:pPr algn="l">
              <a:lnSpc>
                <a:spcPct val="100000"/>
              </a:lnSpc>
              <a:spcBef>
                <a:spcPts val="0"/>
              </a:spcBef>
            </a:pPr>
            <a:r>
              <a:rPr lang="es-ES" sz="1050" b="1" i="0" spc="120">
                <a:solidFill>
                  <a:srgbClr val="ED1C29"/>
                </a:solidFill>
              </a:rPr>
              <a:t>REFERENCIAS </a:t>
            </a:r>
            <a:r>
              <a:rPr lang="es-ES" sz="1050" b="1" i="0" spc="120" dirty="0">
                <a:solidFill>
                  <a:srgbClr val="ED1C29"/>
                </a:solidFill>
              </a:rPr>
              <a:t>DE </a:t>
            </a:r>
            <a:r>
              <a:rPr lang="es-ES" sz="1050" b="1" i="0" spc="120">
                <a:solidFill>
                  <a:srgbClr val="ED1C29"/>
                </a:solidFill>
              </a:rPr>
              <a:t>INDUSTRIA</a:t>
            </a:r>
            <a:endParaRPr lang="es-ES" sz="1050" b="1" i="0" spc="120" dirty="0">
              <a:solidFill>
                <a:srgbClr val="ED1C29"/>
              </a:solidFill>
            </a:endParaRPr>
          </a:p>
        </p:txBody>
      </p:sp>
      <p:sp>
        <p:nvSpPr>
          <p:cNvPr id="28" name="tb28"/>
          <p:cNvSpPr txBox="1"/>
          <p:nvPr/>
        </p:nvSpPr>
        <p:spPr>
          <a:xfrm>
            <a:off x="658368" y="713232"/>
            <a:ext cx="9326880" cy="685800"/>
          </a:xfrm>
          <a:prstGeom prst="rect">
            <a:avLst/>
          </a:prstGeom>
          <a:noFill/>
        </p:spPr>
        <p:txBody>
          <a:bodyPr wrap="square" lIns="0" tIns="0" rIns="0" bIns="0" anchor="t">
            <a:normAutofit/>
          </a:bodyPr>
          <a:lstStyle/>
          <a:p>
            <a:pPr algn="l">
              <a:lnSpc>
                <a:spcPct val="100000"/>
              </a:lnSpc>
              <a:spcBef>
                <a:spcPts val="0"/>
              </a:spcBef>
            </a:pPr>
            <a:r>
              <a:rPr lang="es-ES" sz="2400" b="1" i="0">
                <a:solidFill>
                  <a:srgbClr val="211915"/>
                </a:solidFill>
              </a:rPr>
              <a:t>El patrón común: observar qué ocurre después de generar capacidad</a:t>
            </a:r>
          </a:p>
        </p:txBody>
      </p:sp>
      <p:sp>
        <p:nvSpPr>
          <p:cNvPr id="11" name="sh11"/>
          <p:cNvSpPr/>
          <p:nvPr/>
        </p:nvSpPr>
        <p:spPr>
          <a:xfrm>
            <a:off x="658368" y="1719072"/>
            <a:ext cx="54864" cy="914400"/>
          </a:xfrm>
          <a:prstGeom prst="rect">
            <a:avLst/>
          </a:prstGeom>
          <a:solidFill>
            <a:srgbClr val="ED1C29"/>
          </a:solidFill>
          <a:ln>
            <a:noFill/>
          </a:ln>
        </p:spPr>
        <p:txBody>
          <a:bodyPr lIns="146304" tIns="73152" rIns="146304" bIns="73152" anchor="ctr">
            <a:normAutofit/>
          </a:bodyPr>
          <a:lstStyle/>
          <a:p>
            <a:endParaRPr lang="es-ES"/>
          </a:p>
        </p:txBody>
      </p:sp>
      <p:sp>
        <p:nvSpPr>
          <p:cNvPr id="12" name="tb12"/>
          <p:cNvSpPr txBox="1"/>
          <p:nvPr/>
        </p:nvSpPr>
        <p:spPr>
          <a:xfrm>
            <a:off x="969264" y="1746504"/>
            <a:ext cx="1828800" cy="274320"/>
          </a:xfrm>
          <a:prstGeom prst="rect">
            <a:avLst/>
          </a:prstGeom>
          <a:noFill/>
        </p:spPr>
        <p:txBody>
          <a:bodyPr wrap="square" lIns="0" tIns="0" rIns="0" bIns="0" anchor="t">
            <a:normAutofit/>
          </a:bodyPr>
          <a:lstStyle/>
          <a:p>
            <a:pPr algn="l">
              <a:lnSpc>
                <a:spcPct val="100000"/>
              </a:lnSpc>
              <a:spcBef>
                <a:spcPts val="0"/>
              </a:spcBef>
            </a:pPr>
            <a:r>
              <a:rPr lang="es-ES" sz="1000" b="1" i="0" spc="100">
                <a:solidFill>
                  <a:srgbClr val="ED1C29"/>
                </a:solidFill>
              </a:rPr>
              <a:t>REFERENCIA</a:t>
            </a:r>
            <a:endParaRPr lang="es-ES" sz="1000" b="1" i="0" spc="100" dirty="0">
              <a:solidFill>
                <a:srgbClr val="ED1C29"/>
              </a:solidFill>
            </a:endParaRPr>
          </a:p>
        </p:txBody>
      </p:sp>
      <p:sp>
        <p:nvSpPr>
          <p:cNvPr id="13" name="tb13"/>
          <p:cNvSpPr txBox="1"/>
          <p:nvPr/>
        </p:nvSpPr>
        <p:spPr>
          <a:xfrm>
            <a:off x="969264" y="2020824"/>
            <a:ext cx="4206240" cy="365760"/>
          </a:xfrm>
          <a:prstGeom prst="rect">
            <a:avLst/>
          </a:prstGeom>
          <a:noFill/>
        </p:spPr>
        <p:txBody>
          <a:bodyPr wrap="square" lIns="0" tIns="0" rIns="0" bIns="0" anchor="t">
            <a:normAutofit/>
          </a:bodyPr>
          <a:lstStyle/>
          <a:p>
            <a:pPr algn="l">
              <a:lnSpc>
                <a:spcPct val="100000"/>
              </a:lnSpc>
              <a:spcBef>
                <a:spcPts val="0"/>
              </a:spcBef>
            </a:pPr>
            <a:r>
              <a:rPr lang="es-ES" sz="1600" b="1" i="0">
                <a:solidFill>
                  <a:srgbClr val="211915"/>
                </a:solidFill>
              </a:rPr>
              <a:t>JPMorgan Chase</a:t>
            </a:r>
            <a:endParaRPr lang="es-ES" sz="1600" b="1" i="0" dirty="0">
              <a:solidFill>
                <a:srgbClr val="211915"/>
              </a:solidFill>
            </a:endParaRPr>
          </a:p>
        </p:txBody>
      </p:sp>
      <p:sp>
        <p:nvSpPr>
          <p:cNvPr id="14" name="tb14"/>
          <p:cNvSpPr txBox="1"/>
          <p:nvPr/>
        </p:nvSpPr>
        <p:spPr>
          <a:xfrm>
            <a:off x="5596128" y="1755648"/>
            <a:ext cx="5394960" cy="1280160"/>
          </a:xfrm>
          <a:prstGeom prst="rect">
            <a:avLst/>
          </a:prstGeom>
          <a:noFill/>
        </p:spPr>
        <p:txBody>
          <a:bodyPr wrap="square" lIns="0" tIns="0" rIns="0" bIns="0" anchor="t">
            <a:normAutofit/>
          </a:bodyPr>
          <a:lstStyle/>
          <a:p>
            <a:pPr algn="l">
              <a:lnSpc>
                <a:spcPct val="100000"/>
              </a:lnSpc>
            </a:pPr>
            <a:r>
              <a:rPr lang="es-ES" sz="950" b="0" i="0">
                <a:solidFill>
                  <a:srgbClr val="7A7A7A"/>
                </a:solidFill>
              </a:rPr>
              <a:t>JPMorgan Chase reportó mejoras de productividad de ingeniería de aproximadamente 10% a 20% utilizando un asistente de codificación desarrollado internamente por el banco.</a:t>
            </a:r>
          </a:p>
          <a:p>
            <a:pPr algn="l">
              <a:lnSpc>
                <a:spcPct val="100000"/>
              </a:lnSpc>
            </a:pPr>
            <a:r>
              <a:rPr lang="es-ES" sz="950" b="0" i="0">
                <a:solidFill>
                  <a:srgbClr val="7A7A7A"/>
                </a:solidFill>
              </a:rPr>
              <a:t>Qué hicieron con la capacidad: reasignar ingenieros hacia otros proyectos e iniciativas de mayor valor. Mecanismo: más con lo mismo.</a:t>
            </a:r>
          </a:p>
          <a:p>
            <a:pPr algn="l">
              <a:lnSpc>
                <a:spcPct val="100000"/>
              </a:lnSpc>
            </a:pPr>
            <a:r>
              <a:rPr lang="es-ES" sz="950" b="0" i="0">
                <a:solidFill>
                  <a:srgbClr val="7A7A7A"/>
                </a:solidFill>
              </a:rPr>
              <a:t>Reuters · marzo de 2025   ·   No utilizó GitHub Copilot. Referencia sobre utilización de capacidad, no un benchmark para Tuya.</a:t>
            </a:r>
            <a:endParaRPr lang="es-ES" sz="800" b="0" i="0">
              <a:solidFill>
                <a:srgbClr val="9A9A9A"/>
              </a:solidFill>
            </a:endParaRPr>
          </a:p>
        </p:txBody>
      </p:sp>
      <p:sp>
        <p:nvSpPr>
          <p:cNvPr id="15" name="sh15"/>
          <p:cNvSpPr/>
          <p:nvPr/>
        </p:nvSpPr>
        <p:spPr>
          <a:xfrm>
            <a:off x="704088" y="2690632"/>
            <a:ext cx="310896" cy="274320"/>
          </a:xfrm>
          <a:prstGeom prst="downArrow">
            <a:avLst/>
          </a:prstGeom>
          <a:solidFill>
            <a:srgbClr val="ED1C29"/>
          </a:solidFill>
          <a:ln>
            <a:noFill/>
          </a:ln>
        </p:spPr>
        <p:txBody>
          <a:bodyPr lIns="146304" tIns="73152" rIns="146304" bIns="73152" anchor="ctr">
            <a:normAutofit fontScale="25000" lnSpcReduction="20000"/>
          </a:bodyPr>
          <a:lstStyle/>
          <a:p>
            <a:endParaRPr lang="es-ES"/>
          </a:p>
        </p:txBody>
      </p:sp>
      <p:sp>
        <p:nvSpPr>
          <p:cNvPr id="16" name="sh16"/>
          <p:cNvSpPr/>
          <p:nvPr/>
        </p:nvSpPr>
        <p:spPr>
          <a:xfrm>
            <a:off x="658368" y="3030400"/>
            <a:ext cx="54864" cy="914400"/>
          </a:xfrm>
          <a:prstGeom prst="rect">
            <a:avLst/>
          </a:prstGeom>
          <a:solidFill>
            <a:srgbClr val="211915"/>
          </a:solidFill>
          <a:ln>
            <a:noFill/>
          </a:ln>
        </p:spPr>
        <p:txBody>
          <a:bodyPr lIns="146304" tIns="73152" rIns="146304" bIns="73152" anchor="ctr">
            <a:normAutofit/>
          </a:bodyPr>
          <a:lstStyle/>
          <a:p>
            <a:endParaRPr lang="es-ES"/>
          </a:p>
        </p:txBody>
      </p:sp>
      <p:sp>
        <p:nvSpPr>
          <p:cNvPr id="17" name="tb17"/>
          <p:cNvSpPr txBox="1"/>
          <p:nvPr/>
        </p:nvSpPr>
        <p:spPr>
          <a:xfrm>
            <a:off x="969264" y="3057832"/>
            <a:ext cx="1828800" cy="274320"/>
          </a:xfrm>
          <a:prstGeom prst="rect">
            <a:avLst/>
          </a:prstGeom>
          <a:noFill/>
        </p:spPr>
        <p:txBody>
          <a:bodyPr wrap="square" lIns="0" tIns="0" rIns="0" bIns="0" anchor="t">
            <a:normAutofit/>
          </a:bodyPr>
          <a:lstStyle/>
          <a:p>
            <a:pPr algn="l">
              <a:lnSpc>
                <a:spcPct val="100000"/>
              </a:lnSpc>
              <a:spcBef>
                <a:spcPts val="0"/>
              </a:spcBef>
            </a:pPr>
            <a:r>
              <a:rPr lang="es-ES" sz="1000" b="1" i="0" spc="100">
                <a:solidFill>
                  <a:srgbClr val="7A7A7A"/>
                </a:solidFill>
              </a:rPr>
              <a:t>REFERENCIA</a:t>
            </a:r>
            <a:endParaRPr lang="es-ES" sz="1000" b="1" i="0" spc="100" dirty="0">
              <a:solidFill>
                <a:srgbClr val="7A7A7A"/>
              </a:solidFill>
            </a:endParaRPr>
          </a:p>
        </p:txBody>
      </p:sp>
      <p:sp>
        <p:nvSpPr>
          <p:cNvPr id="18" name="tb18"/>
          <p:cNvSpPr txBox="1"/>
          <p:nvPr/>
        </p:nvSpPr>
        <p:spPr>
          <a:xfrm>
            <a:off x="969264" y="3332152"/>
            <a:ext cx="4206240" cy="365760"/>
          </a:xfrm>
          <a:prstGeom prst="rect">
            <a:avLst/>
          </a:prstGeom>
          <a:noFill/>
        </p:spPr>
        <p:txBody>
          <a:bodyPr wrap="square" lIns="0" tIns="0" rIns="0" bIns="0" anchor="t">
            <a:normAutofit/>
          </a:bodyPr>
          <a:lstStyle/>
          <a:p>
            <a:pPr algn="l">
              <a:lnSpc>
                <a:spcPct val="100000"/>
              </a:lnSpc>
              <a:spcBef>
                <a:spcPts val="0"/>
              </a:spcBef>
            </a:pPr>
            <a:r>
              <a:rPr lang="es-ES" sz="1600" b="1" i="0">
                <a:solidFill>
                  <a:srgbClr val="211915"/>
                </a:solidFill>
              </a:rPr>
              <a:t>Accenture</a:t>
            </a:r>
            <a:endParaRPr lang="es-ES" sz="1600" b="1" i="0" dirty="0">
              <a:solidFill>
                <a:srgbClr val="211915"/>
              </a:solidFill>
            </a:endParaRPr>
          </a:p>
        </p:txBody>
      </p:sp>
      <p:sp>
        <p:nvSpPr>
          <p:cNvPr id="19" name="tb19"/>
          <p:cNvSpPr txBox="1"/>
          <p:nvPr/>
        </p:nvSpPr>
        <p:spPr>
          <a:xfrm>
            <a:off x="5596128" y="3066976"/>
            <a:ext cx="5394960" cy="1280160"/>
          </a:xfrm>
          <a:prstGeom prst="rect">
            <a:avLst/>
          </a:prstGeom>
          <a:noFill/>
        </p:spPr>
        <p:txBody>
          <a:bodyPr wrap="square" lIns="0" tIns="0" rIns="0" bIns="0" anchor="t">
            <a:normAutofit/>
          </a:bodyPr>
          <a:lstStyle/>
          <a:p>
            <a:pPr algn="l">
              <a:lnSpc>
                <a:spcPct val="100000"/>
              </a:lnSpc>
              <a:spcBef>
                <a:spcPts val="0"/>
              </a:spcBef>
            </a:pPr>
            <a:r>
              <a:rPr lang="es-ES" sz="1050" b="0" i="0">
                <a:solidFill>
                  <a:srgbClr val="3D3733"/>
                </a:solidFill>
              </a:rPr>
              <a:t>Accenture realizó una evaluación controlada de GitHub Copilot con aproximadamente 450 desarrolladores utilizando Copilot y 200 como grupo de control.</a:t>
            </a:r>
          </a:p>
          <a:p>
            <a:pPr algn="l">
              <a:lnSpc>
                <a:spcPct val="100000"/>
              </a:lnSpc>
              <a:spcBef>
                <a:spcPts val="0"/>
              </a:spcBef>
            </a:pPr>
            <a:r>
              <a:rPr lang="es-ES" sz="1050" b="0" i="0">
                <a:solidFill>
                  <a:srgbClr val="3D3733"/>
                </a:solidFill>
              </a:rPr>
              <a:t>Señales observadas: builds exitosos, pull requests y experiencia del desarrollador. Aprendizaje metodológico: definir previamente qué queremos observar y utilizar grupos o trabajo comparable cuando sea posible.</a:t>
            </a:r>
          </a:p>
          <a:p>
            <a:pPr algn="l">
              <a:lnSpc>
                <a:spcPct val="100000"/>
              </a:lnSpc>
              <a:spcBef>
                <a:spcPts val="0"/>
              </a:spcBef>
            </a:pPr>
            <a:r>
              <a:rPr lang="es-ES" sz="1050" b="0" i="0">
                <a:solidFill>
                  <a:srgbClr val="3D3733"/>
                </a:solidFill>
              </a:rPr>
              <a:t>GitHub Customer Story · Accenture   ·   Caso publicado por GitHub. Referencia metodológica, no benchmark independiente.</a:t>
            </a:r>
            <a:endParaRPr lang="es-ES" sz="800" b="0" i="0">
              <a:solidFill>
                <a:srgbClr val="9A9A9A"/>
              </a:solidFill>
            </a:endParaRPr>
          </a:p>
        </p:txBody>
      </p:sp>
      <p:sp>
        <p:nvSpPr>
          <p:cNvPr id="20" name="sh20"/>
          <p:cNvSpPr/>
          <p:nvPr/>
        </p:nvSpPr>
        <p:spPr>
          <a:xfrm>
            <a:off x="704088" y="4001960"/>
            <a:ext cx="310896" cy="274320"/>
          </a:xfrm>
          <a:prstGeom prst="downArrow">
            <a:avLst/>
          </a:prstGeom>
          <a:solidFill>
            <a:srgbClr val="211915"/>
          </a:solidFill>
          <a:ln>
            <a:noFill/>
          </a:ln>
        </p:spPr>
        <p:txBody>
          <a:bodyPr lIns="146304" tIns="73152" rIns="146304" bIns="73152" anchor="ctr">
            <a:normAutofit fontScale="25000" lnSpcReduction="20000"/>
          </a:bodyPr>
          <a:lstStyle/>
          <a:p>
            <a:endParaRPr lang="es-ES"/>
          </a:p>
        </p:txBody>
      </p:sp>
      <p:sp>
        <p:nvSpPr>
          <p:cNvPr id="21" name="sh21"/>
          <p:cNvSpPr/>
          <p:nvPr/>
        </p:nvSpPr>
        <p:spPr>
          <a:xfrm>
            <a:off x="658368" y="4341728"/>
            <a:ext cx="54864" cy="914400"/>
          </a:xfrm>
          <a:prstGeom prst="rect">
            <a:avLst/>
          </a:prstGeom>
          <a:solidFill>
            <a:srgbClr val="7A7A7A"/>
          </a:solidFill>
          <a:ln>
            <a:noFill/>
          </a:ln>
        </p:spPr>
        <p:txBody>
          <a:bodyPr lIns="146304" tIns="73152" rIns="146304" bIns="73152" anchor="ctr">
            <a:normAutofit/>
          </a:bodyPr>
          <a:lstStyle/>
          <a:p>
            <a:endParaRPr lang="es-ES"/>
          </a:p>
        </p:txBody>
      </p:sp>
      <p:sp>
        <p:nvSpPr>
          <p:cNvPr id="22" name="tb22"/>
          <p:cNvSpPr txBox="1"/>
          <p:nvPr/>
        </p:nvSpPr>
        <p:spPr>
          <a:xfrm>
            <a:off x="969264" y="4369160"/>
            <a:ext cx="1828800" cy="274320"/>
          </a:xfrm>
          <a:prstGeom prst="rect">
            <a:avLst/>
          </a:prstGeom>
          <a:noFill/>
        </p:spPr>
        <p:txBody>
          <a:bodyPr wrap="square" lIns="0" tIns="0" rIns="0" bIns="0" anchor="t">
            <a:normAutofit/>
          </a:bodyPr>
          <a:lstStyle/>
          <a:p>
            <a:pPr algn="l">
              <a:lnSpc>
                <a:spcPct val="100000"/>
              </a:lnSpc>
              <a:spcBef>
                <a:spcPts val="0"/>
              </a:spcBef>
            </a:pPr>
            <a:r>
              <a:rPr lang="es-ES" sz="1000" b="1" i="0" spc="100">
                <a:solidFill>
                  <a:srgbClr val="7A7A7A"/>
                </a:solidFill>
              </a:rPr>
              <a:t>MARCO</a:t>
            </a:r>
            <a:endParaRPr lang="es-ES" sz="1000" b="1" i="0" spc="100" dirty="0">
              <a:solidFill>
                <a:srgbClr val="7A7A7A"/>
              </a:solidFill>
            </a:endParaRPr>
          </a:p>
        </p:txBody>
      </p:sp>
      <p:sp>
        <p:nvSpPr>
          <p:cNvPr id="23" name="tb23"/>
          <p:cNvSpPr txBox="1"/>
          <p:nvPr/>
        </p:nvSpPr>
        <p:spPr>
          <a:xfrm>
            <a:off x="969264" y="4643480"/>
            <a:ext cx="4206240" cy="365760"/>
          </a:xfrm>
          <a:prstGeom prst="rect">
            <a:avLst/>
          </a:prstGeom>
          <a:noFill/>
        </p:spPr>
        <p:txBody>
          <a:bodyPr wrap="square" lIns="0" tIns="0" rIns="0" bIns="0" anchor="t">
            <a:normAutofit/>
          </a:bodyPr>
          <a:lstStyle/>
          <a:p>
            <a:pPr algn="l">
              <a:lnSpc>
                <a:spcPct val="100000"/>
              </a:lnSpc>
              <a:spcBef>
                <a:spcPts val="0"/>
              </a:spcBef>
            </a:pPr>
            <a:r>
              <a:rPr lang="es-ES" sz="1600" b="1" i="0" dirty="0">
                <a:solidFill>
                  <a:srgbClr val="211915"/>
                </a:solidFill>
              </a:rPr>
              <a:t>DORA </a:t>
            </a:r>
            <a:r>
              <a:rPr lang="es-ES" sz="1600" b="1" i="0">
                <a:solidFill>
                  <a:srgbClr val="211915"/>
                </a:solidFill>
              </a:rPr>
              <a:t>|</a:t>
            </a:r>
            <a:r>
              <a:rPr lang="es-ES" sz="1600" b="1" i="0" dirty="0">
                <a:solidFill>
                  <a:srgbClr val="211915"/>
                </a:solidFill>
              </a:rPr>
              <a:t> ROI </a:t>
            </a:r>
            <a:r>
              <a:rPr lang="es-ES" sz="1600" b="1" i="0">
                <a:solidFill>
                  <a:srgbClr val="211915"/>
                </a:solidFill>
              </a:rPr>
              <a:t>of</a:t>
            </a:r>
            <a:r>
              <a:rPr lang="es-ES" sz="1600" b="1" i="0" dirty="0">
                <a:solidFill>
                  <a:srgbClr val="211915"/>
                </a:solidFill>
              </a:rPr>
              <a:t> AI-</a:t>
            </a:r>
            <a:r>
              <a:rPr lang="es-ES" sz="1600" b="1" i="0">
                <a:solidFill>
                  <a:srgbClr val="211915"/>
                </a:solidFill>
              </a:rPr>
              <a:t>assisted</a:t>
            </a:r>
            <a:r>
              <a:rPr lang="es-ES" sz="1600" b="1" i="0" dirty="0">
                <a:solidFill>
                  <a:srgbClr val="211915"/>
                </a:solidFill>
              </a:rPr>
              <a:t> Software </a:t>
            </a:r>
            <a:r>
              <a:rPr lang="es-ES" sz="1600" b="1" i="0">
                <a:solidFill>
                  <a:srgbClr val="211915"/>
                </a:solidFill>
              </a:rPr>
              <a:t>Development</a:t>
            </a:r>
            <a:endParaRPr lang="es-ES" sz="1600" b="1" i="0" dirty="0">
              <a:solidFill>
                <a:srgbClr val="211915"/>
              </a:solidFill>
            </a:endParaRPr>
          </a:p>
        </p:txBody>
      </p:sp>
      <p:sp>
        <p:nvSpPr>
          <p:cNvPr id="24" name="tb24"/>
          <p:cNvSpPr txBox="1"/>
          <p:nvPr/>
        </p:nvSpPr>
        <p:spPr>
          <a:xfrm>
            <a:off x="5596128" y="4360016"/>
            <a:ext cx="5394960" cy="1042416"/>
          </a:xfrm>
          <a:prstGeom prst="rect">
            <a:avLst/>
          </a:prstGeom>
          <a:noFill/>
        </p:spPr>
        <p:txBody>
          <a:bodyPr wrap="square" lIns="0" tIns="0" rIns="0" bIns="0" anchor="t">
            <a:normAutofit/>
          </a:bodyPr>
          <a:lstStyle/>
          <a:p>
            <a:pPr algn="l">
              <a:lnSpc>
                <a:spcPct val="100000"/>
              </a:lnSpc>
              <a:spcBef>
                <a:spcPts val="0"/>
              </a:spcBef>
            </a:pPr>
            <a:r>
              <a:rPr lang="es-ES" sz="950" b="0" i="0">
                <a:solidFill>
                  <a:srgbClr val="3D3733"/>
                </a:solidFill>
              </a:rPr>
              <a:t>DORA publicó en 2026 un marco práctico para analizar el retorno de la inversión de IA en el desarrollo de software.</a:t>
            </a:r>
          </a:p>
          <a:p>
            <a:pPr algn="l">
              <a:lnSpc>
                <a:spcPct val="100000"/>
              </a:lnSpc>
              <a:spcBef>
                <a:spcPts val="0"/>
              </a:spcBef>
            </a:pPr>
            <a:r>
              <a:rPr lang="es-ES" sz="950" b="0" i="0">
                <a:solidFill>
                  <a:srgbClr val="3D3733"/>
                </a:solidFill>
              </a:rPr>
              <a:t>Capacidad: una mejora técnica por sí sola no constituye ROI. Sistema: observar el sistema completo de entrega y evitar trasladar cuellos de botella. Inversión: comparar el costo total de adopción con los beneficios esperados y luego con los observados. El caso de valor sirve para decidir si invertir y después para comprobar la hipótesis.</a:t>
            </a:r>
          </a:p>
          <a:p>
            <a:pPr algn="l">
              <a:lnSpc>
                <a:spcPct val="100000"/>
              </a:lnSpc>
              <a:spcBef>
                <a:spcPts val="0"/>
              </a:spcBef>
            </a:pPr>
            <a:r>
              <a:rPr lang="es-ES" sz="950" b="0" i="0">
                <a:solidFill>
                  <a:srgbClr val="3D3733"/>
                </a:solidFill>
              </a:rPr>
              <a:t>DORA · ROI of AI-assisted Software Development · 2026</a:t>
            </a:r>
            <a:endParaRPr lang="es-ES" sz="800" b="0" i="0">
              <a:solidFill>
                <a:srgbClr val="9A9A9A"/>
              </a:solidFill>
            </a:endParaRPr>
          </a:p>
        </p:txBody>
      </p:sp>
      <p:cxnSp>
        <p:nvCxnSpPr>
          <p:cNvPr id="45" name="cn45">
            <a:extLst>
              <a:ext uri="{C183D7F6-B498-43B3-948B-1728B52AA6E4}">
                <adec:decorative xmlns:adec="http://schemas.microsoft.com/office/drawing/2017/decorative" val="1"/>
              </a:ext>
            </a:extLst>
          </p:cNvPr>
          <p:cNvCxnSpPr/>
          <p:nvPr/>
        </p:nvCxnSpPr>
        <p:spPr>
          <a:xfrm>
            <a:off x="2633368" y="5587160"/>
            <a:ext cx="205058" cy="0"/>
          </a:xfrm>
          <a:prstGeom prst="line">
            <a:avLst/>
          </a:prstGeom>
          <a:ln w="19050" cap="rnd">
            <a:solidFill>
              <a:srgbClr val="7A7A7A"/>
            </a:solidFill>
          </a:ln>
        </p:spPr>
      </p:cxnSp>
      <p:cxnSp>
        <p:nvCxnSpPr>
          <p:cNvPr id="46" name="cn46">
            <a:extLst>
              <a:ext uri="{C183D7F6-B498-43B3-948B-1728B52AA6E4}">
                <adec:decorative xmlns:adec="http://schemas.microsoft.com/office/drawing/2017/decorative" val="1"/>
              </a:ext>
            </a:extLst>
          </p:cNvPr>
          <p:cNvCxnSpPr/>
          <p:nvPr/>
        </p:nvCxnSpPr>
        <p:spPr>
          <a:xfrm>
            <a:off x="4873426" y="5587160"/>
            <a:ext cx="205058" cy="0"/>
          </a:xfrm>
          <a:prstGeom prst="line">
            <a:avLst/>
          </a:prstGeom>
          <a:ln w="19050" cap="rnd">
            <a:solidFill>
              <a:srgbClr val="7A7A7A"/>
            </a:solidFill>
          </a:ln>
        </p:spPr>
      </p:cxnSp>
      <p:cxnSp>
        <p:nvCxnSpPr>
          <p:cNvPr id="47" name="cn47">
            <a:extLst>
              <a:ext uri="{C183D7F6-B498-43B3-948B-1728B52AA6E4}">
                <adec:decorative xmlns:adec="http://schemas.microsoft.com/office/drawing/2017/decorative" val="1"/>
              </a:ext>
            </a:extLst>
          </p:cNvPr>
          <p:cNvCxnSpPr/>
          <p:nvPr/>
        </p:nvCxnSpPr>
        <p:spPr>
          <a:xfrm>
            <a:off x="7113484" y="5587160"/>
            <a:ext cx="205058" cy="0"/>
          </a:xfrm>
          <a:prstGeom prst="line">
            <a:avLst/>
          </a:prstGeom>
          <a:ln w="19050" cap="rnd">
            <a:solidFill>
              <a:srgbClr val="7A7A7A"/>
            </a:solidFill>
          </a:ln>
        </p:spPr>
      </p:cxnSp>
      <p:cxnSp>
        <p:nvCxnSpPr>
          <p:cNvPr id="48" name="cn48">
            <a:extLst>
              <a:ext uri="{C183D7F6-B498-43B3-948B-1728B52AA6E4}">
                <adec:decorative xmlns:adec="http://schemas.microsoft.com/office/drawing/2017/decorative" val="1"/>
              </a:ext>
            </a:extLst>
          </p:cNvPr>
          <p:cNvCxnSpPr/>
          <p:nvPr/>
        </p:nvCxnSpPr>
        <p:spPr>
          <a:xfrm>
            <a:off x="9353542" y="5587160"/>
            <a:ext cx="205058" cy="0"/>
          </a:xfrm>
          <a:prstGeom prst="line">
            <a:avLst/>
          </a:prstGeom>
          <a:ln w="19050" cap="rnd">
            <a:solidFill>
              <a:srgbClr val="7A7A7A"/>
            </a:solidFill>
          </a:ln>
        </p:spPr>
      </p:cxnSp>
      <p:sp>
        <p:nvSpPr>
          <p:cNvPr id="40" name="sh40" descr="Bloque 1 de la secuencia: Productividad"/>
          <p:cNvSpPr/>
          <p:nvPr/>
        </p:nvSpPr>
        <p:spPr>
          <a:xfrm>
            <a:off x="658368" y="5450000"/>
            <a:ext cx="1915000" cy="274320"/>
          </a:xfrm>
          <a:prstGeom prst="roundRect">
            <a:avLst>
              <a:gd name="adj" fmla="val 20000"/>
            </a:avLst>
          </a:prstGeom>
          <a:solidFill>
            <a:srgbClr val="FFFFFF"/>
          </a:solidFill>
          <a:ln w="12700">
            <a:solidFill>
              <a:srgbClr val="ED1C29"/>
            </a:solidFill>
          </a:ln>
        </p:spPr>
        <p:txBody>
          <a:bodyPr lIns="36576" tIns="18288" rIns="36576" bIns="18288" anchor="ctr">
            <a:normAutofit/>
          </a:bodyPr>
          <a:lstStyle/>
          <a:p>
            <a:pPr algn="ctr">
              <a:lnSpc>
                <a:spcPct val="100000"/>
              </a:lnSpc>
              <a:spcBef>
                <a:spcPts val="0"/>
              </a:spcBef>
            </a:pPr>
            <a:r>
              <a:rPr lang="es-ES" sz="1000" b="1" i="0">
                <a:solidFill>
                  <a:srgbClr val="211915"/>
                </a:solidFill>
              </a:rPr>
              <a:t>Productividad</a:t>
            </a:r>
          </a:p>
        </p:txBody>
      </p:sp>
      <p:sp>
        <p:nvSpPr>
          <p:cNvPr id="41" name="sh41" descr="Bloque 2 de la secuencia: Capacidad"/>
          <p:cNvSpPr/>
          <p:nvPr/>
        </p:nvSpPr>
        <p:spPr>
          <a:xfrm>
            <a:off x="2898426" y="5450000"/>
            <a:ext cx="1915000" cy="274320"/>
          </a:xfrm>
          <a:prstGeom prst="roundRect">
            <a:avLst>
              <a:gd name="adj" fmla="val 20000"/>
            </a:avLst>
          </a:prstGeom>
          <a:solidFill>
            <a:srgbClr val="FFFFFF"/>
          </a:solidFill>
          <a:ln w="12700">
            <a:solidFill>
              <a:srgbClr val="ED1C29"/>
            </a:solidFill>
          </a:ln>
        </p:spPr>
        <p:txBody>
          <a:bodyPr lIns="36576" tIns="18288" rIns="36576" bIns="18288" anchor="ctr">
            <a:normAutofit/>
          </a:bodyPr>
          <a:lstStyle/>
          <a:p>
            <a:pPr algn="ctr">
              <a:lnSpc>
                <a:spcPct val="100000"/>
              </a:lnSpc>
              <a:spcBef>
                <a:spcPts val="0"/>
              </a:spcBef>
            </a:pPr>
            <a:r>
              <a:rPr lang="es-ES" sz="1000" b="1" i="0">
                <a:solidFill>
                  <a:srgbClr val="211915"/>
                </a:solidFill>
              </a:rPr>
              <a:t>Capacidad</a:t>
            </a:r>
          </a:p>
        </p:txBody>
      </p:sp>
      <p:sp>
        <p:nvSpPr>
          <p:cNvPr id="42" name="sh42" descr="Bloque 3 de la secuencia: Decisión"/>
          <p:cNvSpPr/>
          <p:nvPr/>
        </p:nvSpPr>
        <p:spPr>
          <a:xfrm>
            <a:off x="5138484" y="5450000"/>
            <a:ext cx="1915000" cy="274320"/>
          </a:xfrm>
          <a:prstGeom prst="roundRect">
            <a:avLst>
              <a:gd name="adj" fmla="val 20000"/>
            </a:avLst>
          </a:prstGeom>
          <a:solidFill>
            <a:srgbClr val="FFFFFF"/>
          </a:solidFill>
          <a:ln w="12700">
            <a:solidFill>
              <a:srgbClr val="ED1C29"/>
            </a:solidFill>
          </a:ln>
        </p:spPr>
        <p:txBody>
          <a:bodyPr lIns="36576" tIns="18288" rIns="36576" bIns="18288" anchor="ctr">
            <a:normAutofit/>
          </a:bodyPr>
          <a:lstStyle/>
          <a:p>
            <a:pPr algn="ctr">
              <a:lnSpc>
                <a:spcPct val="100000"/>
              </a:lnSpc>
              <a:spcBef>
                <a:spcPts val="0"/>
              </a:spcBef>
            </a:pPr>
            <a:r>
              <a:rPr lang="es-ES" sz="1000" b="1" i="0">
                <a:solidFill>
                  <a:srgbClr val="211915"/>
                </a:solidFill>
              </a:rPr>
              <a:t>Decisión</a:t>
            </a:r>
          </a:p>
        </p:txBody>
      </p:sp>
      <p:sp>
        <p:nvSpPr>
          <p:cNvPr id="43" name="sh43" descr="Bloque 4 de la secuencia: Resultado"/>
          <p:cNvSpPr/>
          <p:nvPr/>
        </p:nvSpPr>
        <p:spPr>
          <a:xfrm>
            <a:off x="7378542" y="5450000"/>
            <a:ext cx="1915000" cy="274320"/>
          </a:xfrm>
          <a:prstGeom prst="roundRect">
            <a:avLst>
              <a:gd name="adj" fmla="val 20000"/>
            </a:avLst>
          </a:prstGeom>
          <a:solidFill>
            <a:srgbClr val="FFFFFF"/>
          </a:solidFill>
          <a:ln w="12700">
            <a:solidFill>
              <a:srgbClr val="ED1C29"/>
            </a:solidFill>
          </a:ln>
        </p:spPr>
        <p:txBody>
          <a:bodyPr lIns="36576" tIns="18288" rIns="36576" bIns="18288" anchor="ctr">
            <a:normAutofit/>
          </a:bodyPr>
          <a:lstStyle/>
          <a:p>
            <a:pPr algn="ctr">
              <a:lnSpc>
                <a:spcPct val="100000"/>
              </a:lnSpc>
              <a:spcBef>
                <a:spcPts val="0"/>
              </a:spcBef>
            </a:pPr>
            <a:r>
              <a:rPr lang="es-ES" sz="1000" b="1" i="0">
                <a:solidFill>
                  <a:srgbClr val="211915"/>
                </a:solidFill>
              </a:rPr>
              <a:t>Resultado</a:t>
            </a:r>
          </a:p>
        </p:txBody>
      </p:sp>
      <p:sp>
        <p:nvSpPr>
          <p:cNvPr id="44" name="sh44" descr="Bloque 5 y final de la secuencia: Valor"/>
          <p:cNvSpPr/>
          <p:nvPr/>
        </p:nvSpPr>
        <p:spPr>
          <a:xfrm>
            <a:off x="9618600" y="5450000"/>
            <a:ext cx="1915000" cy="274320"/>
          </a:xfrm>
          <a:prstGeom prst="roundRect">
            <a:avLst>
              <a:gd name="adj" fmla="val 20000"/>
            </a:avLst>
          </a:prstGeom>
          <a:solidFill>
            <a:srgbClr val="ED1C29"/>
          </a:solidFill>
          <a:ln w="12700">
            <a:solidFill>
              <a:srgbClr val="ED1C29"/>
            </a:solidFill>
          </a:ln>
        </p:spPr>
        <p:txBody>
          <a:bodyPr lIns="36576" tIns="18288" rIns="36576" bIns="18288" anchor="ctr">
            <a:normAutofit/>
          </a:bodyPr>
          <a:lstStyle/>
          <a:p>
            <a:pPr algn="ctr">
              <a:lnSpc>
                <a:spcPct val="100000"/>
              </a:lnSpc>
              <a:spcBef>
                <a:spcPts val="0"/>
              </a:spcBef>
            </a:pPr>
            <a:r>
              <a:rPr lang="es-ES" sz="1000" b="1" i="0">
                <a:solidFill>
                  <a:srgbClr val="FFFFFF"/>
                </a:solidFill>
              </a:rPr>
              <a:t>Valor</a:t>
            </a:r>
          </a:p>
        </p:txBody>
      </p:sp>
      <p:sp>
        <p:nvSpPr>
          <p:cNvPr id="25" name="sh25"/>
          <p:cNvSpPr/>
          <p:nvPr/>
        </p:nvSpPr>
        <p:spPr>
          <a:xfrm>
            <a:off x="658368" y="5779008"/>
            <a:ext cx="10875234" cy="475488"/>
          </a:xfrm>
          <a:prstGeom prst="rect">
            <a:avLst/>
          </a:prstGeom>
          <a:solidFill>
            <a:srgbClr val="ED1C29"/>
          </a:solidFill>
          <a:ln>
            <a:noFill/>
          </a:ln>
        </p:spPr>
        <p:txBody>
          <a:bodyPr lIns="146304" tIns="73152" rIns="146304" bIns="73152" anchor="ctr">
            <a:normAutofit/>
          </a:bodyPr>
          <a:lstStyle/>
          <a:p>
            <a:pPr algn="ctr">
              <a:lnSpc>
                <a:spcPct val="100000"/>
              </a:lnSpc>
              <a:spcBef>
                <a:spcPts val="0"/>
              </a:spcBef>
            </a:pPr>
            <a:r>
              <a:rPr lang="es-ES" sz="1200" b="1" i="0">
                <a:solidFill>
                  <a:srgbClr val="FFFFFF"/>
                </a:solidFill>
              </a:rPr>
              <a:t>No tomamos porcentajes externos como objetivos. Tomamos de la industria métodos para evaluar y conectar capacidad técnica con resultados.</a:t>
            </a:r>
          </a:p>
        </p:txBody>
      </p:sp>
      <p:sp>
        <p:nvSpPr>
          <p:cNvPr id="29" name="tb29"/>
          <p:cNvSpPr txBox="1"/>
          <p:nvPr/>
        </p:nvSpPr>
        <p:spPr>
          <a:xfrm>
            <a:off x="658368" y="6272784"/>
            <a:ext cx="5486400" cy="228600"/>
          </a:xfrm>
          <a:prstGeom prst="rect">
            <a:avLst/>
          </a:prstGeom>
          <a:noFill/>
        </p:spPr>
        <p:txBody>
          <a:bodyPr wrap="square" lIns="0" tIns="0" rIns="0" bIns="0" anchor="t">
            <a:normAutofit/>
          </a:bodyPr>
          <a:lstStyle/>
          <a:p>
            <a:pPr algn="l">
              <a:lnSpc>
                <a:spcPct val="100000"/>
              </a:lnSpc>
              <a:spcBef>
                <a:spcPts val="0"/>
              </a:spcBef>
            </a:pPr>
            <a:r>
              <a:rPr lang="es-ES" sz="900" b="1" i="0" dirty="0">
                <a:solidFill>
                  <a:srgbClr val="211915"/>
                </a:solidFill>
              </a:rPr>
              <a:t>Tuya   ·   </a:t>
            </a:r>
            <a:r>
              <a:rPr lang="es-ES" sz="900" b="1" i="0">
                <a:solidFill>
                  <a:srgbClr val="211915"/>
                </a:solidFill>
              </a:rPr>
              <a:t>Del valor de GitHub Copilot</a:t>
            </a:r>
            <a:endParaRPr lang="es-ES" sz="900" b="1" i="0" dirty="0">
              <a:solidFill>
                <a:srgbClr val="211915"/>
              </a:solidFill>
            </a:endParaRPr>
          </a:p>
        </p:txBody>
      </p:sp>
      <p:sp>
        <p:nvSpPr>
          <p:cNvPr id="30" name="tb30"/>
          <p:cNvSpPr txBox="1"/>
          <p:nvPr/>
        </p:nvSpPr>
        <p:spPr>
          <a:xfrm>
            <a:off x="10436322" y="6272784"/>
            <a:ext cx="1097280" cy="228600"/>
          </a:xfrm>
          <a:prstGeom prst="rect">
            <a:avLst/>
          </a:prstGeom>
          <a:noFill/>
        </p:spPr>
        <p:txBody>
          <a:bodyPr wrap="square" lIns="0" tIns="0" rIns="0" bIns="0" anchor="t">
            <a:normAutofit/>
          </a:bodyPr>
          <a:lstStyle/>
          <a:p>
            <a:pPr algn="r">
              <a:lnSpc>
                <a:spcPct val="100000"/>
              </a:lnSpc>
              <a:spcBef>
                <a:spcPts val="0"/>
              </a:spcBef>
            </a:pPr>
            <a:r>
              <a:rPr lang="es-ES" sz="900" b="1" i="0">
                <a:solidFill>
                  <a:srgbClr val="ED1C29"/>
                </a:solidFill>
              </a:rPr>
              <a:t>11</a:t>
            </a:r>
            <a:endParaRPr lang="es-ES" sz="900" b="1" i="0" dirty="0">
              <a:solidFill>
                <a:srgbClr val="ED1C29"/>
              </a:solidFill>
            </a:endParaRPr>
          </a:p>
        </p:txBody>
      </p:sp>
      <p:pic>
        <p:nvPicPr>
          <p:cNvPr id="900" name="Logo Tuya"/>
          <p:cNvPicPr>
            <a:picLocks noChangeAspect="1"/>
          </p:cNvPicPr>
          <p:nvPr/>
        </p:nvPicPr>
        <p:blipFill>
          <a:blip r:embed="rId3"/>
          <a:stretch>
            <a:fillRect/>
          </a:stretch>
        </p:blipFill>
        <p:spPr>
          <a:xfrm>
            <a:off x="11152200" y="321276"/>
            <a:ext cx="640080" cy="32004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 name="sh73"/>
          <p:cNvSpPr/>
          <p:nvPr/>
        </p:nvSpPr>
        <p:spPr>
          <a:xfrm>
            <a:off x="658368" y="384048"/>
            <a:ext cx="146304" cy="146304"/>
          </a:xfrm>
          <a:prstGeom prst="rect">
            <a:avLst/>
          </a:prstGeom>
          <a:solidFill>
            <a:srgbClr val="ED1C29"/>
          </a:solidFill>
          <a:ln>
            <a:noFill/>
          </a:ln>
        </p:spPr>
        <p:txBody>
          <a:bodyPr lIns="146304" tIns="73152" rIns="146304" bIns="73152" anchor="ctr">
            <a:normAutofit fontScale="25000" lnSpcReduction="20000"/>
          </a:bodyPr>
          <a:lstStyle/>
          <a:p>
            <a:endParaRPr lang="es-ES"/>
          </a:p>
        </p:txBody>
      </p:sp>
      <p:sp>
        <p:nvSpPr>
          <p:cNvPr id="74" name="tb74"/>
          <p:cNvSpPr txBox="1"/>
          <p:nvPr/>
        </p:nvSpPr>
        <p:spPr>
          <a:xfrm>
            <a:off x="914400" y="365760"/>
            <a:ext cx="7315200" cy="237744"/>
          </a:xfrm>
          <a:prstGeom prst="rect">
            <a:avLst/>
          </a:prstGeom>
          <a:noFill/>
        </p:spPr>
        <p:txBody>
          <a:bodyPr wrap="square" lIns="0" tIns="0" rIns="0" bIns="0" anchor="t">
            <a:normAutofit/>
          </a:bodyPr>
          <a:lstStyle/>
          <a:p>
            <a:pPr algn="l">
              <a:lnSpc>
                <a:spcPct val="100000"/>
              </a:lnSpc>
              <a:spcBef>
                <a:spcPts val="0"/>
              </a:spcBef>
            </a:pPr>
            <a:r>
              <a:rPr lang="es-ES" sz="1050" b="1" i="0" spc="120">
                <a:solidFill>
                  <a:srgbClr val="ED1C29"/>
                </a:solidFill>
              </a:rPr>
              <a:t>RESPONSABILIDADES</a:t>
            </a:r>
            <a:endParaRPr lang="es-ES" sz="1050" b="1" i="0" spc="120" dirty="0">
              <a:solidFill>
                <a:srgbClr val="ED1C29"/>
              </a:solidFill>
            </a:endParaRPr>
          </a:p>
        </p:txBody>
      </p:sp>
      <p:sp>
        <p:nvSpPr>
          <p:cNvPr id="75" name="tb75"/>
          <p:cNvSpPr txBox="1"/>
          <p:nvPr/>
        </p:nvSpPr>
        <p:spPr>
          <a:xfrm>
            <a:off x="658368" y="713232"/>
            <a:ext cx="9326880" cy="685800"/>
          </a:xfrm>
          <a:prstGeom prst="rect">
            <a:avLst/>
          </a:prstGeom>
          <a:noFill/>
        </p:spPr>
        <p:txBody>
          <a:bodyPr wrap="square" lIns="0" tIns="0" rIns="0" bIns="0" anchor="t">
            <a:normAutofit/>
          </a:bodyPr>
          <a:lstStyle/>
          <a:p>
            <a:pPr algn="l">
              <a:lnSpc>
                <a:spcPct val="100000"/>
              </a:lnSpc>
              <a:spcBef>
                <a:spcPts val="0"/>
              </a:spcBef>
            </a:pPr>
            <a:r>
              <a:rPr lang="es-ES" sz="3000" b="1" i="0">
                <a:solidFill>
                  <a:srgbClr val="211915"/>
                </a:solidFill>
              </a:rPr>
              <a:t>Ningún rol construye el caso por sí solo</a:t>
            </a:r>
            <a:endParaRPr lang="es-ES" sz="3000" b="1" i="0" dirty="0">
              <a:solidFill>
                <a:srgbClr val="211915"/>
              </a:solidFill>
            </a:endParaRPr>
          </a:p>
        </p:txBody>
      </p:sp>
      <p:sp>
        <p:nvSpPr>
          <p:cNvPr id="52" name="sh52"/>
          <p:cNvSpPr/>
          <p:nvPr/>
        </p:nvSpPr>
        <p:spPr>
          <a:xfrm>
            <a:off x="658368" y="1627632"/>
            <a:ext cx="10875234" cy="786384"/>
          </a:xfrm>
          <a:prstGeom prst="rect">
            <a:avLst/>
          </a:prstGeom>
          <a:solidFill>
            <a:srgbClr val="F3F1F0"/>
          </a:solidFill>
          <a:ln>
            <a:noFill/>
          </a:ln>
        </p:spPr>
        <p:txBody>
          <a:bodyPr lIns="274320" tIns="73152" rIns="274320" bIns="73152" anchor="ctr">
            <a:normAutofit/>
          </a:bodyPr>
          <a:lstStyle/>
          <a:p>
            <a:pPr algn="l">
              <a:lnSpc>
                <a:spcPct val="100000"/>
              </a:lnSpc>
              <a:spcBef>
                <a:spcPts val="0"/>
              </a:spcBef>
            </a:pPr>
            <a:r>
              <a:rPr lang="es-ES" sz="1450" b="1" i="0">
                <a:solidFill>
                  <a:srgbClr val="211915"/>
                </a:solidFill>
              </a:rPr>
              <a:t>No llegamos con una fórmula cerrada de ROI: cada equipo aporta su conocimiento del producto</a:t>
            </a:r>
            <a:r>
              <a:rPr lang="es-ES" sz="1450" b="1" i="0" dirty="0">
                <a:solidFill>
                  <a:srgbClr val="211915"/>
                </a:solidFill>
              </a:rPr>
              <a:t>, </a:t>
            </a:r>
            <a:r>
              <a:rPr lang="es-ES" sz="1450" b="1" i="0">
                <a:solidFill>
                  <a:srgbClr val="211915"/>
                </a:solidFill>
              </a:rPr>
              <a:t>de su operación </a:t>
            </a:r>
            <a:r>
              <a:rPr lang="es-ES" sz="1450" b="1" i="0" dirty="0">
                <a:solidFill>
                  <a:srgbClr val="211915"/>
                </a:solidFill>
              </a:rPr>
              <a:t>y </a:t>
            </a:r>
            <a:r>
              <a:rPr lang="es-ES" sz="1450" b="1" i="0">
                <a:solidFill>
                  <a:srgbClr val="211915"/>
                </a:solidFill>
              </a:rPr>
              <a:t>de su distribución de capacidad</a:t>
            </a:r>
            <a:r>
              <a:rPr lang="es-ES" sz="1450" b="1" i="0" dirty="0">
                <a:solidFill>
                  <a:srgbClr val="211915"/>
                </a:solidFill>
              </a:rPr>
              <a:t>.</a:t>
            </a:r>
          </a:p>
        </p:txBody>
      </p:sp>
      <p:sp>
        <p:nvSpPr>
          <p:cNvPr id="53" name="sh53"/>
          <p:cNvSpPr/>
          <p:nvPr/>
        </p:nvSpPr>
        <p:spPr>
          <a:xfrm>
            <a:off x="658368" y="3017520"/>
            <a:ext cx="1867808" cy="54864"/>
          </a:xfrm>
          <a:prstGeom prst="rect">
            <a:avLst/>
          </a:prstGeom>
          <a:solidFill>
            <a:srgbClr val="ED1C29"/>
          </a:solidFill>
          <a:ln>
            <a:noFill/>
          </a:ln>
        </p:spPr>
        <p:txBody>
          <a:bodyPr lIns="146304" tIns="73152" rIns="146304" bIns="73152" anchor="ctr">
            <a:normAutofit fontScale="25000" lnSpcReduction="20000"/>
          </a:bodyPr>
          <a:lstStyle/>
          <a:p>
            <a:endParaRPr lang="es-ES"/>
          </a:p>
        </p:txBody>
      </p:sp>
      <p:sp>
        <p:nvSpPr>
          <p:cNvPr id="54" name="tb54"/>
          <p:cNvSpPr txBox="1"/>
          <p:nvPr/>
        </p:nvSpPr>
        <p:spPr>
          <a:xfrm>
            <a:off x="658368" y="3291840"/>
            <a:ext cx="1867808" cy="822960"/>
          </a:xfrm>
          <a:prstGeom prst="rect">
            <a:avLst/>
          </a:prstGeom>
          <a:noFill/>
        </p:spPr>
        <p:txBody>
          <a:bodyPr wrap="square" lIns="0" tIns="0" rIns="0" bIns="0" anchor="t">
            <a:normAutofit/>
          </a:bodyPr>
          <a:lstStyle/>
          <a:p>
            <a:pPr algn="l">
              <a:lnSpc>
                <a:spcPct val="100000"/>
              </a:lnSpc>
              <a:spcBef>
                <a:spcPts val="0"/>
              </a:spcBef>
            </a:pPr>
            <a:r>
              <a:rPr lang="en-US" sz="1100" b="1" i="0">
                <a:solidFill>
                  <a:srgbClr val="ED1C29"/>
                </a:solidFill>
              </a:rPr>
              <a:t>01</a:t>
            </a:r>
          </a:p>
          <a:p>
            <a:pPr algn="l">
              <a:lnSpc>
                <a:spcPct val="100000"/>
              </a:lnSpc>
              <a:spcBef>
                <a:spcPts val="0"/>
              </a:spcBef>
            </a:pPr>
            <a:r>
              <a:rPr lang="en-US" sz="1550" b="1" i="0">
                <a:solidFill>
                  <a:srgbClr val="211915"/>
                </a:solidFill>
              </a:rPr>
              <a:t>Líder técnico</a:t>
            </a:r>
            <a:endParaRPr lang="es-ES" sz="1550" b="1" i="0" dirty="0">
              <a:solidFill>
                <a:srgbClr val="211915"/>
              </a:solidFill>
            </a:endParaRPr>
          </a:p>
        </p:txBody>
      </p:sp>
      <p:sp>
        <p:nvSpPr>
          <p:cNvPr id="55" name="tb55"/>
          <p:cNvSpPr txBox="1"/>
          <p:nvPr/>
        </p:nvSpPr>
        <p:spPr>
          <a:xfrm>
            <a:off x="658368" y="4023360"/>
            <a:ext cx="1867808" cy="822960"/>
          </a:xfrm>
          <a:prstGeom prst="rect">
            <a:avLst/>
          </a:prstGeom>
          <a:noFill/>
        </p:spPr>
        <p:txBody>
          <a:bodyPr wrap="square" lIns="0" tIns="0" rIns="0" bIns="0" anchor="t">
            <a:normAutofit lnSpcReduction="10000"/>
          </a:bodyPr>
          <a:lstStyle/>
          <a:p>
            <a:pPr algn="l">
              <a:lnSpc>
                <a:spcPct val="100000"/>
              </a:lnSpc>
              <a:spcBef>
                <a:spcPts val="0"/>
              </a:spcBef>
            </a:pPr>
            <a:r>
              <a:rPr lang="es-ES" sz="1150" b="0" i="0">
                <a:solidFill>
                  <a:srgbClr val="7A7A7A"/>
                </a:solidFill>
              </a:rPr>
              <a:t>Dónde se consume capacidad, distribución del trabajo, complejidad, cuellos de botella, métricas técnicas y guardrails de calidad</a:t>
            </a:r>
            <a:r>
              <a:rPr lang="es-ES" sz="1150" b="0" i="0" dirty="0">
                <a:solidFill>
                  <a:srgbClr val="7A7A7A"/>
                </a:solidFill>
              </a:rPr>
              <a:t>.</a:t>
            </a:r>
          </a:p>
        </p:txBody>
      </p:sp>
      <p:sp>
        <p:nvSpPr>
          <p:cNvPr id="56" name="sh56"/>
          <p:cNvSpPr/>
          <p:nvPr/>
        </p:nvSpPr>
        <p:spPr>
          <a:xfrm>
            <a:off x="2617616" y="3474720"/>
            <a:ext cx="219456" cy="201168"/>
          </a:xfrm>
          <a:prstGeom prst="rightArrow">
            <a:avLst/>
          </a:prstGeom>
          <a:solidFill>
            <a:srgbClr val="C9C4C1"/>
          </a:solidFill>
          <a:ln>
            <a:noFill/>
          </a:ln>
        </p:spPr>
        <p:txBody>
          <a:bodyPr lIns="146304" tIns="73152" rIns="146304" bIns="73152" anchor="ctr">
            <a:normAutofit fontScale="25000" lnSpcReduction="20000"/>
          </a:bodyPr>
          <a:lstStyle/>
          <a:p>
            <a:endParaRPr lang="es-ES"/>
          </a:p>
        </p:txBody>
      </p:sp>
      <p:sp>
        <p:nvSpPr>
          <p:cNvPr id="57" name="sh57"/>
          <p:cNvSpPr/>
          <p:nvPr/>
        </p:nvSpPr>
        <p:spPr>
          <a:xfrm>
            <a:off x="2910224" y="3017520"/>
            <a:ext cx="1867808" cy="54864"/>
          </a:xfrm>
          <a:prstGeom prst="rect">
            <a:avLst/>
          </a:prstGeom>
          <a:solidFill>
            <a:srgbClr val="211915"/>
          </a:solidFill>
          <a:ln>
            <a:noFill/>
          </a:ln>
        </p:spPr>
        <p:txBody>
          <a:bodyPr lIns="146304" tIns="73152" rIns="146304" bIns="73152" anchor="ctr">
            <a:normAutofit fontScale="25000" lnSpcReduction="20000"/>
          </a:bodyPr>
          <a:lstStyle/>
          <a:p>
            <a:endParaRPr lang="es-ES"/>
          </a:p>
        </p:txBody>
      </p:sp>
      <p:sp>
        <p:nvSpPr>
          <p:cNvPr id="58" name="tb58"/>
          <p:cNvSpPr txBox="1"/>
          <p:nvPr/>
        </p:nvSpPr>
        <p:spPr>
          <a:xfrm>
            <a:off x="2910224" y="3291840"/>
            <a:ext cx="1867808" cy="822960"/>
          </a:xfrm>
          <a:prstGeom prst="rect">
            <a:avLst/>
          </a:prstGeom>
          <a:noFill/>
        </p:spPr>
        <p:txBody>
          <a:bodyPr wrap="square" lIns="0" tIns="0" rIns="0" bIns="0" anchor="t">
            <a:normAutofit/>
          </a:bodyPr>
          <a:lstStyle/>
          <a:p>
            <a:pPr algn="l">
              <a:lnSpc>
                <a:spcPct val="100000"/>
              </a:lnSpc>
              <a:spcBef>
                <a:spcPts val="0"/>
              </a:spcBef>
            </a:pPr>
            <a:r>
              <a:rPr lang="en-US" sz="1100" b="1" i="0">
                <a:solidFill>
                  <a:srgbClr val="ED1C29"/>
                </a:solidFill>
              </a:rPr>
              <a:t>02</a:t>
            </a:r>
          </a:p>
          <a:p>
            <a:pPr algn="l">
              <a:lnSpc>
                <a:spcPct val="100000"/>
              </a:lnSpc>
              <a:spcBef>
                <a:spcPts val="0"/>
              </a:spcBef>
            </a:pPr>
            <a:r>
              <a:rPr lang="en-US" sz="1550" b="1" i="0">
                <a:solidFill>
                  <a:srgbClr val="211915"/>
                </a:solidFill>
              </a:rPr>
              <a:t>Product Owner</a:t>
            </a:r>
            <a:endParaRPr lang="es-ES" sz="1550" b="1" i="0" dirty="0">
              <a:solidFill>
                <a:srgbClr val="211915"/>
              </a:solidFill>
            </a:endParaRPr>
          </a:p>
        </p:txBody>
      </p:sp>
      <p:sp>
        <p:nvSpPr>
          <p:cNvPr id="59" name="tb59"/>
          <p:cNvSpPr txBox="1"/>
          <p:nvPr/>
        </p:nvSpPr>
        <p:spPr>
          <a:xfrm>
            <a:off x="2910224" y="4023360"/>
            <a:ext cx="1867808" cy="822960"/>
          </a:xfrm>
          <a:prstGeom prst="rect">
            <a:avLst/>
          </a:prstGeom>
          <a:noFill/>
        </p:spPr>
        <p:txBody>
          <a:bodyPr wrap="square" lIns="0" tIns="0" rIns="0" bIns="0" anchor="t">
            <a:normAutofit/>
          </a:bodyPr>
          <a:lstStyle/>
          <a:p>
            <a:pPr algn="l">
              <a:lnSpc>
                <a:spcPct val="100000"/>
              </a:lnSpc>
              <a:spcBef>
                <a:spcPts val="0"/>
              </a:spcBef>
            </a:pPr>
            <a:r>
              <a:rPr lang="es-ES" sz="1150" b="0" i="0">
                <a:solidFill>
                  <a:srgbClr val="7A7A7A"/>
                </a:solidFill>
              </a:rPr>
              <a:t>Dónde reinvertir capacidad: backlog, prioridades, KPI del producto y resultado esperado</a:t>
            </a:r>
            <a:r>
              <a:rPr lang="es-ES" sz="1150" b="0" i="0" dirty="0">
                <a:solidFill>
                  <a:srgbClr val="7A7A7A"/>
                </a:solidFill>
              </a:rPr>
              <a:t>.</a:t>
            </a:r>
          </a:p>
        </p:txBody>
      </p:sp>
      <p:sp>
        <p:nvSpPr>
          <p:cNvPr id="60" name="sh60"/>
          <p:cNvSpPr/>
          <p:nvPr/>
        </p:nvSpPr>
        <p:spPr>
          <a:xfrm>
            <a:off x="4869473" y="3474720"/>
            <a:ext cx="219456" cy="201168"/>
          </a:xfrm>
          <a:prstGeom prst="rightArrow">
            <a:avLst/>
          </a:prstGeom>
          <a:solidFill>
            <a:srgbClr val="C9C4C1"/>
          </a:solidFill>
          <a:ln>
            <a:noFill/>
          </a:ln>
        </p:spPr>
        <p:txBody>
          <a:bodyPr lIns="146304" tIns="73152" rIns="146304" bIns="73152" anchor="ctr">
            <a:normAutofit fontScale="25000" lnSpcReduction="20000"/>
          </a:bodyPr>
          <a:lstStyle/>
          <a:p>
            <a:endParaRPr lang="es-ES"/>
          </a:p>
        </p:txBody>
      </p:sp>
      <p:sp>
        <p:nvSpPr>
          <p:cNvPr id="61" name="sh61"/>
          <p:cNvSpPr/>
          <p:nvPr/>
        </p:nvSpPr>
        <p:spPr>
          <a:xfrm>
            <a:off x="5162081" y="3017520"/>
            <a:ext cx="1867808" cy="54864"/>
          </a:xfrm>
          <a:prstGeom prst="rect">
            <a:avLst/>
          </a:prstGeom>
          <a:solidFill>
            <a:srgbClr val="211915"/>
          </a:solidFill>
          <a:ln>
            <a:noFill/>
          </a:ln>
        </p:spPr>
        <p:txBody>
          <a:bodyPr lIns="146304" tIns="73152" rIns="146304" bIns="73152" anchor="ctr">
            <a:normAutofit fontScale="25000" lnSpcReduction="20000"/>
          </a:bodyPr>
          <a:lstStyle/>
          <a:p>
            <a:endParaRPr lang="es-ES"/>
          </a:p>
        </p:txBody>
      </p:sp>
      <p:sp>
        <p:nvSpPr>
          <p:cNvPr id="62" name="tb62"/>
          <p:cNvSpPr txBox="1"/>
          <p:nvPr/>
        </p:nvSpPr>
        <p:spPr>
          <a:xfrm>
            <a:off x="5162081" y="3291840"/>
            <a:ext cx="1867808" cy="822960"/>
          </a:xfrm>
          <a:prstGeom prst="rect">
            <a:avLst/>
          </a:prstGeom>
          <a:noFill/>
        </p:spPr>
        <p:txBody>
          <a:bodyPr wrap="square" lIns="0" tIns="0" rIns="0" bIns="0" anchor="t">
            <a:normAutofit/>
          </a:bodyPr>
          <a:lstStyle/>
          <a:p>
            <a:pPr algn="l">
              <a:lnSpc>
                <a:spcPct val="100000"/>
              </a:lnSpc>
              <a:spcBef>
                <a:spcPts val="0"/>
              </a:spcBef>
            </a:pPr>
            <a:r>
              <a:rPr lang="en-US" sz="1100" b="1" i="0">
                <a:solidFill>
                  <a:srgbClr val="ED1C29"/>
                </a:solidFill>
              </a:rPr>
              <a:t>03</a:t>
            </a:r>
          </a:p>
          <a:p>
            <a:pPr algn="l">
              <a:lnSpc>
                <a:spcPct val="100000"/>
              </a:lnSpc>
              <a:spcBef>
                <a:spcPts val="0"/>
              </a:spcBef>
            </a:pPr>
            <a:r>
              <a:rPr lang="en-US" sz="1550" b="1" i="0">
                <a:solidFill>
                  <a:srgbClr val="211915"/>
                </a:solidFill>
              </a:rPr>
              <a:t>Talento Humano</a:t>
            </a:r>
            <a:endParaRPr lang="es-ES" sz="1550" b="1" i="0" dirty="0">
              <a:solidFill>
                <a:srgbClr val="211915"/>
              </a:solidFill>
            </a:endParaRPr>
          </a:p>
        </p:txBody>
      </p:sp>
      <p:sp>
        <p:nvSpPr>
          <p:cNvPr id="63" name="tb63"/>
          <p:cNvSpPr txBox="1"/>
          <p:nvPr/>
        </p:nvSpPr>
        <p:spPr>
          <a:xfrm>
            <a:off x="5162081" y="4023360"/>
            <a:ext cx="1867808" cy="822960"/>
          </a:xfrm>
          <a:prstGeom prst="rect">
            <a:avLst/>
          </a:prstGeom>
          <a:noFill/>
        </p:spPr>
        <p:txBody>
          <a:bodyPr wrap="square" lIns="0" tIns="0" rIns="0" bIns="0" anchor="t">
            <a:normAutofit/>
          </a:bodyPr>
          <a:lstStyle/>
          <a:p>
            <a:pPr algn="l">
              <a:lnSpc>
                <a:spcPct val="100000"/>
              </a:lnSpc>
              <a:spcBef>
                <a:spcPts val="0"/>
              </a:spcBef>
            </a:pPr>
            <a:r>
              <a:rPr lang="es-ES" sz="1150" b="0" i="0">
                <a:solidFill>
                  <a:srgbClr val="7A7A7A"/>
                </a:solidFill>
              </a:rPr>
              <a:t>Adopción, habilidades, onboarding, reskilling, movilidad, evolución de roles y workforce planning</a:t>
            </a:r>
            <a:r>
              <a:rPr lang="es-ES" sz="1150" b="0" i="0" dirty="0">
                <a:solidFill>
                  <a:srgbClr val="7A7A7A"/>
                </a:solidFill>
              </a:rPr>
              <a:t>.</a:t>
            </a:r>
          </a:p>
        </p:txBody>
      </p:sp>
      <p:sp>
        <p:nvSpPr>
          <p:cNvPr id="64" name="sh64"/>
          <p:cNvSpPr/>
          <p:nvPr/>
        </p:nvSpPr>
        <p:spPr>
          <a:xfrm>
            <a:off x="7121329" y="3474720"/>
            <a:ext cx="219456" cy="201168"/>
          </a:xfrm>
          <a:prstGeom prst="rightArrow">
            <a:avLst/>
          </a:prstGeom>
          <a:solidFill>
            <a:srgbClr val="C9C4C1"/>
          </a:solidFill>
          <a:ln>
            <a:noFill/>
          </a:ln>
        </p:spPr>
        <p:txBody>
          <a:bodyPr lIns="146304" tIns="73152" rIns="146304" bIns="73152" anchor="ctr">
            <a:normAutofit fontScale="25000" lnSpcReduction="20000"/>
          </a:bodyPr>
          <a:lstStyle/>
          <a:p>
            <a:endParaRPr lang="es-ES"/>
          </a:p>
        </p:txBody>
      </p:sp>
      <p:sp>
        <p:nvSpPr>
          <p:cNvPr id="65" name="sh65"/>
          <p:cNvSpPr/>
          <p:nvPr/>
        </p:nvSpPr>
        <p:spPr>
          <a:xfrm>
            <a:off x="7413937" y="3017520"/>
            <a:ext cx="1867808" cy="54864"/>
          </a:xfrm>
          <a:prstGeom prst="rect">
            <a:avLst/>
          </a:prstGeom>
          <a:solidFill>
            <a:srgbClr val="211915"/>
          </a:solidFill>
          <a:ln>
            <a:noFill/>
          </a:ln>
        </p:spPr>
        <p:txBody>
          <a:bodyPr lIns="146304" tIns="73152" rIns="146304" bIns="73152" anchor="ctr">
            <a:normAutofit fontScale="25000" lnSpcReduction="20000"/>
          </a:bodyPr>
          <a:lstStyle/>
          <a:p>
            <a:endParaRPr lang="es-ES"/>
          </a:p>
        </p:txBody>
      </p:sp>
      <p:sp>
        <p:nvSpPr>
          <p:cNvPr id="66" name="tb66"/>
          <p:cNvSpPr txBox="1"/>
          <p:nvPr/>
        </p:nvSpPr>
        <p:spPr>
          <a:xfrm>
            <a:off x="7413937" y="3291840"/>
            <a:ext cx="1867808" cy="822960"/>
          </a:xfrm>
          <a:prstGeom prst="rect">
            <a:avLst/>
          </a:prstGeom>
          <a:noFill/>
        </p:spPr>
        <p:txBody>
          <a:bodyPr wrap="square" lIns="0" tIns="0" rIns="0" bIns="0" anchor="t">
            <a:normAutofit/>
          </a:bodyPr>
          <a:lstStyle/>
          <a:p>
            <a:pPr algn="l">
              <a:lnSpc>
                <a:spcPct val="100000"/>
              </a:lnSpc>
              <a:spcBef>
                <a:spcPts val="0"/>
              </a:spcBef>
            </a:pPr>
            <a:r>
              <a:rPr lang="en-US" sz="1100" b="1" i="0">
                <a:solidFill>
                  <a:srgbClr val="ED1C29"/>
                </a:solidFill>
              </a:rPr>
              <a:t>04</a:t>
            </a:r>
          </a:p>
          <a:p>
            <a:pPr algn="l">
              <a:lnSpc>
                <a:spcPct val="100000"/>
              </a:lnSpc>
              <a:spcBef>
                <a:spcPts val="0"/>
              </a:spcBef>
            </a:pPr>
            <a:r>
              <a:rPr lang="en-US" sz="1550" b="1" i="0">
                <a:solidFill>
                  <a:srgbClr val="211915"/>
                </a:solidFill>
              </a:rPr>
              <a:t>Finanzas</a:t>
            </a:r>
            <a:endParaRPr lang="es-ES" sz="1550" b="1" i="0" dirty="0">
              <a:solidFill>
                <a:srgbClr val="211915"/>
              </a:solidFill>
            </a:endParaRPr>
          </a:p>
        </p:txBody>
      </p:sp>
      <p:sp>
        <p:nvSpPr>
          <p:cNvPr id="67" name="tb67"/>
          <p:cNvSpPr txBox="1"/>
          <p:nvPr/>
        </p:nvSpPr>
        <p:spPr>
          <a:xfrm>
            <a:off x="7413937" y="4023360"/>
            <a:ext cx="1867808" cy="822960"/>
          </a:xfrm>
          <a:prstGeom prst="rect">
            <a:avLst/>
          </a:prstGeom>
          <a:noFill/>
        </p:spPr>
        <p:txBody>
          <a:bodyPr wrap="square" lIns="0" tIns="0" rIns="0" bIns="0" anchor="t">
            <a:normAutofit/>
          </a:bodyPr>
          <a:lstStyle/>
          <a:p>
            <a:pPr algn="l">
              <a:lnSpc>
                <a:spcPct val="100000"/>
              </a:lnSpc>
              <a:spcBef>
                <a:spcPts val="0"/>
              </a:spcBef>
            </a:pPr>
            <a:r>
              <a:rPr lang="es-ES" sz="1150" b="0" i="0">
                <a:solidFill>
                  <a:srgbClr val="7A7A7A"/>
                </a:solidFill>
              </a:rPr>
              <a:t>Validar costo real, costos evitados, inversión, impacto financiero y criterios de reconocimiento del beneficio</a:t>
            </a:r>
            <a:r>
              <a:rPr lang="es-ES" sz="1150" b="0" i="0" dirty="0">
                <a:solidFill>
                  <a:srgbClr val="7A7A7A"/>
                </a:solidFill>
              </a:rPr>
              <a:t>.</a:t>
            </a:r>
          </a:p>
        </p:txBody>
      </p:sp>
      <p:sp>
        <p:nvSpPr>
          <p:cNvPr id="68" name="sh68"/>
          <p:cNvSpPr/>
          <p:nvPr/>
        </p:nvSpPr>
        <p:spPr>
          <a:xfrm>
            <a:off x="9373185" y="3474720"/>
            <a:ext cx="219456" cy="201168"/>
          </a:xfrm>
          <a:prstGeom prst="rightArrow">
            <a:avLst/>
          </a:prstGeom>
          <a:solidFill>
            <a:srgbClr val="C9C4C1"/>
          </a:solidFill>
          <a:ln>
            <a:noFill/>
          </a:ln>
        </p:spPr>
        <p:txBody>
          <a:bodyPr lIns="146304" tIns="73152" rIns="146304" bIns="73152" anchor="ctr">
            <a:normAutofit fontScale="25000" lnSpcReduction="20000"/>
          </a:bodyPr>
          <a:lstStyle/>
          <a:p>
            <a:endParaRPr lang="es-ES"/>
          </a:p>
        </p:txBody>
      </p:sp>
      <p:sp>
        <p:nvSpPr>
          <p:cNvPr id="69" name="sh69"/>
          <p:cNvSpPr/>
          <p:nvPr/>
        </p:nvSpPr>
        <p:spPr>
          <a:xfrm>
            <a:off x="9665793" y="3017520"/>
            <a:ext cx="1867808" cy="54864"/>
          </a:xfrm>
          <a:prstGeom prst="rect">
            <a:avLst/>
          </a:prstGeom>
          <a:solidFill>
            <a:srgbClr val="ED1C29"/>
          </a:solidFill>
          <a:ln>
            <a:noFill/>
          </a:ln>
        </p:spPr>
        <p:txBody>
          <a:bodyPr lIns="146304" tIns="73152" rIns="146304" bIns="73152" anchor="ctr">
            <a:normAutofit fontScale="25000" lnSpcReduction="20000"/>
          </a:bodyPr>
          <a:lstStyle/>
          <a:p>
            <a:endParaRPr lang="es-ES"/>
          </a:p>
        </p:txBody>
      </p:sp>
      <p:sp>
        <p:nvSpPr>
          <p:cNvPr id="70" name="tb70"/>
          <p:cNvSpPr txBox="1"/>
          <p:nvPr/>
        </p:nvSpPr>
        <p:spPr>
          <a:xfrm>
            <a:off x="9665793" y="3291840"/>
            <a:ext cx="1867808" cy="822960"/>
          </a:xfrm>
          <a:prstGeom prst="rect">
            <a:avLst/>
          </a:prstGeom>
          <a:noFill/>
        </p:spPr>
        <p:txBody>
          <a:bodyPr wrap="square" lIns="0" tIns="0" rIns="0" bIns="0" anchor="t">
            <a:normAutofit/>
          </a:bodyPr>
          <a:lstStyle/>
          <a:p>
            <a:pPr algn="l">
              <a:lnSpc>
                <a:spcPct val="100000"/>
              </a:lnSpc>
              <a:spcBef>
                <a:spcPts val="0"/>
              </a:spcBef>
            </a:pPr>
            <a:r>
              <a:rPr lang="en-US" sz="1100" b="1" i="0">
                <a:solidFill>
                  <a:srgbClr val="ED1C29"/>
                </a:solidFill>
              </a:rPr>
              <a:t>05</a:t>
            </a:r>
          </a:p>
          <a:p>
            <a:pPr algn="l">
              <a:lnSpc>
                <a:spcPct val="100000"/>
              </a:lnSpc>
              <a:spcBef>
                <a:spcPts val="0"/>
              </a:spcBef>
            </a:pPr>
            <a:r>
              <a:rPr lang="en-US" sz="1550" b="1" i="0">
                <a:solidFill>
                  <a:srgbClr val="211915"/>
                </a:solidFill>
              </a:rPr>
              <a:t>Liderazgo</a:t>
            </a:r>
            <a:endParaRPr lang="es-ES" sz="1550" b="1" i="0" dirty="0">
              <a:solidFill>
                <a:srgbClr val="211915"/>
              </a:solidFill>
            </a:endParaRPr>
          </a:p>
        </p:txBody>
      </p:sp>
      <p:sp>
        <p:nvSpPr>
          <p:cNvPr id="71" name="tb71"/>
          <p:cNvSpPr txBox="1"/>
          <p:nvPr/>
        </p:nvSpPr>
        <p:spPr>
          <a:xfrm>
            <a:off x="9665793" y="4023360"/>
            <a:ext cx="1867808" cy="822960"/>
          </a:xfrm>
          <a:prstGeom prst="rect">
            <a:avLst/>
          </a:prstGeom>
          <a:noFill/>
        </p:spPr>
        <p:txBody>
          <a:bodyPr wrap="square" lIns="0" tIns="0" rIns="0" bIns="0" anchor="t">
            <a:normAutofit/>
          </a:bodyPr>
          <a:lstStyle/>
          <a:p>
            <a:pPr algn="l">
              <a:lnSpc>
                <a:spcPct val="100000"/>
              </a:lnSpc>
              <a:spcBef>
                <a:spcPts val="0"/>
              </a:spcBef>
            </a:pPr>
            <a:r>
              <a:rPr lang="es-ES" sz="1150" b="0" i="0">
                <a:solidFill>
                  <a:srgbClr val="7A7A7A"/>
                </a:solidFill>
              </a:rPr>
              <a:t>Priorizar, validar supuestos, decidir inversión y determinar si el caso justifica presupuesto.</a:t>
            </a:r>
            <a:endParaRPr lang="es-ES" sz="1150" b="0" i="0" dirty="0">
              <a:solidFill>
                <a:srgbClr val="7A7A7A"/>
              </a:solidFill>
            </a:endParaRPr>
          </a:p>
        </p:txBody>
      </p:sp>
      <p:sp>
        <p:nvSpPr>
          <p:cNvPr id="72" name="tb72"/>
          <p:cNvSpPr txBox="1"/>
          <p:nvPr/>
        </p:nvSpPr>
        <p:spPr>
          <a:xfrm>
            <a:off x="658368" y="5120640"/>
            <a:ext cx="10881360" cy="457200"/>
          </a:xfrm>
          <a:prstGeom prst="rect">
            <a:avLst/>
          </a:prstGeom>
          <a:noFill/>
        </p:spPr>
        <p:txBody>
          <a:bodyPr wrap="square" lIns="0" tIns="0" rIns="0" bIns="0" anchor="t">
            <a:normAutofit/>
          </a:bodyPr>
          <a:lstStyle/>
          <a:p>
            <a:pPr algn="l">
              <a:lnSpc>
                <a:spcPct val="100000"/>
              </a:lnSpc>
              <a:spcBef>
                <a:spcPts val="0"/>
              </a:spcBef>
            </a:pPr>
            <a:r>
              <a:rPr lang="es-ES" sz="1250" b="0" i="1">
                <a:solidFill>
                  <a:srgbClr val="7A7A7A"/>
                </a:solidFill>
              </a:rPr>
              <a:t>Cada rol valida una parte del caso. Ninguno puede construirlo por sí solo</a:t>
            </a:r>
            <a:r>
              <a:rPr lang="es-ES" sz="1250" b="0" i="1" dirty="0">
                <a:solidFill>
                  <a:srgbClr val="7A7A7A"/>
                </a:solidFill>
              </a:rPr>
              <a:t>.</a:t>
            </a:r>
          </a:p>
        </p:txBody>
      </p:sp>
      <p:sp>
        <p:nvSpPr>
          <p:cNvPr id="76" name="tb76"/>
          <p:cNvSpPr txBox="1"/>
          <p:nvPr/>
        </p:nvSpPr>
        <p:spPr>
          <a:xfrm>
            <a:off x="658368" y="6272784"/>
            <a:ext cx="5486400" cy="228600"/>
          </a:xfrm>
          <a:prstGeom prst="rect">
            <a:avLst/>
          </a:prstGeom>
          <a:noFill/>
        </p:spPr>
        <p:txBody>
          <a:bodyPr wrap="square" lIns="0" tIns="0" rIns="0" bIns="0" anchor="t">
            <a:normAutofit/>
          </a:bodyPr>
          <a:lstStyle/>
          <a:p>
            <a:pPr algn="l">
              <a:lnSpc>
                <a:spcPct val="100000"/>
              </a:lnSpc>
              <a:spcBef>
                <a:spcPts val="0"/>
              </a:spcBef>
            </a:pPr>
            <a:r>
              <a:rPr lang="es-ES" sz="900" b="1" i="0" dirty="0">
                <a:solidFill>
                  <a:srgbClr val="211915"/>
                </a:solidFill>
              </a:rPr>
              <a:t>Tuya   ·   </a:t>
            </a:r>
            <a:r>
              <a:rPr lang="es-ES" sz="900" b="1" i="0">
                <a:solidFill>
                  <a:srgbClr val="211915"/>
                </a:solidFill>
              </a:rPr>
              <a:t>Del valor de GitHub Copilot</a:t>
            </a:r>
            <a:endParaRPr lang="es-ES" sz="900" b="1" i="0" dirty="0">
              <a:solidFill>
                <a:srgbClr val="211915"/>
              </a:solidFill>
            </a:endParaRPr>
          </a:p>
        </p:txBody>
      </p:sp>
      <p:sp>
        <p:nvSpPr>
          <p:cNvPr id="77" name="tb77"/>
          <p:cNvSpPr txBox="1"/>
          <p:nvPr/>
        </p:nvSpPr>
        <p:spPr>
          <a:xfrm>
            <a:off x="10436322" y="6272784"/>
            <a:ext cx="1097280" cy="228600"/>
          </a:xfrm>
          <a:prstGeom prst="rect">
            <a:avLst/>
          </a:prstGeom>
          <a:noFill/>
        </p:spPr>
        <p:txBody>
          <a:bodyPr wrap="square" lIns="0" tIns="0" rIns="0" bIns="0" anchor="t">
            <a:normAutofit/>
          </a:bodyPr>
          <a:lstStyle/>
          <a:p>
            <a:pPr algn="r">
              <a:lnSpc>
                <a:spcPct val="100000"/>
              </a:lnSpc>
              <a:spcBef>
                <a:spcPts val="0"/>
              </a:spcBef>
            </a:pPr>
            <a:r>
              <a:rPr lang="es-ES" sz="900" b="1" i="0">
                <a:solidFill>
                  <a:srgbClr val="ED1C29"/>
                </a:solidFill>
              </a:rPr>
              <a:t>12</a:t>
            </a:r>
            <a:endParaRPr lang="es-ES" sz="900" b="1" i="0" dirty="0">
              <a:solidFill>
                <a:srgbClr val="ED1C29"/>
              </a:solidFill>
            </a:endParaRPr>
          </a:p>
        </p:txBody>
      </p:sp>
      <p:pic>
        <p:nvPicPr>
          <p:cNvPr id="900" name="Logo Tuya"/>
          <p:cNvPicPr>
            <a:picLocks noChangeAspect="1"/>
          </p:cNvPicPr>
          <p:nvPr/>
        </p:nvPicPr>
        <p:blipFill>
          <a:blip r:embed="rId3"/>
          <a:stretch>
            <a:fillRect/>
          </a:stretch>
        </p:blipFill>
        <p:spPr>
          <a:xfrm>
            <a:off x="11152200" y="321276"/>
            <a:ext cx="640080" cy="32004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sh26">
            <a:extLst>
              <a:ext uri="{C183D7F6-B498-43B3-948B-1728B52AA6E4}">
                <adec:decorative xmlns:adec="http://schemas.microsoft.com/office/drawing/2017/decorative" val="1"/>
              </a:ext>
            </a:extLst>
          </p:cNvPr>
          <p:cNvSpPr/>
          <p:nvPr/>
        </p:nvSpPr>
        <p:spPr>
          <a:xfrm>
            <a:off x="658368" y="384048"/>
            <a:ext cx="146304" cy="146304"/>
          </a:xfrm>
          <a:prstGeom prst="rect">
            <a:avLst/>
          </a:prstGeom>
          <a:solidFill>
            <a:srgbClr val="ED1C29"/>
          </a:solidFill>
          <a:ln>
            <a:noFill/>
          </a:ln>
        </p:spPr>
        <p:txBody>
          <a:bodyPr lIns="0" tIns="0" rIns="0" bIns="0" anchor="ctr">
            <a:normAutofit fontScale="62500" lnSpcReduction="20000"/>
          </a:bodyPr>
          <a:lstStyle/>
          <a:p>
            <a:endParaRPr lang="es-ES"/>
          </a:p>
        </p:txBody>
      </p:sp>
      <p:sp>
        <p:nvSpPr>
          <p:cNvPr id="27" name="tb27"/>
          <p:cNvSpPr txBox="1"/>
          <p:nvPr/>
        </p:nvSpPr>
        <p:spPr>
          <a:xfrm>
            <a:off x="914400" y="365760"/>
            <a:ext cx="7315200" cy="237744"/>
          </a:xfrm>
          <a:prstGeom prst="rect">
            <a:avLst/>
          </a:prstGeom>
          <a:noFill/>
        </p:spPr>
        <p:txBody>
          <a:bodyPr wrap="square" lIns="0" tIns="0" rIns="0" bIns="0" anchor="t">
            <a:normAutofit/>
          </a:bodyPr>
          <a:lstStyle/>
          <a:p>
            <a:pPr algn="l">
              <a:lnSpc>
                <a:spcPct val="100000"/>
              </a:lnSpc>
              <a:spcBef>
                <a:spcPts val="0"/>
              </a:spcBef>
            </a:pPr>
            <a:r>
              <a:rPr lang="es-ES" sz="1050" b="1" i="0" spc="120">
                <a:solidFill>
                  <a:srgbClr val="ED1C29"/>
                </a:solidFill>
              </a:rPr>
              <a:t>CANVAS DE VALOR</a:t>
            </a:r>
          </a:p>
        </p:txBody>
      </p:sp>
      <p:sp>
        <p:nvSpPr>
          <p:cNvPr id="28" name="tb28"/>
          <p:cNvSpPr txBox="1"/>
          <p:nvPr/>
        </p:nvSpPr>
        <p:spPr>
          <a:xfrm>
            <a:off x="658368" y="713232"/>
            <a:ext cx="9326880" cy="685800"/>
          </a:xfrm>
          <a:prstGeom prst="rect">
            <a:avLst/>
          </a:prstGeom>
          <a:noFill/>
        </p:spPr>
        <p:txBody>
          <a:bodyPr wrap="square" lIns="0" tIns="0" rIns="0" bIns="0" anchor="t">
            <a:normAutofit/>
          </a:bodyPr>
          <a:lstStyle/>
          <a:p>
            <a:pPr algn="l">
              <a:lnSpc>
                <a:spcPct val="100000"/>
              </a:lnSpc>
              <a:spcBef>
                <a:spcPts val="0"/>
              </a:spcBef>
            </a:pPr>
            <a:r>
              <a:rPr lang="es-ES" sz="3000" b="1" i="0">
                <a:solidFill>
                  <a:srgbClr val="211915"/>
                </a:solidFill>
              </a:rPr>
              <a:t>Ocho preguntas para construir tu hipótesis</a:t>
            </a:r>
          </a:p>
        </p:txBody>
      </p:sp>
      <p:sp>
        <p:nvSpPr>
          <p:cNvPr id="40" name="ruleA">
            <a:extLst>
              <a:ext uri="{C183D7F6-B498-43B3-948B-1728B52AA6E4}">
                <adec:decorative xmlns:adec="http://schemas.microsoft.com/office/drawing/2017/decorative" val="1"/>
              </a:ext>
            </a:extLst>
          </p:cNvPr>
          <p:cNvSpPr/>
          <p:nvPr/>
        </p:nvSpPr>
        <p:spPr>
          <a:xfrm>
            <a:off x="658368" y="1645920"/>
            <a:ext cx="2450000" cy="54864"/>
          </a:xfrm>
          <a:prstGeom prst="rect">
            <a:avLst/>
          </a:prstGeom>
          <a:solidFill>
            <a:srgbClr val="ED1C29"/>
          </a:solidFill>
          <a:ln>
            <a:noFill/>
          </a:ln>
        </p:spPr>
        <p:txBody>
          <a:bodyPr lIns="0" tIns="0" rIns="0" bIns="0" anchor="ctr">
            <a:normAutofit fontScale="25000" lnSpcReduction="20000"/>
          </a:bodyPr>
          <a:lstStyle/>
          <a:p>
            <a:endParaRPr lang="es-ES"/>
          </a:p>
        </p:txBody>
      </p:sp>
      <p:sp>
        <p:nvSpPr>
          <p:cNvPr id="41" name="tbA"/>
          <p:cNvSpPr txBox="1"/>
          <p:nvPr/>
        </p:nvSpPr>
        <p:spPr>
          <a:xfrm>
            <a:off x="658368" y="1783080"/>
            <a:ext cx="2270000" cy="1371600"/>
          </a:xfrm>
          <a:prstGeom prst="rect">
            <a:avLst/>
          </a:prstGeom>
          <a:noFill/>
        </p:spPr>
        <p:txBody>
          <a:bodyPr wrap="square" lIns="0" tIns="0" rIns="0" bIns="0" anchor="t">
            <a:normAutofit/>
          </a:bodyPr>
          <a:lstStyle/>
          <a:p>
            <a:pPr algn="l">
              <a:lnSpc>
                <a:spcPct val="100000"/>
              </a:lnSpc>
              <a:spcAft>
                <a:spcPts val="500"/>
              </a:spcAft>
            </a:pPr>
            <a:r>
              <a:rPr lang="en-US" sz="1400" b="1" i="0" spc="100">
                <a:solidFill>
                  <a:srgbClr val="211915"/>
                </a:solidFill>
              </a:rPr>
              <a:t>01 · CAPACIDAD ACTUAL</a:t>
            </a:r>
          </a:p>
          <a:p>
            <a:pPr algn="l">
              <a:lnSpc>
                <a:spcPct val="110000"/>
              </a:lnSpc>
            </a:pPr>
            <a:r>
              <a:rPr lang="en-US" sz="1100" b="0" i="0">
                <a:solidFill>
                  <a:srgbClr val="7A7A7A"/>
                </a:solidFill>
              </a:rPr>
              <a:t>¿Dónde consume capacidad actualmente el equipo?</a:t>
            </a:r>
            <a:endParaRPr lang="es-ES" sz="1100" b="0" i="0">
              <a:solidFill>
                <a:srgbClr val="7A7A7A"/>
              </a:solidFill>
            </a:endParaRPr>
          </a:p>
        </p:txBody>
      </p:sp>
      <p:sp>
        <p:nvSpPr>
          <p:cNvPr id="42" name="arrowA">
            <a:extLst>
              <a:ext uri="{C183D7F6-B498-43B3-948B-1728B52AA6E4}">
                <adec:decorative xmlns:adec="http://schemas.microsoft.com/office/drawing/2017/decorative" val="1"/>
              </a:ext>
            </a:extLst>
          </p:cNvPr>
          <p:cNvSpPr/>
          <p:nvPr/>
        </p:nvSpPr>
        <p:spPr>
          <a:xfrm>
            <a:off x="3191928" y="2148840"/>
            <a:ext cx="182880" cy="182880"/>
          </a:xfrm>
          <a:prstGeom prst="rightArrow">
            <a:avLst/>
          </a:prstGeom>
          <a:solidFill>
            <a:srgbClr val="ED1C29"/>
          </a:solidFill>
          <a:ln>
            <a:noFill/>
          </a:ln>
        </p:spPr>
        <p:txBody>
          <a:bodyPr lIns="0" tIns="0" rIns="0" bIns="0" anchor="ctr">
            <a:normAutofit fontScale="40000" lnSpcReduction="20000"/>
          </a:bodyPr>
          <a:lstStyle/>
          <a:p>
            <a:endParaRPr lang="es-ES"/>
          </a:p>
        </p:txBody>
      </p:sp>
      <p:sp>
        <p:nvSpPr>
          <p:cNvPr id="43" name="ruleB">
            <a:extLst>
              <a:ext uri="{C183D7F6-B498-43B3-948B-1728B52AA6E4}">
                <adec:decorative xmlns:adec="http://schemas.microsoft.com/office/drawing/2017/decorative" val="1"/>
              </a:ext>
            </a:extLst>
          </p:cNvPr>
          <p:cNvSpPr/>
          <p:nvPr/>
        </p:nvSpPr>
        <p:spPr>
          <a:xfrm>
            <a:off x="3458368" y="1645920"/>
            <a:ext cx="2450000" cy="54864"/>
          </a:xfrm>
          <a:prstGeom prst="rect">
            <a:avLst/>
          </a:prstGeom>
          <a:solidFill>
            <a:srgbClr val="211915"/>
          </a:solidFill>
          <a:ln>
            <a:noFill/>
          </a:ln>
        </p:spPr>
        <p:txBody>
          <a:bodyPr lIns="0" tIns="0" rIns="0" bIns="0" anchor="ctr">
            <a:normAutofit fontScale="25000" lnSpcReduction="20000"/>
          </a:bodyPr>
          <a:lstStyle/>
          <a:p>
            <a:endParaRPr lang="es-ES"/>
          </a:p>
        </p:txBody>
      </p:sp>
      <p:sp>
        <p:nvSpPr>
          <p:cNvPr id="44" name="tbB"/>
          <p:cNvSpPr txBox="1"/>
          <p:nvPr/>
        </p:nvSpPr>
        <p:spPr>
          <a:xfrm>
            <a:off x="3458368" y="1783080"/>
            <a:ext cx="2270000" cy="1371600"/>
          </a:xfrm>
          <a:prstGeom prst="rect">
            <a:avLst/>
          </a:prstGeom>
          <a:noFill/>
        </p:spPr>
        <p:txBody>
          <a:bodyPr wrap="square" lIns="0" tIns="0" rIns="0" bIns="0" anchor="t">
            <a:normAutofit/>
          </a:bodyPr>
          <a:lstStyle/>
          <a:p>
            <a:pPr algn="l">
              <a:lnSpc>
                <a:spcPct val="100000"/>
              </a:lnSpc>
              <a:spcAft>
                <a:spcPts val="500"/>
              </a:spcAft>
            </a:pPr>
            <a:r>
              <a:rPr lang="en-US" sz="1400" b="1" i="0" spc="100">
                <a:solidFill>
                  <a:srgbClr val="211915"/>
                </a:solidFill>
              </a:rPr>
              <a:t>02 · OPORTUNIDAD</a:t>
            </a:r>
          </a:p>
          <a:p>
            <a:pPr algn="l">
              <a:lnSpc>
                <a:spcPct val="110000"/>
              </a:lnSpc>
            </a:pPr>
            <a:r>
              <a:rPr lang="en-US" sz="1100" b="0" i="0">
                <a:solidFill>
                  <a:srgbClr val="7A7A7A"/>
                </a:solidFill>
              </a:rPr>
              <a:t>¿Dónde puede Copilot generar una mejora?</a:t>
            </a:r>
            <a:endParaRPr lang="es-ES" sz="1100" b="0" i="0">
              <a:solidFill>
                <a:srgbClr val="7A7A7A"/>
              </a:solidFill>
            </a:endParaRPr>
          </a:p>
        </p:txBody>
      </p:sp>
      <p:sp>
        <p:nvSpPr>
          <p:cNvPr id="45" name="arrowB">
            <a:extLst>
              <a:ext uri="{C183D7F6-B498-43B3-948B-1728B52AA6E4}">
                <adec:decorative xmlns:adec="http://schemas.microsoft.com/office/drawing/2017/decorative" val="1"/>
              </a:ext>
            </a:extLst>
          </p:cNvPr>
          <p:cNvSpPr/>
          <p:nvPr/>
        </p:nvSpPr>
        <p:spPr>
          <a:xfrm>
            <a:off x="5991928" y="2148840"/>
            <a:ext cx="182880" cy="182880"/>
          </a:xfrm>
          <a:prstGeom prst="rightArrow">
            <a:avLst/>
          </a:prstGeom>
          <a:solidFill>
            <a:srgbClr val="ED1C29"/>
          </a:solidFill>
          <a:ln>
            <a:noFill/>
          </a:ln>
        </p:spPr>
        <p:txBody>
          <a:bodyPr lIns="0" tIns="0" rIns="0" bIns="0" anchor="ctr">
            <a:normAutofit fontScale="40000" lnSpcReduction="20000"/>
          </a:bodyPr>
          <a:lstStyle/>
          <a:p>
            <a:endParaRPr lang="es-ES"/>
          </a:p>
        </p:txBody>
      </p:sp>
      <p:sp>
        <p:nvSpPr>
          <p:cNvPr id="46" name="ruleC">
            <a:extLst>
              <a:ext uri="{C183D7F6-B498-43B3-948B-1728B52AA6E4}">
                <adec:decorative xmlns:adec="http://schemas.microsoft.com/office/drawing/2017/decorative" val="1"/>
              </a:ext>
            </a:extLst>
          </p:cNvPr>
          <p:cNvSpPr/>
          <p:nvPr/>
        </p:nvSpPr>
        <p:spPr>
          <a:xfrm>
            <a:off x="6258368" y="1645920"/>
            <a:ext cx="2450000" cy="54864"/>
          </a:xfrm>
          <a:prstGeom prst="rect">
            <a:avLst/>
          </a:prstGeom>
          <a:solidFill>
            <a:srgbClr val="ED1C29"/>
          </a:solidFill>
          <a:ln>
            <a:noFill/>
          </a:ln>
        </p:spPr>
        <p:txBody>
          <a:bodyPr lIns="0" tIns="0" rIns="0" bIns="0" anchor="ctr">
            <a:normAutofit fontScale="25000" lnSpcReduction="20000"/>
          </a:bodyPr>
          <a:lstStyle/>
          <a:p>
            <a:endParaRPr lang="es-ES"/>
          </a:p>
        </p:txBody>
      </p:sp>
      <p:sp>
        <p:nvSpPr>
          <p:cNvPr id="47" name="tbC"/>
          <p:cNvSpPr txBox="1"/>
          <p:nvPr/>
        </p:nvSpPr>
        <p:spPr>
          <a:xfrm>
            <a:off x="6258368" y="1783080"/>
            <a:ext cx="2270000" cy="1371600"/>
          </a:xfrm>
          <a:prstGeom prst="rect">
            <a:avLst/>
          </a:prstGeom>
          <a:noFill/>
        </p:spPr>
        <p:txBody>
          <a:bodyPr wrap="square" lIns="0" tIns="0" rIns="0" bIns="0" anchor="t">
            <a:normAutofit/>
          </a:bodyPr>
          <a:lstStyle/>
          <a:p>
            <a:pPr algn="l">
              <a:lnSpc>
                <a:spcPct val="100000"/>
              </a:lnSpc>
              <a:spcAft>
                <a:spcPts val="500"/>
              </a:spcAft>
            </a:pPr>
            <a:r>
              <a:rPr lang="en-US" sz="1400" b="1" i="0" spc="100">
                <a:solidFill>
                  <a:srgbClr val="211915"/>
                </a:solidFill>
              </a:rPr>
              <a:t>03 · CAMBIO ESPERADO</a:t>
            </a:r>
          </a:p>
          <a:p>
            <a:pPr algn="l">
              <a:lnSpc>
                <a:spcPct val="110000"/>
              </a:lnSpc>
            </a:pPr>
            <a:r>
              <a:rPr lang="en-US" sz="1100" b="0" i="0">
                <a:solidFill>
                  <a:srgbClr val="7A7A7A"/>
                </a:solidFill>
              </a:rPr>
              <a:t>¿Qué debería cambiar si realmente funciona?</a:t>
            </a:r>
            <a:endParaRPr lang="es-ES" sz="1100" b="0" i="0">
              <a:solidFill>
                <a:srgbClr val="7A7A7A"/>
              </a:solidFill>
            </a:endParaRPr>
          </a:p>
        </p:txBody>
      </p:sp>
      <p:sp>
        <p:nvSpPr>
          <p:cNvPr id="48" name="arrowC">
            <a:extLst>
              <a:ext uri="{C183D7F6-B498-43B3-948B-1728B52AA6E4}">
                <adec:decorative xmlns:adec="http://schemas.microsoft.com/office/drawing/2017/decorative" val="1"/>
              </a:ext>
            </a:extLst>
          </p:cNvPr>
          <p:cNvSpPr/>
          <p:nvPr/>
        </p:nvSpPr>
        <p:spPr>
          <a:xfrm>
            <a:off x="8791928" y="2148840"/>
            <a:ext cx="182880" cy="182880"/>
          </a:xfrm>
          <a:prstGeom prst="rightArrow">
            <a:avLst/>
          </a:prstGeom>
          <a:solidFill>
            <a:srgbClr val="ED1C29"/>
          </a:solidFill>
          <a:ln>
            <a:noFill/>
          </a:ln>
        </p:spPr>
        <p:txBody>
          <a:bodyPr lIns="0" tIns="0" rIns="0" bIns="0" anchor="ctr">
            <a:normAutofit fontScale="40000" lnSpcReduction="20000"/>
          </a:bodyPr>
          <a:lstStyle/>
          <a:p>
            <a:endParaRPr lang="es-ES"/>
          </a:p>
        </p:txBody>
      </p:sp>
      <p:sp>
        <p:nvSpPr>
          <p:cNvPr id="49" name="ruleD">
            <a:extLst>
              <a:ext uri="{C183D7F6-B498-43B3-948B-1728B52AA6E4}">
                <adec:decorative xmlns:adec="http://schemas.microsoft.com/office/drawing/2017/decorative" val="1"/>
              </a:ext>
            </a:extLst>
          </p:cNvPr>
          <p:cNvSpPr/>
          <p:nvPr/>
        </p:nvSpPr>
        <p:spPr>
          <a:xfrm>
            <a:off x="9058368" y="1645920"/>
            <a:ext cx="2450000" cy="54864"/>
          </a:xfrm>
          <a:prstGeom prst="rect">
            <a:avLst/>
          </a:prstGeom>
          <a:solidFill>
            <a:srgbClr val="211915"/>
          </a:solidFill>
          <a:ln>
            <a:noFill/>
          </a:ln>
        </p:spPr>
        <p:txBody>
          <a:bodyPr lIns="0" tIns="0" rIns="0" bIns="0" anchor="ctr">
            <a:normAutofit fontScale="25000" lnSpcReduction="20000"/>
          </a:bodyPr>
          <a:lstStyle/>
          <a:p>
            <a:endParaRPr lang="es-ES"/>
          </a:p>
        </p:txBody>
      </p:sp>
      <p:sp>
        <p:nvSpPr>
          <p:cNvPr id="50" name="tbD"/>
          <p:cNvSpPr txBox="1"/>
          <p:nvPr/>
        </p:nvSpPr>
        <p:spPr>
          <a:xfrm>
            <a:off x="9058368" y="1783080"/>
            <a:ext cx="2270000" cy="1371600"/>
          </a:xfrm>
          <a:prstGeom prst="rect">
            <a:avLst/>
          </a:prstGeom>
          <a:noFill/>
        </p:spPr>
        <p:txBody>
          <a:bodyPr wrap="square" lIns="0" tIns="0" rIns="0" bIns="0" anchor="t">
            <a:normAutofit/>
          </a:bodyPr>
          <a:lstStyle/>
          <a:p>
            <a:pPr algn="l">
              <a:lnSpc>
                <a:spcPct val="100000"/>
              </a:lnSpc>
              <a:spcAft>
                <a:spcPts val="500"/>
              </a:spcAft>
            </a:pPr>
            <a:r>
              <a:rPr lang="en-US" sz="1400" b="1" i="0" spc="100">
                <a:solidFill>
                  <a:srgbClr val="211915"/>
                </a:solidFill>
              </a:rPr>
              <a:t>04 · OBSERVACIÓN</a:t>
            </a:r>
          </a:p>
          <a:p>
            <a:pPr algn="l">
              <a:lnSpc>
                <a:spcPct val="110000"/>
              </a:lnSpc>
            </a:pPr>
            <a:r>
              <a:rPr lang="en-US" sz="1100" b="0" i="0">
                <a:solidFill>
                  <a:srgbClr val="7A7A7A"/>
                </a:solidFill>
              </a:rPr>
              <a:t>¿Cómo podemos observar ese cambio?</a:t>
            </a:r>
          </a:p>
          <a:p>
            <a:pPr algn="l">
              <a:lnSpc>
                <a:spcPct val="110000"/>
              </a:lnSpc>
            </a:pPr>
            <a:r>
              <a:rPr lang="en-US" sz="1100" b="0" i="0">
                <a:solidFill>
                  <a:srgbClr val="7A7A7A"/>
                </a:solidFill>
              </a:rPr>
              <a:t>¿Qué tendría que mantenerse estable? Calidad, incidentes, alcance y nivel de servicio.</a:t>
            </a:r>
            <a:endParaRPr lang="es-ES" sz="1100" b="0" i="0">
              <a:solidFill>
                <a:srgbClr val="7A7A7A"/>
              </a:solidFill>
            </a:endParaRPr>
          </a:p>
        </p:txBody>
      </p:sp>
      <p:sp>
        <p:nvSpPr>
          <p:cNvPr id="55" name="bandaPreguntas"/>
          <p:cNvSpPr/>
          <p:nvPr/>
        </p:nvSpPr>
        <p:spPr>
          <a:xfrm>
            <a:off x="658368" y="3566160"/>
            <a:ext cx="10850000" cy="329184"/>
          </a:xfrm>
          <a:prstGeom prst="rect">
            <a:avLst/>
          </a:prstGeom>
          <a:solidFill>
            <a:srgbClr val="211915"/>
          </a:solidFill>
          <a:ln>
            <a:noFill/>
          </a:ln>
        </p:spPr>
        <p:txBody>
          <a:bodyPr lIns="146304" tIns="18288" rIns="146304" bIns="18288" anchor="ctr">
            <a:normAutofit/>
          </a:bodyPr>
          <a:lstStyle/>
          <a:p>
            <a:pPr algn="l">
              <a:lnSpc>
                <a:spcPct val="100000"/>
              </a:lnSpc>
            </a:pPr>
            <a:r>
              <a:rPr lang="es-ES" sz="1000" b="1" i="0" spc="120">
                <a:solidFill>
                  <a:srgbClr val="FFFFFF"/>
                </a:solidFill>
              </a:rPr>
              <a:t>LA PREGUNTA CENTRAL: ¿QUÉ HARÍAMOS REALMENTE CON LA CAPACIDAD ADICIONAL?</a:t>
            </a:r>
          </a:p>
        </p:txBody>
      </p:sp>
      <p:sp>
        <p:nvSpPr>
          <p:cNvPr id="56" name="tbQ1"/>
          <p:cNvSpPr txBox="1"/>
          <p:nvPr/>
        </p:nvSpPr>
        <p:spPr>
          <a:xfrm>
            <a:off x="658368" y="4160520"/>
            <a:ext cx="2450000" cy="731520"/>
          </a:xfrm>
          <a:prstGeom prst="rect">
            <a:avLst/>
          </a:prstGeom>
          <a:noFill/>
        </p:spPr>
        <p:txBody>
          <a:bodyPr wrap="square" lIns="0" tIns="0" rIns="0" bIns="0" anchor="t">
            <a:normAutofit/>
          </a:bodyPr>
          <a:lstStyle/>
          <a:p>
            <a:pPr algn="l">
              <a:lnSpc>
                <a:spcPct val="100000"/>
              </a:lnSpc>
              <a:spcAft>
                <a:spcPts val="400"/>
              </a:spcAft>
            </a:pPr>
            <a:r>
              <a:rPr lang="en-US" sz="1000" b="1" i="0" spc="100">
                <a:solidFill>
                  <a:srgbClr val="ED1C29"/>
                </a:solidFill>
              </a:rPr>
              <a:t>05 · DECISIÓN</a:t>
            </a:r>
          </a:p>
          <a:p>
            <a:pPr algn="l">
              <a:lnSpc>
                <a:spcPct val="100000"/>
              </a:lnSpc>
            </a:pPr>
            <a:r>
              <a:rPr lang="en-US" sz="1400" b="1" i="0">
                <a:solidFill>
                  <a:srgbClr val="211915"/>
                </a:solidFill>
              </a:rPr>
              <a:t>¿Qué haríamos con la capacidad adicional?</a:t>
            </a:r>
            <a:endParaRPr lang="es-ES" sz="1400" b="1" i="0">
              <a:solidFill>
                <a:srgbClr val="211915"/>
              </a:solidFill>
            </a:endParaRPr>
          </a:p>
        </p:txBody>
      </p:sp>
      <p:sp>
        <p:nvSpPr>
          <p:cNvPr id="57" name="tbQ2"/>
          <p:cNvSpPr txBox="1"/>
          <p:nvPr/>
        </p:nvSpPr>
        <p:spPr>
          <a:xfrm>
            <a:off x="3458368" y="4160520"/>
            <a:ext cx="2450000" cy="731520"/>
          </a:xfrm>
          <a:prstGeom prst="rect">
            <a:avLst/>
          </a:prstGeom>
          <a:noFill/>
        </p:spPr>
        <p:txBody>
          <a:bodyPr wrap="square" lIns="0" tIns="0" rIns="0" bIns="0" anchor="t">
            <a:normAutofit/>
          </a:bodyPr>
          <a:lstStyle/>
          <a:p>
            <a:pPr algn="l">
              <a:lnSpc>
                <a:spcPct val="100000"/>
              </a:lnSpc>
              <a:spcAft>
                <a:spcPts val="400"/>
              </a:spcAft>
            </a:pPr>
            <a:r>
              <a:rPr lang="en-US" sz="1000" b="1" i="0" spc="100">
                <a:solidFill>
                  <a:srgbClr val="ED1C29"/>
                </a:solidFill>
              </a:rPr>
              <a:t>06 · KPI</a:t>
            </a:r>
          </a:p>
          <a:p>
            <a:pPr algn="l">
              <a:lnSpc>
                <a:spcPct val="100000"/>
              </a:lnSpc>
            </a:pPr>
            <a:r>
              <a:rPr lang="en-US" sz="1400" b="1" i="0">
                <a:solidFill>
                  <a:srgbClr val="211915"/>
                </a:solidFill>
              </a:rPr>
              <a:t>¿Qué KPI de negocio podría cambiar?</a:t>
            </a:r>
            <a:endParaRPr lang="es-ES" sz="1400" b="1" i="0">
              <a:solidFill>
                <a:srgbClr val="211915"/>
              </a:solidFill>
            </a:endParaRPr>
          </a:p>
        </p:txBody>
      </p:sp>
      <p:sp>
        <p:nvSpPr>
          <p:cNvPr id="58" name="tbQ3"/>
          <p:cNvSpPr txBox="1"/>
          <p:nvPr/>
        </p:nvSpPr>
        <p:spPr>
          <a:xfrm>
            <a:off x="6258368" y="4160520"/>
            <a:ext cx="2450000" cy="731520"/>
          </a:xfrm>
          <a:prstGeom prst="rect">
            <a:avLst/>
          </a:prstGeom>
          <a:noFill/>
        </p:spPr>
        <p:txBody>
          <a:bodyPr wrap="square" lIns="0" tIns="0" rIns="0" bIns="0" anchor="t">
            <a:normAutofit fontScale="92500" lnSpcReduction="20000"/>
          </a:bodyPr>
          <a:lstStyle/>
          <a:p>
            <a:pPr algn="l">
              <a:lnSpc>
                <a:spcPct val="100000"/>
              </a:lnSpc>
              <a:spcAft>
                <a:spcPts val="150"/>
              </a:spcAft>
            </a:pPr>
            <a:r>
              <a:rPr lang="es-ES" sz="1000" b="1" i="0" spc="100">
                <a:solidFill>
                  <a:srgbClr val="ED1C29"/>
                </a:solidFill>
              </a:rPr>
              <a:t>07 · TRADUCCIÓN</a:t>
            </a:r>
          </a:p>
          <a:p>
            <a:pPr algn="l">
              <a:lnSpc>
                <a:spcPct val="100000"/>
              </a:lnSpc>
              <a:spcAft>
                <a:spcPts val="150"/>
              </a:spcAft>
            </a:pPr>
            <a:r>
              <a:rPr lang="es-ES" sz="1100" b="1" i="0">
                <a:solidFill>
                  <a:srgbClr val="211915"/>
                </a:solidFill>
              </a:rPr>
              <a:t>¿Cómo se captura el valor?</a:t>
            </a:r>
          </a:p>
          <a:p>
            <a:pPr algn="l">
              <a:lnSpc>
                <a:spcPct val="100000"/>
              </a:lnSpc>
            </a:pPr>
            <a:r>
              <a:rPr lang="es-ES" sz="950" b="1" i="0">
                <a:solidFill>
                  <a:srgbClr val="211915"/>
                </a:solidFill>
              </a:rPr>
              <a:t>Menor costo: </a:t>
            </a:r>
            <a:r>
              <a:rPr lang="es-ES" sz="950" b="0" i="0">
                <a:solidFill>
                  <a:srgbClr val="5A5A5A"/>
                </a:solidFill>
              </a:rPr>
              <a:t>dejamos de gastar algo actual.</a:t>
            </a:r>
          </a:p>
          <a:p>
            <a:pPr algn="l">
              <a:lnSpc>
                <a:spcPct val="100000"/>
              </a:lnSpc>
            </a:pPr>
            <a:r>
              <a:rPr lang="es-ES" sz="950" b="1" i="0">
                <a:solidFill>
                  <a:srgbClr val="211915"/>
                </a:solidFill>
              </a:rPr>
              <a:t>Más resultado: </a:t>
            </a:r>
            <a:r>
              <a:rPr lang="es-ES" sz="950" b="0" i="0">
                <a:solidFill>
                  <a:srgbClr val="5A5A5A"/>
                </a:solidFill>
              </a:rPr>
              <a:t>más trabajo, misma estructura.</a:t>
            </a:r>
          </a:p>
          <a:p>
            <a:pPr algn="l">
              <a:lnSpc>
                <a:spcPct val="100000"/>
              </a:lnSpc>
            </a:pPr>
            <a:r>
              <a:rPr lang="es-ES" sz="950" b="1" i="0">
                <a:solidFill>
                  <a:srgbClr val="211915"/>
                </a:solidFill>
              </a:rPr>
              <a:t>Valor adelantado: </a:t>
            </a:r>
            <a:r>
              <a:rPr lang="es-ES" sz="950" b="0" i="0">
                <a:solidFill>
                  <a:srgbClr val="5A5A5A"/>
                </a:solidFill>
              </a:rPr>
              <a:t>el beneficio llega antes.</a:t>
            </a:r>
          </a:p>
          <a:p>
            <a:pPr algn="l">
              <a:lnSpc>
                <a:spcPct val="100000"/>
              </a:lnSpc>
            </a:pPr>
            <a:r>
              <a:rPr lang="es-ES" sz="950" b="1" i="0">
                <a:solidFill>
                  <a:srgbClr val="211915"/>
                </a:solidFill>
              </a:rPr>
              <a:t>Menor pérdida: </a:t>
            </a:r>
            <a:r>
              <a:rPr lang="es-ES" sz="950" b="0" i="0">
                <a:solidFill>
                  <a:srgbClr val="5A5A5A"/>
                </a:solidFill>
              </a:rPr>
              <a:t>evitamos un costo o reproceso.</a:t>
            </a:r>
            <a:endParaRPr lang="es-ES" sz="1400" b="1" i="0">
              <a:solidFill>
                <a:srgbClr val="211915"/>
              </a:solidFill>
            </a:endParaRPr>
          </a:p>
        </p:txBody>
      </p:sp>
      <p:sp>
        <p:nvSpPr>
          <p:cNvPr id="59" name="tbQ4"/>
          <p:cNvSpPr txBox="1"/>
          <p:nvPr/>
        </p:nvSpPr>
        <p:spPr>
          <a:xfrm>
            <a:off x="9058368" y="4160520"/>
            <a:ext cx="2450000" cy="731520"/>
          </a:xfrm>
          <a:prstGeom prst="rect">
            <a:avLst/>
          </a:prstGeom>
          <a:noFill/>
        </p:spPr>
        <p:txBody>
          <a:bodyPr wrap="square" lIns="0" tIns="0" rIns="0" bIns="0" anchor="t">
            <a:normAutofit/>
          </a:bodyPr>
          <a:lstStyle/>
          <a:p>
            <a:pPr algn="l">
              <a:lnSpc>
                <a:spcPct val="100000"/>
              </a:lnSpc>
              <a:spcAft>
                <a:spcPts val="400"/>
              </a:spcAft>
            </a:pPr>
            <a:r>
              <a:rPr lang="en-US" sz="1000" b="1" i="0" spc="100">
                <a:solidFill>
                  <a:srgbClr val="ED1C29"/>
                </a:solidFill>
              </a:rPr>
              <a:t>08 · VALIDACIÓN</a:t>
            </a:r>
          </a:p>
          <a:p>
            <a:pPr algn="l">
              <a:lnSpc>
                <a:spcPct val="100000"/>
              </a:lnSpc>
            </a:pPr>
            <a:r>
              <a:rPr lang="en-US" sz="1400" b="1" i="0">
                <a:solidFill>
                  <a:srgbClr val="211915"/>
                </a:solidFill>
              </a:rPr>
              <a:t>¿Quién puede validar el dato?</a:t>
            </a:r>
            <a:endParaRPr lang="es-ES" sz="1400" b="1" i="0">
              <a:solidFill>
                <a:srgbClr val="211915"/>
              </a:solidFill>
            </a:endParaRPr>
          </a:p>
        </p:txBody>
      </p:sp>
      <p:sp>
        <p:nvSpPr>
          <p:cNvPr id="60" name="tbCierreDatos"/>
          <p:cNvSpPr txBox="1"/>
          <p:nvPr/>
        </p:nvSpPr>
        <p:spPr>
          <a:xfrm>
            <a:off x="658368" y="5135880"/>
            <a:ext cx="10875234" cy="457200"/>
          </a:xfrm>
          <a:prstGeom prst="rect">
            <a:avLst/>
          </a:prstGeom>
          <a:noFill/>
        </p:spPr>
        <p:txBody>
          <a:bodyPr wrap="square" lIns="0" tIns="0" rIns="0" bIns="0" anchor="t">
            <a:normAutofit/>
          </a:bodyPr>
          <a:lstStyle/>
          <a:p>
            <a:pPr algn="l">
              <a:lnSpc>
                <a:spcPct val="100000"/>
              </a:lnSpc>
              <a:spcAft>
                <a:spcPts val="300"/>
              </a:spcAft>
            </a:pPr>
            <a:r>
              <a:rPr lang="en-US" sz="1000" b="1" i="0" spc="100">
                <a:solidFill>
                  <a:srgbClr val="211915"/>
                </a:solidFill>
              </a:rPr>
              <a:t>TODA HIPÓTESIS DEBE TERMINAR DEFINIENDO</a:t>
            </a:r>
          </a:p>
          <a:p>
            <a:pPr algn="l">
              <a:lnSpc>
                <a:spcPct val="100000"/>
              </a:lnSpc>
            </a:pPr>
            <a:r>
              <a:rPr lang="en-US" sz="1400" b="1" i="0">
                <a:solidFill>
                  <a:srgbClr val="ED1C29"/>
                </a:solidFill>
              </a:rPr>
              <a:t>BASELINE · OBJETIVO · INDICADOR · GUARDRAIL · PERÍODO DE MEDICIÓN · FUENTE DEL DATO · RESPONSABLE</a:t>
            </a:r>
            <a:endParaRPr lang="es-ES" sz="1400" b="1" i="0">
              <a:solidFill>
                <a:srgbClr val="ED1C29"/>
              </a:solidFill>
            </a:endParaRPr>
          </a:p>
        </p:txBody>
      </p:sp>
      <p:sp>
        <p:nvSpPr>
          <p:cNvPr id="25" name="sh25"/>
          <p:cNvSpPr/>
          <p:nvPr/>
        </p:nvSpPr>
        <p:spPr>
          <a:xfrm>
            <a:off x="658368" y="5779008"/>
            <a:ext cx="10875234" cy="475488"/>
          </a:xfrm>
          <a:prstGeom prst="rect">
            <a:avLst/>
          </a:prstGeom>
          <a:solidFill>
            <a:srgbClr val="ED1C29"/>
          </a:solidFill>
          <a:ln>
            <a:noFill/>
          </a:ln>
        </p:spPr>
        <p:txBody>
          <a:bodyPr lIns="146304" tIns="73152" rIns="146304" bIns="73152" anchor="ctr">
            <a:normAutofit/>
          </a:bodyPr>
          <a:lstStyle/>
          <a:p>
            <a:pPr algn="ctr">
              <a:lnSpc>
                <a:spcPct val="100000"/>
              </a:lnSpc>
              <a:spcBef>
                <a:spcPts val="0"/>
              </a:spcBef>
            </a:pPr>
            <a:r>
              <a:rPr lang="es-ES" sz="1400" b="1" i="0">
                <a:solidFill>
                  <a:srgbClr val="FFFFFF"/>
                </a:solidFill>
              </a:rPr>
              <a:t>El canvas no entrega una respuesta: ordena la conversación de cada equipo.</a:t>
            </a:r>
          </a:p>
        </p:txBody>
      </p:sp>
      <p:sp>
        <p:nvSpPr>
          <p:cNvPr id="29" name="tb29"/>
          <p:cNvSpPr txBox="1"/>
          <p:nvPr/>
        </p:nvSpPr>
        <p:spPr>
          <a:xfrm>
            <a:off x="658368" y="6272784"/>
            <a:ext cx="5486400" cy="228600"/>
          </a:xfrm>
          <a:prstGeom prst="rect">
            <a:avLst/>
          </a:prstGeom>
          <a:noFill/>
        </p:spPr>
        <p:txBody>
          <a:bodyPr wrap="square" lIns="0" tIns="0" rIns="0" bIns="0" anchor="t">
            <a:normAutofit/>
          </a:bodyPr>
          <a:lstStyle/>
          <a:p>
            <a:pPr algn="l">
              <a:lnSpc>
                <a:spcPct val="100000"/>
              </a:lnSpc>
              <a:spcBef>
                <a:spcPts val="0"/>
              </a:spcBef>
            </a:pPr>
            <a:r>
              <a:rPr lang="es-ES" sz="900" b="1" i="0">
                <a:solidFill>
                  <a:srgbClr val="211915"/>
                </a:solidFill>
              </a:rPr>
              <a:t>Tuya   ·   Del valor de GitHub Copilot</a:t>
            </a:r>
          </a:p>
        </p:txBody>
      </p:sp>
      <p:sp>
        <p:nvSpPr>
          <p:cNvPr id="30" name="tb30"/>
          <p:cNvSpPr txBox="1"/>
          <p:nvPr/>
        </p:nvSpPr>
        <p:spPr>
          <a:xfrm>
            <a:off x="10436322" y="6272784"/>
            <a:ext cx="1097280" cy="228600"/>
          </a:xfrm>
          <a:prstGeom prst="rect">
            <a:avLst/>
          </a:prstGeom>
          <a:noFill/>
        </p:spPr>
        <p:txBody>
          <a:bodyPr wrap="square" lIns="0" tIns="0" rIns="0" bIns="0" anchor="t">
            <a:normAutofit/>
          </a:bodyPr>
          <a:lstStyle/>
          <a:p>
            <a:pPr algn="r">
              <a:lnSpc>
                <a:spcPct val="100000"/>
              </a:lnSpc>
              <a:spcBef>
                <a:spcPts val="0"/>
              </a:spcBef>
            </a:pPr>
            <a:r>
              <a:rPr lang="es-ES" sz="900" b="1" i="0">
                <a:solidFill>
                  <a:srgbClr val="ED1C29"/>
                </a:solidFill>
              </a:rPr>
              <a:t>13</a:t>
            </a:r>
          </a:p>
        </p:txBody>
      </p:sp>
      <p:pic>
        <p:nvPicPr>
          <p:cNvPr id="900" name="Logo Tuya" descr="Logo corporativo Tuya"/>
          <p:cNvPicPr>
            <a:picLocks noChangeAspect="1"/>
          </p:cNvPicPr>
          <p:nvPr/>
        </p:nvPicPr>
        <p:blipFill>
          <a:blip r:embed="rId3"/>
          <a:stretch>
            <a:fillRect/>
          </a:stretch>
        </p:blipFill>
        <p:spPr>
          <a:xfrm>
            <a:off x="11152200" y="321276"/>
            <a:ext cx="640080" cy="320040"/>
          </a:xfrm>
          <a:prstGeom prst="rect">
            <a:avLst/>
          </a:prstGeom>
        </p:spPr>
      </p:pic>
    </p:spTree>
    <p:extLst>
      <p:ext uri="{BB962C8B-B14F-4D97-AF65-F5344CB8AC3E}">
        <p14:creationId xmlns:p14="http://schemas.microsoft.com/office/powerpoint/2010/main" val="257017027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 name="sh95"/>
          <p:cNvSpPr/>
          <p:nvPr/>
        </p:nvSpPr>
        <p:spPr>
          <a:xfrm>
            <a:off x="658368" y="384048"/>
            <a:ext cx="146304" cy="146304"/>
          </a:xfrm>
          <a:prstGeom prst="rect">
            <a:avLst/>
          </a:prstGeom>
          <a:solidFill>
            <a:srgbClr val="ED1C29"/>
          </a:solidFill>
          <a:ln>
            <a:noFill/>
          </a:ln>
        </p:spPr>
        <p:txBody>
          <a:bodyPr lIns="146304" tIns="73152" rIns="146304" bIns="73152" anchor="ctr">
            <a:normAutofit fontScale="25000" lnSpcReduction="20000"/>
          </a:bodyPr>
          <a:lstStyle/>
          <a:p>
            <a:endParaRPr lang="es-ES"/>
          </a:p>
        </p:txBody>
      </p:sp>
      <p:sp>
        <p:nvSpPr>
          <p:cNvPr id="96" name="tb96"/>
          <p:cNvSpPr txBox="1"/>
          <p:nvPr/>
        </p:nvSpPr>
        <p:spPr>
          <a:xfrm>
            <a:off x="914400" y="365760"/>
            <a:ext cx="7315200" cy="237744"/>
          </a:xfrm>
          <a:prstGeom prst="rect">
            <a:avLst/>
          </a:prstGeom>
          <a:noFill/>
        </p:spPr>
        <p:txBody>
          <a:bodyPr wrap="square" lIns="0" tIns="0" rIns="0" bIns="0" anchor="t">
            <a:normAutofit/>
          </a:bodyPr>
          <a:lstStyle/>
          <a:p>
            <a:pPr algn="l">
              <a:lnSpc>
                <a:spcPct val="100000"/>
              </a:lnSpc>
              <a:spcBef>
                <a:spcPts val="0"/>
              </a:spcBef>
            </a:pPr>
            <a:r>
              <a:rPr lang="es-ES" sz="1050" b="1" i="0" spc="120">
                <a:solidFill>
                  <a:srgbClr val="ED1C29"/>
                </a:solidFill>
              </a:rPr>
              <a:t>RESULTADO ESPERADO DE LA SESIÓN</a:t>
            </a:r>
          </a:p>
        </p:txBody>
      </p:sp>
      <p:sp>
        <p:nvSpPr>
          <p:cNvPr id="97" name="tb97"/>
          <p:cNvSpPr txBox="1"/>
          <p:nvPr/>
        </p:nvSpPr>
        <p:spPr>
          <a:xfrm>
            <a:off x="658368" y="713232"/>
            <a:ext cx="9326880" cy="685800"/>
          </a:xfrm>
          <a:prstGeom prst="rect">
            <a:avLst/>
          </a:prstGeom>
          <a:noFill/>
        </p:spPr>
        <p:txBody>
          <a:bodyPr wrap="square" lIns="0" tIns="0" rIns="0" bIns="0" anchor="t">
            <a:normAutofit/>
          </a:bodyPr>
          <a:lstStyle/>
          <a:p>
            <a:pPr algn="l">
              <a:lnSpc>
                <a:spcPct val="100000"/>
              </a:lnSpc>
              <a:spcBef>
                <a:spcPts val="0"/>
              </a:spcBef>
            </a:pPr>
            <a:r>
              <a:rPr lang="es-ES" sz="3000" b="1" i="0">
                <a:solidFill>
                  <a:srgbClr val="211915"/>
                </a:solidFill>
              </a:rPr>
              <a:t>Una o dos hipótesis de valor por equipo</a:t>
            </a:r>
          </a:p>
        </p:txBody>
      </p:sp>
      <p:sp>
        <p:nvSpPr>
          <p:cNvPr id="78" name="sh78"/>
          <p:cNvSpPr/>
          <p:nvPr/>
        </p:nvSpPr>
        <p:spPr>
          <a:xfrm>
            <a:off x="658368" y="1783080"/>
            <a:ext cx="10875234" cy="3550000"/>
          </a:xfrm>
          <a:prstGeom prst="rect">
            <a:avLst/>
          </a:prstGeom>
          <a:solidFill>
            <a:srgbClr val="FFFFFF"/>
          </a:solidFill>
          <a:ln w="12700">
            <a:solidFill>
              <a:srgbClr val="E3E0DE"/>
            </a:solidFill>
          </a:ln>
        </p:spPr>
        <p:txBody>
          <a:bodyPr lIns="146304" tIns="73152" rIns="146304" bIns="73152" anchor="ctr">
            <a:normAutofit/>
          </a:bodyPr>
          <a:lstStyle/>
          <a:p>
            <a:endParaRPr lang="es-ES"/>
          </a:p>
        </p:txBody>
      </p:sp>
      <p:sp>
        <p:nvSpPr>
          <p:cNvPr id="79" name="tb79"/>
          <p:cNvSpPr txBox="1"/>
          <p:nvPr/>
        </p:nvSpPr>
        <p:spPr>
          <a:xfrm>
            <a:off x="1005840" y="2011680"/>
            <a:ext cx="5000000" cy="274320"/>
          </a:xfrm>
          <a:prstGeom prst="rect">
            <a:avLst/>
          </a:prstGeom>
          <a:noFill/>
        </p:spPr>
        <p:txBody>
          <a:bodyPr wrap="square" lIns="0" tIns="0" rIns="0" bIns="0" anchor="t">
            <a:normAutofit/>
          </a:bodyPr>
          <a:lstStyle/>
          <a:p>
            <a:pPr algn="l">
              <a:lnSpc>
                <a:spcPct val="100000"/>
              </a:lnSpc>
              <a:spcBef>
                <a:spcPts val="0"/>
              </a:spcBef>
            </a:pPr>
            <a:r>
              <a:rPr lang="es-ES" sz="1100" b="1" i="0" spc="120">
                <a:solidFill>
                  <a:srgbClr val="ED1C29"/>
                </a:solidFill>
              </a:rPr>
              <a:t>FICHA DE CASO DE VALOR</a:t>
            </a:r>
          </a:p>
        </p:txBody>
      </p:sp>
      <p:sp>
        <p:nvSpPr>
          <p:cNvPr id="100" name="tb100"/>
          <p:cNvSpPr txBox="1"/>
          <p:nvPr/>
        </p:nvSpPr>
        <p:spPr>
          <a:xfrm>
            <a:off x="1005840" y="2570000"/>
            <a:ext cx="4800000" cy="201168"/>
          </a:xfrm>
          <a:prstGeom prst="rect">
            <a:avLst/>
          </a:prstGeom>
          <a:noFill/>
        </p:spPr>
        <p:txBody>
          <a:bodyPr wrap="square" lIns="0" tIns="0" rIns="0" bIns="0" anchor="t">
            <a:normAutofit/>
          </a:bodyPr>
          <a:lstStyle/>
          <a:p>
            <a:pPr algn="l">
              <a:lnSpc>
                <a:spcPct val="100000"/>
              </a:lnSpc>
              <a:spcBef>
                <a:spcPts val="0"/>
              </a:spcBef>
            </a:pPr>
            <a:r>
              <a:rPr lang="es-ES" sz="900" b="1" i="0" spc="100">
                <a:solidFill>
                  <a:srgbClr val="211915"/>
                </a:solidFill>
              </a:rPr>
              <a:t>HIPÓTESIS</a:t>
            </a:r>
          </a:p>
        </p:txBody>
      </p:sp>
      <p:sp>
        <p:nvSpPr>
          <p:cNvPr id="101" name="tb101"/>
          <p:cNvSpPr txBox="1"/>
          <p:nvPr/>
        </p:nvSpPr>
        <p:spPr>
          <a:xfrm>
            <a:off x="1005840" y="2775000"/>
            <a:ext cx="4800000" cy="210000"/>
          </a:xfrm>
          <a:prstGeom prst="rect">
            <a:avLst/>
          </a:prstGeom>
          <a:noFill/>
        </p:spPr>
        <p:txBody>
          <a:bodyPr wrap="square" lIns="0" tIns="0" rIns="0" bIns="0" anchor="t">
            <a:normAutofit/>
          </a:bodyPr>
          <a:lstStyle/>
          <a:p>
            <a:pPr algn="l">
              <a:lnSpc>
                <a:spcPct val="100000"/>
              </a:lnSpc>
              <a:spcBef>
                <a:spcPts val="0"/>
              </a:spcBef>
            </a:pPr>
            <a:r>
              <a:rPr lang="es-ES" sz="1200" b="0" i="0">
                <a:solidFill>
                  <a:srgbClr val="7A7A7A"/>
                </a:solidFill>
              </a:rPr>
              <a:t>Qué creemos que puede cambiar.</a:t>
            </a:r>
          </a:p>
        </p:txBody>
      </p:sp>
      <p:sp>
        <p:nvSpPr>
          <p:cNvPr id="102" name="tb102"/>
          <p:cNvSpPr txBox="1"/>
          <p:nvPr/>
        </p:nvSpPr>
        <p:spPr>
          <a:xfrm>
            <a:off x="1005840" y="3015000"/>
            <a:ext cx="4800000" cy="201168"/>
          </a:xfrm>
          <a:prstGeom prst="rect">
            <a:avLst/>
          </a:prstGeom>
          <a:noFill/>
        </p:spPr>
        <p:txBody>
          <a:bodyPr wrap="square" lIns="0" tIns="0" rIns="0" bIns="0" anchor="t">
            <a:normAutofit/>
          </a:bodyPr>
          <a:lstStyle/>
          <a:p>
            <a:pPr algn="l">
              <a:lnSpc>
                <a:spcPct val="100000"/>
              </a:lnSpc>
              <a:spcBef>
                <a:spcPts val="0"/>
              </a:spcBef>
            </a:pPr>
            <a:r>
              <a:rPr lang="es-ES" sz="900" b="1" i="0" spc="100">
                <a:solidFill>
                  <a:srgbClr val="211915"/>
                </a:solidFill>
              </a:rPr>
              <a:t>BASELINE</a:t>
            </a:r>
          </a:p>
        </p:txBody>
      </p:sp>
      <p:sp>
        <p:nvSpPr>
          <p:cNvPr id="103" name="tb103"/>
          <p:cNvSpPr txBox="1"/>
          <p:nvPr/>
        </p:nvSpPr>
        <p:spPr>
          <a:xfrm>
            <a:off x="1005840" y="3220000"/>
            <a:ext cx="4800000" cy="210000"/>
          </a:xfrm>
          <a:prstGeom prst="rect">
            <a:avLst/>
          </a:prstGeom>
          <a:noFill/>
        </p:spPr>
        <p:txBody>
          <a:bodyPr wrap="square" lIns="0" tIns="0" rIns="0" bIns="0" anchor="t">
            <a:normAutofit/>
          </a:bodyPr>
          <a:lstStyle/>
          <a:p>
            <a:pPr algn="l">
              <a:lnSpc>
                <a:spcPct val="100000"/>
              </a:lnSpc>
              <a:spcBef>
                <a:spcPts val="0"/>
              </a:spcBef>
            </a:pPr>
            <a:r>
              <a:rPr lang="es-ES" sz="1200" b="0" i="0">
                <a:solidFill>
                  <a:srgbClr val="7A7A7A"/>
                </a:solidFill>
              </a:rPr>
              <a:t>Cómo estamos hoy.</a:t>
            </a:r>
          </a:p>
        </p:txBody>
      </p:sp>
      <p:sp>
        <p:nvSpPr>
          <p:cNvPr id="104" name="tb104"/>
          <p:cNvSpPr txBox="1"/>
          <p:nvPr/>
        </p:nvSpPr>
        <p:spPr>
          <a:xfrm>
            <a:off x="1005840" y="3460000"/>
            <a:ext cx="4800000" cy="201168"/>
          </a:xfrm>
          <a:prstGeom prst="rect">
            <a:avLst/>
          </a:prstGeom>
          <a:noFill/>
        </p:spPr>
        <p:txBody>
          <a:bodyPr wrap="square" lIns="0" tIns="0" rIns="0" bIns="0" anchor="t">
            <a:normAutofit/>
          </a:bodyPr>
          <a:lstStyle/>
          <a:p>
            <a:pPr algn="l">
              <a:lnSpc>
                <a:spcPct val="100000"/>
              </a:lnSpc>
              <a:spcBef>
                <a:spcPts val="0"/>
              </a:spcBef>
            </a:pPr>
            <a:r>
              <a:rPr lang="es-ES" sz="900" b="1" i="0" spc="100">
                <a:solidFill>
                  <a:srgbClr val="211915"/>
                </a:solidFill>
              </a:rPr>
              <a:t>INDICADOR</a:t>
            </a:r>
          </a:p>
        </p:txBody>
      </p:sp>
      <p:sp>
        <p:nvSpPr>
          <p:cNvPr id="105" name="tb105"/>
          <p:cNvSpPr txBox="1"/>
          <p:nvPr/>
        </p:nvSpPr>
        <p:spPr>
          <a:xfrm>
            <a:off x="1005840" y="3665000"/>
            <a:ext cx="4800000" cy="210000"/>
          </a:xfrm>
          <a:prstGeom prst="rect">
            <a:avLst/>
          </a:prstGeom>
          <a:noFill/>
        </p:spPr>
        <p:txBody>
          <a:bodyPr wrap="square" lIns="0" tIns="0" rIns="0" bIns="0" anchor="t">
            <a:normAutofit/>
          </a:bodyPr>
          <a:lstStyle/>
          <a:p>
            <a:pPr algn="l">
              <a:lnSpc>
                <a:spcPct val="100000"/>
              </a:lnSpc>
              <a:spcBef>
                <a:spcPts val="0"/>
              </a:spcBef>
            </a:pPr>
            <a:r>
              <a:rPr lang="es-ES" sz="1200" b="0" i="0">
                <a:solidFill>
                  <a:srgbClr val="7A7A7A"/>
                </a:solidFill>
              </a:rPr>
              <a:t>Qué vamos a observar.</a:t>
            </a:r>
          </a:p>
        </p:txBody>
      </p:sp>
      <p:sp>
        <p:nvSpPr>
          <p:cNvPr id="106" name="tb106"/>
          <p:cNvSpPr txBox="1"/>
          <p:nvPr/>
        </p:nvSpPr>
        <p:spPr>
          <a:xfrm>
            <a:off x="1005840" y="4350000"/>
            <a:ext cx="4800000" cy="201168"/>
          </a:xfrm>
          <a:prstGeom prst="rect">
            <a:avLst/>
          </a:prstGeom>
          <a:noFill/>
        </p:spPr>
        <p:txBody>
          <a:bodyPr wrap="square" lIns="0" tIns="0" rIns="0" bIns="0" anchor="t">
            <a:normAutofit/>
          </a:bodyPr>
          <a:lstStyle/>
          <a:p>
            <a:pPr algn="l">
              <a:lnSpc>
                <a:spcPct val="100000"/>
              </a:lnSpc>
              <a:spcBef>
                <a:spcPts val="0"/>
              </a:spcBef>
            </a:pPr>
            <a:r>
              <a:rPr lang="es-ES" sz="900" b="1" i="0" spc="100">
                <a:solidFill>
                  <a:srgbClr val="211915"/>
                </a:solidFill>
              </a:rPr>
              <a:t>OBJETIVO</a:t>
            </a:r>
          </a:p>
        </p:txBody>
      </p:sp>
      <p:sp>
        <p:nvSpPr>
          <p:cNvPr id="107" name="tb107"/>
          <p:cNvSpPr txBox="1"/>
          <p:nvPr/>
        </p:nvSpPr>
        <p:spPr>
          <a:xfrm>
            <a:off x="1005840" y="4555000"/>
            <a:ext cx="4800000" cy="210000"/>
          </a:xfrm>
          <a:prstGeom prst="rect">
            <a:avLst/>
          </a:prstGeom>
          <a:noFill/>
        </p:spPr>
        <p:txBody>
          <a:bodyPr wrap="square" lIns="0" tIns="0" rIns="0" bIns="0" anchor="t">
            <a:normAutofit/>
          </a:bodyPr>
          <a:lstStyle/>
          <a:p>
            <a:pPr algn="l">
              <a:lnSpc>
                <a:spcPct val="100000"/>
              </a:lnSpc>
              <a:spcBef>
                <a:spcPts val="0"/>
              </a:spcBef>
            </a:pPr>
            <a:r>
              <a:rPr lang="es-ES" sz="1200" b="0" i="0">
                <a:solidFill>
                  <a:srgbClr val="7A7A7A"/>
                </a:solidFill>
              </a:rPr>
              <a:t>Qué cambio esperamos.</a:t>
            </a:r>
          </a:p>
        </p:txBody>
      </p:sp>
      <p:sp>
        <p:nvSpPr>
          <p:cNvPr id="108" name="tb108"/>
          <p:cNvSpPr txBox="1"/>
          <p:nvPr/>
        </p:nvSpPr>
        <p:spPr>
          <a:xfrm>
            <a:off x="6300000" y="2570000"/>
            <a:ext cx="4885000" cy="201168"/>
          </a:xfrm>
          <a:prstGeom prst="rect">
            <a:avLst/>
          </a:prstGeom>
          <a:noFill/>
        </p:spPr>
        <p:txBody>
          <a:bodyPr wrap="square" lIns="0" tIns="0" rIns="0" bIns="0" anchor="t">
            <a:normAutofit/>
          </a:bodyPr>
          <a:lstStyle/>
          <a:p>
            <a:pPr algn="l">
              <a:lnSpc>
                <a:spcPct val="100000"/>
              </a:lnSpc>
              <a:spcBef>
                <a:spcPts val="0"/>
              </a:spcBef>
            </a:pPr>
            <a:r>
              <a:rPr lang="es-ES" sz="900" b="1" i="0" spc="100">
                <a:solidFill>
                  <a:srgbClr val="211915"/>
                </a:solidFill>
              </a:rPr>
              <a:t>DESTINO DE LA CAPACIDAD</a:t>
            </a:r>
          </a:p>
        </p:txBody>
      </p:sp>
      <p:sp>
        <p:nvSpPr>
          <p:cNvPr id="109" name="tb109"/>
          <p:cNvSpPr txBox="1"/>
          <p:nvPr/>
        </p:nvSpPr>
        <p:spPr>
          <a:xfrm>
            <a:off x="6300000" y="2775000"/>
            <a:ext cx="4885000" cy="210000"/>
          </a:xfrm>
          <a:prstGeom prst="rect">
            <a:avLst/>
          </a:prstGeom>
          <a:noFill/>
        </p:spPr>
        <p:txBody>
          <a:bodyPr wrap="square" lIns="0" tIns="0" rIns="0" bIns="0" anchor="t">
            <a:normAutofit/>
          </a:bodyPr>
          <a:lstStyle/>
          <a:p>
            <a:pPr algn="l">
              <a:lnSpc>
                <a:spcPct val="100000"/>
              </a:lnSpc>
              <a:spcBef>
                <a:spcPts val="0"/>
              </a:spcBef>
            </a:pPr>
            <a:r>
              <a:rPr lang="es-ES" sz="1200" b="0" i="0">
                <a:solidFill>
                  <a:srgbClr val="7A7A7A"/>
                </a:solidFill>
              </a:rPr>
              <a:t>Qué haríamos si efectivamente aparece.</a:t>
            </a:r>
          </a:p>
        </p:txBody>
      </p:sp>
      <p:sp>
        <p:nvSpPr>
          <p:cNvPr id="110" name="tb110"/>
          <p:cNvSpPr txBox="1"/>
          <p:nvPr/>
        </p:nvSpPr>
        <p:spPr>
          <a:xfrm>
            <a:off x="6300000" y="3015000"/>
            <a:ext cx="4885000" cy="201168"/>
          </a:xfrm>
          <a:prstGeom prst="rect">
            <a:avLst/>
          </a:prstGeom>
          <a:noFill/>
        </p:spPr>
        <p:txBody>
          <a:bodyPr wrap="square" lIns="0" tIns="0" rIns="0" bIns="0" anchor="t">
            <a:normAutofit/>
          </a:bodyPr>
          <a:lstStyle/>
          <a:p>
            <a:pPr algn="l">
              <a:lnSpc>
                <a:spcPct val="100000"/>
              </a:lnSpc>
              <a:spcBef>
                <a:spcPts val="0"/>
              </a:spcBef>
            </a:pPr>
            <a:r>
              <a:rPr lang="es-ES" sz="900" b="1" i="0" spc="100">
                <a:solidFill>
                  <a:srgbClr val="211915"/>
                </a:solidFill>
              </a:rPr>
              <a:t>KPI DE NEGOCIO</a:t>
            </a:r>
          </a:p>
        </p:txBody>
      </p:sp>
      <p:sp>
        <p:nvSpPr>
          <p:cNvPr id="111" name="tb111"/>
          <p:cNvSpPr txBox="1"/>
          <p:nvPr/>
        </p:nvSpPr>
        <p:spPr>
          <a:xfrm>
            <a:off x="6300000" y="3220000"/>
            <a:ext cx="4885000" cy="210000"/>
          </a:xfrm>
          <a:prstGeom prst="rect">
            <a:avLst/>
          </a:prstGeom>
          <a:noFill/>
        </p:spPr>
        <p:txBody>
          <a:bodyPr wrap="square" lIns="0" tIns="0" rIns="0" bIns="0" anchor="t">
            <a:normAutofit/>
          </a:bodyPr>
          <a:lstStyle/>
          <a:p>
            <a:pPr algn="l">
              <a:lnSpc>
                <a:spcPct val="100000"/>
              </a:lnSpc>
              <a:spcBef>
                <a:spcPts val="0"/>
              </a:spcBef>
            </a:pPr>
            <a:r>
              <a:rPr lang="es-ES" sz="1200" b="0" i="0">
                <a:solidFill>
                  <a:srgbClr val="7A7A7A"/>
                </a:solidFill>
              </a:rPr>
              <a:t>Qué resultado queremos afectar.</a:t>
            </a:r>
          </a:p>
        </p:txBody>
      </p:sp>
      <p:sp>
        <p:nvSpPr>
          <p:cNvPr id="112" name="tb112"/>
          <p:cNvSpPr txBox="1"/>
          <p:nvPr/>
        </p:nvSpPr>
        <p:spPr>
          <a:xfrm>
            <a:off x="6300000" y="3460000"/>
            <a:ext cx="4885000" cy="201168"/>
          </a:xfrm>
          <a:prstGeom prst="rect">
            <a:avLst/>
          </a:prstGeom>
          <a:noFill/>
        </p:spPr>
        <p:txBody>
          <a:bodyPr wrap="square" lIns="0" tIns="0" rIns="0" bIns="0" anchor="t">
            <a:normAutofit/>
          </a:bodyPr>
          <a:lstStyle/>
          <a:p>
            <a:pPr algn="l">
              <a:lnSpc>
                <a:spcPct val="100000"/>
              </a:lnSpc>
              <a:spcBef>
                <a:spcPts val="0"/>
              </a:spcBef>
            </a:pPr>
            <a:r>
              <a:rPr lang="es-ES" sz="900" b="1" i="0" spc="100">
                <a:solidFill>
                  <a:srgbClr val="211915"/>
                </a:solidFill>
              </a:rPr>
              <a:t>FUENTE</a:t>
            </a:r>
          </a:p>
        </p:txBody>
      </p:sp>
      <p:sp>
        <p:nvSpPr>
          <p:cNvPr id="113" name="tb113"/>
          <p:cNvSpPr txBox="1"/>
          <p:nvPr/>
        </p:nvSpPr>
        <p:spPr>
          <a:xfrm>
            <a:off x="6300000" y="3665000"/>
            <a:ext cx="4885000" cy="210000"/>
          </a:xfrm>
          <a:prstGeom prst="rect">
            <a:avLst/>
          </a:prstGeom>
          <a:noFill/>
        </p:spPr>
        <p:txBody>
          <a:bodyPr wrap="square" lIns="0" tIns="0" rIns="0" bIns="0" anchor="t">
            <a:normAutofit/>
          </a:bodyPr>
          <a:lstStyle/>
          <a:p>
            <a:pPr algn="l">
              <a:lnSpc>
                <a:spcPct val="100000"/>
              </a:lnSpc>
              <a:spcBef>
                <a:spcPts val="0"/>
              </a:spcBef>
            </a:pPr>
            <a:r>
              <a:rPr lang="es-ES" sz="1200" b="0" i="0">
                <a:solidFill>
                  <a:srgbClr val="7A7A7A"/>
                </a:solidFill>
              </a:rPr>
              <a:t>De dónde saldrá la evidencia.</a:t>
            </a:r>
          </a:p>
        </p:txBody>
      </p:sp>
      <p:sp>
        <p:nvSpPr>
          <p:cNvPr id="114" name="tb114"/>
          <p:cNvSpPr txBox="1"/>
          <p:nvPr/>
        </p:nvSpPr>
        <p:spPr>
          <a:xfrm>
            <a:off x="6300000" y="3905000"/>
            <a:ext cx="4885000" cy="201168"/>
          </a:xfrm>
          <a:prstGeom prst="rect">
            <a:avLst/>
          </a:prstGeom>
          <a:noFill/>
        </p:spPr>
        <p:txBody>
          <a:bodyPr wrap="square" lIns="0" tIns="0" rIns="0" bIns="0" anchor="t">
            <a:normAutofit/>
          </a:bodyPr>
          <a:lstStyle/>
          <a:p>
            <a:pPr algn="l">
              <a:lnSpc>
                <a:spcPct val="100000"/>
              </a:lnSpc>
              <a:spcBef>
                <a:spcPts val="0"/>
              </a:spcBef>
            </a:pPr>
            <a:r>
              <a:rPr lang="es-ES" sz="900" b="1" i="0" spc="100">
                <a:solidFill>
                  <a:srgbClr val="211915"/>
                </a:solidFill>
              </a:rPr>
              <a:t>RESPONSABLE</a:t>
            </a:r>
          </a:p>
        </p:txBody>
      </p:sp>
      <p:sp>
        <p:nvSpPr>
          <p:cNvPr id="115" name="tb115"/>
          <p:cNvSpPr txBox="1"/>
          <p:nvPr/>
        </p:nvSpPr>
        <p:spPr>
          <a:xfrm>
            <a:off x="6300000" y="4110000"/>
            <a:ext cx="4885000" cy="210000"/>
          </a:xfrm>
          <a:prstGeom prst="rect">
            <a:avLst/>
          </a:prstGeom>
          <a:noFill/>
        </p:spPr>
        <p:txBody>
          <a:bodyPr wrap="square" lIns="0" tIns="0" rIns="0" bIns="0" anchor="t">
            <a:normAutofit/>
          </a:bodyPr>
          <a:lstStyle/>
          <a:p>
            <a:pPr algn="l">
              <a:lnSpc>
                <a:spcPct val="100000"/>
              </a:lnSpc>
              <a:spcBef>
                <a:spcPts val="0"/>
              </a:spcBef>
            </a:pPr>
            <a:r>
              <a:rPr lang="es-ES" sz="1200" b="0" i="0">
                <a:solidFill>
                  <a:srgbClr val="7A7A7A"/>
                </a:solidFill>
              </a:rPr>
              <a:t>Quién validará el dato.</a:t>
            </a:r>
          </a:p>
        </p:txBody>
      </p:sp>
      <p:sp>
        <p:nvSpPr>
          <p:cNvPr id="120" name="tb120" descr="Encabezado del grupo de campos sobre cómo demostramos el cambio"/>
          <p:cNvSpPr txBox="1"/>
          <p:nvPr/>
        </p:nvSpPr>
        <p:spPr>
          <a:xfrm>
            <a:off x="1005840" y="2320000"/>
            <a:ext cx="4800000" cy="201168"/>
          </a:xfrm>
          <a:prstGeom prst="rect">
            <a:avLst/>
          </a:prstGeom>
          <a:noFill/>
        </p:spPr>
        <p:txBody>
          <a:bodyPr wrap="square" lIns="0" tIns="0" rIns="0" bIns="0" anchor="t">
            <a:normAutofit/>
          </a:bodyPr>
          <a:lstStyle/>
          <a:p>
            <a:pPr algn="l">
              <a:lnSpc>
                <a:spcPct val="100000"/>
              </a:lnSpc>
              <a:spcBef>
                <a:spcPts val="0"/>
              </a:spcBef>
            </a:pPr>
            <a:r>
              <a:rPr lang="es-ES" sz="900" b="1" i="0" spc="120">
                <a:solidFill>
                  <a:srgbClr val="ED1C29"/>
                </a:solidFill>
              </a:rPr>
              <a:t>Cómo demostramos el cambio</a:t>
            </a:r>
          </a:p>
        </p:txBody>
      </p:sp>
      <p:sp>
        <p:nvSpPr>
          <p:cNvPr id="121" name="tb121" descr="Encabezado del grupo de campos sobre cómo demostramos el valor"/>
          <p:cNvSpPr txBox="1"/>
          <p:nvPr/>
        </p:nvSpPr>
        <p:spPr>
          <a:xfrm>
            <a:off x="6300000" y="2320000"/>
            <a:ext cx="4885000" cy="201168"/>
          </a:xfrm>
          <a:prstGeom prst="rect">
            <a:avLst/>
          </a:prstGeom>
          <a:noFill/>
        </p:spPr>
        <p:txBody>
          <a:bodyPr wrap="square" lIns="0" tIns="0" rIns="0" bIns="0" anchor="t">
            <a:normAutofit/>
          </a:bodyPr>
          <a:lstStyle/>
          <a:p>
            <a:pPr algn="l">
              <a:lnSpc>
                <a:spcPct val="100000"/>
              </a:lnSpc>
              <a:spcBef>
                <a:spcPts val="0"/>
              </a:spcBef>
            </a:pPr>
            <a:r>
              <a:rPr lang="es-ES" sz="900" b="1" i="0" spc="120">
                <a:solidFill>
                  <a:srgbClr val="ED1C29"/>
                </a:solidFill>
              </a:rPr>
              <a:t>Cómo demostramos el valor</a:t>
            </a:r>
          </a:p>
        </p:txBody>
      </p:sp>
      <p:sp>
        <p:nvSpPr>
          <p:cNvPr id="122" name="tb122" descr="Etiqueta del campo Guardrail"/>
          <p:cNvSpPr txBox="1"/>
          <p:nvPr/>
        </p:nvSpPr>
        <p:spPr>
          <a:xfrm>
            <a:off x="1005840" y="3905000"/>
            <a:ext cx="4800000" cy="201168"/>
          </a:xfrm>
          <a:prstGeom prst="rect">
            <a:avLst/>
          </a:prstGeom>
          <a:noFill/>
        </p:spPr>
        <p:txBody>
          <a:bodyPr wrap="square" lIns="0" tIns="0" rIns="0" bIns="0" anchor="t">
            <a:normAutofit/>
          </a:bodyPr>
          <a:lstStyle/>
          <a:p>
            <a:pPr algn="l">
              <a:lnSpc>
                <a:spcPct val="100000"/>
              </a:lnSpc>
              <a:spcBef>
                <a:spcPts val="0"/>
              </a:spcBef>
            </a:pPr>
            <a:r>
              <a:rPr lang="es-ES" sz="900" b="1" i="0" spc="100">
                <a:solidFill>
                  <a:srgbClr val="211915"/>
                </a:solidFill>
              </a:rPr>
              <a:t>GUARDRAIL</a:t>
            </a:r>
          </a:p>
        </p:txBody>
      </p:sp>
      <p:sp>
        <p:nvSpPr>
          <p:cNvPr id="123" name="tb123" descr="Descripción del campo Guardrail"/>
          <p:cNvSpPr txBox="1"/>
          <p:nvPr/>
        </p:nvSpPr>
        <p:spPr>
          <a:xfrm>
            <a:off x="1005840" y="4110000"/>
            <a:ext cx="4800000" cy="210000"/>
          </a:xfrm>
          <a:prstGeom prst="rect">
            <a:avLst/>
          </a:prstGeom>
          <a:noFill/>
        </p:spPr>
        <p:txBody>
          <a:bodyPr wrap="square" lIns="0" tIns="0" rIns="0" bIns="0" anchor="t">
            <a:normAutofit/>
          </a:bodyPr>
          <a:lstStyle/>
          <a:p>
            <a:pPr algn="l">
              <a:lnSpc>
                <a:spcPct val="100000"/>
              </a:lnSpc>
              <a:spcBef>
                <a:spcPts val="0"/>
              </a:spcBef>
            </a:pPr>
            <a:r>
              <a:rPr lang="es-ES" sz="1200" b="0" i="0">
                <a:solidFill>
                  <a:srgbClr val="7A7A7A"/>
                </a:solidFill>
              </a:rPr>
              <a:t>Qué no puede deteriorarse.</a:t>
            </a:r>
          </a:p>
        </p:txBody>
      </p:sp>
      <p:sp>
        <p:nvSpPr>
          <p:cNvPr id="124" name="tb124" descr="Etiqueta del campo Período"/>
          <p:cNvSpPr txBox="1"/>
          <p:nvPr/>
        </p:nvSpPr>
        <p:spPr>
          <a:xfrm>
            <a:off x="1005840" y="4795000"/>
            <a:ext cx="4800000" cy="201168"/>
          </a:xfrm>
          <a:prstGeom prst="rect">
            <a:avLst/>
          </a:prstGeom>
          <a:noFill/>
        </p:spPr>
        <p:txBody>
          <a:bodyPr wrap="square" lIns="0" tIns="0" rIns="0" bIns="0" anchor="t">
            <a:normAutofit/>
          </a:bodyPr>
          <a:lstStyle/>
          <a:p>
            <a:pPr algn="l">
              <a:lnSpc>
                <a:spcPct val="100000"/>
              </a:lnSpc>
              <a:spcBef>
                <a:spcPts val="0"/>
              </a:spcBef>
            </a:pPr>
            <a:r>
              <a:rPr lang="es-ES" sz="900" b="1" i="0" spc="100">
                <a:solidFill>
                  <a:srgbClr val="211915"/>
                </a:solidFill>
              </a:rPr>
              <a:t>PERÍODO</a:t>
            </a:r>
          </a:p>
        </p:txBody>
      </p:sp>
      <p:sp>
        <p:nvSpPr>
          <p:cNvPr id="125" name="tb125" descr="Descripción del campo Período"/>
          <p:cNvSpPr txBox="1"/>
          <p:nvPr/>
        </p:nvSpPr>
        <p:spPr>
          <a:xfrm>
            <a:off x="1005840" y="5000000"/>
            <a:ext cx="4800000" cy="210000"/>
          </a:xfrm>
          <a:prstGeom prst="rect">
            <a:avLst/>
          </a:prstGeom>
          <a:noFill/>
        </p:spPr>
        <p:txBody>
          <a:bodyPr wrap="square" lIns="0" tIns="0" rIns="0" bIns="0" anchor="t">
            <a:normAutofit/>
          </a:bodyPr>
          <a:lstStyle/>
          <a:p>
            <a:pPr algn="l">
              <a:lnSpc>
                <a:spcPct val="100000"/>
              </a:lnSpc>
              <a:spcBef>
                <a:spcPts val="0"/>
              </a:spcBef>
            </a:pPr>
            <a:r>
              <a:rPr lang="es-ES" sz="1200" b="0" i="0">
                <a:solidFill>
                  <a:srgbClr val="7A7A7A"/>
                </a:solidFill>
              </a:rPr>
              <a:t>Durante cuánto tiempo lo evaluaremos.</a:t>
            </a:r>
          </a:p>
        </p:txBody>
      </p:sp>
      <p:sp>
        <p:nvSpPr>
          <p:cNvPr id="94" name="tb94"/>
          <p:cNvSpPr txBox="1"/>
          <p:nvPr/>
        </p:nvSpPr>
        <p:spPr>
          <a:xfrm>
            <a:off x="658368" y="5623560"/>
            <a:ext cx="10881360" cy="457200"/>
          </a:xfrm>
          <a:prstGeom prst="rect">
            <a:avLst/>
          </a:prstGeom>
          <a:noFill/>
        </p:spPr>
        <p:txBody>
          <a:bodyPr wrap="square" lIns="0" tIns="0" rIns="0" bIns="0" anchor="t">
            <a:normAutofit/>
          </a:bodyPr>
          <a:lstStyle/>
          <a:p>
            <a:pPr algn="l">
              <a:lnSpc>
                <a:spcPct val="100000"/>
              </a:lnSpc>
              <a:spcBef>
                <a:spcPts val="0"/>
              </a:spcBef>
            </a:pPr>
            <a:r>
              <a:rPr lang="es-ES" sz="1250" b="0" i="1">
                <a:solidFill>
                  <a:srgbClr val="7A7A7A"/>
                </a:solidFill>
              </a:rPr>
              <a:t>Cada equipo debe construir una hipótesis de valor suficientemente concreta para decidir si vale la pena invertir y definir cómo comprobar posteriormente si esa hipótesis se cumplió.</a:t>
            </a:r>
          </a:p>
        </p:txBody>
      </p:sp>
      <p:sp>
        <p:nvSpPr>
          <p:cNvPr id="98" name="tb98"/>
          <p:cNvSpPr txBox="1"/>
          <p:nvPr/>
        </p:nvSpPr>
        <p:spPr>
          <a:xfrm>
            <a:off x="658368" y="6272784"/>
            <a:ext cx="5486400" cy="228600"/>
          </a:xfrm>
          <a:prstGeom prst="rect">
            <a:avLst/>
          </a:prstGeom>
          <a:noFill/>
        </p:spPr>
        <p:txBody>
          <a:bodyPr wrap="square" lIns="0" tIns="0" rIns="0" bIns="0" anchor="t">
            <a:normAutofit/>
          </a:bodyPr>
          <a:lstStyle/>
          <a:p>
            <a:pPr algn="l">
              <a:lnSpc>
                <a:spcPct val="100000"/>
              </a:lnSpc>
              <a:spcBef>
                <a:spcPts val="0"/>
              </a:spcBef>
            </a:pPr>
            <a:r>
              <a:rPr lang="es-ES" sz="900" b="1" i="0">
                <a:solidFill>
                  <a:srgbClr val="211915"/>
                </a:solidFill>
              </a:rPr>
              <a:t>Tuya   ·   Del valor de GitHub Copilot</a:t>
            </a:r>
          </a:p>
        </p:txBody>
      </p:sp>
      <p:sp>
        <p:nvSpPr>
          <p:cNvPr id="99" name="tb99"/>
          <p:cNvSpPr txBox="1"/>
          <p:nvPr/>
        </p:nvSpPr>
        <p:spPr>
          <a:xfrm>
            <a:off x="10436322" y="6272784"/>
            <a:ext cx="1097280" cy="228600"/>
          </a:xfrm>
          <a:prstGeom prst="rect">
            <a:avLst/>
          </a:prstGeom>
          <a:noFill/>
        </p:spPr>
        <p:txBody>
          <a:bodyPr wrap="square" lIns="0" tIns="0" rIns="0" bIns="0" anchor="t">
            <a:normAutofit/>
          </a:bodyPr>
          <a:lstStyle/>
          <a:p>
            <a:pPr algn="r">
              <a:lnSpc>
                <a:spcPct val="100000"/>
              </a:lnSpc>
              <a:spcBef>
                <a:spcPts val="0"/>
              </a:spcBef>
            </a:pPr>
            <a:r>
              <a:rPr lang="es-ES" sz="900" b="1" i="0">
                <a:solidFill>
                  <a:srgbClr val="ED1C29"/>
                </a:solidFill>
              </a:rPr>
              <a:t>14</a:t>
            </a:r>
          </a:p>
        </p:txBody>
      </p:sp>
      <p:pic>
        <p:nvPicPr>
          <p:cNvPr id="900" name="Logo Tuya"/>
          <p:cNvPicPr>
            <a:picLocks noChangeAspect="1"/>
          </p:cNvPicPr>
          <p:nvPr/>
        </p:nvPicPr>
        <p:blipFill>
          <a:blip r:embed="rId3"/>
          <a:stretch>
            <a:fillRect/>
          </a:stretch>
        </p:blipFill>
        <p:spPr>
          <a:xfrm>
            <a:off x="11152200" y="321276"/>
            <a:ext cx="640080" cy="320040"/>
          </a:xfrm>
          <a:prstGeom prst="rect">
            <a:avLst/>
          </a:prstGeom>
        </p:spPr>
      </p:pic>
    </p:spTree>
    <p:extLst>
      <p:ext uri="{BB962C8B-B14F-4D97-AF65-F5344CB8AC3E}">
        <p14:creationId xmlns:p14="http://schemas.microsoft.com/office/powerpoint/2010/main" val="1213902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0" name="sh210"/>
          <p:cNvSpPr/>
          <p:nvPr/>
        </p:nvSpPr>
        <p:spPr>
          <a:xfrm>
            <a:off x="658368" y="384048"/>
            <a:ext cx="146304" cy="146304"/>
          </a:xfrm>
          <a:prstGeom prst="rect">
            <a:avLst/>
          </a:prstGeom>
          <a:solidFill>
            <a:srgbClr val="ED1C29"/>
          </a:solidFill>
          <a:ln>
            <a:noFill/>
          </a:ln>
        </p:spPr>
        <p:txBody>
          <a:bodyPr lIns="146304" tIns="73152" rIns="146304" bIns="73152" anchor="ctr">
            <a:normAutofit fontScale="25000" lnSpcReduction="20000"/>
          </a:bodyPr>
          <a:lstStyle/>
          <a:p>
            <a:endParaRPr lang="es-ES"/>
          </a:p>
        </p:txBody>
      </p:sp>
      <p:sp>
        <p:nvSpPr>
          <p:cNvPr id="211" name="tb211"/>
          <p:cNvSpPr txBox="1"/>
          <p:nvPr/>
        </p:nvSpPr>
        <p:spPr>
          <a:xfrm>
            <a:off x="914400" y="365760"/>
            <a:ext cx="7315200" cy="237744"/>
          </a:xfrm>
          <a:prstGeom prst="rect">
            <a:avLst/>
          </a:prstGeom>
          <a:noFill/>
        </p:spPr>
        <p:txBody>
          <a:bodyPr wrap="square" lIns="0" tIns="0" rIns="0" bIns="0" anchor="t">
            <a:normAutofit/>
          </a:bodyPr>
          <a:lstStyle/>
          <a:p>
            <a:pPr algn="l">
              <a:lnSpc>
                <a:spcPct val="100000"/>
              </a:lnSpc>
              <a:spcBef>
                <a:spcPts val="0"/>
              </a:spcBef>
            </a:pPr>
            <a:r>
              <a:rPr lang="es-ES" sz="1050" b="1" i="0" spc="120">
                <a:solidFill>
                  <a:srgbClr val="ED1C29"/>
                </a:solidFill>
              </a:rPr>
              <a:t>DEL CASO A LA DECISIÓN</a:t>
            </a:r>
            <a:endParaRPr lang="es-ES" sz="1050" b="1" i="0" spc="120" dirty="0">
              <a:solidFill>
                <a:srgbClr val="ED1C29"/>
              </a:solidFill>
            </a:endParaRPr>
          </a:p>
        </p:txBody>
      </p:sp>
      <p:sp>
        <p:nvSpPr>
          <p:cNvPr id="212" name="tb212"/>
          <p:cNvSpPr txBox="1"/>
          <p:nvPr/>
        </p:nvSpPr>
        <p:spPr>
          <a:xfrm>
            <a:off x="658368" y="713232"/>
            <a:ext cx="9326880" cy="685800"/>
          </a:xfrm>
          <a:prstGeom prst="rect">
            <a:avLst/>
          </a:prstGeom>
          <a:noFill/>
        </p:spPr>
        <p:txBody>
          <a:bodyPr wrap="square" lIns="0" tIns="0" rIns="0" bIns="0" anchor="t">
            <a:normAutofit/>
          </a:bodyPr>
          <a:lstStyle/>
          <a:p>
            <a:pPr algn="l">
              <a:lnSpc>
                <a:spcPct val="100000"/>
              </a:lnSpc>
              <a:spcBef>
                <a:spcPts val="0"/>
              </a:spcBef>
            </a:pPr>
            <a:r>
              <a:rPr lang="es-ES" sz="3000" b="1" i="0">
                <a:solidFill>
                  <a:srgbClr val="211915"/>
                </a:solidFill>
              </a:rPr>
              <a:t>Cómo sustentar la solicitud de presupuesto</a:t>
            </a:r>
            <a:endParaRPr lang="es-ES" sz="3000" b="1" i="0" dirty="0">
              <a:solidFill>
                <a:srgbClr val="211915"/>
              </a:solidFill>
            </a:endParaRPr>
          </a:p>
        </p:txBody>
      </p:sp>
      <p:sp>
        <p:nvSpPr>
          <p:cNvPr id="230" name="flowBlock1" descr="Paso 1 del proceso: Equipo"/>
          <p:cNvSpPr/>
          <p:nvPr/>
        </p:nvSpPr>
        <p:spPr>
          <a:xfrm>
            <a:off x="658368" y="1430000"/>
            <a:ext cx="2400000" cy="380000"/>
          </a:xfrm>
          <a:prstGeom prst="roundRect">
            <a:avLst>
              <a:gd name="adj" fmla="val 16667"/>
            </a:avLst>
          </a:prstGeom>
          <a:solidFill>
            <a:srgbClr val="F7F5F4"/>
          </a:solidFill>
          <a:ln w="12700">
            <a:solidFill>
              <a:srgbClr val="ED1C29"/>
            </a:solidFill>
          </a:ln>
        </p:spPr>
        <p:txBody>
          <a:bodyPr wrap="square" lIns="73152" tIns="36576" rIns="73152" bIns="36576" anchor="ctr">
            <a:normAutofit/>
          </a:bodyPr>
          <a:lstStyle/>
          <a:p>
            <a:pPr algn="ctr">
              <a:lnSpc>
                <a:spcPct val="100000"/>
              </a:lnSpc>
              <a:spcBef>
                <a:spcPts val="0"/>
              </a:spcBef>
            </a:pPr>
            <a:r>
              <a:rPr lang="es-ES" sz="1200" b="1" i="0">
                <a:solidFill>
                  <a:srgbClr val="211915"/>
                </a:solidFill>
              </a:rPr>
              <a:t>Equipo</a:t>
            </a:r>
          </a:p>
        </p:txBody>
      </p:sp>
      <p:cxnSp>
        <p:nvCxnSpPr>
          <p:cNvPr id="240" name="flowConn1">
            <a:extLst>
              <a:ext uri="{C183D7F6-B498-43B3-948B-1728B52AA6E4}">
                <adec:decorative xmlns:adec="http://schemas.microsoft.com/office/drawing/2017/decorative" val="1"/>
              </a:ext>
            </a:extLst>
          </p:cNvPr>
          <p:cNvCxnSpPr/>
          <p:nvPr/>
        </p:nvCxnSpPr>
        <p:spPr>
          <a:xfrm>
            <a:off x="3158368" y="1620000"/>
            <a:ext cx="225078" cy="0"/>
          </a:xfrm>
          <a:prstGeom prst="line">
            <a:avLst/>
          </a:prstGeom>
          <a:ln w="19050">
            <a:solidFill>
              <a:srgbClr val="ED1C29"/>
            </a:solidFill>
            <a:tailEnd type="triangle"/>
          </a:ln>
        </p:spPr>
      </p:cxnSp>
      <p:sp>
        <p:nvSpPr>
          <p:cNvPr id="231" name="flowBlock2" descr="Paso 2 del proceso: Hipótesis"/>
          <p:cNvSpPr/>
          <p:nvPr/>
        </p:nvSpPr>
        <p:spPr>
          <a:xfrm>
            <a:off x="3483446" y="1430000"/>
            <a:ext cx="2400000" cy="380000"/>
          </a:xfrm>
          <a:prstGeom prst="roundRect">
            <a:avLst>
              <a:gd name="adj" fmla="val 16667"/>
            </a:avLst>
          </a:prstGeom>
          <a:solidFill>
            <a:srgbClr val="F7F5F4"/>
          </a:solidFill>
          <a:ln w="12700">
            <a:solidFill>
              <a:srgbClr val="ED1C29"/>
            </a:solidFill>
          </a:ln>
        </p:spPr>
        <p:txBody>
          <a:bodyPr wrap="square" lIns="73152" tIns="36576" rIns="73152" bIns="36576" anchor="ctr">
            <a:normAutofit/>
          </a:bodyPr>
          <a:lstStyle/>
          <a:p>
            <a:pPr algn="ctr">
              <a:lnSpc>
                <a:spcPct val="100000"/>
              </a:lnSpc>
              <a:spcBef>
                <a:spcPts val="0"/>
              </a:spcBef>
            </a:pPr>
            <a:r>
              <a:rPr lang="es-ES" sz="1200" b="1" i="0">
                <a:solidFill>
                  <a:srgbClr val="211915"/>
                </a:solidFill>
              </a:rPr>
              <a:t>Hipótesis</a:t>
            </a:r>
          </a:p>
        </p:txBody>
      </p:sp>
      <p:cxnSp>
        <p:nvCxnSpPr>
          <p:cNvPr id="241" name="flowConn2">
            <a:extLst>
              <a:ext uri="{C183D7F6-B498-43B3-948B-1728B52AA6E4}">
                <adec:decorative xmlns:adec="http://schemas.microsoft.com/office/drawing/2017/decorative" val="1"/>
              </a:ext>
            </a:extLst>
          </p:cNvPr>
          <p:cNvCxnSpPr/>
          <p:nvPr/>
        </p:nvCxnSpPr>
        <p:spPr>
          <a:xfrm>
            <a:off x="5983446" y="1620000"/>
            <a:ext cx="225078" cy="0"/>
          </a:xfrm>
          <a:prstGeom prst="line">
            <a:avLst/>
          </a:prstGeom>
          <a:ln w="19050">
            <a:solidFill>
              <a:srgbClr val="ED1C29"/>
            </a:solidFill>
            <a:tailEnd type="triangle"/>
          </a:ln>
        </p:spPr>
      </p:cxnSp>
      <p:sp>
        <p:nvSpPr>
          <p:cNvPr id="232" name="flowBlock3" descr="Paso 3 del proceso: Baseline"/>
          <p:cNvSpPr/>
          <p:nvPr/>
        </p:nvSpPr>
        <p:spPr>
          <a:xfrm>
            <a:off x="6308524" y="1430000"/>
            <a:ext cx="2400000" cy="380000"/>
          </a:xfrm>
          <a:prstGeom prst="roundRect">
            <a:avLst>
              <a:gd name="adj" fmla="val 16667"/>
            </a:avLst>
          </a:prstGeom>
          <a:solidFill>
            <a:srgbClr val="F7F5F4"/>
          </a:solidFill>
          <a:ln w="12700">
            <a:solidFill>
              <a:srgbClr val="ED1C29"/>
            </a:solidFill>
          </a:ln>
        </p:spPr>
        <p:txBody>
          <a:bodyPr wrap="square" lIns="73152" tIns="36576" rIns="73152" bIns="36576" anchor="ctr">
            <a:normAutofit/>
          </a:bodyPr>
          <a:lstStyle/>
          <a:p>
            <a:pPr algn="ctr">
              <a:lnSpc>
                <a:spcPct val="100000"/>
              </a:lnSpc>
              <a:spcBef>
                <a:spcPts val="0"/>
              </a:spcBef>
            </a:pPr>
            <a:r>
              <a:rPr lang="es-ES" sz="1200" b="1" i="0">
                <a:solidFill>
                  <a:srgbClr val="211915"/>
                </a:solidFill>
              </a:rPr>
              <a:t>Baseline</a:t>
            </a:r>
          </a:p>
        </p:txBody>
      </p:sp>
      <p:cxnSp>
        <p:nvCxnSpPr>
          <p:cNvPr id="242" name="flowConn3">
            <a:extLst>
              <a:ext uri="{C183D7F6-B498-43B3-948B-1728B52AA6E4}">
                <adec:decorative xmlns:adec="http://schemas.microsoft.com/office/drawing/2017/decorative" val="1"/>
              </a:ext>
            </a:extLst>
          </p:cNvPr>
          <p:cNvCxnSpPr/>
          <p:nvPr/>
        </p:nvCxnSpPr>
        <p:spPr>
          <a:xfrm>
            <a:off x="8808524" y="1620000"/>
            <a:ext cx="225078" cy="0"/>
          </a:xfrm>
          <a:prstGeom prst="line">
            <a:avLst/>
          </a:prstGeom>
          <a:ln w="19050">
            <a:solidFill>
              <a:srgbClr val="ED1C29"/>
            </a:solidFill>
            <a:tailEnd type="triangle"/>
          </a:ln>
        </p:spPr>
      </p:cxnSp>
      <p:sp>
        <p:nvSpPr>
          <p:cNvPr id="233" name="flowBlock4" descr="Paso 4 del proceso: Medición"/>
          <p:cNvSpPr/>
          <p:nvPr/>
        </p:nvSpPr>
        <p:spPr>
          <a:xfrm>
            <a:off x="9133602" y="1430000"/>
            <a:ext cx="2400000" cy="380000"/>
          </a:xfrm>
          <a:prstGeom prst="roundRect">
            <a:avLst>
              <a:gd name="adj" fmla="val 16667"/>
            </a:avLst>
          </a:prstGeom>
          <a:solidFill>
            <a:srgbClr val="F7F5F4"/>
          </a:solidFill>
          <a:ln w="12700">
            <a:solidFill>
              <a:srgbClr val="ED1C29"/>
            </a:solidFill>
          </a:ln>
        </p:spPr>
        <p:txBody>
          <a:bodyPr wrap="square" lIns="73152" tIns="36576" rIns="73152" bIns="36576" anchor="ctr">
            <a:normAutofit/>
          </a:bodyPr>
          <a:lstStyle/>
          <a:p>
            <a:pPr algn="ctr">
              <a:lnSpc>
                <a:spcPct val="100000"/>
              </a:lnSpc>
              <a:spcBef>
                <a:spcPts val="0"/>
              </a:spcBef>
            </a:pPr>
            <a:r>
              <a:rPr lang="es-ES" sz="1200" b="1" i="0">
                <a:solidFill>
                  <a:srgbClr val="211915"/>
                </a:solidFill>
              </a:rPr>
              <a:t>Medición</a:t>
            </a:r>
          </a:p>
        </p:txBody>
      </p:sp>
      <p:sp>
        <p:nvSpPr>
          <p:cNvPr id="234" name="flowBlock5" descr="Paso 5 del proceso: Resultado"/>
          <p:cNvSpPr/>
          <p:nvPr/>
        </p:nvSpPr>
        <p:spPr>
          <a:xfrm>
            <a:off x="658368" y="1850000"/>
            <a:ext cx="2400000" cy="380000"/>
          </a:xfrm>
          <a:prstGeom prst="roundRect">
            <a:avLst>
              <a:gd name="adj" fmla="val 16667"/>
            </a:avLst>
          </a:prstGeom>
          <a:solidFill>
            <a:srgbClr val="F7F5F4"/>
          </a:solidFill>
          <a:ln w="12700">
            <a:solidFill>
              <a:srgbClr val="ED1C29"/>
            </a:solidFill>
          </a:ln>
        </p:spPr>
        <p:txBody>
          <a:bodyPr wrap="square" lIns="73152" tIns="36576" rIns="73152" bIns="36576" anchor="ctr">
            <a:normAutofit/>
          </a:bodyPr>
          <a:lstStyle/>
          <a:p>
            <a:pPr algn="ctr">
              <a:lnSpc>
                <a:spcPct val="100000"/>
              </a:lnSpc>
              <a:spcBef>
                <a:spcPts val="0"/>
              </a:spcBef>
            </a:pPr>
            <a:r>
              <a:rPr lang="es-ES" sz="1200" b="1" i="0">
                <a:solidFill>
                  <a:srgbClr val="211915"/>
                </a:solidFill>
              </a:rPr>
              <a:t>Resultado</a:t>
            </a:r>
          </a:p>
        </p:txBody>
      </p:sp>
      <p:cxnSp>
        <p:nvCxnSpPr>
          <p:cNvPr id="243" name="flowConn4">
            <a:extLst>
              <a:ext uri="{C183D7F6-B498-43B3-948B-1728B52AA6E4}">
                <adec:decorative xmlns:adec="http://schemas.microsoft.com/office/drawing/2017/decorative" val="1"/>
              </a:ext>
            </a:extLst>
          </p:cNvPr>
          <p:cNvCxnSpPr/>
          <p:nvPr/>
        </p:nvCxnSpPr>
        <p:spPr>
          <a:xfrm>
            <a:off x="3158368" y="2040000"/>
            <a:ext cx="225078" cy="0"/>
          </a:xfrm>
          <a:prstGeom prst="line">
            <a:avLst/>
          </a:prstGeom>
          <a:ln w="19050">
            <a:solidFill>
              <a:srgbClr val="ED1C29"/>
            </a:solidFill>
            <a:tailEnd type="triangle"/>
          </a:ln>
        </p:spPr>
      </p:cxnSp>
      <p:sp>
        <p:nvSpPr>
          <p:cNvPr id="235" name="flowBlock6" descr="Paso 6 del proceso: Valor"/>
          <p:cNvSpPr/>
          <p:nvPr/>
        </p:nvSpPr>
        <p:spPr>
          <a:xfrm>
            <a:off x="3483446" y="1850000"/>
            <a:ext cx="2400000" cy="380000"/>
          </a:xfrm>
          <a:prstGeom prst="roundRect">
            <a:avLst>
              <a:gd name="adj" fmla="val 16667"/>
            </a:avLst>
          </a:prstGeom>
          <a:solidFill>
            <a:srgbClr val="F7F5F4"/>
          </a:solidFill>
          <a:ln w="12700">
            <a:solidFill>
              <a:srgbClr val="ED1C29"/>
            </a:solidFill>
          </a:ln>
        </p:spPr>
        <p:txBody>
          <a:bodyPr wrap="square" lIns="73152" tIns="36576" rIns="73152" bIns="36576" anchor="ctr">
            <a:normAutofit/>
          </a:bodyPr>
          <a:lstStyle/>
          <a:p>
            <a:pPr algn="ctr">
              <a:lnSpc>
                <a:spcPct val="100000"/>
              </a:lnSpc>
              <a:spcBef>
                <a:spcPts val="0"/>
              </a:spcBef>
            </a:pPr>
            <a:r>
              <a:rPr lang="es-ES" sz="1200" b="1" i="0">
                <a:solidFill>
                  <a:srgbClr val="211915"/>
                </a:solidFill>
              </a:rPr>
              <a:t>Valor</a:t>
            </a:r>
          </a:p>
        </p:txBody>
      </p:sp>
      <p:cxnSp>
        <p:nvCxnSpPr>
          <p:cNvPr id="244" name="flowConn5">
            <a:extLst>
              <a:ext uri="{C183D7F6-B498-43B3-948B-1728B52AA6E4}">
                <adec:decorative xmlns:adec="http://schemas.microsoft.com/office/drawing/2017/decorative" val="1"/>
              </a:ext>
            </a:extLst>
          </p:cNvPr>
          <p:cNvCxnSpPr/>
          <p:nvPr/>
        </p:nvCxnSpPr>
        <p:spPr>
          <a:xfrm>
            <a:off x="5983446" y="2040000"/>
            <a:ext cx="225078" cy="0"/>
          </a:xfrm>
          <a:prstGeom prst="line">
            <a:avLst/>
          </a:prstGeom>
          <a:ln w="19050">
            <a:solidFill>
              <a:srgbClr val="ED1C29"/>
            </a:solidFill>
            <a:tailEnd type="triangle"/>
          </a:ln>
        </p:spPr>
      </p:cxnSp>
      <p:sp>
        <p:nvSpPr>
          <p:cNvPr id="236" name="flowBlock7" descr="Paso 7 del proceso: Costo de inversión"/>
          <p:cNvSpPr/>
          <p:nvPr/>
        </p:nvSpPr>
        <p:spPr>
          <a:xfrm>
            <a:off x="6308524" y="1850000"/>
            <a:ext cx="2400000" cy="380000"/>
          </a:xfrm>
          <a:prstGeom prst="roundRect">
            <a:avLst>
              <a:gd name="adj" fmla="val 16667"/>
            </a:avLst>
          </a:prstGeom>
          <a:solidFill>
            <a:srgbClr val="F7F5F4"/>
          </a:solidFill>
          <a:ln w="12700">
            <a:solidFill>
              <a:srgbClr val="ED1C29"/>
            </a:solidFill>
          </a:ln>
        </p:spPr>
        <p:txBody>
          <a:bodyPr wrap="square" lIns="73152" tIns="36576" rIns="73152" bIns="36576" anchor="ctr">
            <a:normAutofit/>
          </a:bodyPr>
          <a:lstStyle/>
          <a:p>
            <a:pPr algn="ctr">
              <a:lnSpc>
                <a:spcPct val="100000"/>
              </a:lnSpc>
              <a:spcBef>
                <a:spcPts val="0"/>
              </a:spcBef>
            </a:pPr>
            <a:r>
              <a:rPr lang="es-ES" sz="1200" b="1" i="0">
                <a:solidFill>
                  <a:srgbClr val="211915"/>
                </a:solidFill>
              </a:rPr>
              <a:t>Costo de inversión</a:t>
            </a:r>
          </a:p>
        </p:txBody>
      </p:sp>
      <p:cxnSp>
        <p:nvCxnSpPr>
          <p:cNvPr id="245" name="flowConn6">
            <a:extLst>
              <a:ext uri="{C183D7F6-B498-43B3-948B-1728B52AA6E4}">
                <adec:decorative xmlns:adec="http://schemas.microsoft.com/office/drawing/2017/decorative" val="1"/>
              </a:ext>
            </a:extLst>
          </p:cNvPr>
          <p:cNvCxnSpPr/>
          <p:nvPr/>
        </p:nvCxnSpPr>
        <p:spPr>
          <a:xfrm>
            <a:off x="8808524" y="2040000"/>
            <a:ext cx="225078" cy="0"/>
          </a:xfrm>
          <a:prstGeom prst="line">
            <a:avLst/>
          </a:prstGeom>
          <a:ln w="19050">
            <a:solidFill>
              <a:srgbClr val="ED1C29"/>
            </a:solidFill>
            <a:tailEnd type="triangle"/>
          </a:ln>
        </p:spPr>
      </p:cxnSp>
      <p:sp>
        <p:nvSpPr>
          <p:cNvPr id="237" name="flowBlock8" descr="Paso 8 del proceso: Decisión de presupuesto"/>
          <p:cNvSpPr/>
          <p:nvPr/>
        </p:nvSpPr>
        <p:spPr>
          <a:xfrm>
            <a:off x="9133602" y="1850000"/>
            <a:ext cx="2400000" cy="380000"/>
          </a:xfrm>
          <a:prstGeom prst="roundRect">
            <a:avLst>
              <a:gd name="adj" fmla="val 16667"/>
            </a:avLst>
          </a:prstGeom>
          <a:solidFill>
            <a:srgbClr val="ED1C29"/>
          </a:solidFill>
          <a:ln>
            <a:noFill/>
          </a:ln>
        </p:spPr>
        <p:txBody>
          <a:bodyPr wrap="square" lIns="73152" tIns="36576" rIns="73152" bIns="36576" anchor="ctr">
            <a:normAutofit/>
          </a:bodyPr>
          <a:lstStyle/>
          <a:p>
            <a:pPr algn="ctr">
              <a:lnSpc>
                <a:spcPct val="100000"/>
              </a:lnSpc>
              <a:spcBef>
                <a:spcPts val="0"/>
              </a:spcBef>
            </a:pPr>
            <a:r>
              <a:rPr lang="es-ES" sz="1200" b="1" i="0">
                <a:solidFill>
                  <a:srgbClr val="FFFFFF"/>
                </a:solidFill>
              </a:rPr>
              <a:t>Decisión de presupuesto</a:t>
            </a:r>
          </a:p>
        </p:txBody>
      </p:sp>
      <p:sp>
        <p:nvSpPr>
          <p:cNvPr id="250" name="shPreguntaBanda"/>
          <p:cNvSpPr/>
          <p:nvPr/>
        </p:nvSpPr>
        <p:spPr>
          <a:xfrm>
            <a:off x="658368" y="2290000"/>
            <a:ext cx="10875234" cy="280000"/>
          </a:xfrm>
          <a:prstGeom prst="roundRect">
            <a:avLst>
              <a:gd name="adj" fmla="val 16667"/>
            </a:avLst>
          </a:prstGeom>
          <a:solidFill>
            <a:srgbClr val="ED1C29"/>
          </a:solidFill>
        </p:spPr>
        <p:txBody>
          <a:bodyPr wrap="square" lIns="73152" tIns="18288" rIns="73152" bIns="18288" anchor="ctr">
            <a:normAutofit/>
          </a:bodyPr>
          <a:lstStyle/>
          <a:p>
            <a:pPr algn="ctr">
              <a:lnSpc>
                <a:spcPct val="100000"/>
              </a:lnSpc>
              <a:spcBef>
                <a:spcPts val="0"/>
              </a:spcBef>
            </a:pPr>
            <a:r>
              <a:rPr lang="es-ES" sz="1400" b="1" i="0" spc="120">
                <a:solidFill>
                  <a:srgbClr val="FFFFFF"/>
                </a:solidFill>
              </a:rPr>
              <a:t>¿EL VALOR ESPERADO JUSTIFICA LA INVERSIÓN?</a:t>
            </a:r>
          </a:p>
        </p:txBody>
      </p:sp>
      <p:sp>
        <p:nvSpPr>
          <p:cNvPr id="251" name="tbPreguntaApoyo"/>
          <p:cNvSpPr txBox="1"/>
          <p:nvPr/>
        </p:nvSpPr>
        <p:spPr>
          <a:xfrm>
            <a:off x="658368" y="2600000"/>
            <a:ext cx="10875234" cy="140000"/>
          </a:xfrm>
          <a:prstGeom prst="rect">
            <a:avLst/>
          </a:prstGeom>
          <a:noFill/>
        </p:spPr>
        <p:txBody>
          <a:bodyPr wrap="square" lIns="0" tIns="0" rIns="0" bIns="0" anchor="t">
            <a:normAutofit lnSpcReduction="10000"/>
          </a:bodyPr>
          <a:lstStyle/>
          <a:p>
            <a:pPr algn="ctr">
              <a:lnSpc>
                <a:spcPct val="100000"/>
              </a:lnSpc>
              <a:spcBef>
                <a:spcPts val="0"/>
              </a:spcBef>
            </a:pPr>
            <a:r>
              <a:rPr lang="es-ES" sz="950" b="0" i="0">
                <a:solidFill>
                  <a:srgbClr val="5A5A5A"/>
                </a:solidFill>
              </a:rPr>
              <a:t>Antes de invertir construimos una hipótesis verificable. Después de adoptar contrastamos esa hipótesis con evidencia.</a:t>
            </a:r>
          </a:p>
        </p:txBody>
      </p:sp>
      <p:sp>
        <p:nvSpPr>
          <p:cNvPr id="221" name="shEjemplo"/>
          <p:cNvSpPr/>
          <p:nvPr/>
        </p:nvSpPr>
        <p:spPr>
          <a:xfrm>
            <a:off x="658368" y="2760000"/>
            <a:ext cx="10875234" cy="2390000"/>
          </a:xfrm>
          <a:prstGeom prst="rect">
            <a:avLst/>
          </a:prstGeom>
          <a:solidFill>
            <a:srgbClr val="F7F5F4"/>
          </a:solidFill>
          <a:ln>
            <a:noFill/>
          </a:ln>
        </p:spPr>
        <p:txBody>
          <a:bodyPr lIns="146304" tIns="73152" rIns="146304" bIns="73152" anchor="ctr">
            <a:normAutofit/>
          </a:bodyPr>
          <a:lstStyle/>
          <a:p>
            <a:endParaRPr lang="es-ES"/>
          </a:p>
        </p:txBody>
      </p:sp>
      <p:sp>
        <p:nvSpPr>
          <p:cNvPr id="222" name="shEjemploBar"/>
          <p:cNvSpPr/>
          <p:nvPr/>
        </p:nvSpPr>
        <p:spPr>
          <a:xfrm>
            <a:off x="1005840" y="2980000"/>
            <a:ext cx="822960" cy="45720"/>
          </a:xfrm>
          <a:prstGeom prst="rect">
            <a:avLst/>
          </a:prstGeom>
          <a:solidFill>
            <a:srgbClr val="ED1C29"/>
          </a:solidFill>
          <a:ln>
            <a:noFill/>
          </a:ln>
        </p:spPr>
        <p:txBody>
          <a:bodyPr lIns="0" tIns="0" rIns="0" bIns="0" anchor="ctr">
            <a:normAutofit fontScale="25000" lnSpcReduction="20000"/>
          </a:bodyPr>
          <a:lstStyle/>
          <a:p>
            <a:endParaRPr lang="es-ES"/>
          </a:p>
        </p:txBody>
      </p:sp>
      <p:sp>
        <p:nvSpPr>
          <p:cNvPr id="223" name="tbEjemploLbl"/>
          <p:cNvSpPr txBox="1"/>
          <p:nvPr/>
        </p:nvSpPr>
        <p:spPr>
          <a:xfrm>
            <a:off x="1005840" y="3100000"/>
            <a:ext cx="5486400" cy="228600"/>
          </a:xfrm>
          <a:prstGeom prst="rect">
            <a:avLst/>
          </a:prstGeom>
          <a:noFill/>
        </p:spPr>
        <p:txBody>
          <a:bodyPr wrap="square" lIns="0" tIns="0" rIns="0" bIns="0" anchor="t">
            <a:normAutofit/>
          </a:bodyPr>
          <a:lstStyle/>
          <a:p>
            <a:pPr algn="l">
              <a:lnSpc>
                <a:spcPct val="100000"/>
              </a:lnSpc>
              <a:spcBef>
                <a:spcPts val="0"/>
              </a:spcBef>
            </a:pPr>
            <a:r>
              <a:rPr lang="es-ES" sz="1050" b="1" i="0">
                <a:solidFill>
                  <a:srgbClr val="ED1C29"/>
                </a:solidFill>
              </a:rPr>
              <a:t>EJEMPLO ILUSTRATIVO</a:t>
            </a:r>
          </a:p>
        </p:txBody>
      </p:sp>
      <p:sp>
        <p:nvSpPr>
          <p:cNvPr id="224" name="tbEjemploLineas"/>
          <p:cNvSpPr txBox="1"/>
          <p:nvPr/>
        </p:nvSpPr>
        <p:spPr>
          <a:xfrm>
            <a:off x="1005840" y="3380000"/>
            <a:ext cx="10180320" cy="1430000"/>
          </a:xfrm>
          <a:prstGeom prst="rect">
            <a:avLst/>
          </a:prstGeom>
          <a:noFill/>
        </p:spPr>
        <p:txBody>
          <a:bodyPr wrap="square" lIns="0" tIns="0" rIns="0" bIns="0" anchor="t">
            <a:normAutofit/>
          </a:bodyPr>
          <a:lstStyle/>
          <a:p>
            <a:pPr algn="l">
              <a:lnSpc>
                <a:spcPct val="100000"/>
              </a:lnSpc>
              <a:spcBef>
                <a:spcPts val="0"/>
              </a:spcBef>
            </a:pPr>
            <a:r>
              <a:rPr lang="en-US" sz="1100" b="1" i="0">
                <a:solidFill>
                  <a:srgbClr val="211915"/>
                </a:solidFill>
              </a:rPr>
              <a:t>HIPÓTESIS: </a:t>
            </a:r>
            <a:r>
              <a:rPr lang="en-US" sz="1100" b="0" i="0">
                <a:solidFill>
                  <a:srgbClr val="5A5A5A"/>
                </a:solidFill>
              </a:rPr>
              <a:t>Copilot permite que el equipo absorba parte de una actividad actualmente tercerizada.</a:t>
            </a:r>
          </a:p>
          <a:p>
            <a:pPr algn="l">
              <a:lnSpc>
                <a:spcPct val="100000"/>
              </a:lnSpc>
              <a:spcBef>
                <a:spcPts val="300"/>
              </a:spcBef>
            </a:pPr>
            <a:r>
              <a:rPr lang="en-US" sz="1100" b="1" i="0">
                <a:solidFill>
                  <a:srgbClr val="211915"/>
                </a:solidFill>
              </a:rPr>
              <a:t>BASELINE: </a:t>
            </a:r>
            <a:r>
              <a:rPr lang="en-US" sz="1100" b="0" i="0">
                <a:solidFill>
                  <a:srgbClr val="5A5A5A"/>
                </a:solidFill>
              </a:rPr>
              <a:t>Costo y capacidad actualmente contratados con el proveedor.</a:t>
            </a:r>
          </a:p>
          <a:p>
            <a:pPr algn="l">
              <a:lnSpc>
                <a:spcPct val="100000"/>
              </a:lnSpc>
              <a:spcBef>
                <a:spcPts val="300"/>
              </a:spcBef>
            </a:pPr>
            <a:r>
              <a:rPr lang="en-US" sz="1100" b="1" i="0">
                <a:solidFill>
                  <a:srgbClr val="211915"/>
                </a:solidFill>
              </a:rPr>
              <a:t>INDICADOR: </a:t>
            </a:r>
            <a:r>
              <a:rPr lang="en-US" sz="1100" b="0" i="0">
                <a:solidFill>
                  <a:srgbClr val="5A5A5A"/>
                </a:solidFill>
              </a:rPr>
              <a:t>Alcance y gasto real contratado.</a:t>
            </a:r>
          </a:p>
          <a:p>
            <a:pPr algn="l">
              <a:lnSpc>
                <a:spcPct val="100000"/>
              </a:lnSpc>
              <a:spcBef>
                <a:spcPts val="300"/>
              </a:spcBef>
            </a:pPr>
            <a:r>
              <a:rPr lang="en-US" sz="1100" b="1" i="0">
                <a:solidFill>
                  <a:srgbClr val="211915"/>
                </a:solidFill>
              </a:rPr>
              <a:t>GUARDRAIL: </a:t>
            </a:r>
            <a:r>
              <a:rPr lang="en-US" sz="1100" b="0" i="0">
                <a:solidFill>
                  <a:srgbClr val="5A5A5A"/>
                </a:solidFill>
              </a:rPr>
              <a:t>Mantener alcance, calidad y nivel de servicio.</a:t>
            </a:r>
          </a:p>
          <a:p>
            <a:pPr algn="l">
              <a:lnSpc>
                <a:spcPct val="100000"/>
              </a:lnSpc>
              <a:spcBef>
                <a:spcPts val="300"/>
              </a:spcBef>
            </a:pPr>
            <a:r>
              <a:rPr lang="en-US" sz="1100" b="1" i="0">
                <a:solidFill>
                  <a:srgbClr val="211915"/>
                </a:solidFill>
              </a:rPr>
              <a:t>RESULTADO BUSCADO: </a:t>
            </a:r>
            <a:r>
              <a:rPr lang="en-US" sz="1100" b="0" i="0">
                <a:solidFill>
                  <a:srgbClr val="5A5A5A"/>
                </a:solidFill>
              </a:rPr>
              <a:t>Disminuir el costo o capacidad externa requerida manteniendo los resultados esperados.</a:t>
            </a:r>
          </a:p>
          <a:p>
            <a:pPr algn="l">
              <a:lnSpc>
                <a:spcPct val="100000"/>
              </a:lnSpc>
              <a:spcBef>
                <a:spcPts val="300"/>
              </a:spcBef>
            </a:pPr>
            <a:r>
              <a:rPr lang="en-US" sz="1100" b="1" i="0">
                <a:solidFill>
                  <a:srgbClr val="211915"/>
                </a:solidFill>
              </a:rPr>
              <a:t>COSTO DE INVERSIÓN: </a:t>
            </a:r>
            <a:r>
              <a:rPr lang="en-US" sz="1100" b="0" i="0">
                <a:solidFill>
                  <a:srgbClr val="5A5A5A"/>
                </a:solidFill>
              </a:rPr>
              <a:t>Costo de las licencias de GitHub Copilot requeridas por el equipo.</a:t>
            </a:r>
          </a:p>
          <a:p>
            <a:pPr algn="l">
              <a:lnSpc>
                <a:spcPct val="100000"/>
              </a:lnSpc>
              <a:spcBef>
                <a:spcPts val="300"/>
              </a:spcBef>
            </a:pPr>
            <a:r>
              <a:rPr lang="en-US" sz="1100" b="1" i="0">
                <a:solidFill>
                  <a:srgbClr val="211915"/>
                </a:solidFill>
              </a:rPr>
              <a:t>VALIDACIÓN: </a:t>
            </a:r>
            <a:r>
              <a:rPr lang="en-US" sz="1100" b="0" i="0">
                <a:solidFill>
                  <a:srgbClr val="5A5A5A"/>
                </a:solidFill>
              </a:rPr>
              <a:t>Líder técnico + Product Owner + Finanzas.</a:t>
            </a:r>
            <a:endParaRPr lang="es-ES" sz="1100" b="0" i="0">
              <a:solidFill>
                <a:srgbClr val="5A5A5A"/>
              </a:solidFill>
            </a:endParaRPr>
          </a:p>
        </p:txBody>
      </p:sp>
      <p:sp>
        <p:nvSpPr>
          <p:cNvPr id="225" name="tbNota"/>
          <p:cNvSpPr txBox="1"/>
          <p:nvPr/>
        </p:nvSpPr>
        <p:spPr>
          <a:xfrm>
            <a:off x="1005840" y="4870000"/>
            <a:ext cx="10180320" cy="182880"/>
          </a:xfrm>
          <a:prstGeom prst="rect">
            <a:avLst/>
          </a:prstGeom>
          <a:noFill/>
        </p:spPr>
        <p:txBody>
          <a:bodyPr wrap="square" lIns="0" tIns="0" rIns="0" bIns="0" anchor="t">
            <a:normAutofit/>
          </a:bodyPr>
          <a:lstStyle/>
          <a:p>
            <a:pPr algn="l">
              <a:lnSpc>
                <a:spcPct val="100000"/>
              </a:lnSpc>
              <a:spcBef>
                <a:spcPts val="0"/>
              </a:spcBef>
            </a:pPr>
            <a:r>
              <a:rPr lang="es-ES" sz="950" b="0" i="0">
                <a:solidFill>
                  <a:srgbClr val="9A9A9A"/>
                </a:solidFill>
              </a:rPr>
              <a:t>Ejemplo ilustrativo. No representa valores ni resultados de Tuya.</a:t>
            </a:r>
          </a:p>
        </p:txBody>
      </p:sp>
      <p:sp>
        <p:nvSpPr>
          <p:cNvPr id="209" name="sh209"/>
          <p:cNvSpPr/>
          <p:nvPr/>
        </p:nvSpPr>
        <p:spPr>
          <a:xfrm>
            <a:off x="658368" y="5166360"/>
            <a:ext cx="10875234" cy="777240"/>
          </a:xfrm>
          <a:prstGeom prst="rect">
            <a:avLst/>
          </a:prstGeom>
          <a:solidFill>
            <a:srgbClr val="ED1C29"/>
          </a:solidFill>
          <a:ln>
            <a:noFill/>
          </a:ln>
        </p:spPr>
        <p:txBody>
          <a:bodyPr lIns="411480" tIns="73152" rIns="411480" bIns="73152" anchor="ctr">
            <a:normAutofit/>
          </a:bodyPr>
          <a:lstStyle/>
          <a:p>
            <a:pPr algn="l">
              <a:lnSpc>
                <a:spcPct val="100000"/>
              </a:lnSpc>
              <a:spcBef>
                <a:spcPts val="0"/>
              </a:spcBef>
            </a:pPr>
            <a:r>
              <a:rPr lang="es-ES" sz="1500" b="1" i="0">
                <a:solidFill>
                  <a:srgbClr val="FFFFFF"/>
                </a:solidFill>
              </a:rPr>
              <a:t>El presupuesto se sustenta comparando una inversión real con una hipótesis de valor medible. La continuidad de la inversión se sustenta posteriormente con evidencia observada</a:t>
            </a:r>
            <a:r>
              <a:rPr lang="es-ES" sz="1500" b="1" i="0" dirty="0">
                <a:solidFill>
                  <a:srgbClr val="FFFFFF"/>
                </a:solidFill>
              </a:rPr>
              <a:t>.</a:t>
            </a:r>
          </a:p>
        </p:txBody>
      </p:sp>
      <p:sp>
        <p:nvSpPr>
          <p:cNvPr id="213" name="tb213"/>
          <p:cNvSpPr txBox="1"/>
          <p:nvPr/>
        </p:nvSpPr>
        <p:spPr>
          <a:xfrm>
            <a:off x="658368" y="6272784"/>
            <a:ext cx="5486400" cy="228600"/>
          </a:xfrm>
          <a:prstGeom prst="rect">
            <a:avLst/>
          </a:prstGeom>
          <a:noFill/>
        </p:spPr>
        <p:txBody>
          <a:bodyPr wrap="square" lIns="0" tIns="0" rIns="0" bIns="0" anchor="t">
            <a:normAutofit/>
          </a:bodyPr>
          <a:lstStyle/>
          <a:p>
            <a:pPr algn="l">
              <a:lnSpc>
                <a:spcPct val="100000"/>
              </a:lnSpc>
              <a:spcBef>
                <a:spcPts val="0"/>
              </a:spcBef>
            </a:pPr>
            <a:r>
              <a:rPr lang="es-ES" sz="900" b="1" i="0" dirty="0">
                <a:solidFill>
                  <a:srgbClr val="211915"/>
                </a:solidFill>
              </a:rPr>
              <a:t>Tuya   ·   </a:t>
            </a:r>
            <a:r>
              <a:rPr lang="es-ES" sz="900" b="1" i="0">
                <a:solidFill>
                  <a:srgbClr val="211915"/>
                </a:solidFill>
              </a:rPr>
              <a:t>Del valor de GitHub Copilot</a:t>
            </a:r>
            <a:endParaRPr lang="es-ES" sz="900" b="1" i="0" dirty="0">
              <a:solidFill>
                <a:srgbClr val="211915"/>
              </a:solidFill>
            </a:endParaRPr>
          </a:p>
        </p:txBody>
      </p:sp>
      <p:sp>
        <p:nvSpPr>
          <p:cNvPr id="214" name="tb214"/>
          <p:cNvSpPr txBox="1"/>
          <p:nvPr/>
        </p:nvSpPr>
        <p:spPr>
          <a:xfrm>
            <a:off x="10436322" y="6272784"/>
            <a:ext cx="1097280" cy="228600"/>
          </a:xfrm>
          <a:prstGeom prst="rect">
            <a:avLst/>
          </a:prstGeom>
          <a:noFill/>
        </p:spPr>
        <p:txBody>
          <a:bodyPr wrap="square" lIns="0" tIns="0" rIns="0" bIns="0" anchor="t">
            <a:normAutofit/>
          </a:bodyPr>
          <a:lstStyle/>
          <a:p>
            <a:pPr algn="r">
              <a:lnSpc>
                <a:spcPct val="100000"/>
              </a:lnSpc>
              <a:spcBef>
                <a:spcPts val="0"/>
              </a:spcBef>
            </a:pPr>
            <a:r>
              <a:rPr lang="es-ES" sz="900" b="1" i="0">
                <a:solidFill>
                  <a:srgbClr val="ED1C29"/>
                </a:solidFill>
              </a:rPr>
              <a:t>15</a:t>
            </a:r>
            <a:endParaRPr lang="es-ES" sz="900" b="1" i="0" dirty="0">
              <a:solidFill>
                <a:srgbClr val="ED1C29"/>
              </a:solidFill>
            </a:endParaRPr>
          </a:p>
        </p:txBody>
      </p:sp>
      <p:pic>
        <p:nvPicPr>
          <p:cNvPr id="900" name="Logo Tuya"/>
          <p:cNvPicPr>
            <a:picLocks noChangeAspect="1"/>
          </p:cNvPicPr>
          <p:nvPr/>
        </p:nvPicPr>
        <p:blipFill>
          <a:blip r:embed="rId3"/>
          <a:stretch>
            <a:fillRect/>
          </a:stretch>
        </p:blipFill>
        <p:spPr>
          <a:xfrm>
            <a:off x="11152200" y="321276"/>
            <a:ext cx="640080" cy="320040"/>
          </a:xfrm>
          <a:prstGeom prst="rect">
            <a:avLst/>
          </a:prstGeom>
        </p:spPr>
      </p:pic>
    </p:spTree>
  </p:cSld>
  <p:clrMapOvr>
    <a:masterClrMapping/>
  </p:clrMapOvr>
</p:sld>
</file>

<file path=ppt/theme/theme1.xml><?xml version="1.0" encoding="utf-8"?>
<a:theme xmlns:a="http://schemas.openxmlformats.org/drawingml/2006/main" name="Office Theme">
  <a:themeElements>
    <a:clrScheme name="TUYA Colombia">
      <a:dk1>
        <a:sysClr val="windowText" lastClr="000000"/>
      </a:dk1>
      <a:lt1>
        <a:sysClr val="window" lastClr="FFFFFF"/>
      </a:lt1>
      <a:dk2>
        <a:srgbClr val="211915"/>
      </a:dk2>
      <a:lt2>
        <a:srgbClr val="F3F1F0"/>
      </a:lt2>
      <a:accent1>
        <a:srgbClr val="ED1C29"/>
      </a:accent1>
      <a:accent2>
        <a:srgbClr val="211915"/>
      </a:accent2>
      <a:accent3>
        <a:srgbClr val="7A7A7A"/>
      </a:accent3>
      <a:accent4>
        <a:srgbClr val="77C3CD"/>
      </a:accent4>
      <a:accent5>
        <a:srgbClr val="9CCB49"/>
      </a:accent5>
      <a:accent6>
        <a:srgbClr val="C9E4DC"/>
      </a:accent6>
      <a:hlink>
        <a:srgbClr val="ED1C29"/>
      </a:hlink>
      <a:folHlink>
        <a:srgbClr val="B71C2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TUYA Colombia">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TUYA Colombia">
      <a:dk1>
        <a:sysClr val="windowText" lastClr="000000"/>
      </a:dk1>
      <a:lt1>
        <a:sysClr val="window" lastClr="FFFFFF"/>
      </a:lt1>
      <a:dk2>
        <a:srgbClr val="211915"/>
      </a:dk2>
      <a:lt2>
        <a:srgbClr val="F3F1F0"/>
      </a:lt2>
      <a:accent1>
        <a:srgbClr val="ED1C29"/>
      </a:accent1>
      <a:accent2>
        <a:srgbClr val="211915"/>
      </a:accent2>
      <a:accent3>
        <a:srgbClr val="7A7A7A"/>
      </a:accent3>
      <a:accent4>
        <a:srgbClr val="77C3CD"/>
      </a:accent4>
      <a:accent5>
        <a:srgbClr val="9CCB49"/>
      </a:accent5>
      <a:accent6>
        <a:srgbClr val="C9E4DC"/>
      </a:accent6>
      <a:hlink>
        <a:srgbClr val="ED1C29"/>
      </a:hlink>
      <a:folHlink>
        <a:srgbClr val="B71C2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TUYA Colombia">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436</TotalTime>
  <Words>4533</Words>
  <Application>Microsoft Office PowerPoint</Application>
  <DocSecurity>0</DocSecurity>
  <PresentationFormat>Panorámica</PresentationFormat>
  <Paragraphs>464</Paragraphs>
  <Slides>15</Slides>
  <Notes>15</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15</vt:i4>
      </vt:variant>
    </vt:vector>
  </HeadingPairs>
  <TitlesOfParts>
    <vt:vector size="19" baseType="lpstr">
      <vt:lpstr>Arial</vt:lpstr>
      <vt:lpstr>Calibri</vt:lpstr>
      <vt:lpstr>Trebuchet MS</vt:lpstr>
      <vt:lpstr>Office Theme</vt:lpstr>
      <vt:lpstr>De la productividad al valor</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Ricardo Andres Leyva</cp:lastModifiedBy>
  <cp:revision>11</cp:revision>
  <dcterms:created xsi:type="dcterms:W3CDTF">2026-08-06T14:34:46Z</dcterms:created>
  <dcterms:modified xsi:type="dcterms:W3CDTF">2026-08-13T17:46:43Z</dcterms:modified>
</cp:coreProperties>
</file>