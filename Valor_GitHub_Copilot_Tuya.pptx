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6" r:id="rId2"/>
    <p:sldId id="262" r:id="rId3"/>
    <p:sldId id="267" r:id="rId4"/>
    <p:sldId id="265" r:id="rId5"/>
    <p:sldId id="268" r:id="rId6"/>
  </p:sldIdLst>
  <p:sldSz cx="12192000" cy="6858000"/>
  <p:notesSz cx="6858000" cy="9144000"/>
  <p:defaultTextStyle>
    <a:defPPr>
      <a:defRPr lang="es-419"/>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6813" autoAdjust="0"/>
  </p:normalViewPr>
  <p:slideViewPr>
    <p:cSldViewPr snapToGrid="0">
      <p:cViewPr varScale="1">
        <p:scale>
          <a:sx n="122" d="100"/>
          <a:sy n="122" d="100"/>
        </p:scale>
        <p:origin x="774"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419" dirty="0"/>
              <a:t>~1 min · Apertura</a:t>
            </a:r>
            <a:endParaRPr dirty="0"/>
          </a:p>
          <a:p>
            <a:endParaRPr dirty="0"/>
          </a:p>
          <a:p>
            <a:r>
              <a:rPr lang="es-419"/>
              <a:t>Hoy no venimos a hablar de cuantas horas ahorra GitHub Copilot, sino de que puede hacer cada equipo con la capacidad que Copilot genera.</a:t>
            </a:r>
          </a:p>
          <a:p>
            <a:endParaRPr dirty="0"/>
          </a:p>
          <a:p>
            <a:r>
              <a:rPr lang="es-419"/>
              <a:t>La pregunta que guia la sesion: como convertimos capacidad tecnica en resultados medibles para el negocio.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419"/>
              <a:t>~2 min · Lo que Copilot ya demostró en la PoC</a:t>
            </a:r>
          </a:p>
          <a:p>
            <a:endParaRPr/>
          </a:p>
          <a:p>
            <a:r>
              <a:rPr lang="es-419"/>
              <a:t>Arrancamos con evidencia interna. En la prueba de concepto de migración, la estimación construida mediante juicio experto era de 50 horas y la ejecución con Copilot tomó 2 horas y 18 minutos: una diferencia de 47 horas y 42 minutos, </a:t>
            </a:r>
            <a:r>
              <a:rPr lang="es-ES"/>
              <a:t>equivalente a una reducción estimada del esfuerzo del 95,4 %.</a:t>
            </a:r>
          </a:p>
          <a:p>
            <a:endParaRPr lang="es-ES"/>
          </a:p>
          <a:p>
            <a:r>
              <a:rPr lang="es-ES"/>
              <a:t>Conviene </a:t>
            </a:r>
            <a:r>
              <a:rPr lang="es-419"/>
              <a:t>decirlo con precisión: esto es capacidad técnica potencialmente liberada frente a una estimación, no ROI ni ahorro financiero. Nadie dejó de pagar 47 horas.</a:t>
            </a:r>
          </a:p>
          <a:p>
            <a:endParaRPr/>
          </a:p>
          <a:p>
            <a:r>
              <a:rPr lang="es-419"/>
              <a:t>Los datos de soporte dan contexto: cinco casos con medición completa, todos terminaron el flujo entre 15 y 35 minutos, y las estimaciones previas iban de 2 a 24 horas</a:t>
            </a:r>
            <a:r>
              <a:rPr lang="es-ES"/>
              <a:t>. Los casos cubrieron aplicaciones desde .NET Core 3.1 y versiones intermedias hasta .NET 8, migrando hacia .NET 10, aplicando los estándares y prácticas de desarrollo de Tuya. El código generado requirió pocas correcciones en la etapa evaluada.</a:t>
            </a:r>
          </a:p>
          <a:p>
            <a:endParaRPr lang="es-ES"/>
          </a:p>
          <a:p>
            <a:r>
              <a:rPr lang="es-ES"/>
              <a:t>La nota metodológica es parte del mensaje: comparamos contra juicio experto</a:t>
            </a:r>
            <a:r>
              <a:rPr lang="es-419"/>
              <a:t>, no hubo migraciones manuales paralelas como grupo de control y las pruebas funcionales estaban pendientes al cerrar la medición.</a:t>
            </a:r>
          </a:p>
          <a:p>
            <a:endParaRPr/>
          </a:p>
          <a:p>
            <a:r>
              <a:rPr lang="es-ES"/>
              <a:t>Además de la migración, ya tenemos una referencia interna en construcción desde cero. Sebastián, desarrollador de la aplicación utilizada durante las pruebas, indicó que una actividad que normalmente le tomaría cerca de dos días logró realizarla en aproximadamente tres horas utilizando Copilot. Su percepción es que cerca del 85 % del trabajo fue realizado con apoyo de la IA.</a:t>
            </a:r>
          </a:p>
          <a:p>
            <a:endParaRPr lang="es-ES"/>
          </a:p>
          <a:p>
            <a:r>
              <a:rPr lang="es-ES"/>
              <a:t>Es importante separar las métricas: no estamos diciendo que hubo una reducción del 85 % en tiempo. El 85 % corresponde a cuánto del trabajo Sebastián estima que realizó la herramienta. El dato de tiempo observado es dos días frente a aproximadamente tres horas.</a:t>
            </a:r>
          </a:p>
          <a:p>
            <a:endParaRPr lang="es-ES"/>
          </a:p>
          <a:p>
            <a:r>
              <a:rPr lang="es-ES"/>
              <a:t>Este caso tampoco representa todavía una medición controlada, pero complementa la evidencia de migración mostrando que la capacidad obtenida no se limita a modernización de aplicaciones.</a:t>
            </a:r>
          </a:p>
          <a:p>
            <a:endParaRPr lang="es-ES"/>
          </a:p>
          <a:p>
            <a:r>
              <a:rPr lang="es-419"/>
              <a:t>Cierre de la lámina: la PoC demostró capacidad técnica. La conversación de hoy es qué hacemos con esa capacidad y qué resultado produce.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a:t>~2 min · De capacidad técnica a valor</a:t>
            </a:r>
          </a:p>
          <a:p>
            <a:endParaRPr lang="es-ES"/>
          </a:p>
          <a:p>
            <a:r>
              <a:rPr lang="es-ES"/>
              <a:t>Copilot genera capacidad: libera tiempo técnico dentro de los equipos.</a:t>
            </a:r>
          </a:p>
          <a:p>
            <a:endParaRPr lang="es-ES"/>
          </a:p>
          <a:p>
            <a:r>
              <a:rPr lang="es-ES"/>
              <a:t>Esa capacidad liberada no representa automáticamente un ahorro.</a:t>
            </a:r>
          </a:p>
          <a:p>
            <a:endParaRPr lang="es-ES"/>
          </a:p>
          <a:p>
            <a:r>
              <a:rPr lang="es-ES"/>
              <a:t>El valor se materializa por dos vías: “Lo mismo con menos”, manteniendo el mismo resultado con menor costo o menor capacidad externa, o “Valor antes”, cuando una iniciativa o beneficio entra en operación antes y permite capturar valor anticipadamente.</a:t>
            </a:r>
          </a:p>
          <a:p>
            <a:endParaRPr lang="es-ES"/>
          </a:p>
          <a:p>
            <a:r>
              <a:rPr lang="es-ES"/>
              <a:t>Tanto la PoC de migración como el caso interno de desarrollo desde cero demuestran capacidad técnica; todavía falta convertirla en valor de negocio medido.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419"/>
              <a:t>~2 min · </a:t>
            </a:r>
            <a:r>
              <a:rPr lang="es-MX"/>
              <a:t>Consolidado de licencias y provisión presupuestal</a:t>
            </a:r>
          </a:p>
          <a:p>
            <a:endParaRPr lang="es-MX"/>
          </a:p>
          <a:p>
            <a:r>
              <a:rPr lang="es-ES"/>
              <a:t>USD 19 es la tarifa base por usuario/mes usada en este ejercicio. Sobre esa tarifa, USD 209 es el costo base mensual de las 11 licencias adicionales.</a:t>
            </a:r>
          </a:p>
          <a:p>
            <a:endParaRPr lang="es-ES"/>
          </a:p>
          <a:p>
            <a:r>
              <a:rPr lang="es-ES"/>
              <a:t>USD 627 es una provisión presupuestal mensual equivalente a x3 el costo base, y USD 2.508 es la provisión para el periodo de septiembre a diciembre de 2026.</a:t>
            </a:r>
          </a:p>
          <a:p>
            <a:endParaRPr lang="es-ES"/>
          </a:p>
          <a:p>
            <a:r>
              <a:rPr lang="es-ES"/>
              <a:t>Presupuestar x3 no significa gastar x3. Se revisará el consumo real de forma mensual y una licencia con baja utilización puede ser reasignada a otro usuario.</a:t>
            </a:r>
          </a:p>
          <a:p>
            <a:endParaRPr lang="es-ES"/>
          </a:p>
          <a:p>
            <a:r>
              <a:rPr lang="es-ES"/>
              <a:t>En esta lámina no se está presentando ROI ni payback.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9"/>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F07EB1B0-9209-4743-A5FD-8504D5188A2F}"/>
              </a:ext>
            </a:extLst>
          </p:cNvPr>
          <p:cNvSpPr>
            <a:spLocks noGrp="1"/>
          </p:cNvSpPr>
          <p:nvPr>
            <p:ph type="title" idx="100" hasCustomPrompt="1"/>
          </p:nvPr>
        </p:nvSpPr>
        <p:spPr>
          <a:xfrm>
            <a:off x="685800" y="658368"/>
            <a:ext cx="10789920" cy="822960"/>
          </a:xfrm>
          <a:prstGeom prst="rect">
            <a:avLst/>
          </a:prstGeom>
          <a:noFill/>
        </p:spPr>
        <p:txBody>
          <a:bodyPr wrap="square"/>
          <a:lstStyle>
            <a:lvl1pPr marL="0" indent="0">
              <a:buNone/>
              <a:defRPr/>
            </a:lvl1pPr>
          </a:lstStyle>
          <a:p>
            <a:pPr marL="0" indent="0">
              <a:buNone/>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211915"/>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FDA7C326-F063-4B6C-AAAF-5C8667C1C18F}"/>
              </a:ext>
            </a:extLst>
          </p:cNvPr>
          <p:cNvSpPr>
            <a:spLocks noGrp="1"/>
          </p:cNvSpPr>
          <p:nvPr>
            <p:ph type="title" idx="100" hasCustomPrompt="1"/>
          </p:nvPr>
        </p:nvSpPr>
        <p:spPr>
          <a:xfrm>
            <a:off x="777240" y="2331720"/>
            <a:ext cx="7680960" cy="1737360"/>
          </a:xfrm>
          <a:prstGeom prst="rect">
            <a:avLst/>
          </a:prstGeom>
          <a:noFill/>
        </p:spPr>
        <p:txBody>
          <a:bodyPr wrap="square"/>
          <a:lstStyle>
            <a:lvl1pPr marL="0" indent="0">
              <a:buNone/>
              <a:defRPr/>
            </a:lvl1pPr>
          </a:lstStyle>
          <a:p>
            <a:pPr marL="0" indent="0">
              <a:buNone/>
            </a:pPr>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D1C29"/>
        </a:solidFill>
        <a:effectLst/>
      </p:bgPr>
    </p:bg>
    <p:spTree>
      <p:nvGrpSpPr>
        <p:cNvPr id="1" name=""/>
        <p:cNvGrpSpPr/>
        <p:nvPr/>
      </p:nvGrpSpPr>
      <p:grpSpPr>
        <a:xfrm>
          <a:off x="0" y="0"/>
          <a:ext cx="0" cy="0"/>
          <a:chOff x="0" y="0"/>
          <a:chExt cx="0" cy="0"/>
        </a:xfrm>
      </p:grpSpPr>
      <p:sp>
        <p:nvSpPr>
          <p:cNvPr id="4" name="Text 2">
            <a:extLst>
              <a:ext uri="{FF2B5EF4-FFF2-40B4-BE49-F238E27FC236}">
                <a16:creationId xmlns:a16="http://schemas.microsoft.com/office/drawing/2014/main" id="{94A7FF53-E78D-4830-9BA8-B8E75FBE78D3}"/>
              </a:ext>
            </a:extLst>
          </p:cNvPr>
          <p:cNvSpPr>
            <a:spLocks noGrp="1"/>
          </p:cNvSpPr>
          <p:nvPr/>
        </p:nvSpPr>
        <p:spPr>
          <a:xfrm>
            <a:off x="822960" y="1847088"/>
            <a:ext cx="7315200" cy="329184"/>
          </a:xfrm>
          <a:prstGeom prst="rect">
            <a:avLst/>
          </a:prstGeom>
          <a:noFill/>
        </p:spPr>
        <p:txBody>
          <a:bodyPr wrap="square" lIns="0" tIns="0" rIns="0" bIns="0" anchor="ctr"/>
          <a:lstStyle/>
          <a:p>
            <a:pPr marL="0" indent="0" algn="l">
              <a:buNone/>
            </a:pPr>
            <a:r>
              <a:rPr lang="en-US" sz="1250" b="1">
                <a:solidFill>
                  <a:srgbClr val="FFFFFF"/>
                </a:solidFill>
                <a:latin typeface="Trebuchet MS"/>
                <a:ea typeface="Trebuchet MS"/>
                <a:cs typeface="Trebuchet MS"/>
              </a:rPr>
              <a:t>TECNOLOGÍA Y NEGOCIO  ·  2026</a:t>
            </a:r>
            <a:endParaRPr sz="1250" b="1">
              <a:solidFill>
                <a:srgbClr val="FFFFFF"/>
              </a:solidFill>
              <a:latin typeface="Trebuchet MS"/>
              <a:ea typeface="Trebuchet MS"/>
              <a:cs typeface="Trebuchet MS"/>
            </a:endParaRPr>
          </a:p>
        </p:txBody>
      </p:sp>
      <p:sp>
        <p:nvSpPr>
          <p:cNvPr id="5" name="Text 0">
            <a:extLst>
              <a:ext uri="{FF2B5EF4-FFF2-40B4-BE49-F238E27FC236}">
                <a16:creationId xmlns:a16="http://schemas.microsoft.com/office/drawing/2014/main" id="{5D9BD458-659F-4214-9D81-FF6E9AA3F414}"/>
              </a:ext>
            </a:extLst>
          </p:cNvPr>
          <p:cNvSpPr>
            <a:spLocks noGrp="1"/>
          </p:cNvSpPr>
          <p:nvPr>
            <p:ph type="title" idx="100" hasCustomPrompt="1"/>
          </p:nvPr>
        </p:nvSpPr>
        <p:spPr>
          <a:xfrm>
            <a:off x="777240" y="2331720"/>
            <a:ext cx="7680960" cy="1737360"/>
          </a:xfrm>
          <a:prstGeom prst="rect">
            <a:avLst/>
          </a:prstGeom>
          <a:noFill/>
        </p:spPr>
        <p:txBody>
          <a:bodyPr wrap="square" lIns="0" tIns="0" rIns="0" bIns="0" anchor="ctr"/>
          <a:lstStyle/>
          <a:p>
            <a:pPr marL="0" indent="0" algn="l">
              <a:buNone/>
            </a:pPr>
            <a:r>
              <a:rPr lang="en-US" sz="3100" b="1">
                <a:solidFill>
                  <a:srgbClr val="FFFFFF"/>
                </a:solidFill>
                <a:latin typeface="Trebuchet MS"/>
                <a:ea typeface="Trebuchet MS"/>
                <a:cs typeface="Trebuchet MS"/>
              </a:rPr>
              <a:t>De la productividad</a:t>
            </a:r>
          </a:p>
          <a:p>
            <a:pPr marL="0" indent="0" algn="l">
              <a:buNone/>
            </a:pPr>
            <a:r>
              <a:rPr lang="en-US" sz="3100" b="1">
                <a:solidFill>
                  <a:srgbClr val="FFFFFF"/>
                </a:solidFill>
                <a:latin typeface="Trebuchet MS"/>
                <a:ea typeface="Trebuchet MS"/>
                <a:cs typeface="Trebuchet MS"/>
              </a:rPr>
              <a:t>al valor</a:t>
            </a:r>
            <a:endParaRPr sz="3100" b="1">
              <a:solidFill>
                <a:srgbClr val="FFFFFF"/>
              </a:solidFill>
              <a:latin typeface="Trebuchet MS"/>
              <a:ea typeface="Trebuchet MS"/>
              <a:cs typeface="Trebuchet MS"/>
            </a:endParaRPr>
          </a:p>
        </p:txBody>
      </p:sp>
      <p:sp>
        <p:nvSpPr>
          <p:cNvPr id="6" name="accent">
            <a:extLst>
              <a:ext uri="{FF2B5EF4-FFF2-40B4-BE49-F238E27FC236}">
                <a16:creationId xmlns:a16="http://schemas.microsoft.com/office/drawing/2014/main" id="{0734481B-9832-426D-830A-FBB69D420518}"/>
              </a:ext>
            </a:extLst>
          </p:cNvPr>
          <p:cNvSpPr>
            <a:spLocks noGrp="1"/>
          </p:cNvSpPr>
          <p:nvPr/>
        </p:nvSpPr>
        <p:spPr>
          <a:xfrm>
            <a:off x="822960" y="4224528"/>
            <a:ext cx="1051560" cy="54864"/>
          </a:xfrm>
          <a:prstGeom prst="rect">
            <a:avLst/>
          </a:prstGeom>
          <a:solidFill>
            <a:srgbClr val="FFFFFF"/>
          </a:solidFill>
        </p:spPr>
        <p:txBody>
          <a:bodyPr/>
          <a:lstStyle/>
          <a:p>
            <a:endParaRPr/>
          </a:p>
        </p:txBody>
      </p:sp>
      <p:sp>
        <p:nvSpPr>
          <p:cNvPr id="7" name="Text 5">
            <a:extLst>
              <a:ext uri="{FF2B5EF4-FFF2-40B4-BE49-F238E27FC236}">
                <a16:creationId xmlns:a16="http://schemas.microsoft.com/office/drawing/2014/main" id="{F78C9822-7C11-461A-B4C7-8C0A464B37B4}"/>
              </a:ext>
            </a:extLst>
          </p:cNvPr>
          <p:cNvSpPr>
            <a:spLocks noGrp="1"/>
          </p:cNvSpPr>
          <p:nvPr/>
        </p:nvSpPr>
        <p:spPr>
          <a:xfrm>
            <a:off x="804672" y="4407408"/>
            <a:ext cx="7498080" cy="457200"/>
          </a:xfrm>
          <a:prstGeom prst="rect">
            <a:avLst/>
          </a:prstGeom>
          <a:noFill/>
        </p:spPr>
        <p:txBody>
          <a:bodyPr wrap="square" lIns="0" tIns="0" rIns="0" bIns="0" anchor="ctr"/>
          <a:lstStyle/>
          <a:p>
            <a:pPr marL="0" indent="0" algn="l">
              <a:buNone/>
            </a:pPr>
            <a:r>
              <a:rPr lang="en-US" sz="1550">
                <a:solidFill>
                  <a:srgbClr val="E7E2DF"/>
                </a:solidFill>
                <a:latin typeface="Calibri"/>
                <a:ea typeface="Calibri"/>
                <a:cs typeface="Calibri"/>
              </a:rPr>
              <a:t>Cómo medir el impacto de GitHub Copilot</a:t>
            </a:r>
            <a:endParaRPr sz="1550">
              <a:solidFill>
                <a:srgbClr val="E7E2DF"/>
              </a:solidFill>
              <a:latin typeface="Calibri"/>
              <a:ea typeface="Calibri"/>
              <a:cs typeface="Calibri"/>
            </a:endParaRPr>
          </a:p>
        </p:txBody>
      </p:sp>
      <p:sp>
        <p:nvSpPr>
          <p:cNvPr id="8" name="Text 6">
            <a:extLst>
              <a:ext uri="{FF2B5EF4-FFF2-40B4-BE49-F238E27FC236}">
                <a16:creationId xmlns:a16="http://schemas.microsoft.com/office/drawing/2014/main" id="{83730261-8883-470D-936E-A3EE4308BDF4}"/>
              </a:ext>
            </a:extLst>
          </p:cNvPr>
          <p:cNvSpPr>
            <a:spLocks noGrp="1"/>
          </p:cNvSpPr>
          <p:nvPr/>
        </p:nvSpPr>
        <p:spPr>
          <a:xfrm>
            <a:off x="804672" y="5138928"/>
            <a:ext cx="8229600" cy="365760"/>
          </a:xfrm>
          <a:prstGeom prst="rect">
            <a:avLst/>
          </a:prstGeom>
          <a:noFill/>
        </p:spPr>
        <p:txBody>
          <a:bodyPr wrap="square" lIns="0" tIns="0" rIns="0" bIns="0" anchor="ctr"/>
          <a:lstStyle/>
          <a:p>
            <a:pPr marL="0" indent="0" algn="l">
              <a:buNone/>
            </a:pPr>
            <a:r>
              <a:rPr lang="en-US" sz="1250" b="1">
                <a:solidFill>
                  <a:srgbClr val="FFFFFF"/>
                </a:solidFill>
                <a:latin typeface="Calibri"/>
                <a:ea typeface="Calibri"/>
                <a:cs typeface="Calibri"/>
              </a:rPr>
              <a:t>Tuya      Sesión ejecutiva      Tecnología y Negocio</a:t>
            </a:r>
            <a:endParaRPr sz="1250" b="1">
              <a:solidFill>
                <a:srgbClr val="FFFFFF"/>
              </a:solidFill>
              <a:latin typeface="Calibri"/>
              <a:ea typeface="Calibri"/>
              <a:cs typeface="Calibri"/>
            </a:endParaRPr>
          </a:p>
        </p:txBody>
      </p:sp>
      <p:sp>
        <p:nvSpPr>
          <p:cNvPr id="9" name="Text 7">
            <a:extLst>
              <a:ext uri="{FF2B5EF4-FFF2-40B4-BE49-F238E27FC236}">
                <a16:creationId xmlns:a16="http://schemas.microsoft.com/office/drawing/2014/main" id="{7FDE7B6D-7954-4AF2-89FA-15912E1E9C50}"/>
              </a:ext>
            </a:extLst>
          </p:cNvPr>
          <p:cNvSpPr>
            <a:spLocks noGrp="1"/>
          </p:cNvSpPr>
          <p:nvPr/>
        </p:nvSpPr>
        <p:spPr>
          <a:xfrm>
            <a:off x="8778240" y="6272784"/>
            <a:ext cx="2880360" cy="310896"/>
          </a:xfrm>
          <a:prstGeom prst="rect">
            <a:avLst/>
          </a:prstGeom>
          <a:noFill/>
        </p:spPr>
        <p:txBody>
          <a:bodyPr wrap="square" lIns="0" tIns="0" rIns="0" bIns="0" anchor="ctr"/>
          <a:lstStyle/>
          <a:p>
            <a:pPr marL="0" indent="0" algn="r">
              <a:buNone/>
            </a:pPr>
            <a:r>
              <a:rPr lang="en-US" sz="1000" b="1">
                <a:solidFill>
                  <a:srgbClr val="9A928C"/>
                </a:solidFill>
                <a:latin typeface="Trebuchet MS"/>
                <a:ea typeface="Trebuchet MS"/>
                <a:cs typeface="Trebuchet MS"/>
              </a:rPr>
              <a:t>Copilot  ·  Valor</a:t>
            </a:r>
            <a:endParaRPr sz="1000" b="1">
              <a:solidFill>
                <a:srgbClr val="9A928C"/>
              </a:solidFill>
              <a:latin typeface="Trebuchet MS"/>
              <a:ea typeface="Trebuchet MS"/>
              <a:cs typeface="Trebuchet MS"/>
            </a:endParaRPr>
          </a:p>
        </p:txBody>
      </p:sp>
      <p:sp>
        <p:nvSpPr>
          <p:cNvPr id="20" name="Logo Card">
            <a:extLst>
              <a:ext uri="{FF2B5EF4-FFF2-40B4-BE49-F238E27FC236}">
                <a16:creationId xmlns:a16="http://schemas.microsoft.com/office/drawing/2014/main" id="{20EA5C85-926F-40D8-9F8F-441A18E914B8}"/>
              </a:ext>
            </a:extLst>
          </p:cNvPr>
          <p:cNvSpPr>
            <a:spLocks noGrp="1"/>
          </p:cNvSpPr>
          <p:nvPr/>
        </p:nvSpPr>
        <p:spPr>
          <a:xfrm>
            <a:off x="822960" y="470000"/>
            <a:ext cx="2438400" cy="1280160"/>
          </a:xfrm>
          <a:prstGeom prst="roundRect">
            <a:avLst>
              <a:gd name="adj" fmla="val 8000"/>
            </a:avLst>
          </a:prstGeom>
          <a:solidFill>
            <a:srgbClr val="FFFFFF"/>
          </a:solidFill>
          <a:ln>
            <a:noFill/>
          </a:ln>
        </p:spPr>
        <p:txBody>
          <a:bodyPr/>
          <a:lstStyle/>
          <a:p>
            <a:endParaRPr/>
          </a:p>
        </p:txBody>
      </p:sp>
      <p:pic>
        <p:nvPicPr>
          <p:cNvPr id="29" name="Imagen 9"/>
          <p:cNvPicPr>
            <a:picLocks noChangeAspect="1"/>
          </p:cNvPicPr>
          <p:nvPr/>
        </p:nvPicPr>
        <p:blipFill>
          <a:blip r:embed="rId3"/>
          <a:stretch>
            <a:fillRect/>
          </a:stretch>
        </p:blipFill>
        <p:spPr>
          <a:xfrm>
            <a:off x="1142160" y="660080"/>
            <a:ext cx="1800000" cy="900000"/>
          </a:xfrm>
          <a:prstGeom prst="rect">
            <a:avLst/>
          </a:prstGeom>
        </p:spPr>
      </p:pic>
    </p:spTree>
    <p:extLst>
      <p:ext uri="{BB962C8B-B14F-4D97-AF65-F5344CB8AC3E}">
        <p14:creationId xmlns:p14="http://schemas.microsoft.com/office/powerpoint/2010/main" val="15559844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sh101"/>
          <p:cNvSpPr/>
          <p:nvPr/>
        </p:nvSpPr>
        <p:spPr>
          <a:xfrm>
            <a:off x="658368" y="384048"/>
            <a:ext cx="146304" cy="146304"/>
          </a:xfrm>
          <a:prstGeom prst="rect">
            <a:avLst/>
          </a:prstGeom>
          <a:solidFill>
            <a:srgbClr val="ED1C29"/>
          </a:solidFill>
          <a:ln>
            <a:noFill/>
          </a:ln>
        </p:spPr>
        <p:txBody>
          <a:bodyPr lIns="91440" tIns="45720" rIns="91440" bIns="45720" anchor="ctr">
            <a:normAutofit fontScale="25000" lnSpcReduction="20000"/>
          </a:bodyPr>
          <a:lstStyle/>
          <a:p>
            <a:endParaRPr lang="es-ES"/>
          </a:p>
        </p:txBody>
      </p:sp>
      <p:sp>
        <p:nvSpPr>
          <p:cNvPr id="102" name="tb102"/>
          <p:cNvSpPr txBox="1"/>
          <p:nvPr/>
        </p:nvSpPr>
        <p:spPr>
          <a:xfrm>
            <a:off x="914400" y="365760"/>
            <a:ext cx="7315200" cy="237744"/>
          </a:xfrm>
          <a:prstGeom prst="rect">
            <a:avLst/>
          </a:prstGeom>
          <a:noFill/>
        </p:spPr>
        <p:txBody>
          <a:bodyPr wrap="square" lIns="0" tIns="0" rIns="0" bIns="0" anchor="t">
            <a:normAutofit/>
          </a:bodyPr>
          <a:lstStyle/>
          <a:p>
            <a:pPr algn="l">
              <a:lnSpc>
                <a:spcPct val="100000"/>
              </a:lnSpc>
              <a:spcBef>
                <a:spcPts val="0"/>
              </a:spcBef>
            </a:pPr>
            <a:r>
              <a:rPr lang="es-ES" sz="1050" b="1" i="0" spc="50">
                <a:solidFill>
                  <a:srgbClr val="ED1C29"/>
                </a:solidFill>
              </a:rPr>
              <a:t>EVIDENCIA INTERNA · PRUEBA DE CONCEPTO</a:t>
            </a:r>
          </a:p>
        </p:txBody>
      </p:sp>
      <p:sp>
        <p:nvSpPr>
          <p:cNvPr id="103" name="tb103"/>
          <p:cNvSpPr txBox="1"/>
          <p:nvPr/>
        </p:nvSpPr>
        <p:spPr>
          <a:xfrm>
            <a:off x="658368" y="713232"/>
            <a:ext cx="9326880" cy="566928"/>
          </a:xfrm>
          <a:prstGeom prst="rect">
            <a:avLst/>
          </a:prstGeom>
          <a:noFill/>
        </p:spPr>
        <p:txBody>
          <a:bodyPr wrap="square" lIns="0" tIns="0" rIns="0" bIns="0" anchor="t">
            <a:normAutofit/>
          </a:bodyPr>
          <a:lstStyle/>
          <a:p>
            <a:pPr algn="l">
              <a:lnSpc>
                <a:spcPct val="100000"/>
              </a:lnSpc>
              <a:spcBef>
                <a:spcPts val="0"/>
              </a:spcBef>
            </a:pPr>
            <a:r>
              <a:rPr lang="es-ES" sz="3000" b="1" i="0">
                <a:solidFill>
                  <a:srgbClr val="211915"/>
                </a:solidFill>
              </a:rPr>
              <a:t>Lo que Copilot ya demostró en la PoC</a:t>
            </a:r>
          </a:p>
        </p:txBody>
      </p:sp>
      <p:sp>
        <p:nvSpPr>
          <p:cNvPr id="104" name="tb104"/>
          <p:cNvSpPr txBox="1"/>
          <p:nvPr/>
        </p:nvSpPr>
        <p:spPr>
          <a:xfrm>
            <a:off x="658368" y="1316736"/>
            <a:ext cx="9692640" cy="384048"/>
          </a:xfrm>
          <a:prstGeom prst="rect">
            <a:avLst/>
          </a:prstGeom>
          <a:noFill/>
        </p:spPr>
        <p:txBody>
          <a:bodyPr wrap="square" lIns="0" tIns="0" rIns="0" bIns="0" anchor="t">
            <a:normAutofit/>
          </a:bodyPr>
          <a:lstStyle/>
          <a:p>
            <a:pPr algn="l">
              <a:lnSpc>
                <a:spcPct val="100000"/>
              </a:lnSpc>
              <a:spcBef>
                <a:spcPts val="0"/>
              </a:spcBef>
            </a:pPr>
            <a:r>
              <a:rPr lang="es-ES" sz="1350" b="0" i="0">
                <a:solidFill>
                  <a:srgbClr val="7A7A7A"/>
                </a:solidFill>
              </a:rPr>
              <a:t>La migración permitió comprobar que Copilot puede liberar una capacidad técnica significativa.</a:t>
            </a:r>
          </a:p>
        </p:txBody>
      </p:sp>
      <p:sp>
        <p:nvSpPr>
          <p:cNvPr id="105" name="tb105"/>
          <p:cNvSpPr txBox="1"/>
          <p:nvPr/>
        </p:nvSpPr>
        <p:spPr>
          <a:xfrm>
            <a:off x="658368" y="6272784"/>
            <a:ext cx="5486400" cy="2286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Tuya   ·   Del valor de GitHub Copilot</a:t>
            </a:r>
          </a:p>
        </p:txBody>
      </p:sp>
      <p:sp>
        <p:nvSpPr>
          <p:cNvPr id="106" name="tb106"/>
          <p:cNvSpPr txBox="1"/>
          <p:nvPr/>
        </p:nvSpPr>
        <p:spPr>
          <a:xfrm>
            <a:off x="10433304" y="6272784"/>
            <a:ext cx="1097280" cy="228600"/>
          </a:xfrm>
          <a:prstGeom prst="rect">
            <a:avLst/>
          </a:prstGeom>
          <a:noFill/>
        </p:spPr>
        <p:txBody>
          <a:bodyPr wrap="square" lIns="0" tIns="0" rIns="0" bIns="0" anchor="t">
            <a:normAutofit/>
          </a:bodyPr>
          <a:lstStyle/>
          <a:p>
            <a:pPr algn="r">
              <a:lnSpc>
                <a:spcPct val="100000"/>
              </a:lnSpc>
              <a:spcBef>
                <a:spcPts val="0"/>
              </a:spcBef>
            </a:pPr>
            <a:r>
              <a:rPr lang="es-ES" sz="900" b="1" i="0">
                <a:solidFill>
                  <a:srgbClr val="ED1C29"/>
                </a:solidFill>
              </a:rPr>
              <a:t>02</a:t>
            </a:r>
          </a:p>
        </p:txBody>
      </p:sp>
      <p:pic>
        <p:nvPicPr>
          <p:cNvPr id="900" name="Logo Tuya"/>
          <p:cNvPicPr>
            <a:picLocks noChangeAspect="1"/>
          </p:cNvPicPr>
          <p:nvPr/>
        </p:nvPicPr>
        <p:blipFill>
          <a:blip r:embed="rId3"/>
          <a:stretch>
            <a:fillRect/>
          </a:stretch>
        </p:blipFill>
        <p:spPr>
          <a:xfrm>
            <a:off x="11152200" y="321276"/>
            <a:ext cx="640080" cy="320040"/>
          </a:xfrm>
          <a:prstGeom prst="rect">
            <a:avLst/>
          </a:prstGeom>
        </p:spPr>
      </p:pic>
      <p:sp>
        <p:nvSpPr>
          <p:cNvPr id="107" name="sh107"/>
          <p:cNvSpPr/>
          <p:nvPr/>
        </p:nvSpPr>
        <p:spPr>
          <a:xfrm>
            <a:off x="658368" y="1847088"/>
            <a:ext cx="4114800" cy="1280160"/>
          </a:xfrm>
          <a:prstGeom prst="rect">
            <a:avLst/>
          </a:prstGeom>
          <a:noFill/>
          <a:ln w="12700">
            <a:solidFill>
              <a:srgbClr val="E3E0DE"/>
            </a:solidFill>
          </a:ln>
        </p:spPr>
        <p:txBody>
          <a:bodyPr lIns="91440" tIns="45720" rIns="91440" bIns="45720" anchor="ctr">
            <a:normAutofit/>
          </a:bodyPr>
          <a:lstStyle/>
          <a:p>
            <a:endParaRPr lang="es-ES"/>
          </a:p>
        </p:txBody>
      </p:sp>
      <p:sp>
        <p:nvSpPr>
          <p:cNvPr id="108" name="tb108"/>
          <p:cNvSpPr txBox="1"/>
          <p:nvPr/>
        </p:nvSpPr>
        <p:spPr>
          <a:xfrm>
            <a:off x="658368" y="1965960"/>
            <a:ext cx="4114800" cy="658368"/>
          </a:xfrm>
          <a:prstGeom prst="rect">
            <a:avLst/>
          </a:prstGeom>
          <a:noFill/>
        </p:spPr>
        <p:txBody>
          <a:bodyPr wrap="square" lIns="91440" tIns="0" rIns="91440" bIns="0" anchor="t">
            <a:normAutofit/>
          </a:bodyPr>
          <a:lstStyle/>
          <a:p>
            <a:pPr algn="ctr">
              <a:lnSpc>
                <a:spcPct val="100000"/>
              </a:lnSpc>
              <a:spcBef>
                <a:spcPts val="0"/>
              </a:spcBef>
            </a:pPr>
            <a:r>
              <a:rPr lang="es-ES" sz="4000" b="1" i="0">
                <a:solidFill>
                  <a:srgbClr val="211915"/>
                </a:solidFill>
              </a:rPr>
              <a:t>50 h</a:t>
            </a:r>
          </a:p>
        </p:txBody>
      </p:sp>
      <p:sp>
        <p:nvSpPr>
          <p:cNvPr id="109" name="tb109"/>
          <p:cNvSpPr txBox="1"/>
          <p:nvPr/>
        </p:nvSpPr>
        <p:spPr>
          <a:xfrm>
            <a:off x="658368" y="2606040"/>
            <a:ext cx="4114800" cy="457200"/>
          </a:xfrm>
          <a:prstGeom prst="rect">
            <a:avLst/>
          </a:prstGeom>
          <a:noFill/>
        </p:spPr>
        <p:txBody>
          <a:bodyPr wrap="square" lIns="91440" tIns="0" rIns="91440" bIns="0" anchor="t">
            <a:normAutofit/>
          </a:bodyPr>
          <a:lstStyle/>
          <a:p>
            <a:pPr algn="ctr">
              <a:lnSpc>
                <a:spcPct val="100000"/>
              </a:lnSpc>
              <a:spcBef>
                <a:spcPts val="0"/>
              </a:spcBef>
            </a:pPr>
            <a:r>
              <a:rPr lang="es-ES" sz="1200" b="1" i="0">
                <a:solidFill>
                  <a:srgbClr val="211915"/>
                </a:solidFill>
              </a:rPr>
              <a:t>Estimación sin Copilot</a:t>
            </a:r>
          </a:p>
          <a:p>
            <a:pPr algn="ctr">
              <a:lnSpc>
                <a:spcPct val="100000"/>
              </a:lnSpc>
              <a:spcBef>
                <a:spcPts val="40"/>
              </a:spcBef>
            </a:pPr>
            <a:r>
              <a:rPr lang="es-ES" sz="1000" b="0" i="0">
                <a:solidFill>
                  <a:srgbClr val="7A7A7A"/>
                </a:solidFill>
              </a:rPr>
              <a:t>Juicio experto</a:t>
            </a:r>
          </a:p>
        </p:txBody>
      </p:sp>
      <p:sp>
        <p:nvSpPr>
          <p:cNvPr id="110" name="sh110"/>
          <p:cNvSpPr/>
          <p:nvPr/>
        </p:nvSpPr>
        <p:spPr>
          <a:xfrm>
            <a:off x="4956048" y="1847088"/>
            <a:ext cx="6574536" cy="1280160"/>
          </a:xfrm>
          <a:prstGeom prst="rect">
            <a:avLst/>
          </a:prstGeom>
          <a:solidFill>
            <a:srgbClr val="ED1C29"/>
          </a:solidFill>
          <a:ln>
            <a:noFill/>
          </a:ln>
        </p:spPr>
        <p:txBody>
          <a:bodyPr lIns="91440" tIns="45720" rIns="91440" bIns="45720" anchor="ctr">
            <a:normAutofit/>
          </a:bodyPr>
          <a:lstStyle/>
          <a:p>
            <a:endParaRPr lang="es-ES"/>
          </a:p>
        </p:txBody>
      </p:sp>
      <p:sp>
        <p:nvSpPr>
          <p:cNvPr id="111" name="tb111"/>
          <p:cNvSpPr txBox="1"/>
          <p:nvPr/>
        </p:nvSpPr>
        <p:spPr>
          <a:xfrm>
            <a:off x="4956048" y="1920240"/>
            <a:ext cx="6574536" cy="640080"/>
          </a:xfrm>
          <a:prstGeom prst="rect">
            <a:avLst/>
          </a:prstGeom>
          <a:noFill/>
        </p:spPr>
        <p:txBody>
          <a:bodyPr wrap="square" lIns="91440" tIns="0" rIns="91440" bIns="0" anchor="t">
            <a:normAutofit fontScale="92500" lnSpcReduction="20000"/>
          </a:bodyPr>
          <a:lstStyle/>
          <a:p>
            <a:pPr algn="ctr">
              <a:lnSpc>
                <a:spcPct val="100000"/>
              </a:lnSpc>
              <a:spcBef>
                <a:spcPts val="0"/>
              </a:spcBef>
            </a:pPr>
            <a:r>
              <a:rPr lang="es-ES" sz="5400" b="1" i="0">
                <a:solidFill>
                  <a:srgbClr val="FFFFFF"/>
                </a:solidFill>
              </a:rPr>
              <a:t>2 h 18 min</a:t>
            </a:r>
          </a:p>
        </p:txBody>
      </p:sp>
      <p:sp>
        <p:nvSpPr>
          <p:cNvPr id="112" name="tb112"/>
          <p:cNvSpPr txBox="1"/>
          <p:nvPr/>
        </p:nvSpPr>
        <p:spPr>
          <a:xfrm>
            <a:off x="4956048" y="2606040"/>
            <a:ext cx="6574536" cy="457200"/>
          </a:xfrm>
          <a:prstGeom prst="rect">
            <a:avLst/>
          </a:prstGeom>
          <a:noFill/>
        </p:spPr>
        <p:txBody>
          <a:bodyPr wrap="square" lIns="91440" tIns="0" rIns="91440" bIns="0" anchor="t">
            <a:normAutofit/>
          </a:bodyPr>
          <a:lstStyle/>
          <a:p>
            <a:pPr algn="ctr">
              <a:lnSpc>
                <a:spcPct val="100000"/>
              </a:lnSpc>
              <a:spcBef>
                <a:spcPts val="0"/>
              </a:spcBef>
            </a:pPr>
            <a:r>
              <a:rPr lang="es-ES" sz="1200" b="1" i="0">
                <a:solidFill>
                  <a:srgbClr val="FFFFFF"/>
                </a:solidFill>
              </a:rPr>
              <a:t>Ejecución con Copilot</a:t>
            </a:r>
          </a:p>
          <a:p>
            <a:pPr algn="ctr">
              <a:lnSpc>
                <a:spcPct val="100000"/>
              </a:lnSpc>
              <a:spcBef>
                <a:spcPts val="40"/>
              </a:spcBef>
            </a:pPr>
            <a:r>
              <a:rPr lang="es-ES" sz="1000" b="0" i="0">
                <a:solidFill>
                  <a:srgbClr val="FBD3D5"/>
                </a:solidFill>
              </a:rPr>
              <a:t>Tiempo real observado</a:t>
            </a:r>
          </a:p>
        </p:txBody>
      </p:sp>
      <p:sp>
        <p:nvSpPr>
          <p:cNvPr id="113" name="sh113"/>
          <p:cNvSpPr/>
          <p:nvPr/>
        </p:nvSpPr>
        <p:spPr>
          <a:xfrm>
            <a:off x="658368" y="3291840"/>
            <a:ext cx="5120640" cy="914400"/>
          </a:xfrm>
          <a:prstGeom prst="rect">
            <a:avLst/>
          </a:prstGeom>
          <a:solidFill>
            <a:srgbClr val="211915"/>
          </a:solidFill>
          <a:ln>
            <a:noFill/>
          </a:ln>
        </p:spPr>
        <p:txBody>
          <a:bodyPr lIns="91440" tIns="45720" rIns="91440" bIns="45720" anchor="ctr">
            <a:normAutofit/>
          </a:bodyPr>
          <a:lstStyle/>
          <a:p>
            <a:endParaRPr lang="es-ES"/>
          </a:p>
        </p:txBody>
      </p:sp>
      <p:sp>
        <p:nvSpPr>
          <p:cNvPr id="114" name="tb114"/>
          <p:cNvSpPr txBox="1"/>
          <p:nvPr/>
        </p:nvSpPr>
        <p:spPr>
          <a:xfrm>
            <a:off x="658368" y="3383280"/>
            <a:ext cx="5120640" cy="411480"/>
          </a:xfrm>
          <a:prstGeom prst="rect">
            <a:avLst/>
          </a:prstGeom>
          <a:noFill/>
        </p:spPr>
        <p:txBody>
          <a:bodyPr wrap="square" lIns="91440" tIns="0" rIns="91440" bIns="0" anchor="t">
            <a:normAutofit lnSpcReduction="10000"/>
          </a:bodyPr>
          <a:lstStyle/>
          <a:p>
            <a:pPr algn="ctr">
              <a:lnSpc>
                <a:spcPct val="100000"/>
              </a:lnSpc>
              <a:spcBef>
                <a:spcPts val="0"/>
              </a:spcBef>
            </a:pPr>
            <a:r>
              <a:rPr lang="es-ES" sz="3000" b="1" i="0">
                <a:solidFill>
                  <a:srgbClr val="FFFFFF"/>
                </a:solidFill>
              </a:rPr>
              <a:t>95,4 %</a:t>
            </a:r>
          </a:p>
        </p:txBody>
      </p:sp>
      <p:sp>
        <p:nvSpPr>
          <p:cNvPr id="115" name="tb115"/>
          <p:cNvSpPr txBox="1"/>
          <p:nvPr/>
        </p:nvSpPr>
        <p:spPr>
          <a:xfrm>
            <a:off x="658368" y="3794760"/>
            <a:ext cx="5120640" cy="365760"/>
          </a:xfrm>
          <a:prstGeom prst="rect">
            <a:avLst/>
          </a:prstGeom>
          <a:noFill/>
        </p:spPr>
        <p:txBody>
          <a:bodyPr wrap="square" lIns="91440" tIns="0" rIns="91440" bIns="0" anchor="t">
            <a:normAutofit/>
          </a:bodyPr>
          <a:lstStyle/>
          <a:p>
            <a:pPr algn="ctr">
              <a:lnSpc>
                <a:spcPct val="100000"/>
              </a:lnSpc>
              <a:spcBef>
                <a:spcPts val="0"/>
              </a:spcBef>
            </a:pPr>
            <a:r>
              <a:rPr lang="es-ES" sz="1100" b="1" i="0">
                <a:solidFill>
                  <a:srgbClr val="FFFFFF"/>
                </a:solidFill>
              </a:rPr>
              <a:t>Reducción estimada del esfuerzo</a:t>
            </a:r>
          </a:p>
          <a:p>
            <a:pPr algn="ctr">
              <a:lnSpc>
                <a:spcPct val="100000"/>
              </a:lnSpc>
              <a:spcBef>
                <a:spcPts val="40"/>
              </a:spcBef>
            </a:pPr>
            <a:r>
              <a:rPr lang="es-ES" sz="900" b="0" i="0">
                <a:solidFill>
                  <a:srgbClr val="BFB9B6"/>
                </a:solidFill>
              </a:rPr>
              <a:t>Diferencia de 47 h 42 min frente a la estimación</a:t>
            </a:r>
          </a:p>
        </p:txBody>
      </p:sp>
      <p:sp>
        <p:nvSpPr>
          <p:cNvPr id="116" name="sh116"/>
          <p:cNvSpPr/>
          <p:nvPr/>
        </p:nvSpPr>
        <p:spPr>
          <a:xfrm>
            <a:off x="6035040" y="3291840"/>
            <a:ext cx="1783080" cy="19050"/>
          </a:xfrm>
          <a:prstGeom prst="rect">
            <a:avLst/>
          </a:prstGeom>
          <a:solidFill>
            <a:srgbClr val="D0CCCA"/>
          </a:solidFill>
          <a:ln>
            <a:noFill/>
          </a:ln>
        </p:spPr>
        <p:txBody>
          <a:bodyPr lIns="91440" tIns="45720" rIns="91440" bIns="45720" anchor="ctr">
            <a:normAutofit fontScale="25000" lnSpcReduction="20000"/>
          </a:bodyPr>
          <a:lstStyle/>
          <a:p>
            <a:endParaRPr lang="es-ES"/>
          </a:p>
        </p:txBody>
      </p:sp>
      <p:sp>
        <p:nvSpPr>
          <p:cNvPr id="117" name="tb117"/>
          <p:cNvSpPr txBox="1"/>
          <p:nvPr/>
        </p:nvSpPr>
        <p:spPr>
          <a:xfrm>
            <a:off x="6035040" y="3474720"/>
            <a:ext cx="1783080" cy="274320"/>
          </a:xfrm>
          <a:prstGeom prst="rect">
            <a:avLst/>
          </a:prstGeom>
          <a:noFill/>
        </p:spPr>
        <p:txBody>
          <a:bodyPr wrap="square" lIns="0" tIns="0" rIns="0" bIns="0" anchor="t">
            <a:normAutofit/>
          </a:bodyPr>
          <a:lstStyle/>
          <a:p>
            <a:pPr algn="l">
              <a:lnSpc>
                <a:spcPct val="100000"/>
              </a:lnSpc>
              <a:spcBef>
                <a:spcPts val="0"/>
              </a:spcBef>
            </a:pPr>
            <a:r>
              <a:rPr lang="es-ES" sz="1200" b="1" i="0">
                <a:solidFill>
                  <a:srgbClr val="211915"/>
                </a:solidFill>
              </a:rPr>
              <a:t>5</a:t>
            </a:r>
          </a:p>
        </p:txBody>
      </p:sp>
      <p:sp>
        <p:nvSpPr>
          <p:cNvPr id="118" name="tb118"/>
          <p:cNvSpPr txBox="1"/>
          <p:nvPr/>
        </p:nvSpPr>
        <p:spPr>
          <a:xfrm>
            <a:off x="6035040" y="3749040"/>
            <a:ext cx="1783080" cy="27432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7A7A7A"/>
                </a:solidFill>
              </a:rPr>
              <a:t>casos medidos con flujo completo</a:t>
            </a:r>
          </a:p>
        </p:txBody>
      </p:sp>
      <p:sp>
        <p:nvSpPr>
          <p:cNvPr id="119" name="sh119"/>
          <p:cNvSpPr/>
          <p:nvPr/>
        </p:nvSpPr>
        <p:spPr>
          <a:xfrm>
            <a:off x="7863840" y="3291840"/>
            <a:ext cx="1783080" cy="19050"/>
          </a:xfrm>
          <a:prstGeom prst="rect">
            <a:avLst/>
          </a:prstGeom>
          <a:solidFill>
            <a:srgbClr val="D0CCCA"/>
          </a:solidFill>
          <a:ln>
            <a:noFill/>
          </a:ln>
        </p:spPr>
        <p:txBody>
          <a:bodyPr lIns="91440" tIns="45720" rIns="91440" bIns="45720" anchor="ctr">
            <a:normAutofit fontScale="25000" lnSpcReduction="20000"/>
          </a:bodyPr>
          <a:lstStyle/>
          <a:p>
            <a:endParaRPr lang="es-ES"/>
          </a:p>
        </p:txBody>
      </p:sp>
      <p:sp>
        <p:nvSpPr>
          <p:cNvPr id="120" name="tb120"/>
          <p:cNvSpPr txBox="1"/>
          <p:nvPr/>
        </p:nvSpPr>
        <p:spPr>
          <a:xfrm>
            <a:off x="7863840" y="3474720"/>
            <a:ext cx="1783080" cy="274320"/>
          </a:xfrm>
          <a:prstGeom prst="rect">
            <a:avLst/>
          </a:prstGeom>
          <a:noFill/>
        </p:spPr>
        <p:txBody>
          <a:bodyPr wrap="square" lIns="0" tIns="0" rIns="0" bIns="0" anchor="t">
            <a:normAutofit/>
          </a:bodyPr>
          <a:lstStyle/>
          <a:p>
            <a:pPr algn="l">
              <a:lnSpc>
                <a:spcPct val="100000"/>
              </a:lnSpc>
              <a:spcBef>
                <a:spcPts val="0"/>
              </a:spcBef>
            </a:pPr>
            <a:r>
              <a:rPr lang="es-ES" sz="1200" b="1" i="0">
                <a:solidFill>
                  <a:srgbClr val="211915"/>
                </a:solidFill>
              </a:rPr>
              <a:t>15 a 35 min</a:t>
            </a:r>
          </a:p>
        </p:txBody>
      </p:sp>
      <p:sp>
        <p:nvSpPr>
          <p:cNvPr id="121" name="tb121"/>
          <p:cNvSpPr txBox="1"/>
          <p:nvPr/>
        </p:nvSpPr>
        <p:spPr>
          <a:xfrm>
            <a:off x="7863840" y="3749040"/>
            <a:ext cx="1783080" cy="27432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7A7A7A"/>
                </a:solidFill>
              </a:rPr>
              <a:t>por migración medida</a:t>
            </a:r>
          </a:p>
        </p:txBody>
      </p:sp>
      <p:sp>
        <p:nvSpPr>
          <p:cNvPr id="122" name="sh122"/>
          <p:cNvSpPr/>
          <p:nvPr/>
        </p:nvSpPr>
        <p:spPr>
          <a:xfrm>
            <a:off x="9692640" y="3291840"/>
            <a:ext cx="1783080" cy="19050"/>
          </a:xfrm>
          <a:prstGeom prst="rect">
            <a:avLst/>
          </a:prstGeom>
          <a:solidFill>
            <a:srgbClr val="D0CCCA"/>
          </a:solidFill>
          <a:ln>
            <a:noFill/>
          </a:ln>
        </p:spPr>
        <p:txBody>
          <a:bodyPr lIns="91440" tIns="45720" rIns="91440" bIns="45720" anchor="ctr">
            <a:normAutofit fontScale="25000" lnSpcReduction="20000"/>
          </a:bodyPr>
          <a:lstStyle/>
          <a:p>
            <a:endParaRPr lang="es-ES"/>
          </a:p>
        </p:txBody>
      </p:sp>
      <p:sp>
        <p:nvSpPr>
          <p:cNvPr id="123" name="tb123"/>
          <p:cNvSpPr txBox="1"/>
          <p:nvPr/>
        </p:nvSpPr>
        <p:spPr>
          <a:xfrm>
            <a:off x="9692640" y="3474720"/>
            <a:ext cx="1783080" cy="274320"/>
          </a:xfrm>
          <a:prstGeom prst="rect">
            <a:avLst/>
          </a:prstGeom>
          <a:noFill/>
        </p:spPr>
        <p:txBody>
          <a:bodyPr wrap="square" lIns="0" tIns="0" rIns="0" bIns="0" anchor="t">
            <a:normAutofit/>
          </a:bodyPr>
          <a:lstStyle/>
          <a:p>
            <a:pPr algn="l">
              <a:lnSpc>
                <a:spcPct val="100000"/>
              </a:lnSpc>
              <a:spcBef>
                <a:spcPts val="0"/>
              </a:spcBef>
            </a:pPr>
            <a:r>
              <a:rPr lang="es-ES" sz="1100" b="1" i="0">
                <a:solidFill>
                  <a:srgbClr val="211915"/>
                </a:solidFill>
              </a:rPr>
              <a:t>.NET Core 3.1 a .NET 8</a:t>
            </a:r>
          </a:p>
        </p:txBody>
      </p:sp>
      <p:sp>
        <p:nvSpPr>
          <p:cNvPr id="124" name="tb124"/>
          <p:cNvSpPr txBox="1"/>
          <p:nvPr/>
        </p:nvSpPr>
        <p:spPr>
          <a:xfrm>
            <a:off x="9692640" y="3749040"/>
            <a:ext cx="1783080" cy="27432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7A7A7A"/>
                </a:solidFill>
              </a:rPr>
              <a:t>migraciones hacia .NET 10</a:t>
            </a:r>
          </a:p>
        </p:txBody>
      </p:sp>
      <p:sp>
        <p:nvSpPr>
          <p:cNvPr id="125" name="sh125"/>
          <p:cNvSpPr/>
          <p:nvPr/>
        </p:nvSpPr>
        <p:spPr>
          <a:xfrm>
            <a:off x="658368" y="4251960"/>
            <a:ext cx="10872216" cy="566928"/>
          </a:xfrm>
          <a:prstGeom prst="rect">
            <a:avLst/>
          </a:prstGeom>
          <a:solidFill>
            <a:srgbClr val="ED1C29"/>
          </a:solidFill>
          <a:ln>
            <a:noFill/>
          </a:ln>
        </p:spPr>
        <p:txBody>
          <a:bodyPr lIns="91440" tIns="45720" rIns="91440" bIns="45720" anchor="ctr">
            <a:normAutofit/>
          </a:bodyPr>
          <a:lstStyle/>
          <a:p>
            <a:endParaRPr lang="es-ES"/>
          </a:p>
        </p:txBody>
      </p:sp>
      <p:sp>
        <p:nvSpPr>
          <p:cNvPr id="126" name="tb126"/>
          <p:cNvSpPr txBox="1"/>
          <p:nvPr/>
        </p:nvSpPr>
        <p:spPr>
          <a:xfrm>
            <a:off x="658368" y="4398264"/>
            <a:ext cx="10872216" cy="310896"/>
          </a:xfrm>
          <a:prstGeom prst="rect">
            <a:avLst/>
          </a:prstGeom>
          <a:noFill/>
        </p:spPr>
        <p:txBody>
          <a:bodyPr wrap="square" lIns="91440" tIns="0" rIns="91440" bIns="0" anchor="t">
            <a:normAutofit/>
          </a:bodyPr>
          <a:lstStyle/>
          <a:p>
            <a:pPr algn="ctr">
              <a:lnSpc>
                <a:spcPct val="100000"/>
              </a:lnSpc>
              <a:spcBef>
                <a:spcPts val="0"/>
              </a:spcBef>
            </a:pPr>
            <a:r>
              <a:rPr lang="es-ES" sz="1350" b="1" i="0">
                <a:solidFill>
                  <a:srgbClr val="FFFFFF"/>
                </a:solidFill>
              </a:rPr>
              <a:t>La PoC demostró capacidad técnica. Ahora debemos determinar qué hacemos con esa capacidad y qué resultado produce.</a:t>
            </a:r>
          </a:p>
        </p:txBody>
      </p:sp>
      <p:sp>
        <p:nvSpPr>
          <p:cNvPr id="127" name="tb127"/>
          <p:cNvSpPr txBox="1"/>
          <p:nvPr/>
        </p:nvSpPr>
        <p:spPr>
          <a:xfrm>
            <a:off x="658368" y="5910000"/>
            <a:ext cx="10872216" cy="320040"/>
          </a:xfrm>
          <a:prstGeom prst="rect">
            <a:avLst/>
          </a:prstGeom>
          <a:noFill/>
        </p:spPr>
        <p:txBody>
          <a:bodyPr wrap="square" lIns="0" tIns="0" rIns="0" bIns="0" anchor="t">
            <a:normAutofit/>
          </a:bodyPr>
          <a:lstStyle/>
          <a:p>
            <a:pPr algn="l">
              <a:lnSpc>
                <a:spcPct val="100000"/>
              </a:lnSpc>
              <a:spcBef>
                <a:spcPts val="0"/>
              </a:spcBef>
            </a:pPr>
            <a:r>
              <a:rPr lang="es-ES" sz="700" b="0" i="1">
                <a:solidFill>
                  <a:srgbClr val="7A7A7A"/>
                </a:solidFill>
              </a:rPr>
              <a:t>Nota metodológica PoC de migración: la comparación se realizó contra estimaciones definidas mediante juicio experto. No se realizaron migraciones manuales paralelas como grupo de control. El código generado requirió pocas correcciones en la etapa evaluada y las pruebas funcionales estaban pendientes. Caso interno reportado por el desarrollador de la aplicación: la comparación se basa en su experiencia previa y no corresponde a una ejecución paralela con y sin Copilot. El ~85 % representa su estimación del trabajo realizado con apoyo de IA.</a:t>
            </a:r>
          </a:p>
        </p:txBody>
      </p:sp>
      <p:sp>
        <p:nvSpPr>
          <p:cNvPr id="130" name="sh130"/>
          <p:cNvSpPr/>
          <p:nvPr/>
        </p:nvSpPr>
        <p:spPr>
          <a:xfrm>
            <a:off x="658368" y="4966848"/>
            <a:ext cx="10872216" cy="850392"/>
          </a:xfrm>
          <a:prstGeom prst="rect">
            <a:avLst/>
          </a:prstGeom>
          <a:solidFill>
            <a:srgbClr val="F4F4F4"/>
          </a:solidFill>
          <a:ln>
            <a:noFill/>
          </a:ln>
        </p:spPr>
        <p:txBody>
          <a:bodyPr lIns="0" tIns="0" rIns="0" bIns="0" anchor="ctr">
            <a:normAutofit/>
          </a:bodyPr>
          <a:lstStyle/>
          <a:p>
            <a:endParaRPr lang="es-ES"/>
          </a:p>
        </p:txBody>
      </p:sp>
      <p:sp>
        <p:nvSpPr>
          <p:cNvPr id="131" name="sh131"/>
          <p:cNvSpPr/>
          <p:nvPr/>
        </p:nvSpPr>
        <p:spPr>
          <a:xfrm>
            <a:off x="658368" y="4966848"/>
            <a:ext cx="45720" cy="850392"/>
          </a:xfrm>
          <a:prstGeom prst="rect">
            <a:avLst/>
          </a:prstGeom>
          <a:solidFill>
            <a:srgbClr val="ED1C29"/>
          </a:solidFill>
          <a:ln>
            <a:noFill/>
          </a:ln>
        </p:spPr>
        <p:txBody>
          <a:bodyPr lIns="0" tIns="0" rIns="0" bIns="0" anchor="ctr">
            <a:normAutofit/>
          </a:bodyPr>
          <a:lstStyle/>
          <a:p>
            <a:endParaRPr lang="es-ES"/>
          </a:p>
        </p:txBody>
      </p:sp>
      <p:sp>
        <p:nvSpPr>
          <p:cNvPr id="132" name="tb132"/>
          <p:cNvSpPr txBox="1"/>
          <p:nvPr/>
        </p:nvSpPr>
        <p:spPr>
          <a:xfrm>
            <a:off x="850392" y="5065776"/>
            <a:ext cx="10500000" cy="182880"/>
          </a:xfrm>
          <a:prstGeom prst="rect">
            <a:avLst/>
          </a:prstGeom>
          <a:noFill/>
        </p:spPr>
        <p:txBody>
          <a:bodyPr wrap="square" lIns="0" tIns="0" rIns="0" bIns="0" anchor="t">
            <a:normAutofit/>
          </a:bodyPr>
          <a:lstStyle/>
          <a:p>
            <a:pPr algn="l">
              <a:lnSpc>
                <a:spcPct val="100000"/>
              </a:lnSpc>
              <a:spcBef>
                <a:spcPts val="0"/>
              </a:spcBef>
            </a:pPr>
            <a:r>
              <a:rPr lang="es-ES" sz="900" b="1" i="0" spc="50">
                <a:solidFill>
                  <a:srgbClr val="ED1C29"/>
                </a:solidFill>
              </a:rPr>
              <a:t>CASO INTERNO · DESARROLLO DESDE CERO · EVIDENCIA REPORTADA POR EL DESARROLLADOR, NO ES UNA PRUEBA CONTROLADA</a:t>
            </a:r>
          </a:p>
        </p:txBody>
      </p:sp>
      <p:sp>
        <p:nvSpPr>
          <p:cNvPr id="133" name="tb133"/>
          <p:cNvSpPr txBox="1"/>
          <p:nvPr/>
        </p:nvSpPr>
        <p:spPr>
          <a:xfrm>
            <a:off x="850392" y="5275000"/>
            <a:ext cx="10500000" cy="228600"/>
          </a:xfrm>
          <a:prstGeom prst="rect">
            <a:avLst/>
          </a:prstGeom>
          <a:noFill/>
        </p:spPr>
        <p:txBody>
          <a:bodyPr wrap="square" lIns="0" tIns="0" rIns="0" bIns="0" anchor="t">
            <a:normAutofit/>
          </a:bodyPr>
          <a:lstStyle/>
          <a:p>
            <a:pPr algn="l">
              <a:lnSpc>
                <a:spcPct val="100000"/>
              </a:lnSpc>
              <a:spcBef>
                <a:spcPts val="0"/>
              </a:spcBef>
            </a:pPr>
            <a:r>
              <a:rPr lang="es-ES" sz="1300" b="1" i="0">
                <a:solidFill>
                  <a:srgbClr val="211915"/>
                </a:solidFill>
              </a:rPr>
              <a:t>2 días</a:t>
            </a:r>
            <a:r>
              <a:rPr lang="es-ES" sz="1000" b="0" i="0">
                <a:solidFill>
                  <a:srgbClr val="5A5A5A"/>
                </a:solidFill>
              </a:rPr>
              <a:t>  trabajo estimado sin IA      </a:t>
            </a:r>
            <a:r>
              <a:rPr lang="es-ES" sz="1300" b="1" i="0">
                <a:solidFill>
                  <a:srgbClr val="211915"/>
                </a:solidFill>
              </a:rPr>
              <a:t>3 horas</a:t>
            </a:r>
            <a:r>
              <a:rPr lang="es-ES" sz="1000" b="0" i="0">
                <a:solidFill>
                  <a:srgbClr val="5A5A5A"/>
                </a:solidFill>
              </a:rPr>
              <a:t>  trabajo realizado con GitHub Copilot      </a:t>
            </a:r>
            <a:r>
              <a:rPr lang="es-ES" sz="1300" b="1" i="0">
                <a:solidFill>
                  <a:srgbClr val="ED1C29"/>
                </a:solidFill>
              </a:rPr>
              <a:t>~85 %</a:t>
            </a:r>
            <a:r>
              <a:rPr lang="es-ES" sz="1000" b="0" i="0">
                <a:solidFill>
                  <a:srgbClr val="5A5A5A"/>
                </a:solidFill>
              </a:rPr>
              <a:t>  del trabajo realizado con apoyo de IA, según estimación del desarrollador</a:t>
            </a:r>
          </a:p>
        </p:txBody>
      </p:sp>
      <p:sp>
        <p:nvSpPr>
          <p:cNvPr id="134" name="tb134"/>
          <p:cNvSpPr txBox="1"/>
          <p:nvPr/>
        </p:nvSpPr>
        <p:spPr>
          <a:xfrm>
            <a:off x="850392" y="5545000"/>
            <a:ext cx="10500000" cy="228600"/>
          </a:xfrm>
          <a:prstGeom prst="rect">
            <a:avLst/>
          </a:prstGeom>
          <a:noFill/>
        </p:spPr>
        <p:txBody>
          <a:bodyPr wrap="square" lIns="0" tIns="0" rIns="0" bIns="0" anchor="t">
            <a:normAutofit fontScale="92500"/>
          </a:bodyPr>
          <a:lstStyle/>
          <a:p>
            <a:pPr algn="l">
              <a:lnSpc>
                <a:spcPct val="100000"/>
              </a:lnSpc>
              <a:spcBef>
                <a:spcPts val="0"/>
              </a:spcBef>
            </a:pPr>
            <a:r>
              <a:rPr lang="es-ES" sz="900" b="0" i="0" dirty="0">
                <a:solidFill>
                  <a:srgbClr val="5A5A5A"/>
                </a:solidFill>
              </a:rPr>
              <a:t>En un caso interno de desarrollo de una aplicación desde cero, El </a:t>
            </a:r>
            <a:r>
              <a:rPr lang="es-ES" sz="900" b="0" i="0" dirty="0" err="1">
                <a:solidFill>
                  <a:srgbClr val="5A5A5A"/>
                </a:solidFill>
              </a:rPr>
              <a:t>dev</a:t>
            </a:r>
            <a:r>
              <a:rPr lang="es-ES" sz="900" b="0" i="0" dirty="0">
                <a:solidFill>
                  <a:srgbClr val="5A5A5A"/>
                </a:solidFill>
              </a:rPr>
              <a:t> reportó realizar en aproximadamente 3 horas una actividad que normalmente le tomaba cerca de 2 días. Estima que alrededor del 85 % del trabajo fue realizado con apoyo de IA.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h26">
            <a:extLst>
              <a:ext uri="{C183D7F6-B498-43B3-948B-1728B52AA6E4}">
                <adec:decorative xmlns:adec="http://schemas.microsoft.com/office/drawing/2017/decorative" val="1"/>
              </a:ext>
            </a:extLst>
          </p:cNvPr>
          <p:cNvSpPr/>
          <p:nvPr/>
        </p:nvSpPr>
        <p:spPr>
          <a:xfrm>
            <a:off x="658368" y="384048"/>
            <a:ext cx="146304" cy="146304"/>
          </a:xfrm>
          <a:prstGeom prst="rect">
            <a:avLst/>
          </a:prstGeom>
          <a:solidFill>
            <a:srgbClr val="ED1C29"/>
          </a:solidFill>
          <a:ln>
            <a:noFill/>
          </a:ln>
        </p:spPr>
        <p:txBody>
          <a:bodyPr lIns="0" tIns="0" rIns="0" bIns="0" anchor="ctr">
            <a:normAutofit fontScale="62500" lnSpcReduction="20000"/>
          </a:bodyPr>
          <a:lstStyle/>
          <a:p>
            <a:endParaRPr lang="es-ES"/>
          </a:p>
        </p:txBody>
      </p:sp>
      <p:sp>
        <p:nvSpPr>
          <p:cNvPr id="27" name="tb27"/>
          <p:cNvSpPr txBox="1"/>
          <p:nvPr/>
        </p:nvSpPr>
        <p:spPr>
          <a:xfrm>
            <a:off x="914400" y="365760"/>
            <a:ext cx="7315200" cy="237744"/>
          </a:xfrm>
          <a:prstGeom prst="rect">
            <a:avLst/>
          </a:prstGeom>
          <a:noFill/>
        </p:spPr>
        <p:txBody>
          <a:bodyPr wrap="square" lIns="0" tIns="0" rIns="0" bIns="0" anchor="t">
            <a:normAutofit/>
          </a:bodyPr>
          <a:lstStyle/>
          <a:p>
            <a:pPr algn="l">
              <a:lnSpc>
                <a:spcPct val="100000"/>
              </a:lnSpc>
              <a:spcBef>
                <a:spcPts val="0"/>
              </a:spcBef>
            </a:pPr>
            <a:r>
              <a:rPr lang="es-ES" sz="1200" b="1" i="0" spc="50">
                <a:solidFill>
                  <a:srgbClr val="ED1C29"/>
                </a:solidFill>
              </a:rPr>
              <a:t>DE CAPACIDAD TÉCNICA A VALOR</a:t>
            </a:r>
          </a:p>
        </p:txBody>
      </p:sp>
      <p:sp>
        <p:nvSpPr>
          <p:cNvPr id="28" name="tb28"/>
          <p:cNvSpPr txBox="1"/>
          <p:nvPr/>
        </p:nvSpPr>
        <p:spPr>
          <a:xfrm>
            <a:off x="658368" y="640080"/>
            <a:ext cx="9326880" cy="1371600"/>
          </a:xfrm>
          <a:prstGeom prst="rect">
            <a:avLst/>
          </a:prstGeom>
          <a:noFill/>
        </p:spPr>
        <p:txBody>
          <a:bodyPr wrap="square" lIns="0" tIns="0" rIns="0" bIns="0" anchor="t">
            <a:normAutofit/>
          </a:bodyPr>
          <a:lstStyle/>
          <a:p>
            <a:pPr algn="l">
              <a:lnSpc>
                <a:spcPct val="100000"/>
              </a:lnSpc>
              <a:spcBef>
                <a:spcPts val="0"/>
              </a:spcBef>
            </a:pPr>
            <a:r>
              <a:rPr lang="es-ES" sz="3000" b="1" i="0" dirty="0" err="1">
                <a:solidFill>
                  <a:srgbClr val="211915"/>
                </a:solidFill>
              </a:rPr>
              <a:t>Copilot</a:t>
            </a:r>
            <a:r>
              <a:rPr lang="es-ES" sz="3000" b="1" i="0" dirty="0">
                <a:solidFill>
                  <a:srgbClr val="211915"/>
                </a:solidFill>
              </a:rPr>
              <a:t> genera capacidad. El valor depende de lo que hacemos con ella.</a:t>
            </a:r>
          </a:p>
          <a:p>
            <a:pPr algn="l">
              <a:lnSpc>
                <a:spcPct val="100000"/>
              </a:lnSpc>
              <a:spcBef>
                <a:spcPts val="0"/>
              </a:spcBef>
            </a:pPr>
            <a:r>
              <a:rPr lang="es-ES" sz="2000" b="1" i="0" err="1">
                <a:solidFill>
                  <a:srgbClr val="ED1C29"/>
                </a:solidFill>
              </a:rPr>
              <a:t>Copilot</a:t>
            </a:r>
            <a:r>
              <a:rPr lang="es-ES" sz="2000" b="1" i="0">
                <a:solidFill>
                  <a:srgbClr val="ED1C29"/>
                </a:solidFill>
              </a:rPr>
              <a:t> | Capacidad liberada | Decisión de uso | Resultado de negocio</a:t>
            </a:r>
          </a:p>
        </p:txBody>
      </p:sp>
      <p:sp>
        <p:nvSpPr>
          <p:cNvPr id="40" name="ruleA">
            <a:extLst>
              <a:ext uri="{C183D7F6-B498-43B3-948B-1728B52AA6E4}">
                <adec:decorative xmlns:adec="http://schemas.microsoft.com/office/drawing/2017/decorative" val="1"/>
              </a:ext>
            </a:extLst>
          </p:cNvPr>
          <p:cNvSpPr/>
          <p:nvPr/>
        </p:nvSpPr>
        <p:spPr>
          <a:xfrm>
            <a:off x="658368" y="2377440"/>
            <a:ext cx="5209017" cy="54864"/>
          </a:xfrm>
          <a:prstGeom prst="rect">
            <a:avLst/>
          </a:prstGeom>
          <a:solidFill>
            <a:srgbClr val="ED1C29"/>
          </a:solidFill>
          <a:ln>
            <a:noFill/>
          </a:ln>
        </p:spPr>
        <p:txBody>
          <a:bodyPr lIns="0" tIns="0" rIns="0" bIns="0" anchor="ctr">
            <a:normAutofit fontScale="25000" lnSpcReduction="20000"/>
          </a:bodyPr>
          <a:lstStyle/>
          <a:p>
            <a:endParaRPr lang="es-ES"/>
          </a:p>
        </p:txBody>
      </p:sp>
      <p:sp>
        <p:nvSpPr>
          <p:cNvPr id="41" name="tbA"/>
          <p:cNvSpPr txBox="1"/>
          <p:nvPr/>
        </p:nvSpPr>
        <p:spPr>
          <a:xfrm>
            <a:off x="658368" y="2697480"/>
            <a:ext cx="5209017" cy="1371600"/>
          </a:xfrm>
          <a:prstGeom prst="rect">
            <a:avLst/>
          </a:prstGeom>
          <a:noFill/>
        </p:spPr>
        <p:txBody>
          <a:bodyPr wrap="square" lIns="0" tIns="0" rIns="0" bIns="0" anchor="t">
            <a:normAutofit/>
          </a:bodyPr>
          <a:lstStyle/>
          <a:p>
            <a:pPr algn="l">
              <a:lnSpc>
                <a:spcPct val="100000"/>
              </a:lnSpc>
              <a:spcAft>
                <a:spcPts val="900"/>
              </a:spcAft>
            </a:pPr>
            <a:r>
              <a:rPr lang="en-US" sz="1500" b="1" i="0" spc="50">
                <a:solidFill>
                  <a:srgbClr val="211915"/>
                </a:solidFill>
              </a:rPr>
              <a:t>LO MISMO CON MENOS</a:t>
            </a:r>
          </a:p>
          <a:p>
            <a:pPr algn="l">
              <a:lnSpc>
                <a:spcPct val="100000"/>
              </a:lnSpc>
              <a:spcAft>
                <a:spcPts val="900"/>
              </a:spcAft>
            </a:pPr>
            <a:r>
              <a:rPr lang="en-US" sz="1200" b="0" i="0">
                <a:solidFill>
                  <a:srgbClr val="5A5A5A"/>
                </a:solidFill>
              </a:rPr>
              <a:t>Mantener el mismo resultado con menor costo o menor capacidad externa.</a:t>
            </a:r>
            <a:endParaRPr lang="es-ES" sz="1100" b="0" i="0">
              <a:solidFill>
                <a:srgbClr val="7A7A7A"/>
              </a:solidFill>
            </a:endParaRPr>
          </a:p>
        </p:txBody>
      </p:sp>
      <p:sp>
        <p:nvSpPr>
          <p:cNvPr id="46" name="ruleC">
            <a:extLst>
              <a:ext uri="{C183D7F6-B498-43B3-948B-1728B52AA6E4}">
                <adec:decorative xmlns:adec="http://schemas.microsoft.com/office/drawing/2017/decorative" val="1"/>
              </a:ext>
            </a:extLst>
          </p:cNvPr>
          <p:cNvSpPr/>
          <p:nvPr/>
        </p:nvSpPr>
        <p:spPr>
          <a:xfrm>
            <a:off x="6324585" y="2377440"/>
            <a:ext cx="5209017" cy="54864"/>
          </a:xfrm>
          <a:prstGeom prst="rect">
            <a:avLst/>
          </a:prstGeom>
          <a:solidFill>
            <a:srgbClr val="ED1C29"/>
          </a:solidFill>
          <a:ln>
            <a:noFill/>
          </a:ln>
        </p:spPr>
        <p:txBody>
          <a:bodyPr lIns="0" tIns="0" rIns="0" bIns="0" anchor="ctr">
            <a:normAutofit fontScale="25000" lnSpcReduction="20000"/>
          </a:bodyPr>
          <a:lstStyle/>
          <a:p>
            <a:endParaRPr lang="es-ES"/>
          </a:p>
        </p:txBody>
      </p:sp>
      <p:sp>
        <p:nvSpPr>
          <p:cNvPr id="47" name="tbC"/>
          <p:cNvSpPr txBox="1"/>
          <p:nvPr/>
        </p:nvSpPr>
        <p:spPr>
          <a:xfrm>
            <a:off x="6324585" y="2697480"/>
            <a:ext cx="5209017" cy="1371600"/>
          </a:xfrm>
          <a:prstGeom prst="rect">
            <a:avLst/>
          </a:prstGeom>
          <a:noFill/>
        </p:spPr>
        <p:txBody>
          <a:bodyPr wrap="square" lIns="0" tIns="0" rIns="0" bIns="0" anchor="t">
            <a:normAutofit/>
          </a:bodyPr>
          <a:lstStyle/>
          <a:p>
            <a:pPr algn="l">
              <a:lnSpc>
                <a:spcPct val="100000"/>
              </a:lnSpc>
              <a:spcAft>
                <a:spcPts val="900"/>
              </a:spcAft>
            </a:pPr>
            <a:r>
              <a:rPr lang="en-US" sz="1500" b="1" i="0" spc="50">
                <a:solidFill>
                  <a:srgbClr val="211915"/>
                </a:solidFill>
              </a:rPr>
              <a:t>VALOR ANTES</a:t>
            </a:r>
          </a:p>
          <a:p>
            <a:pPr algn="l">
              <a:lnSpc>
                <a:spcPct val="100000"/>
              </a:lnSpc>
              <a:spcAft>
                <a:spcPts val="900"/>
              </a:spcAft>
            </a:pPr>
            <a:r>
              <a:rPr lang="en-US" sz="1200" b="0" i="0">
                <a:solidFill>
                  <a:srgbClr val="5A5A5A"/>
                </a:solidFill>
              </a:rPr>
              <a:t>Una iniciativa o beneficio entra en operación antes y permite capturar valor anticipadamente.</a:t>
            </a:r>
            <a:endParaRPr lang="es-ES" sz="1100" b="0" i="0">
              <a:solidFill>
                <a:srgbClr val="7A7A7A"/>
              </a:solidFill>
            </a:endParaRPr>
          </a:p>
        </p:txBody>
      </p:sp>
      <p:sp>
        <p:nvSpPr>
          <p:cNvPr id="25" name="sh25"/>
          <p:cNvSpPr/>
          <p:nvPr/>
        </p:nvSpPr>
        <p:spPr>
          <a:xfrm>
            <a:off x="658368" y="4663440"/>
            <a:ext cx="10875234" cy="685800"/>
          </a:xfrm>
          <a:prstGeom prst="rect">
            <a:avLst/>
          </a:prstGeom>
          <a:solidFill>
            <a:srgbClr val="ED1C29"/>
          </a:solidFill>
          <a:ln>
            <a:noFill/>
          </a:ln>
        </p:spPr>
        <p:txBody>
          <a:bodyPr lIns="146304" tIns="73152" rIns="146304" bIns="73152" anchor="ctr">
            <a:normAutofit/>
          </a:bodyPr>
          <a:lstStyle/>
          <a:p>
            <a:pPr algn="ctr">
              <a:lnSpc>
                <a:spcPct val="100000"/>
              </a:lnSpc>
              <a:spcBef>
                <a:spcPts val="0"/>
              </a:spcBef>
            </a:pPr>
            <a:r>
              <a:rPr lang="es-ES" sz="1400" b="1" i="0">
                <a:solidFill>
                  <a:srgbClr val="FFFFFF"/>
                </a:solidFill>
              </a:rPr>
              <a:t>Ejemplo: Copilot genera mayor capacidad interna, el equipo absorbe una actividad actualmente tercerizada y puede reducir un costo operacional. Ejemplo ilustrativo, no es un resultado medido en Tuya</a:t>
            </a:r>
            <a:r>
              <a:rPr lang="es-ES" sz="1400" b="1" i="0" dirty="0">
                <a:solidFill>
                  <a:srgbClr val="FFFFFF"/>
                </a:solidFill>
              </a:rPr>
              <a:t>.</a:t>
            </a:r>
          </a:p>
        </p:txBody>
      </p:sp>
      <p:sp>
        <p:nvSpPr>
          <p:cNvPr id="29" name="tb29"/>
          <p:cNvSpPr txBox="1"/>
          <p:nvPr/>
        </p:nvSpPr>
        <p:spPr>
          <a:xfrm>
            <a:off x="658368" y="6272784"/>
            <a:ext cx="5486400" cy="2286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Tuya   ·   Del valor de GitHub Copilot</a:t>
            </a:r>
          </a:p>
        </p:txBody>
      </p:sp>
      <p:sp>
        <p:nvSpPr>
          <p:cNvPr id="30" name="tb30"/>
          <p:cNvSpPr txBox="1"/>
          <p:nvPr/>
        </p:nvSpPr>
        <p:spPr>
          <a:xfrm>
            <a:off x="10436322" y="6272784"/>
            <a:ext cx="1097280" cy="228600"/>
          </a:xfrm>
          <a:prstGeom prst="rect">
            <a:avLst/>
          </a:prstGeom>
          <a:noFill/>
        </p:spPr>
        <p:txBody>
          <a:bodyPr wrap="square" lIns="0" tIns="0" rIns="0" bIns="0" anchor="t">
            <a:normAutofit/>
          </a:bodyPr>
          <a:lstStyle/>
          <a:p>
            <a:pPr algn="r">
              <a:lnSpc>
                <a:spcPct val="100000"/>
              </a:lnSpc>
              <a:spcBef>
                <a:spcPts val="0"/>
              </a:spcBef>
            </a:pPr>
            <a:r>
              <a:rPr lang="es-ES" sz="900" b="1" i="0">
                <a:solidFill>
                  <a:srgbClr val="ED1C29"/>
                </a:solidFill>
              </a:rPr>
              <a:t>03</a:t>
            </a:r>
          </a:p>
        </p:txBody>
      </p:sp>
      <p:pic>
        <p:nvPicPr>
          <p:cNvPr id="900" name="Logo Tuya" descr="Logo corporativo Tuya"/>
          <p:cNvPicPr>
            <a:picLocks noChangeAspect="1"/>
          </p:cNvPicPr>
          <p:nvPr/>
        </p:nvPicPr>
        <p:blipFill>
          <a:blip r:embed="rId3"/>
          <a:stretch>
            <a:fillRect/>
          </a:stretch>
        </p:blipFill>
        <p:spPr>
          <a:xfrm>
            <a:off x="11152200" y="321276"/>
            <a:ext cx="640080" cy="3200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sh101"/>
          <p:cNvSpPr/>
          <p:nvPr/>
        </p:nvSpPr>
        <p:spPr>
          <a:xfrm>
            <a:off x="658368" y="384048"/>
            <a:ext cx="146304" cy="146304"/>
          </a:xfrm>
          <a:prstGeom prst="rect">
            <a:avLst/>
          </a:prstGeom>
          <a:solidFill>
            <a:srgbClr val="ED1C29"/>
          </a:solidFill>
          <a:ln>
            <a:noFill/>
          </a:ln>
        </p:spPr>
        <p:txBody>
          <a:bodyPr lIns="91440" tIns="45720" rIns="91440" bIns="45720" anchor="ctr">
            <a:normAutofit fontScale="25000" lnSpcReduction="20000"/>
          </a:bodyPr>
          <a:lstStyle/>
          <a:p>
            <a:endParaRPr lang="es-ES"/>
          </a:p>
        </p:txBody>
      </p:sp>
      <p:sp>
        <p:nvSpPr>
          <p:cNvPr id="102" name="tb102"/>
          <p:cNvSpPr txBox="1"/>
          <p:nvPr/>
        </p:nvSpPr>
        <p:spPr>
          <a:xfrm>
            <a:off x="914400" y="365760"/>
            <a:ext cx="7315200" cy="237744"/>
          </a:xfrm>
          <a:prstGeom prst="rect">
            <a:avLst/>
          </a:prstGeom>
          <a:noFill/>
        </p:spPr>
        <p:txBody>
          <a:bodyPr wrap="square" lIns="0" tIns="0" rIns="0" bIns="0" anchor="t">
            <a:normAutofit/>
          </a:bodyPr>
          <a:lstStyle/>
          <a:p>
            <a:pPr algn="l">
              <a:lnSpc>
                <a:spcPct val="100000"/>
              </a:lnSpc>
              <a:spcBef>
                <a:spcPts val="0"/>
              </a:spcBef>
            </a:pPr>
            <a:r>
              <a:rPr lang="es-ES" sz="1050" b="1" i="0" spc="50">
                <a:solidFill>
                  <a:srgbClr val="ED1C29"/>
                </a:solidFill>
              </a:rPr>
              <a:t>CONSOLIDADO DE LICENCIAS</a:t>
            </a:r>
          </a:p>
        </p:txBody>
      </p:sp>
      <p:sp>
        <p:nvSpPr>
          <p:cNvPr id="103" name="tb103"/>
          <p:cNvSpPr txBox="1"/>
          <p:nvPr/>
        </p:nvSpPr>
        <p:spPr>
          <a:xfrm>
            <a:off x="658368" y="713232"/>
            <a:ext cx="9326880" cy="868680"/>
          </a:xfrm>
          <a:prstGeom prst="rect">
            <a:avLst/>
          </a:prstGeom>
          <a:noFill/>
        </p:spPr>
        <p:txBody>
          <a:bodyPr wrap="square" lIns="0" tIns="0" rIns="0" bIns="0" anchor="t">
            <a:normAutofit lnSpcReduction="10000"/>
          </a:bodyPr>
          <a:lstStyle/>
          <a:p>
            <a:pPr algn="l">
              <a:lnSpc>
                <a:spcPct val="100000"/>
              </a:lnSpc>
              <a:spcBef>
                <a:spcPts val="0"/>
              </a:spcBef>
            </a:pPr>
            <a:r>
              <a:rPr lang="es-ES" sz="3000" b="1" i="0">
                <a:solidFill>
                  <a:srgbClr val="211915"/>
                </a:solidFill>
              </a:rPr>
              <a:t>Cobertura actual, licencias adicionales y costo por Líder Técnico</a:t>
            </a:r>
          </a:p>
        </p:txBody>
      </p:sp>
      <p:sp>
        <p:nvSpPr>
          <p:cNvPr id="105" name="tb105"/>
          <p:cNvSpPr txBox="1"/>
          <p:nvPr/>
        </p:nvSpPr>
        <p:spPr>
          <a:xfrm>
            <a:off x="658368" y="6272784"/>
            <a:ext cx="5486400" cy="2286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Tuya   ·   Del valor de GitHub Copilot</a:t>
            </a:r>
          </a:p>
        </p:txBody>
      </p:sp>
      <p:sp>
        <p:nvSpPr>
          <p:cNvPr id="106" name="tb106"/>
          <p:cNvSpPr txBox="1"/>
          <p:nvPr/>
        </p:nvSpPr>
        <p:spPr>
          <a:xfrm>
            <a:off x="10433304" y="6272784"/>
            <a:ext cx="1097280" cy="228600"/>
          </a:xfrm>
          <a:prstGeom prst="rect">
            <a:avLst/>
          </a:prstGeom>
          <a:noFill/>
        </p:spPr>
        <p:txBody>
          <a:bodyPr wrap="square" lIns="0" tIns="0" rIns="0" bIns="0" anchor="t">
            <a:normAutofit/>
          </a:bodyPr>
          <a:lstStyle/>
          <a:p>
            <a:pPr algn="r">
              <a:lnSpc>
                <a:spcPct val="100000"/>
              </a:lnSpc>
              <a:spcBef>
                <a:spcPts val="0"/>
              </a:spcBef>
            </a:pPr>
            <a:r>
              <a:rPr lang="es-ES" sz="900" b="1" i="0">
                <a:solidFill>
                  <a:srgbClr val="ED1C29"/>
                </a:solidFill>
              </a:rPr>
              <a:t>04</a:t>
            </a:r>
          </a:p>
        </p:txBody>
      </p:sp>
      <p:pic>
        <p:nvPicPr>
          <p:cNvPr id="900" name="Logo Tuya"/>
          <p:cNvPicPr>
            <a:picLocks noChangeAspect="1"/>
          </p:cNvPicPr>
          <p:nvPr/>
        </p:nvPicPr>
        <p:blipFill>
          <a:blip r:embed="rId3"/>
          <a:stretch>
            <a:fillRect/>
          </a:stretch>
        </p:blipFill>
        <p:spPr>
          <a:xfrm>
            <a:off x="11152200" y="321276"/>
            <a:ext cx="640080" cy="320040"/>
          </a:xfrm>
          <a:prstGeom prst="rect">
            <a:avLst/>
          </a:prstGeom>
        </p:spPr>
      </p:pic>
      <p:sp>
        <p:nvSpPr>
          <p:cNvPr id="107" name="sh107"/>
          <p:cNvSpPr/>
          <p:nvPr/>
        </p:nvSpPr>
        <p:spPr>
          <a:xfrm>
            <a:off x="658368" y="1645920"/>
            <a:ext cx="10872216" cy="713232"/>
          </a:xfrm>
          <a:prstGeom prst="rect">
            <a:avLst/>
          </a:prstGeom>
          <a:solidFill>
            <a:srgbClr val="ED1C29"/>
          </a:solidFill>
          <a:ln>
            <a:noFill/>
          </a:ln>
        </p:spPr>
        <p:txBody>
          <a:bodyPr lIns="91440" tIns="45720" rIns="91440" bIns="45720" anchor="ctr">
            <a:normAutofit/>
          </a:bodyPr>
          <a:lstStyle/>
          <a:p>
            <a:endParaRPr lang="es-ES"/>
          </a:p>
        </p:txBody>
      </p:sp>
      <p:sp>
        <p:nvSpPr>
          <p:cNvPr id="108" name="tb108"/>
          <p:cNvSpPr txBox="1"/>
          <p:nvPr/>
        </p:nvSpPr>
        <p:spPr>
          <a:xfrm>
            <a:off x="658368" y="1810512"/>
            <a:ext cx="10872216" cy="402336"/>
          </a:xfrm>
          <a:prstGeom prst="rect">
            <a:avLst/>
          </a:prstGeom>
          <a:noFill/>
        </p:spPr>
        <p:txBody>
          <a:bodyPr wrap="square" lIns="91440" tIns="0" rIns="91440" bIns="0" anchor="t">
            <a:normAutofit/>
          </a:bodyPr>
          <a:lstStyle/>
          <a:p>
            <a:pPr algn="ctr">
              <a:lnSpc>
                <a:spcPct val="100000"/>
              </a:lnSpc>
              <a:spcBef>
                <a:spcPts val="0"/>
              </a:spcBef>
            </a:pPr>
            <a:r>
              <a:rPr lang="es-ES" sz="1900" b="1" i="0" spc="50">
                <a:solidFill>
                  <a:srgbClr val="FFFFFF"/>
                </a:solidFill>
              </a:rPr>
              <a:t>11 LICENCIAS ADICIONALES · USD 209 / MES BASE · PROVISIÓN X3 USD 627 / MES</a:t>
            </a:r>
          </a:p>
        </p:txBody>
      </p:sp>
      <p:sp>
        <p:nvSpPr>
          <p:cNvPr id="135" name="sh135"/>
          <p:cNvSpPr/>
          <p:nvPr/>
        </p:nvSpPr>
        <p:spPr>
          <a:xfrm>
            <a:off x="658368" y="4260000"/>
            <a:ext cx="10872216" cy="9525"/>
          </a:xfrm>
          <a:prstGeom prst="rect">
            <a:avLst/>
          </a:prstGeom>
          <a:solidFill>
            <a:srgbClr val="E3E0DE"/>
          </a:solidFill>
          <a:ln>
            <a:noFill/>
          </a:ln>
        </p:spPr>
        <p:txBody>
          <a:bodyPr lIns="0" tIns="0" rIns="0" bIns="0" anchor="ctr">
            <a:normAutofit fontScale="25000" lnSpcReduction="20000"/>
          </a:bodyPr>
          <a:lstStyle/>
          <a:p>
            <a:endParaRPr lang="es-ES"/>
          </a:p>
        </p:txBody>
      </p:sp>
      <p:sp>
        <p:nvSpPr>
          <p:cNvPr id="109" name="sh109"/>
          <p:cNvSpPr/>
          <p:nvPr/>
        </p:nvSpPr>
        <p:spPr>
          <a:xfrm>
            <a:off x="658368" y="2468880"/>
            <a:ext cx="2072030" cy="1150000"/>
          </a:xfrm>
          <a:prstGeom prst="rect">
            <a:avLst/>
          </a:prstGeom>
          <a:solidFill>
            <a:srgbClr val="F5F3F2"/>
          </a:solidFill>
          <a:ln w="12700">
            <a:solidFill>
              <a:srgbClr val="E3E0DE"/>
            </a:solidFill>
          </a:ln>
        </p:spPr>
        <p:txBody>
          <a:bodyPr lIns="91440" tIns="45720" rIns="91440" bIns="45720" anchor="ctr">
            <a:normAutofit/>
          </a:bodyPr>
          <a:lstStyle/>
          <a:p>
            <a:endParaRPr lang="es-ES"/>
          </a:p>
        </p:txBody>
      </p:sp>
      <p:sp>
        <p:nvSpPr>
          <p:cNvPr id="110" name="tb110"/>
          <p:cNvSpPr txBox="1"/>
          <p:nvPr/>
        </p:nvSpPr>
        <p:spPr>
          <a:xfrm>
            <a:off x="810768" y="2600000"/>
            <a:ext cx="1767230" cy="400000"/>
          </a:xfrm>
          <a:prstGeom prst="rect">
            <a:avLst/>
          </a:prstGeom>
          <a:noFill/>
        </p:spPr>
        <p:txBody>
          <a:bodyPr wrap="square" lIns="0" tIns="0" rIns="0" bIns="0" anchor="t">
            <a:normAutofit/>
          </a:bodyPr>
          <a:lstStyle/>
          <a:p>
            <a:pPr algn="l">
              <a:lnSpc>
                <a:spcPct val="100000"/>
              </a:lnSpc>
              <a:spcBef>
                <a:spcPts val="0"/>
              </a:spcBef>
            </a:pPr>
            <a:r>
              <a:rPr lang="es-ES" sz="1000" b="1" i="0" spc="50">
                <a:solidFill>
                  <a:srgbClr val="211915"/>
                </a:solidFill>
              </a:rPr>
              <a:t>19 LICENCIAS CUBIERTAS</a:t>
            </a:r>
          </a:p>
        </p:txBody>
      </p:sp>
      <p:sp>
        <p:nvSpPr>
          <p:cNvPr id="111" name="tb111"/>
          <p:cNvSpPr txBox="1"/>
          <p:nvPr/>
        </p:nvSpPr>
        <p:spPr>
          <a:xfrm>
            <a:off x="810768" y="3030000"/>
            <a:ext cx="1767230" cy="520000"/>
          </a:xfrm>
          <a:prstGeom prst="rect">
            <a:avLst/>
          </a:prstGeom>
          <a:noFill/>
        </p:spPr>
        <p:txBody>
          <a:bodyPr wrap="square" lIns="0" tIns="0" rIns="0" bIns="0" anchor="t">
            <a:normAutofit/>
          </a:bodyPr>
          <a:lstStyle/>
          <a:p>
            <a:pPr algn="l">
              <a:lnSpc>
                <a:spcPct val="100000"/>
              </a:lnSpc>
              <a:spcBef>
                <a:spcPts val="0"/>
              </a:spcBef>
            </a:pPr>
            <a:r>
              <a:rPr lang="es-ES" sz="850" b="0" i="0">
                <a:solidFill>
                  <a:srgbClr val="7A7A7A"/>
                </a:solidFill>
              </a:rPr>
              <a:t>Usuarios cubiertos hoy.</a:t>
            </a:r>
          </a:p>
        </p:txBody>
      </p:sp>
      <p:sp>
        <p:nvSpPr>
          <p:cNvPr id="112" name="sh112"/>
          <p:cNvSpPr/>
          <p:nvPr/>
        </p:nvSpPr>
        <p:spPr>
          <a:xfrm>
            <a:off x="2858414" y="2468880"/>
            <a:ext cx="2072030" cy="1150000"/>
          </a:xfrm>
          <a:prstGeom prst="rect">
            <a:avLst/>
          </a:prstGeom>
          <a:noFill/>
          <a:ln w="12700">
            <a:solidFill>
              <a:srgbClr val="E3E0DE"/>
            </a:solidFill>
          </a:ln>
        </p:spPr>
        <p:txBody>
          <a:bodyPr lIns="91440" tIns="45720" rIns="91440" bIns="45720" anchor="ctr">
            <a:normAutofit/>
          </a:bodyPr>
          <a:lstStyle/>
          <a:p>
            <a:endParaRPr lang="es-ES"/>
          </a:p>
        </p:txBody>
      </p:sp>
      <p:sp>
        <p:nvSpPr>
          <p:cNvPr id="113" name="tb113"/>
          <p:cNvSpPr txBox="1"/>
          <p:nvPr/>
        </p:nvSpPr>
        <p:spPr>
          <a:xfrm>
            <a:off x="3010814" y="2600000"/>
            <a:ext cx="1767230" cy="400000"/>
          </a:xfrm>
          <a:prstGeom prst="rect">
            <a:avLst/>
          </a:prstGeom>
          <a:noFill/>
        </p:spPr>
        <p:txBody>
          <a:bodyPr wrap="square" lIns="0" tIns="0" rIns="0" bIns="0" anchor="t">
            <a:normAutofit/>
          </a:bodyPr>
          <a:lstStyle/>
          <a:p>
            <a:pPr algn="l">
              <a:lnSpc>
                <a:spcPct val="100000"/>
              </a:lnSpc>
              <a:spcBef>
                <a:spcPts val="0"/>
              </a:spcBef>
            </a:pPr>
            <a:r>
              <a:rPr lang="es-ES" sz="1000" b="1" i="0" spc="50">
                <a:solidFill>
                  <a:srgbClr val="211915"/>
                </a:solidFill>
              </a:rPr>
              <a:t>11 LICENCIAS POR COMPRAR</a:t>
            </a:r>
          </a:p>
        </p:txBody>
      </p:sp>
      <p:sp>
        <p:nvSpPr>
          <p:cNvPr id="114" name="tb114"/>
          <p:cNvSpPr txBox="1"/>
          <p:nvPr/>
        </p:nvSpPr>
        <p:spPr>
          <a:xfrm>
            <a:off x="3010814" y="3030000"/>
            <a:ext cx="1767230" cy="520000"/>
          </a:xfrm>
          <a:prstGeom prst="rect">
            <a:avLst/>
          </a:prstGeom>
          <a:noFill/>
        </p:spPr>
        <p:txBody>
          <a:bodyPr wrap="square" lIns="0" tIns="0" rIns="0" bIns="0" anchor="t">
            <a:normAutofit/>
          </a:bodyPr>
          <a:lstStyle/>
          <a:p>
            <a:pPr algn="l">
              <a:lnSpc>
                <a:spcPct val="100000"/>
              </a:lnSpc>
              <a:spcBef>
                <a:spcPts val="0"/>
              </a:spcBef>
            </a:pPr>
            <a:r>
              <a:rPr lang="es-ES" sz="850" b="0" i="0">
                <a:solidFill>
                  <a:srgbClr val="7A7A7A"/>
                </a:solidFill>
              </a:rPr>
              <a:t>Licencias adicionales requeridas.</a:t>
            </a:r>
          </a:p>
        </p:txBody>
      </p:sp>
      <p:sp>
        <p:nvSpPr>
          <p:cNvPr id="115" name="sh115"/>
          <p:cNvSpPr/>
          <p:nvPr/>
        </p:nvSpPr>
        <p:spPr>
          <a:xfrm>
            <a:off x="5058460" y="2468880"/>
            <a:ext cx="2072030" cy="1150000"/>
          </a:xfrm>
          <a:prstGeom prst="rect">
            <a:avLst/>
          </a:prstGeom>
          <a:noFill/>
          <a:ln w="12700">
            <a:solidFill>
              <a:srgbClr val="E3E0DE"/>
            </a:solidFill>
          </a:ln>
        </p:spPr>
        <p:txBody>
          <a:bodyPr lIns="91440" tIns="45720" rIns="91440" bIns="45720" anchor="ctr">
            <a:normAutofit/>
          </a:bodyPr>
          <a:lstStyle/>
          <a:p>
            <a:endParaRPr lang="es-ES"/>
          </a:p>
        </p:txBody>
      </p:sp>
      <p:sp>
        <p:nvSpPr>
          <p:cNvPr id="116" name="tb116"/>
          <p:cNvSpPr txBox="1"/>
          <p:nvPr/>
        </p:nvSpPr>
        <p:spPr>
          <a:xfrm>
            <a:off x="5210860" y="2600000"/>
            <a:ext cx="1767230" cy="400000"/>
          </a:xfrm>
          <a:prstGeom prst="rect">
            <a:avLst/>
          </a:prstGeom>
          <a:noFill/>
        </p:spPr>
        <p:txBody>
          <a:bodyPr wrap="square" lIns="0" tIns="0" rIns="0" bIns="0" anchor="t">
            <a:normAutofit/>
          </a:bodyPr>
          <a:lstStyle/>
          <a:p>
            <a:pPr algn="l">
              <a:lnSpc>
                <a:spcPct val="100000"/>
              </a:lnSpc>
              <a:spcBef>
                <a:spcPts val="0"/>
              </a:spcBef>
            </a:pPr>
            <a:r>
              <a:rPr lang="es-ES" sz="1000" b="1" i="0" spc="50">
                <a:solidFill>
                  <a:srgbClr val="211915"/>
                </a:solidFill>
              </a:rPr>
              <a:t>COSTO BASE MENSUAL</a:t>
            </a:r>
          </a:p>
        </p:txBody>
      </p:sp>
      <p:sp>
        <p:nvSpPr>
          <p:cNvPr id="117" name="tb117"/>
          <p:cNvSpPr txBox="1"/>
          <p:nvPr/>
        </p:nvSpPr>
        <p:spPr>
          <a:xfrm>
            <a:off x="5210860" y="3030000"/>
            <a:ext cx="1767230" cy="520000"/>
          </a:xfrm>
          <a:prstGeom prst="rect">
            <a:avLst/>
          </a:prstGeom>
          <a:noFill/>
        </p:spPr>
        <p:txBody>
          <a:bodyPr wrap="square" lIns="0" tIns="0" rIns="0" bIns="0" anchor="t">
            <a:normAutofit/>
          </a:bodyPr>
          <a:lstStyle/>
          <a:p>
            <a:pPr algn="l">
              <a:lnSpc>
                <a:spcPct val="100000"/>
              </a:lnSpc>
              <a:spcBef>
                <a:spcPts val="0"/>
              </a:spcBef>
            </a:pPr>
            <a:r>
              <a:rPr lang="es-ES" sz="1400" b="1" i="0">
                <a:solidFill>
                  <a:srgbClr val="211915"/>
                </a:solidFill>
              </a:rPr>
              <a:t>USD 209</a:t>
            </a:r>
          </a:p>
        </p:txBody>
      </p:sp>
      <p:sp>
        <p:nvSpPr>
          <p:cNvPr id="119" name="sh119"/>
          <p:cNvSpPr/>
          <p:nvPr/>
        </p:nvSpPr>
        <p:spPr>
          <a:xfrm>
            <a:off x="7258506" y="2468880"/>
            <a:ext cx="2072030" cy="1150000"/>
          </a:xfrm>
          <a:prstGeom prst="rect">
            <a:avLst/>
          </a:prstGeom>
          <a:noFill/>
          <a:ln w="12700">
            <a:solidFill>
              <a:srgbClr val="E3E0DE"/>
            </a:solidFill>
          </a:ln>
        </p:spPr>
        <p:txBody>
          <a:bodyPr lIns="91440" tIns="45720" rIns="91440" bIns="45720" anchor="ctr">
            <a:normAutofit/>
          </a:bodyPr>
          <a:lstStyle/>
          <a:p>
            <a:endParaRPr lang="es-ES"/>
          </a:p>
        </p:txBody>
      </p:sp>
      <p:sp>
        <p:nvSpPr>
          <p:cNvPr id="120" name="tb120"/>
          <p:cNvSpPr txBox="1"/>
          <p:nvPr/>
        </p:nvSpPr>
        <p:spPr>
          <a:xfrm>
            <a:off x="7410906" y="2600000"/>
            <a:ext cx="1767230" cy="400000"/>
          </a:xfrm>
          <a:prstGeom prst="rect">
            <a:avLst/>
          </a:prstGeom>
          <a:noFill/>
        </p:spPr>
        <p:txBody>
          <a:bodyPr wrap="square" lIns="0" tIns="0" rIns="0" bIns="0" anchor="t">
            <a:normAutofit/>
          </a:bodyPr>
          <a:lstStyle/>
          <a:p>
            <a:pPr algn="l">
              <a:lnSpc>
                <a:spcPct val="100000"/>
              </a:lnSpc>
              <a:spcBef>
                <a:spcPts val="0"/>
              </a:spcBef>
            </a:pPr>
            <a:r>
              <a:rPr lang="es-ES" sz="1000" b="1" i="0" spc="50">
                <a:solidFill>
                  <a:srgbClr val="211915"/>
                </a:solidFill>
              </a:rPr>
              <a:t>PROVISIÓN MENSUAL X3</a:t>
            </a:r>
          </a:p>
        </p:txBody>
      </p:sp>
      <p:sp>
        <p:nvSpPr>
          <p:cNvPr id="121" name="tb121"/>
          <p:cNvSpPr txBox="1"/>
          <p:nvPr/>
        </p:nvSpPr>
        <p:spPr>
          <a:xfrm>
            <a:off x="7410906" y="3030000"/>
            <a:ext cx="1767230" cy="520000"/>
          </a:xfrm>
          <a:prstGeom prst="rect">
            <a:avLst/>
          </a:prstGeom>
          <a:noFill/>
        </p:spPr>
        <p:txBody>
          <a:bodyPr wrap="square" lIns="0" tIns="0" rIns="0" bIns="0" anchor="t">
            <a:normAutofit/>
          </a:bodyPr>
          <a:lstStyle/>
          <a:p>
            <a:pPr algn="l">
              <a:lnSpc>
                <a:spcPct val="100000"/>
              </a:lnSpc>
              <a:spcBef>
                <a:spcPts val="0"/>
              </a:spcBef>
            </a:pPr>
            <a:r>
              <a:rPr lang="es-ES" sz="1400" b="1" i="0">
                <a:solidFill>
                  <a:srgbClr val="211915"/>
                </a:solidFill>
              </a:rPr>
              <a:t>USD 627</a:t>
            </a:r>
          </a:p>
        </p:txBody>
      </p:sp>
      <p:sp>
        <p:nvSpPr>
          <p:cNvPr id="122" name="sh122"/>
          <p:cNvSpPr/>
          <p:nvPr/>
        </p:nvSpPr>
        <p:spPr>
          <a:xfrm>
            <a:off x="9458552" y="2468880"/>
            <a:ext cx="2072030" cy="1150000"/>
          </a:xfrm>
          <a:prstGeom prst="rect">
            <a:avLst/>
          </a:prstGeom>
          <a:solidFill>
            <a:srgbClr val="ED1C29"/>
          </a:solidFill>
          <a:ln>
            <a:noFill/>
          </a:ln>
        </p:spPr>
        <p:txBody>
          <a:bodyPr lIns="91440" tIns="45720" rIns="91440" bIns="45720" anchor="ctr">
            <a:normAutofit/>
          </a:bodyPr>
          <a:lstStyle/>
          <a:p>
            <a:endParaRPr lang="es-ES"/>
          </a:p>
        </p:txBody>
      </p:sp>
      <p:sp>
        <p:nvSpPr>
          <p:cNvPr id="123" name="tb123"/>
          <p:cNvSpPr txBox="1"/>
          <p:nvPr/>
        </p:nvSpPr>
        <p:spPr>
          <a:xfrm>
            <a:off x="9610952" y="2600000"/>
            <a:ext cx="1767230" cy="400000"/>
          </a:xfrm>
          <a:prstGeom prst="rect">
            <a:avLst/>
          </a:prstGeom>
          <a:noFill/>
        </p:spPr>
        <p:txBody>
          <a:bodyPr wrap="square" lIns="0" tIns="0" rIns="0" bIns="0" anchor="t">
            <a:normAutofit/>
          </a:bodyPr>
          <a:lstStyle/>
          <a:p>
            <a:pPr algn="l">
              <a:lnSpc>
                <a:spcPct val="100000"/>
              </a:lnSpc>
              <a:spcBef>
                <a:spcPts val="0"/>
              </a:spcBef>
            </a:pPr>
            <a:r>
              <a:rPr lang="es-ES" sz="1000" b="1" i="0" spc="50">
                <a:solidFill>
                  <a:srgbClr val="FFFFFF"/>
                </a:solidFill>
              </a:rPr>
              <a:t>PROVISIÓN SEP-DIC 2026</a:t>
            </a:r>
          </a:p>
        </p:txBody>
      </p:sp>
      <p:sp>
        <p:nvSpPr>
          <p:cNvPr id="124" name="tb124"/>
          <p:cNvSpPr txBox="1"/>
          <p:nvPr/>
        </p:nvSpPr>
        <p:spPr>
          <a:xfrm>
            <a:off x="9610952" y="3030000"/>
            <a:ext cx="1767230" cy="520000"/>
          </a:xfrm>
          <a:prstGeom prst="rect">
            <a:avLst/>
          </a:prstGeom>
          <a:noFill/>
        </p:spPr>
        <p:txBody>
          <a:bodyPr wrap="square" lIns="0" tIns="0" rIns="0" bIns="0" anchor="t">
            <a:normAutofit/>
          </a:bodyPr>
          <a:lstStyle/>
          <a:p>
            <a:pPr algn="l">
              <a:lnSpc>
                <a:spcPct val="100000"/>
              </a:lnSpc>
              <a:spcBef>
                <a:spcPts val="0"/>
              </a:spcBef>
            </a:pPr>
            <a:r>
              <a:rPr lang="es-ES" sz="1400" b="1" i="0">
                <a:solidFill>
                  <a:srgbClr val="FFFFFF"/>
                </a:solidFill>
              </a:rPr>
              <a:t>USD 2.508</a:t>
            </a:r>
          </a:p>
        </p:txBody>
      </p:sp>
      <p:sp>
        <p:nvSpPr>
          <p:cNvPr id="136" name="tb136"/>
          <p:cNvSpPr txBox="1"/>
          <p:nvPr/>
        </p:nvSpPr>
        <p:spPr>
          <a:xfrm>
            <a:off x="658368" y="3672000"/>
            <a:ext cx="10872216" cy="219456"/>
          </a:xfrm>
          <a:prstGeom prst="rect">
            <a:avLst/>
          </a:prstGeom>
          <a:noFill/>
        </p:spPr>
        <p:txBody>
          <a:bodyPr wrap="square" lIns="0" tIns="0" rIns="0" bIns="0" anchor="t">
            <a:normAutofit/>
          </a:bodyPr>
          <a:lstStyle/>
          <a:p>
            <a:pPr algn="r">
              <a:lnSpc>
                <a:spcPct val="100000"/>
              </a:lnSpc>
              <a:spcBef>
                <a:spcPts val="0"/>
              </a:spcBef>
            </a:pPr>
            <a:r>
              <a:rPr lang="es-ES" sz="900" b="0" i="0">
                <a:solidFill>
                  <a:srgbClr val="7A7A7A"/>
                </a:solidFill>
              </a:rPr>
              <a:t>USD 209 x 3 = USD 627 · USD 627 x 4 meses = USD 2.508</a:t>
            </a:r>
          </a:p>
        </p:txBody>
      </p:sp>
      <p:sp>
        <p:nvSpPr>
          <p:cNvPr id="118" name="tb118"/>
          <p:cNvSpPr txBox="1"/>
          <p:nvPr/>
        </p:nvSpPr>
        <p:spPr>
          <a:xfrm>
            <a:off x="658368" y="3672000"/>
            <a:ext cx="5000000" cy="219456"/>
          </a:xfrm>
          <a:prstGeom prst="rect">
            <a:avLst/>
          </a:prstGeom>
          <a:noFill/>
        </p:spPr>
        <p:txBody>
          <a:bodyPr wrap="square" lIns="0" tIns="0" rIns="0" bIns="0" anchor="t">
            <a:normAutofit/>
          </a:bodyPr>
          <a:lstStyle/>
          <a:p>
            <a:pPr algn="l">
              <a:lnSpc>
                <a:spcPct val="100000"/>
              </a:lnSpc>
              <a:spcBef>
                <a:spcPts val="0"/>
              </a:spcBef>
            </a:pPr>
            <a:r>
              <a:rPr lang="es-ES" sz="1100" b="1" i="0" spc="50">
                <a:solidFill>
                  <a:srgbClr val="7A7A7A"/>
                </a:solidFill>
              </a:rPr>
              <a:t>DETALLE POR LÍDER TÉCNICO</a:t>
            </a:r>
          </a:p>
        </p:txBody>
      </p:sp>
      <p:sp>
        <p:nvSpPr>
          <p:cNvPr id="200" name="tbHdr1"/>
          <p:cNvSpPr txBox="1"/>
          <p:nvPr/>
        </p:nvSpPr>
        <p:spPr>
          <a:xfrm>
            <a:off x="658368" y="3990000"/>
            <a:ext cx="2743200" cy="219456"/>
          </a:xfrm>
          <a:prstGeom prst="rect">
            <a:avLst/>
          </a:prstGeom>
          <a:noFill/>
        </p:spPr>
        <p:txBody>
          <a:bodyPr wrap="square" lIns="0" tIns="0" rIns="0" bIns="0" anchor="t">
            <a:normAutofit/>
          </a:bodyPr>
          <a:lstStyle/>
          <a:p>
            <a:pPr algn="l">
              <a:lnSpc>
                <a:spcPct val="100000"/>
              </a:lnSpc>
              <a:spcBef>
                <a:spcPts val="0"/>
              </a:spcBef>
            </a:pPr>
            <a:r>
              <a:rPr lang="es-ES" sz="800" b="1" i="0" spc="50">
                <a:solidFill>
                  <a:srgbClr val="7A7A7A"/>
                </a:solidFill>
              </a:rPr>
              <a:t>LÍDER TÉCNICO</a:t>
            </a:r>
          </a:p>
        </p:txBody>
      </p:sp>
      <p:sp>
        <p:nvSpPr>
          <p:cNvPr id="201" name="tbHdr2"/>
          <p:cNvSpPr txBox="1"/>
          <p:nvPr/>
        </p:nvSpPr>
        <p:spPr>
          <a:xfrm>
            <a:off x="3520440" y="3990000"/>
            <a:ext cx="914400" cy="219456"/>
          </a:xfrm>
          <a:prstGeom prst="rect">
            <a:avLst/>
          </a:prstGeom>
          <a:noFill/>
        </p:spPr>
        <p:txBody>
          <a:bodyPr wrap="square" lIns="0" tIns="0" rIns="0" bIns="0" anchor="t">
            <a:normAutofit/>
          </a:bodyPr>
          <a:lstStyle/>
          <a:p>
            <a:pPr algn="l">
              <a:lnSpc>
                <a:spcPct val="100000"/>
              </a:lnSpc>
              <a:spcBef>
                <a:spcPts val="0"/>
              </a:spcBef>
            </a:pPr>
            <a:r>
              <a:rPr lang="es-ES" sz="800" b="1" i="0" spc="50">
                <a:solidFill>
                  <a:srgbClr val="7A7A7A"/>
                </a:solidFill>
              </a:rPr>
              <a:t>CUBIERTOS</a:t>
            </a:r>
          </a:p>
        </p:txBody>
      </p:sp>
      <p:sp>
        <p:nvSpPr>
          <p:cNvPr id="202" name="tbHdr3"/>
          <p:cNvSpPr txBox="1"/>
          <p:nvPr/>
        </p:nvSpPr>
        <p:spPr>
          <a:xfrm>
            <a:off x="4526280" y="3990000"/>
            <a:ext cx="1188720" cy="219456"/>
          </a:xfrm>
          <a:prstGeom prst="rect">
            <a:avLst/>
          </a:prstGeom>
          <a:noFill/>
        </p:spPr>
        <p:txBody>
          <a:bodyPr wrap="square" lIns="0" tIns="0" rIns="0" bIns="0" anchor="t">
            <a:normAutofit/>
          </a:bodyPr>
          <a:lstStyle/>
          <a:p>
            <a:pPr algn="l">
              <a:lnSpc>
                <a:spcPct val="100000"/>
              </a:lnSpc>
              <a:spcBef>
                <a:spcPts val="0"/>
              </a:spcBef>
            </a:pPr>
            <a:r>
              <a:rPr lang="es-ES" sz="800" b="1" i="0" spc="50">
                <a:solidFill>
                  <a:srgbClr val="7A7A7A"/>
                </a:solidFill>
              </a:rPr>
              <a:t>POR COMPRAR</a:t>
            </a:r>
          </a:p>
        </p:txBody>
      </p:sp>
      <p:sp>
        <p:nvSpPr>
          <p:cNvPr id="203" name="tbHdr4"/>
          <p:cNvSpPr txBox="1"/>
          <p:nvPr/>
        </p:nvSpPr>
        <p:spPr>
          <a:xfrm>
            <a:off x="5852160" y="3990000"/>
            <a:ext cx="1828800" cy="219456"/>
          </a:xfrm>
          <a:prstGeom prst="rect">
            <a:avLst/>
          </a:prstGeom>
          <a:noFill/>
        </p:spPr>
        <p:txBody>
          <a:bodyPr wrap="square" lIns="0" tIns="0" rIns="0" bIns="0" anchor="t">
            <a:normAutofit/>
          </a:bodyPr>
          <a:lstStyle/>
          <a:p>
            <a:pPr algn="l">
              <a:lnSpc>
                <a:spcPct val="100000"/>
              </a:lnSpc>
              <a:spcBef>
                <a:spcPts val="0"/>
              </a:spcBef>
            </a:pPr>
            <a:r>
              <a:rPr lang="es-ES" sz="800" b="1" i="0" spc="50">
                <a:solidFill>
                  <a:srgbClr val="7A7A7A"/>
                </a:solidFill>
              </a:rPr>
              <a:t>COSTO BASE MENSUAL</a:t>
            </a:r>
          </a:p>
        </p:txBody>
      </p:sp>
      <p:sp>
        <p:nvSpPr>
          <p:cNvPr id="204" name="tbHdr5"/>
          <p:cNvSpPr txBox="1"/>
          <p:nvPr/>
        </p:nvSpPr>
        <p:spPr>
          <a:xfrm>
            <a:off x="7772400" y="3990000"/>
            <a:ext cx="1828800" cy="219456"/>
          </a:xfrm>
          <a:prstGeom prst="rect">
            <a:avLst/>
          </a:prstGeom>
          <a:noFill/>
        </p:spPr>
        <p:txBody>
          <a:bodyPr wrap="square" lIns="0" tIns="0" rIns="0" bIns="0" anchor="t">
            <a:normAutofit/>
          </a:bodyPr>
          <a:lstStyle/>
          <a:p>
            <a:pPr algn="l">
              <a:lnSpc>
                <a:spcPct val="100000"/>
              </a:lnSpc>
              <a:spcBef>
                <a:spcPts val="0"/>
              </a:spcBef>
            </a:pPr>
            <a:r>
              <a:rPr lang="es-ES" sz="800" b="1" i="0" spc="50">
                <a:solidFill>
                  <a:srgbClr val="7A7A7A"/>
                </a:solidFill>
              </a:rPr>
              <a:t>PROVISIÓN MENSUAL X3</a:t>
            </a:r>
          </a:p>
        </p:txBody>
      </p:sp>
      <p:sp>
        <p:nvSpPr>
          <p:cNvPr id="230" name="tbHdr6"/>
          <p:cNvSpPr txBox="1"/>
          <p:nvPr/>
        </p:nvSpPr>
        <p:spPr>
          <a:xfrm>
            <a:off x="9692640" y="3990000"/>
            <a:ext cx="1837944" cy="219456"/>
          </a:xfrm>
          <a:prstGeom prst="rect">
            <a:avLst/>
          </a:prstGeom>
          <a:noFill/>
        </p:spPr>
        <p:txBody>
          <a:bodyPr wrap="square" lIns="0" tIns="0" rIns="0" bIns="0" anchor="t">
            <a:normAutofit/>
          </a:bodyPr>
          <a:lstStyle/>
          <a:p>
            <a:pPr algn="l">
              <a:lnSpc>
                <a:spcPct val="100000"/>
              </a:lnSpc>
              <a:spcBef>
                <a:spcPts val="0"/>
              </a:spcBef>
            </a:pPr>
            <a:r>
              <a:rPr lang="es-ES" sz="800" b="1" i="0" spc="50">
                <a:solidFill>
                  <a:srgbClr val="7A7A7A"/>
                </a:solidFill>
              </a:rPr>
              <a:t>PROVISIÓN SEP-DIC 2026</a:t>
            </a:r>
          </a:p>
        </p:txBody>
      </p:sp>
      <p:sp>
        <p:nvSpPr>
          <p:cNvPr id="205" name="tbR1C1"/>
          <p:cNvSpPr txBox="1"/>
          <p:nvPr/>
        </p:nvSpPr>
        <p:spPr>
          <a:xfrm>
            <a:off x="658368" y="4300000"/>
            <a:ext cx="2743200" cy="237744"/>
          </a:xfrm>
          <a:prstGeom prst="rect">
            <a:avLst/>
          </a:prstGeom>
          <a:noFill/>
        </p:spPr>
        <p:txBody>
          <a:bodyPr wrap="square" lIns="0" tIns="0" rIns="0" bIns="0" anchor="t">
            <a:normAutofit/>
          </a:bodyPr>
          <a:lstStyle/>
          <a:p>
            <a:pPr algn="l">
              <a:lnSpc>
                <a:spcPct val="100000"/>
              </a:lnSpc>
              <a:spcBef>
                <a:spcPts val="0"/>
              </a:spcBef>
            </a:pPr>
            <a:r>
              <a:rPr lang="es-ES" sz="950" b="1" i="0" spc="50">
                <a:solidFill>
                  <a:srgbClr val="7A7A7A"/>
                </a:solidFill>
              </a:rPr>
              <a:t>Aleyda Maria Hincapie Alvarez</a:t>
            </a:r>
          </a:p>
        </p:txBody>
      </p:sp>
      <p:sp>
        <p:nvSpPr>
          <p:cNvPr id="206" name="tbR1C2"/>
          <p:cNvSpPr txBox="1"/>
          <p:nvPr/>
        </p:nvSpPr>
        <p:spPr>
          <a:xfrm>
            <a:off x="3520440" y="4300000"/>
            <a:ext cx="914400"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10</a:t>
            </a:r>
          </a:p>
        </p:txBody>
      </p:sp>
      <p:sp>
        <p:nvSpPr>
          <p:cNvPr id="207" name="tbR1C3"/>
          <p:cNvSpPr txBox="1"/>
          <p:nvPr/>
        </p:nvSpPr>
        <p:spPr>
          <a:xfrm>
            <a:off x="4526280" y="4300000"/>
            <a:ext cx="1188720"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5</a:t>
            </a:r>
          </a:p>
        </p:txBody>
      </p:sp>
      <p:sp>
        <p:nvSpPr>
          <p:cNvPr id="208" name="tbR1C4"/>
          <p:cNvSpPr txBox="1"/>
          <p:nvPr/>
        </p:nvSpPr>
        <p:spPr>
          <a:xfrm>
            <a:off x="5852160" y="4300000"/>
            <a:ext cx="1828800"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USD 95</a:t>
            </a:r>
          </a:p>
        </p:txBody>
      </p:sp>
      <p:sp>
        <p:nvSpPr>
          <p:cNvPr id="209" name="tbR1C5"/>
          <p:cNvSpPr txBox="1"/>
          <p:nvPr/>
        </p:nvSpPr>
        <p:spPr>
          <a:xfrm>
            <a:off x="7772400" y="4300000"/>
            <a:ext cx="1828800"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USD 285</a:t>
            </a:r>
          </a:p>
        </p:txBody>
      </p:sp>
      <p:sp>
        <p:nvSpPr>
          <p:cNvPr id="231" name="tbR1C6"/>
          <p:cNvSpPr txBox="1"/>
          <p:nvPr/>
        </p:nvSpPr>
        <p:spPr>
          <a:xfrm>
            <a:off x="9692640" y="4300000"/>
            <a:ext cx="1837944"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USD 1.140</a:t>
            </a:r>
          </a:p>
        </p:txBody>
      </p:sp>
      <p:sp>
        <p:nvSpPr>
          <p:cNvPr id="210" name="tbR2C1"/>
          <p:cNvSpPr txBox="1"/>
          <p:nvPr/>
        </p:nvSpPr>
        <p:spPr>
          <a:xfrm>
            <a:off x="658368" y="4600000"/>
            <a:ext cx="2743200" cy="237744"/>
          </a:xfrm>
          <a:prstGeom prst="rect">
            <a:avLst/>
          </a:prstGeom>
          <a:noFill/>
        </p:spPr>
        <p:txBody>
          <a:bodyPr wrap="square" lIns="0" tIns="0" rIns="0" bIns="0" anchor="t">
            <a:normAutofit/>
          </a:bodyPr>
          <a:lstStyle/>
          <a:p>
            <a:pPr algn="l">
              <a:lnSpc>
                <a:spcPct val="100000"/>
              </a:lnSpc>
              <a:spcBef>
                <a:spcPts val="0"/>
              </a:spcBef>
            </a:pPr>
            <a:r>
              <a:rPr lang="es-ES" sz="950" b="1" i="0" spc="50">
                <a:solidFill>
                  <a:srgbClr val="7A7A7A"/>
                </a:solidFill>
              </a:rPr>
              <a:t>Beatriz Elena Cano Gonzalez</a:t>
            </a:r>
          </a:p>
        </p:txBody>
      </p:sp>
      <p:sp>
        <p:nvSpPr>
          <p:cNvPr id="211" name="tbR2C2"/>
          <p:cNvSpPr txBox="1"/>
          <p:nvPr/>
        </p:nvSpPr>
        <p:spPr>
          <a:xfrm>
            <a:off x="3520440" y="4600000"/>
            <a:ext cx="914400"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6</a:t>
            </a:r>
          </a:p>
        </p:txBody>
      </p:sp>
      <p:sp>
        <p:nvSpPr>
          <p:cNvPr id="212" name="tbR2C3"/>
          <p:cNvSpPr txBox="1"/>
          <p:nvPr/>
        </p:nvSpPr>
        <p:spPr>
          <a:xfrm>
            <a:off x="4526280" y="4600000"/>
            <a:ext cx="1188720"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4</a:t>
            </a:r>
          </a:p>
        </p:txBody>
      </p:sp>
      <p:sp>
        <p:nvSpPr>
          <p:cNvPr id="213" name="tbR2C4"/>
          <p:cNvSpPr txBox="1"/>
          <p:nvPr/>
        </p:nvSpPr>
        <p:spPr>
          <a:xfrm>
            <a:off x="5852160" y="4600000"/>
            <a:ext cx="1828800"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USD 76</a:t>
            </a:r>
          </a:p>
        </p:txBody>
      </p:sp>
      <p:sp>
        <p:nvSpPr>
          <p:cNvPr id="214" name="tbR2C5"/>
          <p:cNvSpPr txBox="1"/>
          <p:nvPr/>
        </p:nvSpPr>
        <p:spPr>
          <a:xfrm>
            <a:off x="7772400" y="4600000"/>
            <a:ext cx="1828800"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USD 228</a:t>
            </a:r>
          </a:p>
        </p:txBody>
      </p:sp>
      <p:sp>
        <p:nvSpPr>
          <p:cNvPr id="232" name="tbR2C6"/>
          <p:cNvSpPr txBox="1"/>
          <p:nvPr/>
        </p:nvSpPr>
        <p:spPr>
          <a:xfrm>
            <a:off x="9692640" y="4600000"/>
            <a:ext cx="1837944"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USD 912</a:t>
            </a:r>
          </a:p>
        </p:txBody>
      </p:sp>
      <p:sp>
        <p:nvSpPr>
          <p:cNvPr id="215" name="tbR3C1"/>
          <p:cNvSpPr txBox="1"/>
          <p:nvPr/>
        </p:nvSpPr>
        <p:spPr>
          <a:xfrm>
            <a:off x="658368" y="4900000"/>
            <a:ext cx="2743200" cy="237744"/>
          </a:xfrm>
          <a:prstGeom prst="rect">
            <a:avLst/>
          </a:prstGeom>
          <a:noFill/>
        </p:spPr>
        <p:txBody>
          <a:bodyPr wrap="square" lIns="0" tIns="0" rIns="0" bIns="0" anchor="t">
            <a:normAutofit/>
          </a:bodyPr>
          <a:lstStyle/>
          <a:p>
            <a:pPr algn="l">
              <a:lnSpc>
                <a:spcPct val="100000"/>
              </a:lnSpc>
              <a:spcBef>
                <a:spcPts val="0"/>
              </a:spcBef>
            </a:pPr>
            <a:r>
              <a:rPr lang="es-ES" sz="950" b="1" i="0" spc="50">
                <a:solidFill>
                  <a:srgbClr val="7A7A7A"/>
                </a:solidFill>
              </a:rPr>
              <a:t>Cesar Augusto Herrera Quiroz</a:t>
            </a:r>
          </a:p>
        </p:txBody>
      </p:sp>
      <p:sp>
        <p:nvSpPr>
          <p:cNvPr id="216" name="tbR3C2"/>
          <p:cNvSpPr txBox="1"/>
          <p:nvPr/>
        </p:nvSpPr>
        <p:spPr>
          <a:xfrm>
            <a:off x="3520440" y="4900000"/>
            <a:ext cx="914400"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3</a:t>
            </a:r>
          </a:p>
        </p:txBody>
      </p:sp>
      <p:sp>
        <p:nvSpPr>
          <p:cNvPr id="217" name="tbR3C3"/>
          <p:cNvSpPr txBox="1"/>
          <p:nvPr/>
        </p:nvSpPr>
        <p:spPr>
          <a:xfrm>
            <a:off x="4526280" y="4900000"/>
            <a:ext cx="1188720"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2</a:t>
            </a:r>
          </a:p>
        </p:txBody>
      </p:sp>
      <p:sp>
        <p:nvSpPr>
          <p:cNvPr id="218" name="tbR3C4"/>
          <p:cNvSpPr txBox="1"/>
          <p:nvPr/>
        </p:nvSpPr>
        <p:spPr>
          <a:xfrm>
            <a:off x="5852160" y="4900000"/>
            <a:ext cx="1828800"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USD 38</a:t>
            </a:r>
          </a:p>
        </p:txBody>
      </p:sp>
      <p:sp>
        <p:nvSpPr>
          <p:cNvPr id="219" name="tbR3C5"/>
          <p:cNvSpPr txBox="1"/>
          <p:nvPr/>
        </p:nvSpPr>
        <p:spPr>
          <a:xfrm>
            <a:off x="7772400" y="4900000"/>
            <a:ext cx="1828800"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USD 114</a:t>
            </a:r>
          </a:p>
        </p:txBody>
      </p:sp>
      <p:sp>
        <p:nvSpPr>
          <p:cNvPr id="233" name="tbR3C6"/>
          <p:cNvSpPr txBox="1"/>
          <p:nvPr/>
        </p:nvSpPr>
        <p:spPr>
          <a:xfrm>
            <a:off x="9692640" y="4900000"/>
            <a:ext cx="1837944" cy="237744"/>
          </a:xfrm>
          <a:prstGeom prst="rect">
            <a:avLst/>
          </a:prstGeom>
          <a:noFill/>
        </p:spPr>
        <p:txBody>
          <a:bodyPr wrap="square" lIns="0" tIns="0" rIns="0" bIns="0" anchor="t">
            <a:normAutofit/>
          </a:bodyPr>
          <a:lstStyle/>
          <a:p>
            <a:pPr algn="l">
              <a:lnSpc>
                <a:spcPct val="100000"/>
              </a:lnSpc>
              <a:spcBef>
                <a:spcPts val="0"/>
              </a:spcBef>
            </a:pPr>
            <a:r>
              <a:rPr lang="es-ES" sz="1050" b="0" i="0">
                <a:solidFill>
                  <a:srgbClr val="1A1A1A"/>
                </a:solidFill>
              </a:rPr>
              <a:t>USD 456</a:t>
            </a:r>
          </a:p>
        </p:txBody>
      </p:sp>
      <p:sp>
        <p:nvSpPr>
          <p:cNvPr id="220" name="tbR4C1"/>
          <p:cNvSpPr txBox="1"/>
          <p:nvPr/>
        </p:nvSpPr>
        <p:spPr>
          <a:xfrm>
            <a:off x="658368" y="5200000"/>
            <a:ext cx="2743200" cy="237744"/>
          </a:xfrm>
          <a:prstGeom prst="rect">
            <a:avLst/>
          </a:prstGeom>
          <a:noFill/>
        </p:spPr>
        <p:txBody>
          <a:bodyPr wrap="square" lIns="0" tIns="0" rIns="0" bIns="0" anchor="t">
            <a:normAutofit/>
          </a:bodyPr>
          <a:lstStyle/>
          <a:p>
            <a:pPr algn="l">
              <a:lnSpc>
                <a:spcPct val="100000"/>
              </a:lnSpc>
              <a:spcBef>
                <a:spcPts val="0"/>
              </a:spcBef>
            </a:pPr>
            <a:r>
              <a:rPr lang="es-ES" sz="950" b="1" i="0" spc="50">
                <a:solidFill>
                  <a:srgbClr val="7A7A7A"/>
                </a:solidFill>
              </a:rPr>
              <a:t>TOTAL</a:t>
            </a:r>
          </a:p>
        </p:txBody>
      </p:sp>
      <p:sp>
        <p:nvSpPr>
          <p:cNvPr id="221" name="tbR4C2"/>
          <p:cNvSpPr txBox="1"/>
          <p:nvPr/>
        </p:nvSpPr>
        <p:spPr>
          <a:xfrm>
            <a:off x="3520440" y="5200000"/>
            <a:ext cx="914400" cy="237744"/>
          </a:xfrm>
          <a:prstGeom prst="rect">
            <a:avLst/>
          </a:prstGeom>
          <a:noFill/>
        </p:spPr>
        <p:txBody>
          <a:bodyPr wrap="square" lIns="0" tIns="0" rIns="0" bIns="0" anchor="t">
            <a:normAutofit/>
          </a:bodyPr>
          <a:lstStyle/>
          <a:p>
            <a:pPr algn="l">
              <a:lnSpc>
                <a:spcPct val="100000"/>
              </a:lnSpc>
              <a:spcBef>
                <a:spcPts val="0"/>
              </a:spcBef>
            </a:pPr>
            <a:r>
              <a:rPr lang="es-ES" sz="1050" b="1" i="0">
                <a:solidFill>
                  <a:srgbClr val="1A1A1A"/>
                </a:solidFill>
              </a:rPr>
              <a:t>19</a:t>
            </a:r>
          </a:p>
        </p:txBody>
      </p:sp>
      <p:sp>
        <p:nvSpPr>
          <p:cNvPr id="222" name="tbR4C3"/>
          <p:cNvSpPr txBox="1"/>
          <p:nvPr/>
        </p:nvSpPr>
        <p:spPr>
          <a:xfrm>
            <a:off x="4526280" y="5200000"/>
            <a:ext cx="1188720" cy="237744"/>
          </a:xfrm>
          <a:prstGeom prst="rect">
            <a:avLst/>
          </a:prstGeom>
          <a:noFill/>
        </p:spPr>
        <p:txBody>
          <a:bodyPr wrap="square" lIns="0" tIns="0" rIns="0" bIns="0" anchor="t">
            <a:normAutofit/>
          </a:bodyPr>
          <a:lstStyle/>
          <a:p>
            <a:pPr algn="l">
              <a:lnSpc>
                <a:spcPct val="100000"/>
              </a:lnSpc>
              <a:spcBef>
                <a:spcPts val="0"/>
              </a:spcBef>
            </a:pPr>
            <a:r>
              <a:rPr lang="es-ES" sz="1050" b="1" i="0">
                <a:solidFill>
                  <a:srgbClr val="1A1A1A"/>
                </a:solidFill>
              </a:rPr>
              <a:t>11</a:t>
            </a:r>
          </a:p>
        </p:txBody>
      </p:sp>
      <p:sp>
        <p:nvSpPr>
          <p:cNvPr id="223" name="tbR4C4"/>
          <p:cNvSpPr txBox="1"/>
          <p:nvPr/>
        </p:nvSpPr>
        <p:spPr>
          <a:xfrm>
            <a:off x="5852160" y="5200000"/>
            <a:ext cx="1828800" cy="237744"/>
          </a:xfrm>
          <a:prstGeom prst="rect">
            <a:avLst/>
          </a:prstGeom>
          <a:noFill/>
        </p:spPr>
        <p:txBody>
          <a:bodyPr wrap="square" lIns="0" tIns="0" rIns="0" bIns="0" anchor="t">
            <a:normAutofit/>
          </a:bodyPr>
          <a:lstStyle/>
          <a:p>
            <a:pPr algn="l">
              <a:lnSpc>
                <a:spcPct val="100000"/>
              </a:lnSpc>
              <a:spcBef>
                <a:spcPts val="0"/>
              </a:spcBef>
            </a:pPr>
            <a:r>
              <a:rPr lang="es-ES" sz="1050" b="1" i="0">
                <a:solidFill>
                  <a:srgbClr val="1A1A1A"/>
                </a:solidFill>
              </a:rPr>
              <a:t>USD 209</a:t>
            </a:r>
          </a:p>
        </p:txBody>
      </p:sp>
      <p:sp>
        <p:nvSpPr>
          <p:cNvPr id="224" name="tbR4C5"/>
          <p:cNvSpPr txBox="1"/>
          <p:nvPr/>
        </p:nvSpPr>
        <p:spPr>
          <a:xfrm>
            <a:off x="7772400" y="5200000"/>
            <a:ext cx="1828800" cy="237744"/>
          </a:xfrm>
          <a:prstGeom prst="rect">
            <a:avLst/>
          </a:prstGeom>
          <a:noFill/>
        </p:spPr>
        <p:txBody>
          <a:bodyPr wrap="square" lIns="0" tIns="0" rIns="0" bIns="0" anchor="t">
            <a:normAutofit/>
          </a:bodyPr>
          <a:lstStyle/>
          <a:p>
            <a:pPr algn="l">
              <a:lnSpc>
                <a:spcPct val="100000"/>
              </a:lnSpc>
              <a:spcBef>
                <a:spcPts val="0"/>
              </a:spcBef>
            </a:pPr>
            <a:r>
              <a:rPr lang="es-ES" sz="1050" b="1" i="0">
                <a:solidFill>
                  <a:srgbClr val="1A1A1A"/>
                </a:solidFill>
              </a:rPr>
              <a:t>USD 627</a:t>
            </a:r>
          </a:p>
        </p:txBody>
      </p:sp>
      <p:sp>
        <p:nvSpPr>
          <p:cNvPr id="234" name="tbR4C6"/>
          <p:cNvSpPr txBox="1"/>
          <p:nvPr/>
        </p:nvSpPr>
        <p:spPr>
          <a:xfrm>
            <a:off x="9692640" y="5200000"/>
            <a:ext cx="1837944" cy="237744"/>
          </a:xfrm>
          <a:prstGeom prst="rect">
            <a:avLst/>
          </a:prstGeom>
          <a:noFill/>
        </p:spPr>
        <p:txBody>
          <a:bodyPr wrap="square" lIns="0" tIns="0" rIns="0" bIns="0" anchor="t">
            <a:normAutofit/>
          </a:bodyPr>
          <a:lstStyle/>
          <a:p>
            <a:pPr algn="l">
              <a:lnSpc>
                <a:spcPct val="100000"/>
              </a:lnSpc>
              <a:spcBef>
                <a:spcPts val="0"/>
              </a:spcBef>
            </a:pPr>
            <a:r>
              <a:rPr lang="es-ES" sz="1050" b="1" i="0">
                <a:solidFill>
                  <a:srgbClr val="1A1A1A"/>
                </a:solidFill>
              </a:rPr>
              <a:t>USD 2.508</a:t>
            </a:r>
          </a:p>
        </p:txBody>
      </p:sp>
      <p:sp>
        <p:nvSpPr>
          <p:cNvPr id="133" name="tb133"/>
          <p:cNvSpPr txBox="1"/>
          <p:nvPr/>
        </p:nvSpPr>
        <p:spPr>
          <a:xfrm>
            <a:off x="658368" y="5540000"/>
            <a:ext cx="10872216" cy="700000"/>
          </a:xfrm>
          <a:prstGeom prst="rect">
            <a:avLst/>
          </a:prstGeom>
          <a:noFill/>
        </p:spPr>
        <p:txBody>
          <a:bodyPr wrap="square" lIns="0" tIns="0" rIns="0" bIns="0" anchor="t">
            <a:normAutofit/>
          </a:bodyPr>
          <a:lstStyle/>
          <a:p>
            <a:pPr algn="l">
              <a:lnSpc>
                <a:spcPct val="100000"/>
              </a:lnSpc>
              <a:spcBef>
                <a:spcPts val="0"/>
              </a:spcBef>
            </a:pPr>
            <a:r>
              <a:rPr lang="es-ES" sz="800" b="0" i="1" dirty="0">
                <a:solidFill>
                  <a:srgbClr val="7A7A7A"/>
                </a:solidFill>
              </a:rPr>
              <a:t>Costo estimado utilizando una tarifa de referencia de USD 19 por usuario/mes. Sujeto a validación comercial.</a:t>
            </a:r>
          </a:p>
          <a:p>
            <a:pPr algn="l">
              <a:lnSpc>
                <a:spcPct val="100000"/>
              </a:lnSpc>
              <a:spcBef>
                <a:spcPts val="200"/>
              </a:spcBef>
            </a:pPr>
            <a:r>
              <a:rPr lang="es-ES" sz="800" b="0" i="1" dirty="0">
                <a:solidFill>
                  <a:srgbClr val="7A7A7A"/>
                </a:solidFill>
              </a:rPr>
              <a:t>La provisión x3 permite cubrir consumo adicional. Presupuestar x3 no significa gastar x3. El gasto real dependerá del consumo y será monitoreado mensualmente.</a:t>
            </a:r>
          </a:p>
          <a:p>
            <a:pPr algn="l">
              <a:lnSpc>
                <a:spcPct val="100000"/>
              </a:lnSpc>
              <a:spcBef>
                <a:spcPts val="200"/>
              </a:spcBef>
            </a:pPr>
            <a:r>
              <a:rPr lang="es-ES" sz="800" b="0" i="1" dirty="0">
                <a:solidFill>
                  <a:srgbClr val="7A7A7A"/>
                </a:solidFill>
              </a:rPr>
              <a:t>Los perfiles AS/400 adicionales no se incorporan todavía de forma masiva. Se mantiene una prueba controlada y su escalamiento dependerá de validar la utilidad de </a:t>
            </a:r>
            <a:r>
              <a:rPr lang="es-ES" sz="800" b="0" i="1" dirty="0" err="1">
                <a:solidFill>
                  <a:srgbClr val="7A7A7A"/>
                </a:solidFill>
              </a:rPr>
              <a:t>Copilot</a:t>
            </a:r>
            <a:r>
              <a:rPr lang="es-ES" sz="800" b="0" i="1" dirty="0">
                <a:solidFill>
                  <a:srgbClr val="7A7A7A"/>
                </a:solidFill>
              </a:rPr>
              <a:t> en este entorno.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sh"/>
          <p:cNvSpPr/>
          <p:nvPr/>
        </p:nvSpPr>
        <p:spPr>
          <a:xfrm>
            <a:off x="658368" y="384048"/>
            <a:ext cx="146304" cy="146304"/>
          </a:xfrm>
          <a:prstGeom prst="rect">
            <a:avLst/>
          </a:prstGeom>
          <a:solidFill>
            <a:srgbClr val="ED1C29"/>
          </a:solidFill>
          <a:ln>
            <a:noFill/>
          </a:ln>
        </p:spPr>
        <p:txBody>
          <a:bodyPr lIns="0" tIns="0" rIns="0" bIns="0" anchor="ctr">
            <a:normAutofit fontScale="62500" lnSpcReduction="20000"/>
          </a:bodyPr>
          <a:lstStyle/>
          <a:p>
            <a:endParaRPr lang="es-ES"/>
          </a:p>
        </p:txBody>
      </p:sp>
      <p:sp>
        <p:nvSpPr>
          <p:cNvPr id="301" name="tb"/>
          <p:cNvSpPr txBox="1"/>
          <p:nvPr/>
        </p:nvSpPr>
        <p:spPr>
          <a:xfrm>
            <a:off x="914400" y="365760"/>
            <a:ext cx="7315200" cy="237744"/>
          </a:xfrm>
          <a:prstGeom prst="rect">
            <a:avLst/>
          </a:prstGeom>
          <a:noFill/>
        </p:spPr>
        <p:txBody>
          <a:bodyPr wrap="square" lIns="0" tIns="0" rIns="0" bIns="0" anchor="t">
            <a:normAutofit/>
          </a:bodyPr>
          <a:lstStyle/>
          <a:p>
            <a:pPr algn="l">
              <a:lnSpc>
                <a:spcPct val="100000"/>
              </a:lnSpc>
              <a:spcBef>
                <a:spcPts val="0"/>
              </a:spcBef>
            </a:pPr>
            <a:r>
              <a:rPr lang="es-ES" sz="1050" b="1" i="0">
                <a:solidFill>
                  <a:srgbClr val="ED1C29"/>
                </a:solidFill>
              </a:rPr>
              <a:t>LICENCIAS POR EQUIPO</a:t>
            </a:r>
          </a:p>
        </p:txBody>
      </p:sp>
      <p:sp>
        <p:nvSpPr>
          <p:cNvPr id="302" name="tb"/>
          <p:cNvSpPr txBox="1"/>
          <p:nvPr/>
        </p:nvSpPr>
        <p:spPr>
          <a:xfrm>
            <a:off x="658368" y="713232"/>
            <a:ext cx="9326880" cy="500000"/>
          </a:xfrm>
          <a:prstGeom prst="rect">
            <a:avLst/>
          </a:prstGeom>
          <a:noFill/>
        </p:spPr>
        <p:txBody>
          <a:bodyPr wrap="square" lIns="0" tIns="0" rIns="0" bIns="0" anchor="t">
            <a:normAutofit/>
          </a:bodyPr>
          <a:lstStyle/>
          <a:p>
            <a:pPr algn="l">
              <a:lnSpc>
                <a:spcPct val="100000"/>
              </a:lnSpc>
              <a:spcBef>
                <a:spcPts val="0"/>
              </a:spcBef>
            </a:pPr>
            <a:r>
              <a:rPr lang="es-ES" sz="2400" b="1" i="0">
                <a:solidFill>
                  <a:srgbClr val="211915"/>
                </a:solidFill>
              </a:rPr>
              <a:t>Product Owner, cobertura y costo de las licencias adicionales</a:t>
            </a:r>
          </a:p>
        </p:txBody>
      </p:sp>
      <p:pic>
        <p:nvPicPr>
          <p:cNvPr id="900" name="Logo Tuya"/>
          <p:cNvPicPr>
            <a:picLocks noChangeAspect="1"/>
          </p:cNvPicPr>
          <p:nvPr/>
        </p:nvPicPr>
        <p:blipFill>
          <a:blip r:embed="rId2"/>
          <a:stretch>
            <a:fillRect/>
          </a:stretch>
        </p:blipFill>
        <p:spPr>
          <a:xfrm>
            <a:off x="11152200" y="321276"/>
            <a:ext cx="640080" cy="320040"/>
          </a:xfrm>
          <a:prstGeom prst="rect">
            <a:avLst/>
          </a:prstGeom>
        </p:spPr>
      </p:pic>
      <p:sp>
        <p:nvSpPr>
          <p:cNvPr id="303" name="sh"/>
          <p:cNvSpPr/>
          <p:nvPr/>
        </p:nvSpPr>
        <p:spPr>
          <a:xfrm>
            <a:off x="658368" y="1371600"/>
            <a:ext cx="3538728" cy="731520"/>
          </a:xfrm>
          <a:prstGeom prst="rect">
            <a:avLst/>
          </a:prstGeom>
          <a:solidFill>
            <a:srgbClr val="F5F3F2"/>
          </a:solidFill>
          <a:ln w="12700">
            <a:solidFill>
              <a:srgbClr val="E3E0DE"/>
            </a:solidFill>
          </a:ln>
        </p:spPr>
        <p:txBody>
          <a:bodyPr lIns="0" tIns="0" rIns="0" bIns="0" anchor="ctr">
            <a:normAutofit/>
          </a:bodyPr>
          <a:lstStyle/>
          <a:p>
            <a:endParaRPr lang="es-ES"/>
          </a:p>
        </p:txBody>
      </p:sp>
      <p:sp>
        <p:nvSpPr>
          <p:cNvPr id="304" name="tb"/>
          <p:cNvSpPr txBox="1"/>
          <p:nvPr/>
        </p:nvSpPr>
        <p:spPr>
          <a:xfrm>
            <a:off x="859536" y="1478280"/>
            <a:ext cx="3136392" cy="219456"/>
          </a:xfrm>
          <a:prstGeom prst="rect">
            <a:avLst/>
          </a:prstGeom>
          <a:noFill/>
        </p:spPr>
        <p:txBody>
          <a:bodyPr wrap="square" lIns="0" tIns="0" rIns="0" bIns="0" anchor="t">
            <a:normAutofit/>
          </a:bodyPr>
          <a:lstStyle/>
          <a:p>
            <a:pPr algn="l">
              <a:lnSpc>
                <a:spcPct val="100000"/>
              </a:lnSpc>
              <a:spcBef>
                <a:spcPts val="0"/>
              </a:spcBef>
            </a:pPr>
            <a:r>
              <a:rPr lang="es-ES" sz="1200" b="1" i="0">
                <a:solidFill>
                  <a:srgbClr val="211915"/>
                </a:solidFill>
              </a:rPr>
              <a:t>USD 209</a:t>
            </a:r>
          </a:p>
        </p:txBody>
      </p:sp>
      <p:sp>
        <p:nvSpPr>
          <p:cNvPr id="305" name="tb"/>
          <p:cNvSpPr txBox="1"/>
          <p:nvPr/>
        </p:nvSpPr>
        <p:spPr>
          <a:xfrm>
            <a:off x="859536" y="1755648"/>
            <a:ext cx="3136392" cy="250000"/>
          </a:xfrm>
          <a:prstGeom prst="rect">
            <a:avLst/>
          </a:prstGeom>
          <a:noFill/>
        </p:spPr>
        <p:txBody>
          <a:bodyPr wrap="square" lIns="0" tIns="0" rIns="0" bIns="0" anchor="t">
            <a:normAutofit/>
          </a:bodyPr>
          <a:lstStyle/>
          <a:p>
            <a:pPr algn="l">
              <a:lnSpc>
                <a:spcPct val="100000"/>
              </a:lnSpc>
              <a:spcBef>
                <a:spcPts val="0"/>
              </a:spcBef>
            </a:pPr>
            <a:r>
              <a:rPr lang="es-ES" sz="850" b="0" i="0">
                <a:solidFill>
                  <a:srgbClr val="7A7A7A"/>
                </a:solidFill>
              </a:rPr>
              <a:t>Costo base mensual · 9 equipos, 11 licencias</a:t>
            </a:r>
          </a:p>
        </p:txBody>
      </p:sp>
      <p:sp>
        <p:nvSpPr>
          <p:cNvPr id="306" name="sh"/>
          <p:cNvSpPr/>
          <p:nvPr/>
        </p:nvSpPr>
        <p:spPr>
          <a:xfrm>
            <a:off x="4325112" y="1371600"/>
            <a:ext cx="3538728" cy="731520"/>
          </a:xfrm>
          <a:prstGeom prst="rect">
            <a:avLst/>
          </a:prstGeom>
          <a:noFill/>
          <a:ln w="12700">
            <a:solidFill>
              <a:srgbClr val="E3E0DE"/>
            </a:solidFill>
          </a:ln>
        </p:spPr>
        <p:txBody>
          <a:bodyPr lIns="0" tIns="0" rIns="0" bIns="0" anchor="ctr">
            <a:normAutofit/>
          </a:bodyPr>
          <a:lstStyle/>
          <a:p>
            <a:endParaRPr lang="es-ES"/>
          </a:p>
        </p:txBody>
      </p:sp>
      <p:sp>
        <p:nvSpPr>
          <p:cNvPr id="307" name="tb"/>
          <p:cNvSpPr txBox="1"/>
          <p:nvPr/>
        </p:nvSpPr>
        <p:spPr>
          <a:xfrm>
            <a:off x="4526280" y="1478280"/>
            <a:ext cx="3136392" cy="219456"/>
          </a:xfrm>
          <a:prstGeom prst="rect">
            <a:avLst/>
          </a:prstGeom>
          <a:noFill/>
        </p:spPr>
        <p:txBody>
          <a:bodyPr wrap="square" lIns="0" tIns="0" rIns="0" bIns="0" anchor="t">
            <a:normAutofit/>
          </a:bodyPr>
          <a:lstStyle/>
          <a:p>
            <a:pPr algn="l">
              <a:lnSpc>
                <a:spcPct val="100000"/>
              </a:lnSpc>
              <a:spcBef>
                <a:spcPts val="0"/>
              </a:spcBef>
            </a:pPr>
            <a:r>
              <a:rPr lang="es-ES" sz="1200" b="1" i="0">
                <a:solidFill>
                  <a:srgbClr val="211915"/>
                </a:solidFill>
              </a:rPr>
              <a:t>USD 627</a:t>
            </a:r>
          </a:p>
        </p:txBody>
      </p:sp>
      <p:sp>
        <p:nvSpPr>
          <p:cNvPr id="308" name="tb"/>
          <p:cNvSpPr txBox="1"/>
          <p:nvPr/>
        </p:nvSpPr>
        <p:spPr>
          <a:xfrm>
            <a:off x="4526280" y="1755648"/>
            <a:ext cx="3136392" cy="250000"/>
          </a:xfrm>
          <a:prstGeom prst="rect">
            <a:avLst/>
          </a:prstGeom>
          <a:noFill/>
        </p:spPr>
        <p:txBody>
          <a:bodyPr wrap="square" lIns="0" tIns="0" rIns="0" bIns="0" anchor="t">
            <a:normAutofit/>
          </a:bodyPr>
          <a:lstStyle/>
          <a:p>
            <a:pPr algn="l">
              <a:lnSpc>
                <a:spcPct val="100000"/>
              </a:lnSpc>
              <a:spcBef>
                <a:spcPts val="0"/>
              </a:spcBef>
            </a:pPr>
            <a:r>
              <a:rPr lang="es-ES" sz="950" b="0" i="0">
                <a:solidFill>
                  <a:srgbClr val="7A7A7A"/>
                </a:solidFill>
              </a:rPr>
              <a:t>Provisión mensual x3</a:t>
            </a:r>
          </a:p>
        </p:txBody>
      </p:sp>
      <p:sp>
        <p:nvSpPr>
          <p:cNvPr id="309" name="sh"/>
          <p:cNvSpPr/>
          <p:nvPr/>
        </p:nvSpPr>
        <p:spPr>
          <a:xfrm>
            <a:off x="7991856" y="1371600"/>
            <a:ext cx="3538728" cy="731520"/>
          </a:xfrm>
          <a:prstGeom prst="rect">
            <a:avLst/>
          </a:prstGeom>
          <a:solidFill>
            <a:srgbClr val="ED1C29"/>
          </a:solidFill>
          <a:ln>
            <a:noFill/>
          </a:ln>
        </p:spPr>
        <p:txBody>
          <a:bodyPr lIns="0" tIns="0" rIns="0" bIns="0" anchor="ctr">
            <a:normAutofit/>
          </a:bodyPr>
          <a:lstStyle/>
          <a:p>
            <a:endParaRPr lang="es-ES"/>
          </a:p>
        </p:txBody>
      </p:sp>
      <p:sp>
        <p:nvSpPr>
          <p:cNvPr id="310" name="tb"/>
          <p:cNvSpPr txBox="1"/>
          <p:nvPr/>
        </p:nvSpPr>
        <p:spPr>
          <a:xfrm>
            <a:off x="8193024" y="1478280"/>
            <a:ext cx="3136392" cy="219456"/>
          </a:xfrm>
          <a:prstGeom prst="rect">
            <a:avLst/>
          </a:prstGeom>
          <a:noFill/>
        </p:spPr>
        <p:txBody>
          <a:bodyPr wrap="square" lIns="0" tIns="0" rIns="0" bIns="0" anchor="t">
            <a:normAutofit/>
          </a:bodyPr>
          <a:lstStyle/>
          <a:p>
            <a:pPr algn="l">
              <a:lnSpc>
                <a:spcPct val="100000"/>
              </a:lnSpc>
              <a:spcBef>
                <a:spcPts val="0"/>
              </a:spcBef>
            </a:pPr>
            <a:r>
              <a:rPr lang="es-ES" sz="1200" b="1" i="0">
                <a:solidFill>
                  <a:srgbClr val="FFFFFF"/>
                </a:solidFill>
              </a:rPr>
              <a:t>USD 2.508</a:t>
            </a:r>
          </a:p>
        </p:txBody>
      </p:sp>
      <p:sp>
        <p:nvSpPr>
          <p:cNvPr id="311" name="tb"/>
          <p:cNvSpPr txBox="1"/>
          <p:nvPr/>
        </p:nvSpPr>
        <p:spPr>
          <a:xfrm>
            <a:off x="8193024" y="1755648"/>
            <a:ext cx="3136392" cy="250000"/>
          </a:xfrm>
          <a:prstGeom prst="rect">
            <a:avLst/>
          </a:prstGeom>
          <a:noFill/>
        </p:spPr>
        <p:txBody>
          <a:bodyPr wrap="square" lIns="0" tIns="0" rIns="0" bIns="0" anchor="t">
            <a:normAutofit/>
          </a:bodyPr>
          <a:lstStyle/>
          <a:p>
            <a:pPr algn="l">
              <a:lnSpc>
                <a:spcPct val="100000"/>
              </a:lnSpc>
              <a:spcBef>
                <a:spcPts val="0"/>
              </a:spcBef>
            </a:pPr>
            <a:r>
              <a:rPr lang="es-ES" sz="950" b="0" i="0">
                <a:solidFill>
                  <a:srgbClr val="FFFFFF"/>
                </a:solidFill>
              </a:rPr>
              <a:t>Provisión Sep-Dic 2026</a:t>
            </a:r>
          </a:p>
        </p:txBody>
      </p:sp>
      <p:sp>
        <p:nvSpPr>
          <p:cNvPr id="312" name="sh"/>
          <p:cNvSpPr/>
          <p:nvPr/>
        </p:nvSpPr>
        <p:spPr>
          <a:xfrm>
            <a:off x="658368" y="2377440"/>
            <a:ext cx="10872216" cy="9525"/>
          </a:xfrm>
          <a:prstGeom prst="rect">
            <a:avLst/>
          </a:prstGeom>
          <a:solidFill>
            <a:srgbClr val="E3E0DE"/>
          </a:solidFill>
          <a:ln>
            <a:noFill/>
          </a:ln>
        </p:spPr>
        <p:txBody>
          <a:bodyPr lIns="0" tIns="0" rIns="0" bIns="0" anchor="ctr">
            <a:normAutofit fontScale="25000" lnSpcReduction="20000"/>
          </a:bodyPr>
          <a:lstStyle/>
          <a:p>
            <a:endParaRPr lang="es-ES"/>
          </a:p>
        </p:txBody>
      </p:sp>
      <p:sp>
        <p:nvSpPr>
          <p:cNvPr id="313" name="tb"/>
          <p:cNvSpPr txBox="1"/>
          <p:nvPr/>
        </p:nvSpPr>
        <p:spPr>
          <a:xfrm>
            <a:off x="658368" y="2505456"/>
            <a:ext cx="10872216" cy="219456"/>
          </a:xfrm>
          <a:prstGeom prst="rect">
            <a:avLst/>
          </a:prstGeom>
          <a:noFill/>
        </p:spPr>
        <p:txBody>
          <a:bodyPr wrap="square" lIns="0" tIns="0" rIns="0" bIns="0" anchor="t">
            <a:normAutofit/>
          </a:bodyPr>
          <a:lstStyle/>
          <a:p>
            <a:pPr algn="l">
              <a:lnSpc>
                <a:spcPct val="100000"/>
              </a:lnSpc>
              <a:spcBef>
                <a:spcPts val="0"/>
              </a:spcBef>
            </a:pPr>
            <a:r>
              <a:rPr lang="es-ES" sz="1100" b="1" i="0">
                <a:solidFill>
                  <a:srgbClr val="7A7A7A"/>
                </a:solidFill>
              </a:rPr>
              <a:t>DETALLE POR EQUIPO Y PRODUCT OWNER</a:t>
            </a:r>
          </a:p>
        </p:txBody>
      </p:sp>
      <p:sp>
        <p:nvSpPr>
          <p:cNvPr id="314" name="tb"/>
          <p:cNvSpPr txBox="1"/>
          <p:nvPr/>
        </p:nvSpPr>
        <p:spPr>
          <a:xfrm>
            <a:off x="658368" y="2880360"/>
            <a:ext cx="2200000" cy="219456"/>
          </a:xfrm>
          <a:prstGeom prst="rect">
            <a:avLst/>
          </a:prstGeom>
          <a:noFill/>
        </p:spPr>
        <p:txBody>
          <a:bodyPr wrap="square" lIns="0" tIns="0" rIns="0" bIns="0" anchor="t">
            <a:normAutofit/>
          </a:bodyPr>
          <a:lstStyle/>
          <a:p>
            <a:pPr algn="l">
              <a:lnSpc>
                <a:spcPct val="100000"/>
              </a:lnSpc>
              <a:spcBef>
                <a:spcPts val="0"/>
              </a:spcBef>
            </a:pPr>
            <a:r>
              <a:rPr lang="es-ES" sz="950" b="1" i="0">
                <a:solidFill>
                  <a:srgbClr val="7A7A7A"/>
                </a:solidFill>
              </a:rPr>
              <a:t>EQUIPO</a:t>
            </a:r>
          </a:p>
        </p:txBody>
      </p:sp>
      <p:sp>
        <p:nvSpPr>
          <p:cNvPr id="315" name="tb"/>
          <p:cNvSpPr txBox="1"/>
          <p:nvPr/>
        </p:nvSpPr>
        <p:spPr>
          <a:xfrm>
            <a:off x="2960000" y="2880360"/>
            <a:ext cx="2450000" cy="219456"/>
          </a:xfrm>
          <a:prstGeom prst="rect">
            <a:avLst/>
          </a:prstGeom>
          <a:noFill/>
        </p:spPr>
        <p:txBody>
          <a:bodyPr wrap="square" lIns="0" tIns="0" rIns="0" bIns="0" anchor="t">
            <a:normAutofit/>
          </a:bodyPr>
          <a:lstStyle/>
          <a:p>
            <a:pPr algn="l">
              <a:lnSpc>
                <a:spcPct val="100000"/>
              </a:lnSpc>
              <a:spcBef>
                <a:spcPts val="0"/>
              </a:spcBef>
            </a:pPr>
            <a:r>
              <a:rPr lang="es-ES" sz="950" b="1" i="0">
                <a:solidFill>
                  <a:srgbClr val="7A7A7A"/>
                </a:solidFill>
              </a:rPr>
              <a:t>PRODUCT OWNER</a:t>
            </a:r>
          </a:p>
        </p:txBody>
      </p:sp>
      <p:sp>
        <p:nvSpPr>
          <p:cNvPr id="316" name="tb"/>
          <p:cNvSpPr txBox="1"/>
          <p:nvPr/>
        </p:nvSpPr>
        <p:spPr>
          <a:xfrm>
            <a:off x="5500000" y="2880360"/>
            <a:ext cx="800000" cy="219456"/>
          </a:xfrm>
          <a:prstGeom prst="rect">
            <a:avLst/>
          </a:prstGeom>
          <a:noFill/>
        </p:spPr>
        <p:txBody>
          <a:bodyPr wrap="square" lIns="0" tIns="0" rIns="0" bIns="0" anchor="t">
            <a:normAutofit/>
          </a:bodyPr>
          <a:lstStyle/>
          <a:p>
            <a:pPr algn="l">
              <a:lnSpc>
                <a:spcPct val="100000"/>
              </a:lnSpc>
              <a:spcBef>
                <a:spcPts val="0"/>
              </a:spcBef>
            </a:pPr>
            <a:r>
              <a:rPr lang="es-ES" sz="950" b="1" i="0">
                <a:solidFill>
                  <a:srgbClr val="7A7A7A"/>
                </a:solidFill>
              </a:rPr>
              <a:t>CUBIERTOS</a:t>
            </a:r>
          </a:p>
        </p:txBody>
      </p:sp>
      <p:sp>
        <p:nvSpPr>
          <p:cNvPr id="317" name="tb"/>
          <p:cNvSpPr txBox="1"/>
          <p:nvPr/>
        </p:nvSpPr>
        <p:spPr>
          <a:xfrm>
            <a:off x="6400000" y="2880360"/>
            <a:ext cx="950000" cy="219456"/>
          </a:xfrm>
          <a:prstGeom prst="rect">
            <a:avLst/>
          </a:prstGeom>
          <a:noFill/>
        </p:spPr>
        <p:txBody>
          <a:bodyPr wrap="square" lIns="0" tIns="0" rIns="0" bIns="0" anchor="t">
            <a:normAutofit/>
          </a:bodyPr>
          <a:lstStyle/>
          <a:p>
            <a:pPr algn="l">
              <a:lnSpc>
                <a:spcPct val="100000"/>
              </a:lnSpc>
              <a:spcBef>
                <a:spcPts val="0"/>
              </a:spcBef>
            </a:pPr>
            <a:r>
              <a:rPr lang="es-ES" sz="950" b="1" i="0">
                <a:solidFill>
                  <a:srgbClr val="7A7A7A"/>
                </a:solidFill>
              </a:rPr>
              <a:t>POR COMPRAR</a:t>
            </a:r>
          </a:p>
        </p:txBody>
      </p:sp>
      <p:sp>
        <p:nvSpPr>
          <p:cNvPr id="318" name="tb"/>
          <p:cNvSpPr txBox="1"/>
          <p:nvPr/>
        </p:nvSpPr>
        <p:spPr>
          <a:xfrm>
            <a:off x="7440000" y="2880360"/>
            <a:ext cx="1350000" cy="219456"/>
          </a:xfrm>
          <a:prstGeom prst="rect">
            <a:avLst/>
          </a:prstGeom>
          <a:noFill/>
        </p:spPr>
        <p:txBody>
          <a:bodyPr wrap="square" lIns="0" tIns="0" rIns="0" bIns="0" anchor="t">
            <a:normAutofit/>
          </a:bodyPr>
          <a:lstStyle/>
          <a:p>
            <a:pPr algn="l">
              <a:lnSpc>
                <a:spcPct val="100000"/>
              </a:lnSpc>
              <a:spcBef>
                <a:spcPts val="0"/>
              </a:spcBef>
            </a:pPr>
            <a:r>
              <a:rPr lang="es-ES" sz="700" b="1" i="0">
                <a:solidFill>
                  <a:srgbClr val="7A7A7A"/>
                </a:solidFill>
              </a:rPr>
              <a:t>COSTO BASE MENSUAL</a:t>
            </a:r>
          </a:p>
        </p:txBody>
      </p:sp>
      <p:sp>
        <p:nvSpPr>
          <p:cNvPr id="319" name="tb"/>
          <p:cNvSpPr txBox="1"/>
          <p:nvPr/>
        </p:nvSpPr>
        <p:spPr>
          <a:xfrm>
            <a:off x="658368" y="3180000"/>
            <a:ext cx="22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Canal de originación</a:t>
            </a:r>
          </a:p>
        </p:txBody>
      </p:sp>
      <p:sp>
        <p:nvSpPr>
          <p:cNvPr id="320" name="tb"/>
          <p:cNvSpPr txBox="1"/>
          <p:nvPr/>
        </p:nvSpPr>
        <p:spPr>
          <a:xfrm>
            <a:off x="2960000" y="3180000"/>
            <a:ext cx="24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Juan Esteban Achury Duarte</a:t>
            </a:r>
          </a:p>
        </p:txBody>
      </p:sp>
      <p:sp>
        <p:nvSpPr>
          <p:cNvPr id="321" name="tb"/>
          <p:cNvSpPr txBox="1"/>
          <p:nvPr/>
        </p:nvSpPr>
        <p:spPr>
          <a:xfrm>
            <a:off x="5500000" y="3180000"/>
            <a:ext cx="8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2</a:t>
            </a:r>
          </a:p>
        </p:txBody>
      </p:sp>
      <p:sp>
        <p:nvSpPr>
          <p:cNvPr id="322" name="tb"/>
          <p:cNvSpPr txBox="1"/>
          <p:nvPr/>
        </p:nvSpPr>
        <p:spPr>
          <a:xfrm>
            <a:off x="6400000" y="3180000"/>
            <a:ext cx="9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1</a:t>
            </a:r>
          </a:p>
        </p:txBody>
      </p:sp>
      <p:sp>
        <p:nvSpPr>
          <p:cNvPr id="323" name="tb"/>
          <p:cNvSpPr txBox="1"/>
          <p:nvPr/>
        </p:nvSpPr>
        <p:spPr>
          <a:xfrm>
            <a:off x="7440000" y="3180000"/>
            <a:ext cx="13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19</a:t>
            </a:r>
          </a:p>
        </p:txBody>
      </p:sp>
      <p:sp>
        <p:nvSpPr>
          <p:cNvPr id="324" name="tb"/>
          <p:cNvSpPr txBox="1"/>
          <p:nvPr/>
        </p:nvSpPr>
        <p:spPr>
          <a:xfrm>
            <a:off x="658368" y="3445000"/>
            <a:ext cx="22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Canales Asistidos</a:t>
            </a:r>
          </a:p>
        </p:txBody>
      </p:sp>
      <p:sp>
        <p:nvSpPr>
          <p:cNvPr id="325" name="tb"/>
          <p:cNvSpPr txBox="1"/>
          <p:nvPr/>
        </p:nvSpPr>
        <p:spPr>
          <a:xfrm>
            <a:off x="2960000" y="3445000"/>
            <a:ext cx="24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Steven Echeverri Yepes</a:t>
            </a:r>
          </a:p>
        </p:txBody>
      </p:sp>
      <p:sp>
        <p:nvSpPr>
          <p:cNvPr id="326" name="tb"/>
          <p:cNvSpPr txBox="1"/>
          <p:nvPr/>
        </p:nvSpPr>
        <p:spPr>
          <a:xfrm>
            <a:off x="5500000" y="3445000"/>
            <a:ext cx="8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2</a:t>
            </a:r>
          </a:p>
        </p:txBody>
      </p:sp>
      <p:sp>
        <p:nvSpPr>
          <p:cNvPr id="327" name="tb"/>
          <p:cNvSpPr txBox="1"/>
          <p:nvPr/>
        </p:nvSpPr>
        <p:spPr>
          <a:xfrm>
            <a:off x="6400000" y="3445000"/>
            <a:ext cx="9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1</a:t>
            </a:r>
          </a:p>
        </p:txBody>
      </p:sp>
      <p:sp>
        <p:nvSpPr>
          <p:cNvPr id="328" name="tb"/>
          <p:cNvSpPr txBox="1"/>
          <p:nvPr/>
        </p:nvSpPr>
        <p:spPr>
          <a:xfrm>
            <a:off x="7440000" y="3445000"/>
            <a:ext cx="13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19</a:t>
            </a:r>
          </a:p>
        </p:txBody>
      </p:sp>
      <p:sp>
        <p:nvSpPr>
          <p:cNvPr id="329" name="tb"/>
          <p:cNvSpPr txBox="1"/>
          <p:nvPr/>
        </p:nvSpPr>
        <p:spPr>
          <a:xfrm>
            <a:off x="658368" y="3710000"/>
            <a:ext cx="22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Canales de Recaudos</a:t>
            </a:r>
          </a:p>
        </p:txBody>
      </p:sp>
      <p:sp>
        <p:nvSpPr>
          <p:cNvPr id="330" name="tb"/>
          <p:cNvSpPr txBox="1"/>
          <p:nvPr/>
        </p:nvSpPr>
        <p:spPr>
          <a:xfrm>
            <a:off x="2960000" y="3710000"/>
            <a:ext cx="24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Julian Esteban Hoyos Escobar</a:t>
            </a:r>
          </a:p>
        </p:txBody>
      </p:sp>
      <p:sp>
        <p:nvSpPr>
          <p:cNvPr id="331" name="tb"/>
          <p:cNvSpPr txBox="1"/>
          <p:nvPr/>
        </p:nvSpPr>
        <p:spPr>
          <a:xfrm>
            <a:off x="5500000" y="3710000"/>
            <a:ext cx="8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2</a:t>
            </a:r>
          </a:p>
        </p:txBody>
      </p:sp>
      <p:sp>
        <p:nvSpPr>
          <p:cNvPr id="332" name="tb"/>
          <p:cNvSpPr txBox="1"/>
          <p:nvPr/>
        </p:nvSpPr>
        <p:spPr>
          <a:xfrm>
            <a:off x="6400000" y="3710000"/>
            <a:ext cx="9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1</a:t>
            </a:r>
          </a:p>
        </p:txBody>
      </p:sp>
      <p:sp>
        <p:nvSpPr>
          <p:cNvPr id="333" name="tb"/>
          <p:cNvSpPr txBox="1"/>
          <p:nvPr/>
        </p:nvSpPr>
        <p:spPr>
          <a:xfrm>
            <a:off x="7440000" y="3710000"/>
            <a:ext cx="13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19</a:t>
            </a:r>
          </a:p>
        </p:txBody>
      </p:sp>
      <p:sp>
        <p:nvSpPr>
          <p:cNvPr id="334" name="tb"/>
          <p:cNvSpPr txBox="1"/>
          <p:nvPr/>
        </p:nvSpPr>
        <p:spPr>
          <a:xfrm>
            <a:off x="658368" y="3975000"/>
            <a:ext cx="22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Canales Digitales</a:t>
            </a:r>
          </a:p>
        </p:txBody>
      </p:sp>
      <p:sp>
        <p:nvSpPr>
          <p:cNvPr id="335" name="tb"/>
          <p:cNvSpPr txBox="1"/>
          <p:nvPr/>
        </p:nvSpPr>
        <p:spPr>
          <a:xfrm>
            <a:off x="2960000" y="3975000"/>
            <a:ext cx="24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Julian Esteban Hoyos Escobar</a:t>
            </a:r>
          </a:p>
        </p:txBody>
      </p:sp>
      <p:sp>
        <p:nvSpPr>
          <p:cNvPr id="336" name="tb"/>
          <p:cNvSpPr txBox="1"/>
          <p:nvPr/>
        </p:nvSpPr>
        <p:spPr>
          <a:xfrm>
            <a:off x="5500000" y="3975000"/>
            <a:ext cx="8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2</a:t>
            </a:r>
          </a:p>
        </p:txBody>
      </p:sp>
      <p:sp>
        <p:nvSpPr>
          <p:cNvPr id="337" name="tb"/>
          <p:cNvSpPr txBox="1"/>
          <p:nvPr/>
        </p:nvSpPr>
        <p:spPr>
          <a:xfrm>
            <a:off x="6400000" y="3975000"/>
            <a:ext cx="9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1</a:t>
            </a:r>
          </a:p>
        </p:txBody>
      </p:sp>
      <p:sp>
        <p:nvSpPr>
          <p:cNvPr id="338" name="tb"/>
          <p:cNvSpPr txBox="1"/>
          <p:nvPr/>
        </p:nvSpPr>
        <p:spPr>
          <a:xfrm>
            <a:off x="7440000" y="3975000"/>
            <a:ext cx="13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19</a:t>
            </a:r>
          </a:p>
        </p:txBody>
      </p:sp>
      <p:sp>
        <p:nvSpPr>
          <p:cNvPr id="339" name="tb"/>
          <p:cNvSpPr txBox="1"/>
          <p:nvPr/>
        </p:nvSpPr>
        <p:spPr>
          <a:xfrm>
            <a:off x="658368" y="4240000"/>
            <a:ext cx="22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Producto Seguros y Asistencias</a:t>
            </a:r>
          </a:p>
        </p:txBody>
      </p:sp>
      <p:sp>
        <p:nvSpPr>
          <p:cNvPr id="340" name="tb"/>
          <p:cNvSpPr txBox="1"/>
          <p:nvPr/>
        </p:nvSpPr>
        <p:spPr>
          <a:xfrm>
            <a:off x="2960000" y="4240000"/>
            <a:ext cx="24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Veronica Sanchez Giraldo</a:t>
            </a:r>
          </a:p>
        </p:txBody>
      </p:sp>
      <p:sp>
        <p:nvSpPr>
          <p:cNvPr id="341" name="tb"/>
          <p:cNvSpPr txBox="1"/>
          <p:nvPr/>
        </p:nvSpPr>
        <p:spPr>
          <a:xfrm>
            <a:off x="5500000" y="4240000"/>
            <a:ext cx="8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3</a:t>
            </a:r>
          </a:p>
        </p:txBody>
      </p:sp>
      <p:sp>
        <p:nvSpPr>
          <p:cNvPr id="342" name="tb"/>
          <p:cNvSpPr txBox="1"/>
          <p:nvPr/>
        </p:nvSpPr>
        <p:spPr>
          <a:xfrm>
            <a:off x="6400000" y="4240000"/>
            <a:ext cx="9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2</a:t>
            </a:r>
          </a:p>
        </p:txBody>
      </p:sp>
      <p:sp>
        <p:nvSpPr>
          <p:cNvPr id="343" name="tb"/>
          <p:cNvSpPr txBox="1"/>
          <p:nvPr/>
        </p:nvSpPr>
        <p:spPr>
          <a:xfrm>
            <a:off x="7440000" y="4240000"/>
            <a:ext cx="13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38</a:t>
            </a:r>
          </a:p>
        </p:txBody>
      </p:sp>
      <p:sp>
        <p:nvSpPr>
          <p:cNvPr id="344" name="tb"/>
          <p:cNvSpPr txBox="1"/>
          <p:nvPr/>
        </p:nvSpPr>
        <p:spPr>
          <a:xfrm>
            <a:off x="658368" y="4505000"/>
            <a:ext cx="22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Remesas</a:t>
            </a:r>
          </a:p>
        </p:txBody>
      </p:sp>
      <p:sp>
        <p:nvSpPr>
          <p:cNvPr id="345" name="tb"/>
          <p:cNvSpPr txBox="1"/>
          <p:nvPr/>
        </p:nvSpPr>
        <p:spPr>
          <a:xfrm>
            <a:off x="2960000" y="4505000"/>
            <a:ext cx="24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PO por validar</a:t>
            </a:r>
          </a:p>
        </p:txBody>
      </p:sp>
      <p:sp>
        <p:nvSpPr>
          <p:cNvPr id="346" name="tb"/>
          <p:cNvSpPr txBox="1"/>
          <p:nvPr/>
        </p:nvSpPr>
        <p:spPr>
          <a:xfrm>
            <a:off x="5500000" y="4505000"/>
            <a:ext cx="8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0</a:t>
            </a:r>
          </a:p>
        </p:txBody>
      </p:sp>
      <p:sp>
        <p:nvSpPr>
          <p:cNvPr id="347" name="tb"/>
          <p:cNvSpPr txBox="1"/>
          <p:nvPr/>
        </p:nvSpPr>
        <p:spPr>
          <a:xfrm>
            <a:off x="6400000" y="4505000"/>
            <a:ext cx="9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1</a:t>
            </a:r>
          </a:p>
        </p:txBody>
      </p:sp>
      <p:sp>
        <p:nvSpPr>
          <p:cNvPr id="348" name="tb"/>
          <p:cNvSpPr txBox="1"/>
          <p:nvPr/>
        </p:nvSpPr>
        <p:spPr>
          <a:xfrm>
            <a:off x="7440000" y="4505000"/>
            <a:ext cx="13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19</a:t>
            </a:r>
          </a:p>
        </p:txBody>
      </p:sp>
      <p:sp>
        <p:nvSpPr>
          <p:cNvPr id="349" name="tb"/>
          <p:cNvSpPr txBox="1"/>
          <p:nvPr/>
        </p:nvSpPr>
        <p:spPr>
          <a:xfrm>
            <a:off x="658368" y="4770000"/>
            <a:ext cx="22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Rotativo-Evolución</a:t>
            </a:r>
          </a:p>
        </p:txBody>
      </p:sp>
      <p:sp>
        <p:nvSpPr>
          <p:cNvPr id="350" name="tb"/>
          <p:cNvSpPr txBox="1"/>
          <p:nvPr/>
        </p:nvSpPr>
        <p:spPr>
          <a:xfrm>
            <a:off x="2960000" y="4770000"/>
            <a:ext cx="24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Eliana Maria Bermudez Lopez</a:t>
            </a:r>
          </a:p>
        </p:txBody>
      </p:sp>
      <p:sp>
        <p:nvSpPr>
          <p:cNvPr id="351" name="tb"/>
          <p:cNvSpPr txBox="1"/>
          <p:nvPr/>
        </p:nvSpPr>
        <p:spPr>
          <a:xfrm>
            <a:off x="5500000" y="4770000"/>
            <a:ext cx="8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4</a:t>
            </a:r>
          </a:p>
        </p:txBody>
      </p:sp>
      <p:sp>
        <p:nvSpPr>
          <p:cNvPr id="352" name="tb"/>
          <p:cNvSpPr txBox="1"/>
          <p:nvPr/>
        </p:nvSpPr>
        <p:spPr>
          <a:xfrm>
            <a:off x="6400000" y="4770000"/>
            <a:ext cx="9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1</a:t>
            </a:r>
          </a:p>
        </p:txBody>
      </p:sp>
      <p:sp>
        <p:nvSpPr>
          <p:cNvPr id="353" name="tb"/>
          <p:cNvSpPr txBox="1"/>
          <p:nvPr/>
        </p:nvSpPr>
        <p:spPr>
          <a:xfrm>
            <a:off x="7440000" y="4770000"/>
            <a:ext cx="13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19</a:t>
            </a:r>
          </a:p>
        </p:txBody>
      </p:sp>
      <p:sp>
        <p:nvSpPr>
          <p:cNvPr id="354" name="tb"/>
          <p:cNvSpPr txBox="1"/>
          <p:nvPr/>
        </p:nvSpPr>
        <p:spPr>
          <a:xfrm>
            <a:off x="658368" y="5035000"/>
            <a:ext cx="22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Rotativo-Mantenimiento</a:t>
            </a:r>
          </a:p>
        </p:txBody>
      </p:sp>
      <p:sp>
        <p:nvSpPr>
          <p:cNvPr id="355" name="tb"/>
          <p:cNvSpPr txBox="1"/>
          <p:nvPr/>
        </p:nvSpPr>
        <p:spPr>
          <a:xfrm>
            <a:off x="2960000" y="5035000"/>
            <a:ext cx="24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Victoria Eugenia Valencia Jaramillo</a:t>
            </a:r>
          </a:p>
        </p:txBody>
      </p:sp>
      <p:sp>
        <p:nvSpPr>
          <p:cNvPr id="356" name="tb"/>
          <p:cNvSpPr txBox="1"/>
          <p:nvPr/>
        </p:nvSpPr>
        <p:spPr>
          <a:xfrm>
            <a:off x="5500000" y="5035000"/>
            <a:ext cx="8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2</a:t>
            </a:r>
          </a:p>
        </p:txBody>
      </p:sp>
      <p:sp>
        <p:nvSpPr>
          <p:cNvPr id="357" name="tb"/>
          <p:cNvSpPr txBox="1"/>
          <p:nvPr/>
        </p:nvSpPr>
        <p:spPr>
          <a:xfrm>
            <a:off x="6400000" y="5035000"/>
            <a:ext cx="9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2</a:t>
            </a:r>
          </a:p>
        </p:txBody>
      </p:sp>
      <p:sp>
        <p:nvSpPr>
          <p:cNvPr id="358" name="tb"/>
          <p:cNvSpPr txBox="1"/>
          <p:nvPr/>
        </p:nvSpPr>
        <p:spPr>
          <a:xfrm>
            <a:off x="7440000" y="5035000"/>
            <a:ext cx="13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38</a:t>
            </a:r>
          </a:p>
        </p:txBody>
      </p:sp>
      <p:sp>
        <p:nvSpPr>
          <p:cNvPr id="359" name="tb"/>
          <p:cNvSpPr txBox="1"/>
          <p:nvPr/>
        </p:nvSpPr>
        <p:spPr>
          <a:xfrm>
            <a:off x="658368" y="5300000"/>
            <a:ext cx="22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Validación de Identidad</a:t>
            </a:r>
          </a:p>
        </p:txBody>
      </p:sp>
      <p:sp>
        <p:nvSpPr>
          <p:cNvPr id="360" name="tb"/>
          <p:cNvSpPr txBox="1"/>
          <p:nvPr/>
        </p:nvSpPr>
        <p:spPr>
          <a:xfrm>
            <a:off x="2960000" y="5300000"/>
            <a:ext cx="24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Diego Giraldo Marquez</a:t>
            </a:r>
          </a:p>
        </p:txBody>
      </p:sp>
      <p:sp>
        <p:nvSpPr>
          <p:cNvPr id="361" name="tb"/>
          <p:cNvSpPr txBox="1"/>
          <p:nvPr/>
        </p:nvSpPr>
        <p:spPr>
          <a:xfrm>
            <a:off x="5500000" y="5300000"/>
            <a:ext cx="8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2</a:t>
            </a:r>
          </a:p>
        </p:txBody>
      </p:sp>
      <p:sp>
        <p:nvSpPr>
          <p:cNvPr id="362" name="tb"/>
          <p:cNvSpPr txBox="1"/>
          <p:nvPr/>
        </p:nvSpPr>
        <p:spPr>
          <a:xfrm>
            <a:off x="6400000" y="5300000"/>
            <a:ext cx="9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1</a:t>
            </a:r>
          </a:p>
        </p:txBody>
      </p:sp>
      <p:sp>
        <p:nvSpPr>
          <p:cNvPr id="363" name="tb"/>
          <p:cNvSpPr txBox="1"/>
          <p:nvPr/>
        </p:nvSpPr>
        <p:spPr>
          <a:xfrm>
            <a:off x="7440000" y="5300000"/>
            <a:ext cx="135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19</a:t>
            </a:r>
          </a:p>
        </p:txBody>
      </p:sp>
      <p:sp>
        <p:nvSpPr>
          <p:cNvPr id="364" name="sh"/>
          <p:cNvSpPr/>
          <p:nvPr/>
        </p:nvSpPr>
        <p:spPr>
          <a:xfrm>
            <a:off x="658368" y="5505000"/>
            <a:ext cx="10872216" cy="9525"/>
          </a:xfrm>
          <a:prstGeom prst="rect">
            <a:avLst/>
          </a:prstGeom>
          <a:solidFill>
            <a:srgbClr val="E3E0DE"/>
          </a:solidFill>
          <a:ln>
            <a:noFill/>
          </a:ln>
        </p:spPr>
        <p:txBody>
          <a:bodyPr lIns="0" tIns="0" rIns="0" bIns="0" anchor="ctr">
            <a:normAutofit fontScale="25000" lnSpcReduction="20000"/>
          </a:bodyPr>
          <a:lstStyle/>
          <a:p>
            <a:endParaRPr lang="es-ES"/>
          </a:p>
        </p:txBody>
      </p:sp>
      <p:sp>
        <p:nvSpPr>
          <p:cNvPr id="365" name="tb"/>
          <p:cNvSpPr txBox="1"/>
          <p:nvPr/>
        </p:nvSpPr>
        <p:spPr>
          <a:xfrm>
            <a:off x="658368" y="5605000"/>
            <a:ext cx="2200000" cy="2500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TOTAL</a:t>
            </a:r>
          </a:p>
        </p:txBody>
      </p:sp>
      <p:sp>
        <p:nvSpPr>
          <p:cNvPr id="366" name="tb"/>
          <p:cNvSpPr txBox="1"/>
          <p:nvPr/>
        </p:nvSpPr>
        <p:spPr>
          <a:xfrm>
            <a:off x="5500000" y="5605000"/>
            <a:ext cx="800000" cy="2500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19</a:t>
            </a:r>
          </a:p>
        </p:txBody>
      </p:sp>
      <p:sp>
        <p:nvSpPr>
          <p:cNvPr id="367" name="tb"/>
          <p:cNvSpPr txBox="1"/>
          <p:nvPr/>
        </p:nvSpPr>
        <p:spPr>
          <a:xfrm>
            <a:off x="6400000" y="5605000"/>
            <a:ext cx="950000" cy="2500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11</a:t>
            </a:r>
          </a:p>
        </p:txBody>
      </p:sp>
      <p:sp>
        <p:nvSpPr>
          <p:cNvPr id="368" name="tb"/>
          <p:cNvSpPr txBox="1"/>
          <p:nvPr/>
        </p:nvSpPr>
        <p:spPr>
          <a:xfrm>
            <a:off x="7440000" y="5605000"/>
            <a:ext cx="1350000" cy="2500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USD 209</a:t>
            </a:r>
          </a:p>
        </p:txBody>
      </p:sp>
      <p:sp>
        <p:nvSpPr>
          <p:cNvPr id="369" name="tb"/>
          <p:cNvSpPr txBox="1"/>
          <p:nvPr/>
        </p:nvSpPr>
        <p:spPr>
          <a:xfrm>
            <a:off x="658368" y="6272784"/>
            <a:ext cx="5486400" cy="2286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Tuya   ·   Del valor de GitHub Copilot</a:t>
            </a:r>
          </a:p>
        </p:txBody>
      </p:sp>
      <p:sp>
        <p:nvSpPr>
          <p:cNvPr id="370" name="tb"/>
          <p:cNvSpPr txBox="1"/>
          <p:nvPr/>
        </p:nvSpPr>
        <p:spPr>
          <a:xfrm>
            <a:off x="10433304" y="6272784"/>
            <a:ext cx="1097280" cy="228600"/>
          </a:xfrm>
          <a:prstGeom prst="rect">
            <a:avLst/>
          </a:prstGeom>
          <a:noFill/>
        </p:spPr>
        <p:txBody>
          <a:bodyPr wrap="square" lIns="0" tIns="0" rIns="0" bIns="0" anchor="t">
            <a:normAutofit/>
          </a:bodyPr>
          <a:lstStyle/>
          <a:p>
            <a:pPr algn="r">
              <a:lnSpc>
                <a:spcPct val="100000"/>
              </a:lnSpc>
              <a:spcBef>
                <a:spcPts val="0"/>
              </a:spcBef>
            </a:pPr>
            <a:r>
              <a:rPr lang="es-ES" sz="900" b="1" i="0">
                <a:solidFill>
                  <a:srgbClr val="ED1C29"/>
                </a:solidFill>
              </a:rPr>
              <a:t>05</a:t>
            </a:r>
          </a:p>
        </p:txBody>
      </p:sp>
      <p:sp>
        <p:nvSpPr>
          <p:cNvPr id="371" name="tb"/>
          <p:cNvSpPr txBox="1"/>
          <p:nvPr/>
        </p:nvSpPr>
        <p:spPr>
          <a:xfrm>
            <a:off x="658368" y="5880000"/>
            <a:ext cx="10872216" cy="390000"/>
          </a:xfrm>
          <a:prstGeom prst="rect">
            <a:avLst/>
          </a:prstGeom>
          <a:noFill/>
        </p:spPr>
        <p:txBody>
          <a:bodyPr wrap="square" lIns="0" tIns="0" rIns="0" bIns="0" anchor="t">
            <a:normAutofit/>
          </a:bodyPr>
          <a:lstStyle/>
          <a:p>
            <a:pPr algn="l">
              <a:lnSpc>
                <a:spcPct val="100000"/>
              </a:lnSpc>
              <a:spcBef>
                <a:spcPts val="0"/>
              </a:spcBef>
            </a:pPr>
            <a:r>
              <a:rPr lang="es-ES" sz="800" b="0" i="1">
                <a:solidFill>
                  <a:srgbClr val="7A7A7A"/>
                </a:solidFill>
              </a:rPr>
              <a:t>Costo estimado utilizando una tarifa de referencia de USD 19 por usuario/mes. Sujeto a validación comercial. PO de Remesas pendiente de confirmación. La provisión x3 corresponde a planificación presupuestal. El gasto efectivo dependerá del consumo real y será revisado mensualmente.</a:t>
            </a:r>
          </a:p>
        </p:txBody>
      </p:sp>
      <p:sp>
        <p:nvSpPr>
          <p:cNvPr id="400" name="tb"/>
          <p:cNvSpPr txBox="1"/>
          <p:nvPr/>
        </p:nvSpPr>
        <p:spPr>
          <a:xfrm>
            <a:off x="8870000" y="2880360"/>
            <a:ext cx="1400000" cy="219456"/>
          </a:xfrm>
          <a:prstGeom prst="rect">
            <a:avLst/>
          </a:prstGeom>
          <a:noFill/>
        </p:spPr>
        <p:txBody>
          <a:bodyPr wrap="square" lIns="0" tIns="0" rIns="0" bIns="0" anchor="t">
            <a:normAutofit/>
          </a:bodyPr>
          <a:lstStyle/>
          <a:p>
            <a:pPr algn="l">
              <a:lnSpc>
                <a:spcPct val="100000"/>
              </a:lnSpc>
              <a:spcBef>
                <a:spcPts val="0"/>
              </a:spcBef>
            </a:pPr>
            <a:r>
              <a:rPr lang="es-ES" sz="700" b="1" i="0">
                <a:solidFill>
                  <a:srgbClr val="7A7A7A"/>
                </a:solidFill>
              </a:rPr>
              <a:t>PROVISIÓN MENSUAL X3</a:t>
            </a:r>
          </a:p>
        </p:txBody>
      </p:sp>
      <p:sp>
        <p:nvSpPr>
          <p:cNvPr id="401" name="tb"/>
          <p:cNvSpPr txBox="1"/>
          <p:nvPr/>
        </p:nvSpPr>
        <p:spPr>
          <a:xfrm>
            <a:off x="10350000" y="2880360"/>
            <a:ext cx="1180584" cy="219456"/>
          </a:xfrm>
          <a:prstGeom prst="rect">
            <a:avLst/>
          </a:prstGeom>
          <a:noFill/>
        </p:spPr>
        <p:txBody>
          <a:bodyPr wrap="square" lIns="0" tIns="0" rIns="0" bIns="0" anchor="t">
            <a:normAutofit/>
          </a:bodyPr>
          <a:lstStyle/>
          <a:p>
            <a:pPr algn="l">
              <a:lnSpc>
                <a:spcPct val="100000"/>
              </a:lnSpc>
              <a:spcBef>
                <a:spcPts val="0"/>
              </a:spcBef>
            </a:pPr>
            <a:r>
              <a:rPr lang="es-ES" sz="700" b="1" i="0">
                <a:solidFill>
                  <a:srgbClr val="7A7A7A"/>
                </a:solidFill>
              </a:rPr>
              <a:t>PROVISIÓN SEP-DIC 2026</a:t>
            </a:r>
          </a:p>
        </p:txBody>
      </p:sp>
      <p:sp>
        <p:nvSpPr>
          <p:cNvPr id="402" name="tb"/>
          <p:cNvSpPr txBox="1"/>
          <p:nvPr/>
        </p:nvSpPr>
        <p:spPr>
          <a:xfrm>
            <a:off x="8870000" y="3180000"/>
            <a:ext cx="14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57</a:t>
            </a:r>
          </a:p>
        </p:txBody>
      </p:sp>
      <p:sp>
        <p:nvSpPr>
          <p:cNvPr id="403" name="tb"/>
          <p:cNvSpPr txBox="1"/>
          <p:nvPr/>
        </p:nvSpPr>
        <p:spPr>
          <a:xfrm>
            <a:off x="10350000" y="3180000"/>
            <a:ext cx="1180584"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228</a:t>
            </a:r>
          </a:p>
        </p:txBody>
      </p:sp>
      <p:sp>
        <p:nvSpPr>
          <p:cNvPr id="404" name="tb"/>
          <p:cNvSpPr txBox="1"/>
          <p:nvPr/>
        </p:nvSpPr>
        <p:spPr>
          <a:xfrm>
            <a:off x="8870000" y="3445000"/>
            <a:ext cx="14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57</a:t>
            </a:r>
          </a:p>
        </p:txBody>
      </p:sp>
      <p:sp>
        <p:nvSpPr>
          <p:cNvPr id="405" name="tb"/>
          <p:cNvSpPr txBox="1"/>
          <p:nvPr/>
        </p:nvSpPr>
        <p:spPr>
          <a:xfrm>
            <a:off x="10350000" y="3445000"/>
            <a:ext cx="1180584"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228</a:t>
            </a:r>
          </a:p>
        </p:txBody>
      </p:sp>
      <p:sp>
        <p:nvSpPr>
          <p:cNvPr id="406" name="tb"/>
          <p:cNvSpPr txBox="1"/>
          <p:nvPr/>
        </p:nvSpPr>
        <p:spPr>
          <a:xfrm>
            <a:off x="8870000" y="3710000"/>
            <a:ext cx="14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57</a:t>
            </a:r>
          </a:p>
        </p:txBody>
      </p:sp>
      <p:sp>
        <p:nvSpPr>
          <p:cNvPr id="407" name="tb"/>
          <p:cNvSpPr txBox="1"/>
          <p:nvPr/>
        </p:nvSpPr>
        <p:spPr>
          <a:xfrm>
            <a:off x="10350000" y="3710000"/>
            <a:ext cx="1180584"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228</a:t>
            </a:r>
          </a:p>
        </p:txBody>
      </p:sp>
      <p:sp>
        <p:nvSpPr>
          <p:cNvPr id="408" name="tb"/>
          <p:cNvSpPr txBox="1"/>
          <p:nvPr/>
        </p:nvSpPr>
        <p:spPr>
          <a:xfrm>
            <a:off x="8870000" y="3975000"/>
            <a:ext cx="14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57</a:t>
            </a:r>
          </a:p>
        </p:txBody>
      </p:sp>
      <p:sp>
        <p:nvSpPr>
          <p:cNvPr id="409" name="tb"/>
          <p:cNvSpPr txBox="1"/>
          <p:nvPr/>
        </p:nvSpPr>
        <p:spPr>
          <a:xfrm>
            <a:off x="10350000" y="3975000"/>
            <a:ext cx="1180584"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228</a:t>
            </a:r>
          </a:p>
        </p:txBody>
      </p:sp>
      <p:sp>
        <p:nvSpPr>
          <p:cNvPr id="410" name="tb"/>
          <p:cNvSpPr txBox="1"/>
          <p:nvPr/>
        </p:nvSpPr>
        <p:spPr>
          <a:xfrm>
            <a:off x="8870000" y="4240000"/>
            <a:ext cx="14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114</a:t>
            </a:r>
          </a:p>
        </p:txBody>
      </p:sp>
      <p:sp>
        <p:nvSpPr>
          <p:cNvPr id="411" name="tb"/>
          <p:cNvSpPr txBox="1"/>
          <p:nvPr/>
        </p:nvSpPr>
        <p:spPr>
          <a:xfrm>
            <a:off x="10350000" y="4240000"/>
            <a:ext cx="1180584"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456</a:t>
            </a:r>
          </a:p>
        </p:txBody>
      </p:sp>
      <p:sp>
        <p:nvSpPr>
          <p:cNvPr id="412" name="tb"/>
          <p:cNvSpPr txBox="1"/>
          <p:nvPr/>
        </p:nvSpPr>
        <p:spPr>
          <a:xfrm>
            <a:off x="8870000" y="4505000"/>
            <a:ext cx="14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57</a:t>
            </a:r>
          </a:p>
        </p:txBody>
      </p:sp>
      <p:sp>
        <p:nvSpPr>
          <p:cNvPr id="413" name="tb"/>
          <p:cNvSpPr txBox="1"/>
          <p:nvPr/>
        </p:nvSpPr>
        <p:spPr>
          <a:xfrm>
            <a:off x="10350000" y="4505000"/>
            <a:ext cx="1180584"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228</a:t>
            </a:r>
          </a:p>
        </p:txBody>
      </p:sp>
      <p:sp>
        <p:nvSpPr>
          <p:cNvPr id="414" name="tb"/>
          <p:cNvSpPr txBox="1"/>
          <p:nvPr/>
        </p:nvSpPr>
        <p:spPr>
          <a:xfrm>
            <a:off x="8870000" y="4770000"/>
            <a:ext cx="14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57</a:t>
            </a:r>
          </a:p>
        </p:txBody>
      </p:sp>
      <p:sp>
        <p:nvSpPr>
          <p:cNvPr id="415" name="tb"/>
          <p:cNvSpPr txBox="1"/>
          <p:nvPr/>
        </p:nvSpPr>
        <p:spPr>
          <a:xfrm>
            <a:off x="10350000" y="4770000"/>
            <a:ext cx="1180584"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228</a:t>
            </a:r>
          </a:p>
        </p:txBody>
      </p:sp>
      <p:sp>
        <p:nvSpPr>
          <p:cNvPr id="416" name="tb"/>
          <p:cNvSpPr txBox="1"/>
          <p:nvPr/>
        </p:nvSpPr>
        <p:spPr>
          <a:xfrm>
            <a:off x="8870000" y="5035000"/>
            <a:ext cx="14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114</a:t>
            </a:r>
          </a:p>
        </p:txBody>
      </p:sp>
      <p:sp>
        <p:nvSpPr>
          <p:cNvPr id="417" name="tb"/>
          <p:cNvSpPr txBox="1"/>
          <p:nvPr/>
        </p:nvSpPr>
        <p:spPr>
          <a:xfrm>
            <a:off x="10350000" y="5035000"/>
            <a:ext cx="1180584"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456</a:t>
            </a:r>
          </a:p>
        </p:txBody>
      </p:sp>
      <p:sp>
        <p:nvSpPr>
          <p:cNvPr id="418" name="tb"/>
          <p:cNvSpPr txBox="1"/>
          <p:nvPr/>
        </p:nvSpPr>
        <p:spPr>
          <a:xfrm>
            <a:off x="8870000" y="5300000"/>
            <a:ext cx="1400000"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57</a:t>
            </a:r>
          </a:p>
        </p:txBody>
      </p:sp>
      <p:sp>
        <p:nvSpPr>
          <p:cNvPr id="419" name="tb"/>
          <p:cNvSpPr txBox="1"/>
          <p:nvPr/>
        </p:nvSpPr>
        <p:spPr>
          <a:xfrm>
            <a:off x="10350000" y="5300000"/>
            <a:ext cx="1180584" cy="250000"/>
          </a:xfrm>
          <a:prstGeom prst="rect">
            <a:avLst/>
          </a:prstGeom>
          <a:noFill/>
        </p:spPr>
        <p:txBody>
          <a:bodyPr wrap="square" lIns="0" tIns="0" rIns="0" bIns="0" anchor="t">
            <a:normAutofit/>
          </a:bodyPr>
          <a:lstStyle/>
          <a:p>
            <a:pPr algn="l">
              <a:lnSpc>
                <a:spcPct val="100000"/>
              </a:lnSpc>
              <a:spcBef>
                <a:spcPts val="0"/>
              </a:spcBef>
            </a:pPr>
            <a:r>
              <a:rPr lang="es-ES" sz="900" b="0" i="0">
                <a:solidFill>
                  <a:srgbClr val="1A1A1A"/>
                </a:solidFill>
              </a:rPr>
              <a:t>USD 228</a:t>
            </a:r>
          </a:p>
        </p:txBody>
      </p:sp>
      <p:sp>
        <p:nvSpPr>
          <p:cNvPr id="420" name="tb"/>
          <p:cNvSpPr txBox="1"/>
          <p:nvPr/>
        </p:nvSpPr>
        <p:spPr>
          <a:xfrm>
            <a:off x="8870000" y="5605000"/>
            <a:ext cx="1400000" cy="2500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USD 627</a:t>
            </a:r>
          </a:p>
        </p:txBody>
      </p:sp>
      <p:sp>
        <p:nvSpPr>
          <p:cNvPr id="421" name="tb"/>
          <p:cNvSpPr txBox="1"/>
          <p:nvPr/>
        </p:nvSpPr>
        <p:spPr>
          <a:xfrm>
            <a:off x="10350000" y="5605000"/>
            <a:ext cx="1180584" cy="250000"/>
          </a:xfrm>
          <a:prstGeom prst="rect">
            <a:avLst/>
          </a:prstGeom>
          <a:noFill/>
        </p:spPr>
        <p:txBody>
          <a:bodyPr wrap="square" lIns="0" tIns="0" rIns="0" bIns="0" anchor="t">
            <a:normAutofit/>
          </a:bodyPr>
          <a:lstStyle/>
          <a:p>
            <a:pPr algn="l">
              <a:lnSpc>
                <a:spcPct val="100000"/>
              </a:lnSpc>
              <a:spcBef>
                <a:spcPts val="0"/>
              </a:spcBef>
            </a:pPr>
            <a:r>
              <a:rPr lang="es-ES" sz="900" b="1" i="0">
                <a:solidFill>
                  <a:srgbClr val="211915"/>
                </a:solidFill>
              </a:rPr>
              <a:t>USD 2.508</a:t>
            </a:r>
          </a:p>
        </p:txBody>
      </p:sp>
    </p:spTree>
  </p:cSld>
  <p:clrMapOvr>
    <a:masterClrMapping/>
  </p:clrMapOvr>
</p:sld>
</file>

<file path=ppt/theme/theme1.xml><?xml version="1.0" encoding="utf-8"?>
<a:theme xmlns:a="http://schemas.openxmlformats.org/drawingml/2006/main" name="Office Theme">
  <a:themeElements>
    <a:clrScheme name="TUYA Colombia">
      <a:dk1>
        <a:sysClr val="windowText" lastClr="000000"/>
      </a:dk1>
      <a:lt1>
        <a:sysClr val="window" lastClr="FFFFFF"/>
      </a:lt1>
      <a:dk2>
        <a:srgbClr val="211915"/>
      </a:dk2>
      <a:lt2>
        <a:srgbClr val="F3F1F0"/>
      </a:lt2>
      <a:accent1>
        <a:srgbClr val="ED1C29"/>
      </a:accent1>
      <a:accent2>
        <a:srgbClr val="211915"/>
      </a:accent2>
      <a:accent3>
        <a:srgbClr val="7A7A7A"/>
      </a:accent3>
      <a:accent4>
        <a:srgbClr val="77C3CD"/>
      </a:accent4>
      <a:accent5>
        <a:srgbClr val="9CCB49"/>
      </a:accent5>
      <a:accent6>
        <a:srgbClr val="C9E4DC"/>
      </a:accent6>
      <a:hlink>
        <a:srgbClr val="ED1C29"/>
      </a:hlink>
      <a:folHlink>
        <a:srgbClr val="B71C2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UYA Colombia">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TUYA Colombia">
      <a:dk1>
        <a:sysClr val="windowText" lastClr="000000"/>
      </a:dk1>
      <a:lt1>
        <a:sysClr val="window" lastClr="FFFFFF"/>
      </a:lt1>
      <a:dk2>
        <a:srgbClr val="211915"/>
      </a:dk2>
      <a:lt2>
        <a:srgbClr val="F3F1F0"/>
      </a:lt2>
      <a:accent1>
        <a:srgbClr val="ED1C29"/>
      </a:accent1>
      <a:accent2>
        <a:srgbClr val="211915"/>
      </a:accent2>
      <a:accent3>
        <a:srgbClr val="7A7A7A"/>
      </a:accent3>
      <a:accent4>
        <a:srgbClr val="77C3CD"/>
      </a:accent4>
      <a:accent5>
        <a:srgbClr val="9CCB49"/>
      </a:accent5>
      <a:accent6>
        <a:srgbClr val="C9E4DC"/>
      </a:accent6>
      <a:hlink>
        <a:srgbClr val="ED1C29"/>
      </a:hlink>
      <a:folHlink>
        <a:srgbClr val="B71C2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UYA Colombia">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794</TotalTime>
  <Words>1528</Words>
  <Application>Microsoft Office PowerPoint</Application>
  <DocSecurity>0</DocSecurity>
  <PresentationFormat>Panorámica</PresentationFormat>
  <Paragraphs>219</Paragraphs>
  <Slides>5</Slides>
  <Notes>4</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5</vt:i4>
      </vt:variant>
    </vt:vector>
  </HeadingPairs>
  <TitlesOfParts>
    <vt:vector size="9" baseType="lpstr">
      <vt:lpstr>Arial</vt:lpstr>
      <vt:lpstr>Calibri</vt:lpstr>
      <vt:lpstr>Trebuchet MS</vt:lpstr>
      <vt:lpstr>Office Theme</vt:lpstr>
      <vt:lpstr>De la productividad al valor</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Ricardo Andres Leyva</cp:lastModifiedBy>
  <cp:revision>21</cp:revision>
  <dcterms:created xsi:type="dcterms:W3CDTF">2026-08-06T14:34:46Z</dcterms:created>
  <dcterms:modified xsi:type="dcterms:W3CDTF">2026-08-31T19:21:15Z</dcterms:modified>
</cp:coreProperties>
</file>