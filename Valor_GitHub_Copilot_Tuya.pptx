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7" r:id="rId4"/>
    <p:sldId id="265" r:id="rId5"/>
    <p:sldId id="268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813" autoAdjust="0"/>
  </p:normalViewPr>
  <p:slideViewPr>
    <p:cSldViewPr snapToGrid="0">
      <p:cViewPr varScale="1">
        <p:scale>
          <a:sx n="122" d="100"/>
          <a:sy n="122" d="100"/>
        </p:scale>
        <p:origin x="17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51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~1 min · Apertura</a:t>
            </a:r>
            <a:endParaRPr dirty="0"/>
          </a:p>
          <a:p>
            <a:endParaRPr dirty="0"/>
          </a:p>
          <a:p>
            <a:r>
              <a:rPr lang="es-419"/>
              <a:t>Hoy no venimos a hablar de cuantas horas ahorra GitHub Copilot, sino de que puede hacer cada equipo con la capacidad que Copilot genera.</a:t>
            </a:r>
          </a:p>
          <a:p>
            <a:endParaRPr dirty="0"/>
          </a:p>
          <a:p>
            <a:r>
              <a:rPr lang="es-419"/>
              <a:t>La pregunta que guia la sesion: como convertimos capacidad tecnica en resultados medibles para 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~2 min · Lo que Copilot ya demostró en la PoC</a:t>
            </a:r>
          </a:p>
          <a:p>
            <a:endParaRPr/>
          </a:p>
          <a:p>
            <a:r>
              <a:rPr lang="es-MX"/>
              <a:t>La prueba de concepto de migración conserva sus resultados: estimación de 50 horas sin Copilot, ejecución de 2 horas y 18 minutos con Copilot y reducción estimada del esfuerzo de 95,4 %. Son cinco casos medidos, entre 15 y 35 minutos por migración, desde .NET Core 3.1 a .NET 8 hacia .NET 10.</a:t>
            </a:r>
          </a:p>
          <a:p>
            <a:endParaRPr lang="es-MX"/>
          </a:p>
          <a:p>
            <a:r>
              <a:rPr lang="es-MX"/>
              <a:t>La comparación usa juicio experto y no una ejecución manual paralela. Por eso es evidencia de capacidad técnica, no una línea base definitiva, ROI, ahorro financiero ni una promesa para todos los equipos.</a:t>
            </a:r>
          </a:p>
          <a:p>
            <a:endParaRPr/>
          </a:p>
          <a:p>
            <a:r>
              <a:rPr lang="es-MX"/>
              <a:t>El caso interno de desarrollo desde cero también se mantiene separado. El desarrollador reportó realizar en aproximadamente 3 horas una actividad estimada en 2 días y estimó que cerca del 85 % del trabajo se realizó con apoyo de IA. El 85 % no es reducción de tiempo y el caso no es una prueba controlada. Conversión a horas pendiente de validación.</a:t>
            </a:r>
          </a:p>
          <a:p>
            <a:endParaRPr lang="es-MX"/>
          </a:p>
          <a:p>
            <a:r>
              <a:rPr lang="es-MX"/>
              <a:t>La línea base y el resultado real deben salir del piloto con casos de los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~2 min · De capacidad técnica a valor</a:t>
            </a:r>
          </a:p>
          <a:p>
            <a:endParaRPr lang="es-MX"/>
          </a:p>
          <a:p>
            <a:r>
              <a:rPr lang="es-MX"/>
              <a:t>Copilot genera capacidad, pero la capacidad liberada no representa automáticamente ahorro.</a:t>
            </a:r>
          </a:p>
          <a:p>
            <a:endParaRPr lang="es-MX"/>
          </a:p>
          <a:p>
            <a:r>
              <a:rPr lang="es-MX"/>
              <a:t>El valor puede materializarse mediante “Lo mismo con menos” o “Valor antes”. Estas son hipótesis de uso de capacidad, no resultados confirmados.</a:t>
            </a:r>
          </a:p>
          <a:p>
            <a:endParaRPr lang="es-MX"/>
          </a:p>
          <a:p>
            <a:r>
              <a:rPr lang="es-MX"/>
              <a:t>Las pruebas de concepto y los casos internos muestran capacidad técnica. El piloto debe construir la línea base y medir el resultado real en cada equipo.</a:t>
            </a:r>
          </a:p>
          <a:p>
            <a:endParaRPr lang="es-MX"/>
          </a:p>
          <a:p>
            <a:r>
              <a:rPr lang="es-MX"/>
              <a:t>Como expectativa de trabajo se busca validar mejoras aproximadas de 30 % a 50 % en los tiempos. No es un compromiso: dependerá de la adopción, el tipo de iniciativa, la tecnología y las condiciones de cada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~2 min · Participantes y equipos del piloto</a:t>
            </a:r>
          </a:p>
          <a:p>
            <a:endParaRPr lang="es-MX"/>
          </a:p>
          <a:p>
            <a:r>
              <a:rPr lang="es-MX"/>
              <a:t>Tecnología inicia el piloto con las licencias que ya tiene disponibles. No se solicita presupuesto a negocio para iniciar el piloto.</a:t>
            </a:r>
          </a:p>
          <a:p>
            <a:endParaRPr lang="es-MX"/>
          </a:p>
          <a:p>
            <a:r>
              <a:rPr lang="es-MX"/>
              <a:t>La presentación conserva únicamente la información disponible de células y Product Owners. Los nombres de las personas seleccionadas, la asignación de Líder Técnico por equipo, el perfil Developer o QA y la tecnología deben confirmarse antes del arranque.</a:t>
            </a:r>
          </a:p>
          <a:p>
            <a:endParaRPr lang="es-MX"/>
          </a:p>
          <a:p>
            <a:r>
              <a:rPr lang="es-MX"/>
              <a:t>Los Líderes Técnicos registrados en el consolidado son Aleyda Maria Hincapie Alvarez, Beatriz Elena Cano Gonzalez y Cesar Augusto Herrera Quiroz. La fuente no permite asociarlos con personas y células sin hacer supuestos.</a:t>
            </a:r>
          </a:p>
          <a:p>
            <a:endParaRPr lang="es-MX"/>
          </a:p>
          <a:p>
            <a:r>
              <a:rPr lang="es-MX"/>
              <a:t>Referencia de costo: USD 19 por usuario/mes. Las licencias utilizadas en esta etapa son cubiertas actualmente por Tecnología.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~3 min ·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necesitamos</a:t>
            </a:r>
            <a:r>
              <a:rPr dirty="0"/>
              <a:t>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el </a:t>
            </a:r>
            <a:r>
              <a:rPr dirty="0" err="1"/>
              <a:t>piloto</a:t>
            </a:r>
            <a:endParaRPr dirty="0"/>
          </a:p>
          <a:p>
            <a:endParaRPr dirty="0"/>
          </a:p>
          <a:p>
            <a:r>
              <a:rPr dirty="0"/>
              <a:t>El </a:t>
            </a:r>
            <a:r>
              <a:rPr dirty="0" err="1"/>
              <a:t>objetivo</a:t>
            </a:r>
            <a:r>
              <a:rPr dirty="0"/>
              <a:t> es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objetiva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adopción</a:t>
            </a:r>
            <a:r>
              <a:rPr dirty="0"/>
              <a:t> y </a:t>
            </a:r>
            <a:r>
              <a:rPr dirty="0" err="1"/>
              <a:t>escalamiento</a:t>
            </a:r>
            <a:r>
              <a:rPr dirty="0"/>
              <a:t>. La </a:t>
            </a:r>
            <a:r>
              <a:rPr dirty="0" err="1"/>
              <a:t>línea</a:t>
            </a:r>
            <a:r>
              <a:rPr dirty="0"/>
              <a:t> base y el </a:t>
            </a:r>
            <a:r>
              <a:rPr dirty="0" err="1"/>
              <a:t>resultado</a:t>
            </a:r>
            <a:r>
              <a:rPr dirty="0"/>
              <a:t> real </a:t>
            </a:r>
            <a:r>
              <a:rPr dirty="0" err="1"/>
              <a:t>salen</a:t>
            </a:r>
            <a:r>
              <a:rPr dirty="0"/>
              <a:t> de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piloto</a:t>
            </a:r>
            <a:r>
              <a:rPr dirty="0"/>
              <a:t>, no de </a:t>
            </a:r>
            <a:r>
              <a:rPr dirty="0" err="1"/>
              <a:t>extrapolar</a:t>
            </a:r>
            <a:r>
              <a:rPr dirty="0"/>
              <a:t> la PoC.</a:t>
            </a:r>
          </a:p>
          <a:p>
            <a:endParaRPr dirty="0"/>
          </a:p>
          <a:p>
            <a:r>
              <a:rPr dirty="0"/>
              <a:t>En </a:t>
            </a:r>
            <a:r>
              <a:rPr dirty="0" err="1"/>
              <a:t>tiempo</a:t>
            </a:r>
            <a:r>
              <a:rPr dirty="0"/>
              <a:t>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registra</a:t>
            </a:r>
            <a:r>
              <a:rPr dirty="0"/>
              <a:t> la </a:t>
            </a:r>
            <a:r>
              <a:rPr dirty="0" err="1"/>
              <a:t>estimación</a:t>
            </a:r>
            <a:r>
              <a:rPr dirty="0"/>
              <a:t> sin Copilot y el </a:t>
            </a:r>
            <a:r>
              <a:rPr dirty="0" err="1"/>
              <a:t>tiempo</a:t>
            </a:r>
            <a:r>
              <a:rPr dirty="0"/>
              <a:t> real con Copilot, ambos </a:t>
            </a:r>
            <a:r>
              <a:rPr dirty="0" err="1"/>
              <a:t>en</a:t>
            </a:r>
            <a:r>
              <a:rPr dirty="0"/>
              <a:t> horas, para </a:t>
            </a:r>
            <a:r>
              <a:rPr dirty="0" err="1"/>
              <a:t>calcular</a:t>
            </a:r>
            <a:r>
              <a:rPr dirty="0"/>
              <a:t> la </a:t>
            </a:r>
            <a:r>
              <a:rPr dirty="0" err="1"/>
              <a:t>reducción</a:t>
            </a:r>
            <a:r>
              <a:rPr dirty="0"/>
              <a:t> </a:t>
            </a:r>
            <a:r>
              <a:rPr dirty="0" err="1"/>
              <a:t>observada</a:t>
            </a:r>
            <a:r>
              <a:rPr dirty="0"/>
              <a:t>. En time to market se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 </a:t>
            </a:r>
            <a:r>
              <a:rPr dirty="0" err="1"/>
              <a:t>terminó</a:t>
            </a:r>
            <a:r>
              <a:rPr dirty="0"/>
              <a:t> antes y </a:t>
            </a:r>
            <a:r>
              <a:rPr dirty="0" err="1"/>
              <a:t>cuánto</a:t>
            </a:r>
            <a:r>
              <a:rPr dirty="0"/>
              <a:t> se </a:t>
            </a:r>
            <a:r>
              <a:rPr dirty="0" err="1"/>
              <a:t>adelantó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el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efectivo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participante</a:t>
            </a:r>
            <a:r>
              <a:rPr dirty="0"/>
              <a:t>, </a:t>
            </a:r>
            <a:r>
              <a:rPr lang="es-419" dirty="0"/>
              <a:t>la </a:t>
            </a:r>
            <a:r>
              <a:rPr dirty="0" err="1"/>
              <a:t>frecuencia</a:t>
            </a:r>
            <a:r>
              <a:rPr dirty="0"/>
              <a:t> y </a:t>
            </a:r>
            <a:r>
              <a:rPr lang="es-419" dirty="0"/>
              <a:t>los créditos consumidos</a:t>
            </a:r>
            <a:r>
              <a:rPr dirty="0"/>
              <a:t>. El </a:t>
            </a:r>
            <a:r>
              <a:rPr lang="es-MX" dirty="0"/>
              <a:t>piloto relaciona ese consumo con </a:t>
            </a:r>
            <a:r>
              <a:rPr dirty="0"/>
              <a:t>el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liberado</a:t>
            </a:r>
            <a:r>
              <a:rPr lang="es-MX" dirty="0"/>
              <a:t> y el entregable o resultado obtenido. Mayor consumo no implica mayor valor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También se documenta el </a:t>
            </a:r>
            <a:r>
              <a:rPr dirty="0" err="1"/>
              <a:t>contexto</a:t>
            </a:r>
            <a:r>
              <a:rPr dirty="0"/>
              <a:t>: </a:t>
            </a:r>
            <a:r>
              <a:rPr dirty="0" err="1"/>
              <a:t>célula</a:t>
            </a:r>
            <a:r>
              <a:rPr dirty="0"/>
              <a:t>, </a:t>
            </a:r>
            <a:r>
              <a:rPr dirty="0" err="1"/>
              <a:t>iniciativa</a:t>
            </a:r>
            <a:r>
              <a:rPr dirty="0"/>
              <a:t>, </a:t>
            </a:r>
            <a:r>
              <a:rPr dirty="0" err="1"/>
              <a:t>tecnología</a:t>
            </a:r>
            <a:r>
              <a:rPr dirty="0"/>
              <a:t>, </a:t>
            </a:r>
            <a:r>
              <a:rPr dirty="0" err="1"/>
              <a:t>perfil</a:t>
            </a:r>
            <a:r>
              <a:rPr dirty="0"/>
              <a:t> y </a:t>
            </a:r>
            <a:r>
              <a:rPr dirty="0" err="1"/>
              <a:t>factores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, </a:t>
            </a:r>
            <a:r>
              <a:rPr dirty="0" err="1"/>
              <a:t>infraestructura</a:t>
            </a:r>
            <a:r>
              <a:rPr dirty="0"/>
              <a:t>, </a:t>
            </a:r>
            <a:r>
              <a:rPr dirty="0" err="1"/>
              <a:t>seguridad</a:t>
            </a:r>
            <a:r>
              <a:rPr dirty="0"/>
              <a:t>, </a:t>
            </a:r>
            <a:r>
              <a:rPr dirty="0" err="1"/>
              <a:t>aprovisionamiento</a:t>
            </a:r>
            <a:r>
              <a:rPr dirty="0"/>
              <a:t> o </a:t>
            </a:r>
            <a:r>
              <a:rPr dirty="0" err="1"/>
              <a:t>dependencias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Equipo y el </a:t>
            </a:r>
            <a:r>
              <a:rPr dirty="0" err="1"/>
              <a:t>Líder</a:t>
            </a:r>
            <a:r>
              <a:rPr dirty="0"/>
              <a:t> Técnico </a:t>
            </a:r>
            <a:r>
              <a:rPr dirty="0" err="1"/>
              <a:t>registran</a:t>
            </a:r>
            <a:r>
              <a:rPr dirty="0"/>
              <a:t> </a:t>
            </a:r>
            <a:r>
              <a:rPr dirty="0" err="1"/>
              <a:t>ejecución</a:t>
            </a:r>
            <a:r>
              <a:rPr dirty="0"/>
              <a:t> y </a:t>
            </a:r>
            <a:r>
              <a:rPr dirty="0" err="1"/>
              <a:t>tiempos</a:t>
            </a:r>
            <a:r>
              <a:rPr dirty="0"/>
              <a:t> reales. El Product Owner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de </a:t>
            </a:r>
            <a:r>
              <a:rPr dirty="0" err="1"/>
              <a:t>referencia</a:t>
            </a:r>
            <a:r>
              <a:rPr dirty="0"/>
              <a:t>, </a:t>
            </a:r>
            <a:r>
              <a:rPr dirty="0" err="1"/>
              <a:t>prioridad</a:t>
            </a:r>
            <a:r>
              <a:rPr dirty="0"/>
              <a:t> y </a:t>
            </a:r>
            <a:r>
              <a:rPr dirty="0" err="1"/>
              <a:t>resultado</a:t>
            </a:r>
            <a:r>
              <a:rPr dirty="0"/>
              <a:t>. </a:t>
            </a:r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seguimiento</a:t>
            </a:r>
            <a:r>
              <a:rPr dirty="0"/>
              <a:t> a </a:t>
            </a:r>
            <a:r>
              <a:rPr dirty="0" err="1"/>
              <a:t>adopción</a:t>
            </a:r>
            <a:r>
              <a:rPr dirty="0"/>
              <a:t>, </a:t>
            </a:r>
            <a:r>
              <a:rPr lang="es-419" dirty="0"/>
              <a:t>utilización</a:t>
            </a:r>
            <a:r>
              <a:rPr dirty="0"/>
              <a:t>, </a:t>
            </a:r>
            <a:r>
              <a:rPr lang="es-419" dirty="0"/>
              <a:t>créditos consumidos </a:t>
            </a:r>
            <a:r>
              <a:rPr dirty="0"/>
              <a:t>y </a:t>
            </a:r>
            <a:r>
              <a:rPr lang="es-419" dirty="0"/>
              <a:t>consolidación de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Tecnología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medir</a:t>
            </a:r>
            <a:r>
              <a:rPr dirty="0"/>
              <a:t> sola el valor de </a:t>
            </a:r>
            <a:r>
              <a:rPr dirty="0" err="1"/>
              <a:t>negocio</a:t>
            </a:r>
            <a:r>
              <a:rPr dirty="0"/>
              <a:t>. El Product Owner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participar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validación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 </a:t>
            </a:r>
            <a:r>
              <a:rPr dirty="0" err="1"/>
              <a:t>expectativa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es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aproximadas</a:t>
            </a:r>
            <a:r>
              <a:rPr dirty="0"/>
              <a:t> de 30 % a 50 %, no </a:t>
            </a:r>
            <a:r>
              <a:rPr dirty="0" err="1"/>
              <a:t>prometerlas</a:t>
            </a:r>
            <a:r>
              <a:rPr dirty="0"/>
              <a:t>. El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dependerá</a:t>
            </a:r>
            <a:r>
              <a:rPr dirty="0"/>
              <a:t> de la </a:t>
            </a:r>
            <a:r>
              <a:rPr dirty="0" err="1"/>
              <a:t>adopción</a:t>
            </a:r>
            <a:r>
              <a:rPr dirty="0"/>
              <a:t>, el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iniciativa</a:t>
            </a:r>
            <a:r>
              <a:rPr dirty="0"/>
              <a:t>, la </a:t>
            </a:r>
            <a:r>
              <a:rPr dirty="0" err="1"/>
              <a:t>tecnología</a:t>
            </a:r>
            <a:r>
              <a:rPr dirty="0"/>
              <a:t> y las </a:t>
            </a:r>
            <a:r>
              <a:rPr dirty="0" err="1"/>
              <a:t>condiciones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7EB1B0-9209-4743-A5FD-8504D5188A2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658368"/>
            <a:ext cx="10789920" cy="822960"/>
          </a:xfrm>
          <a:prstGeom prst="rect">
            <a:avLst/>
          </a:prstGeom>
          <a:noFill/>
        </p:spPr>
        <p:txBody>
          <a:bodyPr wrap="square"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119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A7C326-F063-4B6C-AAAF-5C8667C1C18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680960" cy="1737360"/>
          </a:xfrm>
          <a:prstGeom prst="rect">
            <a:avLst/>
          </a:prstGeom>
          <a:noFill/>
        </p:spPr>
        <p:txBody>
          <a:bodyPr wrap="square"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4A7FF53-E78D-4830-9BA8-B8E75FBE78D3}"/>
              </a:ext>
            </a:extLst>
          </p:cNvPr>
          <p:cNvSpPr>
            <a:spLocks noGrp="1"/>
          </p:cNvSpPr>
          <p:nvPr/>
        </p:nvSpPr>
        <p:spPr>
          <a:xfrm>
            <a:off x="822960" y="184708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TECNOLOGÍA Y NEGOCIO  ·  2026</a:t>
            </a:r>
            <a:endParaRPr sz="1250" b="1">
              <a:solidFill>
                <a:srgbClr val="FFFF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D9BD458-659F-4214-9D81-FF6E9AA3F41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680960" cy="1737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 la productividad</a:t>
            </a:r>
          </a:p>
          <a:p>
            <a:pPr marL="0" indent="0" algn="l">
              <a:buNone/>
            </a:pPr>
            <a:r>
              <a:rPr lang="en-US"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al valor</a:t>
            </a:r>
            <a:endParaRPr sz="3100" b="1">
              <a:solidFill>
                <a:srgbClr val="FFFF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6" name="accent">
            <a:extLst>
              <a:ext uri="{FF2B5EF4-FFF2-40B4-BE49-F238E27FC236}">
                <a16:creationId xmlns:a16="http://schemas.microsoft.com/office/drawing/2014/main" id="{0734481B-9832-426D-830A-FBB69D420518}"/>
              </a:ext>
            </a:extLst>
          </p:cNvPr>
          <p:cNvSpPr>
            <a:spLocks noGrp="1"/>
          </p:cNvSpPr>
          <p:nvPr/>
        </p:nvSpPr>
        <p:spPr>
          <a:xfrm>
            <a:off x="822960" y="4224528"/>
            <a:ext cx="1051560" cy="5486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8C9822-7C11-461A-B4C7-8C0A464B37B4}"/>
              </a:ext>
            </a:extLst>
          </p:cNvPr>
          <p:cNvSpPr>
            <a:spLocks noGrp="1"/>
          </p:cNvSpPr>
          <p:nvPr/>
        </p:nvSpPr>
        <p:spPr>
          <a:xfrm>
            <a:off x="804672" y="440740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550">
                <a:solidFill>
                  <a:srgbClr val="E7E2DF"/>
                </a:solidFill>
                <a:latin typeface="Calibri"/>
                <a:ea typeface="Calibri"/>
                <a:cs typeface="Calibri"/>
              </a:rPr>
              <a:t>Cómo medir el impacto de GitHub Copilot</a:t>
            </a:r>
            <a:endParaRPr sz="1550">
              <a:solidFill>
                <a:srgbClr val="E7E2D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730261-8883-470D-936E-A3EE4308BDF4}"/>
              </a:ext>
            </a:extLst>
          </p:cNvPr>
          <p:cNvSpPr>
            <a:spLocks noGrp="1"/>
          </p:cNvSpPr>
          <p:nvPr/>
        </p:nvSpPr>
        <p:spPr>
          <a:xfrm>
            <a:off x="804672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Tuya      Sesión ejecutiva      Tecnología y Negocio</a:t>
            </a:r>
            <a:endParaRPr sz="12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DE7B6D-7954-4AF2-89FA-15912E1E9C50}"/>
              </a:ext>
            </a:extLst>
          </p:cNvPr>
          <p:cNvSpPr>
            <a:spLocks noGrp="1"/>
          </p:cNvSpPr>
          <p:nvPr/>
        </p:nvSpPr>
        <p:spPr>
          <a:xfrm>
            <a:off x="8778240" y="6272784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9A928C"/>
                </a:solidFill>
                <a:latin typeface="Trebuchet MS"/>
                <a:ea typeface="Trebuchet MS"/>
                <a:cs typeface="Trebuchet MS"/>
              </a:rPr>
              <a:t>Copilot  ·  Valor</a:t>
            </a:r>
            <a:endParaRPr sz="1000" b="1">
              <a:solidFill>
                <a:srgbClr val="9A928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0" name="Logo Card">
            <a:extLst>
              <a:ext uri="{FF2B5EF4-FFF2-40B4-BE49-F238E27FC236}">
                <a16:creationId xmlns:a16="http://schemas.microsoft.com/office/drawing/2014/main" id="{20EA5C85-926F-40D8-9F8F-441A18E914B8}"/>
              </a:ext>
            </a:extLst>
          </p:cNvPr>
          <p:cNvSpPr>
            <a:spLocks noGrp="1"/>
          </p:cNvSpPr>
          <p:nvPr/>
        </p:nvSpPr>
        <p:spPr>
          <a:xfrm>
            <a:off x="822960" y="470000"/>
            <a:ext cx="2438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60" y="660080"/>
            <a:ext cx="18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84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91440" tIns="45720" rIns="91440" bIns="4572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2" name="tb102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50" b="1" i="0">
                <a:solidFill>
                  <a:srgbClr val="ED1C29"/>
                </a:solidFill>
              </a:rPr>
              <a:t>EVIDENCIA INICIAL · PILOTO</a:t>
            </a:r>
          </a:p>
        </p:txBody>
      </p:sp>
      <p:sp>
        <p:nvSpPr>
          <p:cNvPr id="103" name="tb103"/>
          <p:cNvSpPr txBox="1"/>
          <p:nvPr/>
        </p:nvSpPr>
        <p:spPr>
          <a:xfrm>
            <a:off x="658368" y="713232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2800" b="1" i="0">
                <a:solidFill>
                  <a:srgbClr val="211915"/>
                </a:solidFill>
              </a:rPr>
              <a:t>Evidencia inicial: Copilot puede liberar capacidad técnica</a:t>
            </a:r>
          </a:p>
        </p:txBody>
      </p:sp>
      <p:sp>
        <p:nvSpPr>
          <p:cNvPr id="104" name="tb104"/>
          <p:cNvSpPr txBox="1"/>
          <p:nvPr/>
        </p:nvSpPr>
        <p:spPr>
          <a:xfrm>
            <a:off x="658368" y="118872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130" b="0" i="0">
                <a:solidFill>
                  <a:srgbClr val="7A7A7A"/>
                </a:solidFill>
              </a:rPr>
              <a:t>Las pruebas previas justifican el piloto, pero no definen su línea base ni su resultado esperado.</a:t>
            </a:r>
          </a:p>
        </p:txBody>
      </p:sp>
      <p:sp>
        <p:nvSpPr>
          <p:cNvPr id="105" name="tb105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106" name="tb106"/>
          <p:cNvSpPr txBox="1"/>
          <p:nvPr/>
        </p:nvSpPr>
        <p:spPr>
          <a:xfrm>
            <a:off x="10433304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02</a:t>
            </a: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901" name="Rectangle 900"/>
          <p:cNvSpPr/>
          <p:nvPr/>
        </p:nvSpPr>
        <p:spPr>
          <a:xfrm>
            <a:off x="658368" y="1527048"/>
            <a:ext cx="10881360" cy="2743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TextBox 901"/>
          <p:cNvSpPr txBox="1"/>
          <p:nvPr/>
        </p:nvSpPr>
        <p:spPr>
          <a:xfrm>
            <a:off x="658368" y="16733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ED1C29"/>
                </a:solidFill>
              </a:rPr>
              <a:t>30 % a 50 %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658368" y="2450592"/>
            <a:ext cx="333756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1915"/>
                </a:solidFill>
              </a:rPr>
              <a:t>Mejora en tiempos que buscamos validar durante el piloto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4187952" y="1709928"/>
            <a:ext cx="7086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D1C29"/>
                </a:solidFill>
              </a:rPr>
              <a:t>LECTURA PARA EL PILOTO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4187952" y="20482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PoC demuestra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potencial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4187952" y="265176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A7A7A"/>
                </a:solidFill>
              </a:rPr>
              <a:t>Evidencia de capacidad técnica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291072" y="226771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1C29"/>
                </a:solidFill>
              </a:rPr>
              <a:t>+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629400" y="20482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Piloto valida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30 % a 50 %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629400" y="265176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A7A7A"/>
                </a:solidFill>
              </a:rPr>
              <a:t>Rango conservador por comprobar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8732520" y="226771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1C29"/>
                </a:solidFill>
              </a:rPr>
              <a:t>=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9098280" y="20482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Resultado real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todavía por medir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9098280" y="265176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A7A7A"/>
                </a:solidFill>
              </a:rPr>
              <a:t>Línea base caso a caso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58368" y="3803904"/>
            <a:ext cx="10881360" cy="9144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658368" y="3904487"/>
            <a:ext cx="51663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ED1C29"/>
                </a:solidFill>
              </a:rPr>
              <a:t>CASO INTERNO · DESARROLLO DESDE CERO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658368" y="418795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1915"/>
                </a:solidFill>
              </a:rPr>
              <a:t>16 h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58368" y="4572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7A7A7A"/>
                </a:solidFill>
              </a:rPr>
              <a:t>estimadas sin Copilot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2788920" y="418795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D1C29"/>
                </a:solidFill>
              </a:rPr>
              <a:t>3 h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2788920" y="457200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7A7A7A"/>
                </a:solidFill>
              </a:rPr>
              <a:t>con GitHub Copilot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58368" y="4873752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A1A1A"/>
                </a:solidFill>
              </a:rPr>
              <a:t>~85 % del trabajo realizado con apoyo de IA, según estimación del desarrollador.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153912" y="3904487"/>
            <a:ext cx="538581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ED1C29"/>
                </a:solidFill>
              </a:rPr>
              <a:t>EVIDENCIA PREVIA DE LA PoC · MIGRACIÓN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153912" y="42062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50 h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6153912" y="4507992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A7A7A"/>
                </a:solidFill>
              </a:rPr>
              <a:t>estimadas sin Copilot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7918704" y="42062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2 h 18 min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7918704" y="4507992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A7A7A"/>
                </a:solidFill>
              </a:rPr>
              <a:t>observadas con Copilot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9784080" y="42062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95,4 %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9784080" y="4507992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A7A7A"/>
                </a:solidFill>
              </a:rPr>
              <a:t>reducción estimada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6153912" y="4828032"/>
            <a:ext cx="5385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A1A1A"/>
                </a:solidFill>
              </a:rPr>
              <a:t>Resultado observado en una PoC específica de migración. No representa la línea base ni el resultado esperado de todos los equipos.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62500" lnSpcReduction="20000"/>
          </a:bodyPr>
          <a:lstStyle/>
          <a:p>
            <a:endParaRPr lang="es-ES"/>
          </a:p>
        </p:txBody>
      </p:sp>
      <p:sp>
        <p:nvSpPr>
          <p:cNvPr id="27" name="tb27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1" i="0" spc="50">
                <a:solidFill>
                  <a:srgbClr val="ED1C29"/>
                </a:solidFill>
              </a:rPr>
              <a:t>DE CAPACIDAD TÉCNICA A VALOR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658368" y="640080"/>
            <a:ext cx="932688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3000" b="1" i="0">
                <a:solidFill>
                  <a:srgbClr val="211915"/>
                </a:solidFill>
              </a:rPr>
              <a:t>Copilot genera capacidad. El valor depende de lo que hacemos con ella.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2000" b="1" i="0">
                <a:solidFill>
                  <a:srgbClr val="ED1C29"/>
                </a:solidFill>
              </a:rPr>
              <a:t>Copilot | Capacidad liberada | Decisión de uso | Resultado de negocio</a:t>
            </a:r>
          </a:p>
        </p:txBody>
      </p:sp>
      <p:sp>
        <p:nvSpPr>
          <p:cNvPr id="40" name="rul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77440"/>
            <a:ext cx="5209017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1" name="tbA"/>
          <p:cNvSpPr txBox="1"/>
          <p:nvPr/>
        </p:nvSpPr>
        <p:spPr>
          <a:xfrm>
            <a:off x="658368" y="2697480"/>
            <a:ext cx="5209017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500" b="1" i="0">
                <a:solidFill>
                  <a:srgbClr val="211915"/>
                </a:solidFill>
              </a:rPr>
              <a:t>LO MISMO CON MENOS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7A7A7A"/>
                </a:solidFill>
              </a:rPr>
              <a:t>Mantener el mismo resultado con menor costo o menor capacidad externa.</a:t>
            </a:r>
          </a:p>
        </p:txBody>
      </p:sp>
      <p:sp>
        <p:nvSpPr>
          <p:cNvPr id="46" name="rul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585" y="2377440"/>
            <a:ext cx="5209017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7" name="tbC"/>
          <p:cNvSpPr txBox="1"/>
          <p:nvPr/>
        </p:nvSpPr>
        <p:spPr>
          <a:xfrm>
            <a:off x="6324585" y="2697480"/>
            <a:ext cx="5209017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500" b="1" i="0">
                <a:solidFill>
                  <a:srgbClr val="211915"/>
                </a:solidFill>
              </a:rPr>
              <a:t>VALOR ANTES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7A7A7A"/>
                </a:solidFill>
              </a:rPr>
              <a:t>Una iniciativa o beneficio entra en operación antes y permite capturar valor anticipadamente.</a:t>
            </a:r>
          </a:p>
        </p:txBody>
      </p:sp>
      <p:sp>
        <p:nvSpPr>
          <p:cNvPr id="25" name="sh25"/>
          <p:cNvSpPr/>
          <p:nvPr/>
        </p:nvSpPr>
        <p:spPr>
          <a:xfrm>
            <a:off x="658368" y="4828032"/>
            <a:ext cx="10872216" cy="69494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130" b="1" i="0">
                <a:solidFill>
                  <a:srgbClr val="FFFFFF"/>
                </a:solidFill>
              </a:rPr>
              <a:t>Buscamos validar mejoras aproximadas de 30 % a 50 %, no prometerlas. Es una hipótesis que puede variar por iniciativa, tecnología, adopción y condiciones de cada equipo.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03</a:t>
            </a:r>
          </a:p>
        </p:txBody>
      </p:sp>
      <p:pic>
        <p:nvPicPr>
          <p:cNvPr id="900" name="Logo Tuya" descr="Logo corporativ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658368" y="388620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ED1C29"/>
                </a:solidFill>
              </a:rPr>
              <a:t>La capacidad liberada no implica automáticamente reducción de personas.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658368" y="418795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11915"/>
                </a:solidFill>
              </a:rPr>
              <a:t>Negocio podrá decidir si la utiliza para acelerar prioridades · reducir rezagos · hacer más con la misma capacidad · capturar valor antes · eventualmente reducir costos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91440" tIns="45720" rIns="91440" bIns="4572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2" name="tb102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50" b="1" i="0">
                <a:solidFill>
                  <a:srgbClr val="ED1C29"/>
                </a:solidFill>
              </a:rPr>
              <a:t>PARTICIPANTES DEL PILOTO</a:t>
            </a:r>
          </a:p>
        </p:txBody>
      </p:sp>
      <p:sp>
        <p:nvSpPr>
          <p:cNvPr id="103" name="tb103"/>
          <p:cNvSpPr txBox="1"/>
          <p:nvPr/>
        </p:nvSpPr>
        <p:spPr>
          <a:xfrm>
            <a:off x="658368" y="7132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800" b="1" i="0">
                <a:solidFill>
                  <a:srgbClr val="211915"/>
                </a:solidFill>
              </a:rPr>
              <a:t>Piloto · Participantes y equipos</a:t>
            </a:r>
          </a:p>
        </p:txBody>
      </p:sp>
      <p:sp>
        <p:nvSpPr>
          <p:cNvPr id="105" name="tb105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106" name="tb106"/>
          <p:cNvSpPr txBox="1"/>
          <p:nvPr/>
        </p:nvSpPr>
        <p:spPr>
          <a:xfrm>
            <a:off x="10433304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04</a:t>
            </a: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658368" y="1143000"/>
            <a:ext cx="7955279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019" b="0" i="0">
                <a:solidFill>
                  <a:srgbClr val="7A7A7A"/>
                </a:solidFill>
              </a:rPr>
              <a:t>El piloto inicia con las licencias que Tecnología ya tiene disponibles.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658368" y="1344168"/>
            <a:ext cx="7955279" cy="11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20" b="0" i="1">
                <a:solidFill>
                  <a:srgbClr val="7A7A7A"/>
                </a:solidFill>
              </a:rPr>
              <a:t>Tecnología confirmada: .NET para Fredy Andrés Movilla; AS400 para Fredy Palma; demás participantes: Por confirmar.</a:t>
            </a:r>
          </a:p>
        </p:txBody>
      </p:sp>
      <p:sp>
        <p:nvSpPr>
          <p:cNvPr id="903" name="TextBox 902"/>
          <p:cNvSpPr txBox="1">
            <a:spLocks/>
          </p:cNvSpPr>
          <p:nvPr/>
        </p:nvSpPr>
        <p:spPr>
          <a:xfrm>
            <a:off x="8686800" y="1143000"/>
            <a:ext cx="2852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1" i="0">
                <a:solidFill>
                  <a:srgbClr val="ED1C29"/>
                </a:solidFill>
              </a:rPr>
              <a:t>19 participantes · 3 Líderes TI</a:t>
            </a:r>
          </a:p>
        </p:txBody>
      </p:sp>
      <p:sp>
        <p:nvSpPr>
          <p:cNvPr id="904" name="Rectangle 903"/>
          <p:cNvSpPr>
            <a:spLocks/>
          </p:cNvSpPr>
          <p:nvPr/>
        </p:nvSpPr>
        <p:spPr>
          <a:xfrm>
            <a:off x="658368" y="1517904"/>
            <a:ext cx="10881360" cy="2743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5" name="Rectangle 904"/>
          <p:cNvSpPr>
            <a:spLocks/>
          </p:cNvSpPr>
          <p:nvPr/>
        </p:nvSpPr>
        <p:spPr>
          <a:xfrm>
            <a:off x="4553712" y="1627632"/>
            <a:ext cx="9144" cy="3794760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6" name="Rectangle 905"/>
          <p:cNvSpPr>
            <a:spLocks/>
          </p:cNvSpPr>
          <p:nvPr/>
        </p:nvSpPr>
        <p:spPr>
          <a:xfrm>
            <a:off x="8037575" y="1627632"/>
            <a:ext cx="9144" cy="3794760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7" name="TextBox 906"/>
          <p:cNvSpPr txBox="1"/>
          <p:nvPr/>
        </p:nvSpPr>
        <p:spPr>
          <a:xfrm>
            <a:off x="658368" y="1645920"/>
            <a:ext cx="3090672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20" b="1" i="0">
                <a:solidFill>
                  <a:srgbClr val="211915"/>
                </a:solidFill>
              </a:rPr>
              <a:t>Aleyda Hincapié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3803903" y="1609344"/>
            <a:ext cx="60350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200" b="1" i="0">
                <a:solidFill>
                  <a:srgbClr val="ED1C29"/>
                </a:solidFill>
              </a:rPr>
              <a:t>10</a:t>
            </a:r>
          </a:p>
        </p:txBody>
      </p:sp>
      <p:sp>
        <p:nvSpPr>
          <p:cNvPr id="909" name="Rectangle 908"/>
          <p:cNvSpPr>
            <a:spLocks/>
          </p:cNvSpPr>
          <p:nvPr/>
        </p:nvSpPr>
        <p:spPr>
          <a:xfrm>
            <a:off x="658368" y="1956816"/>
            <a:ext cx="3749039" cy="182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10" name="TextBox 909"/>
          <p:cNvSpPr txBox="1">
            <a:spLocks/>
          </p:cNvSpPr>
          <p:nvPr/>
        </p:nvSpPr>
        <p:spPr>
          <a:xfrm>
            <a:off x="658368" y="2048256"/>
            <a:ext cx="3749039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70" b="1" i="0">
                <a:solidFill>
                  <a:srgbClr val="ED1C29"/>
                </a:solidFill>
              </a:rPr>
              <a:t>CANALES DIGITALES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40" b="0" i="1">
                <a:solidFill>
                  <a:srgbClr val="7A7A7A"/>
                </a:solidFill>
              </a:rPr>
              <a:t>PO: Julián Esteban Hoyos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Cristian Camilo Belalcázar Dorado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José Daniel Morales Gómez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Ingeniero de Calidad y pruebas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Sebastián Londoño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58368" y="2898648"/>
            <a:ext cx="3749039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70" b="1" i="0">
                <a:solidFill>
                  <a:srgbClr val="ED1C29"/>
                </a:solidFill>
              </a:rPr>
              <a:t>CANALES ASISTIDOS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40" b="0" i="1">
                <a:solidFill>
                  <a:srgbClr val="7A7A7A"/>
                </a:solidFill>
              </a:rPr>
              <a:t>PO: Steven Echeverri Yepes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Esneider Urrego González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58368" y="3364991"/>
            <a:ext cx="3749039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70" b="1" i="0">
                <a:solidFill>
                  <a:srgbClr val="ED1C29"/>
                </a:solidFill>
              </a:rPr>
              <a:t>CANAL DE ORIGINACIÓN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40" b="0" i="1">
                <a:solidFill>
                  <a:srgbClr val="7A7A7A"/>
                </a:solidFill>
              </a:rPr>
              <a:t>PO: Juan Esteban Achury Duarte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00" b="1" i="0">
                <a:solidFill>
                  <a:srgbClr val="211915"/>
                </a:solidFill>
              </a:rPr>
              <a:t>Cristian Andrés Rojas Betancur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25" b="0" i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00" b="1" i="0">
                <a:solidFill>
                  <a:srgbClr val="211915"/>
                </a:solidFill>
              </a:rPr>
              <a:t>G. Rafael Vargas Sierra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25" b="0" i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00" b="1" i="0">
                <a:solidFill>
                  <a:srgbClr val="211915"/>
                </a:solidFill>
              </a:rPr>
              <a:t>Luisa Fernanda Ávila Carvajal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25" b="0" i="0">
                <a:solidFill>
                  <a:srgbClr val="7A7A7A"/>
                </a:solidFill>
              </a:rPr>
              <a:t>Perfil: Ingeniero de Calidad y Pruebas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58368" y="4215383"/>
            <a:ext cx="3749039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70" b="1" i="0">
                <a:solidFill>
                  <a:srgbClr val="ED1C29"/>
                </a:solidFill>
              </a:rPr>
              <a:t>VALIDACIÓN DE IDENTIDAD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40" b="0" i="1">
                <a:solidFill>
                  <a:srgbClr val="7A7A7A"/>
                </a:solidFill>
              </a:rPr>
              <a:t>PO: Diego Giraldo Marquez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Héctor Emilio Madera Mesa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Sara Castaño Montoya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Ingeniero de Calidad y pruebas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Daniel Estiven Posada Uribe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4736592" y="1645920"/>
            <a:ext cx="2468880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20" b="1" i="0">
                <a:solidFill>
                  <a:srgbClr val="211915"/>
                </a:solidFill>
              </a:rPr>
              <a:t>Beatriz Cano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260336" y="1609344"/>
            <a:ext cx="60350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200" b="1" i="0">
                <a:solidFill>
                  <a:srgbClr val="ED1C29"/>
                </a:solidFill>
              </a:rPr>
              <a:t>5</a:t>
            </a:r>
          </a:p>
        </p:txBody>
      </p:sp>
      <p:sp>
        <p:nvSpPr>
          <p:cNvPr id="916" name="Rectangle 915"/>
          <p:cNvSpPr>
            <a:spLocks/>
          </p:cNvSpPr>
          <p:nvPr/>
        </p:nvSpPr>
        <p:spPr>
          <a:xfrm>
            <a:off x="4736592" y="1956816"/>
            <a:ext cx="3127248" cy="182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17" name="TextBox 916"/>
          <p:cNvSpPr txBox="1">
            <a:spLocks/>
          </p:cNvSpPr>
          <p:nvPr/>
        </p:nvSpPr>
        <p:spPr>
          <a:xfrm>
            <a:off x="4736592" y="2048256"/>
            <a:ext cx="3127248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70" b="1" i="0">
                <a:solidFill>
                  <a:srgbClr val="ED1C29"/>
                </a:solidFill>
              </a:rPr>
              <a:t>ROTATIVO / EVOLUCIÓN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40" b="0" i="1">
                <a:solidFill>
                  <a:srgbClr val="7A7A7A"/>
                </a:solidFill>
              </a:rPr>
              <a:t>PO: Victoria Eugenia Valencia Jaramillo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Fredy Andrés Movilla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Desarrollo .NET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Leidy Marcela Velandia Soler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Ingeniero de Calidad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4736592" y="2706624"/>
            <a:ext cx="3127248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70" b="1" i="0">
                <a:solidFill>
                  <a:srgbClr val="ED1C29"/>
                </a:solidFill>
              </a:rPr>
              <a:t>PASIVOS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40" b="0" i="1">
                <a:solidFill>
                  <a:srgbClr val="7A7A7A"/>
                </a:solidFill>
              </a:rPr>
              <a:t>PO: Carolina Gómez Uzaheta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00" b="1" i="0">
                <a:solidFill>
                  <a:srgbClr val="211915"/>
                </a:solidFill>
              </a:rPr>
              <a:t>Jorge Alonso Vasco Vélez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25" b="0" i="0">
                <a:solidFill>
                  <a:srgbClr val="7A7A7A"/>
                </a:solidFill>
              </a:rPr>
              <a:t>Perfil: Desarrollo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00" b="1" i="0">
                <a:solidFill>
                  <a:srgbClr val="211915"/>
                </a:solidFill>
              </a:rPr>
              <a:t>Cristian Fayber Pinzón Capera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25" b="0" i="0">
                <a:solidFill>
                  <a:srgbClr val="7A7A7A"/>
                </a:solidFill>
              </a:rPr>
              <a:t>Perfil: Desarrollo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00" b="1" i="0">
                <a:solidFill>
                  <a:srgbClr val="211915"/>
                </a:solidFill>
              </a:rPr>
              <a:t>Carlos Andrés Ramírez Henao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625" b="0" i="0">
                <a:solidFill>
                  <a:srgbClr val="7A7A7A"/>
                </a:solidFill>
              </a:rPr>
              <a:t>Perfil: Ingeniero de Calidad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8220456" y="1645920"/>
            <a:ext cx="2660904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20" b="1" i="0">
                <a:solidFill>
                  <a:srgbClr val="211915"/>
                </a:solidFill>
              </a:rPr>
              <a:t>César Herrera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10936224" y="1609344"/>
            <a:ext cx="60350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200" b="1" i="0">
                <a:solidFill>
                  <a:srgbClr val="ED1C29"/>
                </a:solidFill>
              </a:rPr>
              <a:t>4</a:t>
            </a:r>
          </a:p>
        </p:txBody>
      </p:sp>
      <p:sp>
        <p:nvSpPr>
          <p:cNvPr id="921" name="Rectangle 920"/>
          <p:cNvSpPr>
            <a:spLocks/>
          </p:cNvSpPr>
          <p:nvPr/>
        </p:nvSpPr>
        <p:spPr>
          <a:xfrm>
            <a:off x="8220456" y="1956816"/>
            <a:ext cx="3319272" cy="182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22" name="TextBox 921"/>
          <p:cNvSpPr txBox="1"/>
          <p:nvPr/>
        </p:nvSpPr>
        <p:spPr>
          <a:xfrm>
            <a:off x="8220456" y="2048256"/>
            <a:ext cx="3319272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70" b="1" i="0">
                <a:solidFill>
                  <a:srgbClr val="ED1C29"/>
                </a:solidFill>
              </a:rPr>
              <a:t>TRANSFORMACIÓN OPERACIONES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40" b="0" i="1">
                <a:solidFill>
                  <a:srgbClr val="7A7A7A"/>
                </a:solidFill>
              </a:rPr>
              <a:t>PO: Laura Castro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Fredy Palma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 AS400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8220456" y="2514600"/>
            <a:ext cx="3319272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70" b="1" i="0">
                <a:solidFill>
                  <a:srgbClr val="ED1C29"/>
                </a:solidFill>
              </a:rPr>
              <a:t>EXTRACTOS Y CERTIFICADOS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40" b="0" i="1">
                <a:solidFill>
                  <a:srgbClr val="7A7A7A"/>
                </a:solidFill>
              </a:rPr>
              <a:t>PO: Por confirmar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Andrea Jiménez Ortega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 Back end</a:t>
            </a:r>
          </a:p>
        </p:txBody>
      </p:sp>
      <p:sp>
        <p:nvSpPr>
          <p:cNvPr id="924" name="TextBox 923"/>
          <p:cNvSpPr txBox="1">
            <a:spLocks/>
          </p:cNvSpPr>
          <p:nvPr/>
        </p:nvSpPr>
        <p:spPr>
          <a:xfrm>
            <a:off x="8220456" y="2980944"/>
            <a:ext cx="3319272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70" b="1" i="0">
                <a:solidFill>
                  <a:srgbClr val="ED1C29"/>
                </a:solidFill>
              </a:rPr>
              <a:t>SEGUROS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40" b="0" i="1">
                <a:solidFill>
                  <a:srgbClr val="7A7A7A"/>
                </a:solidFill>
              </a:rPr>
              <a:t>PO: Verónica Sánchez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Eimar Muñoz Castillo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Desarrollador Back end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00" b="1" i="0">
                <a:solidFill>
                  <a:srgbClr val="211915"/>
                </a:solidFill>
              </a:rPr>
              <a:t>Daniela Toro Pulgarín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25" b="0" i="0">
                <a:solidFill>
                  <a:srgbClr val="7A7A7A"/>
                </a:solidFill>
              </a:rPr>
              <a:t>Perfil: Automatizador de pruebas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58368" y="5687568"/>
            <a:ext cx="10881360" cy="111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60" b="0" i="1">
                <a:solidFill>
                  <a:srgbClr val="7A7A7A"/>
                </a:solidFill>
              </a:rPr>
              <a:t>Referencia de costo: USD 19 por usuario/mes. Las licencias utilizadas en esta etapa del piloto son cubiertas actualmente por Tecnología. No se solicita presupuesto a negocio para iniciar el piloto.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62500" lnSpcReduction="20000"/>
          </a:bodyPr>
          <a:lstStyle/>
          <a:p>
            <a:endParaRPr lang="es-ES"/>
          </a:p>
        </p:txBody>
      </p:sp>
      <p:sp>
        <p:nvSpPr>
          <p:cNvPr id="301" name="tb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>
                <a:solidFill>
                  <a:srgbClr val="ED1C29"/>
                </a:solidFill>
              </a:rPr>
              <a:t>EJECUCIÓN Y MEDICIÓN DEL PILOTO</a:t>
            </a:r>
          </a:p>
        </p:txBody>
      </p:sp>
      <p:sp>
        <p:nvSpPr>
          <p:cNvPr id="302" name="tb"/>
          <p:cNvSpPr txBox="1"/>
          <p:nvPr/>
        </p:nvSpPr>
        <p:spPr>
          <a:xfrm>
            <a:off x="713232" y="713232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2600" b="1" i="0">
                <a:solidFill>
                  <a:srgbClr val="211915"/>
                </a:solidFill>
              </a:rPr>
              <a:t>¿Qué necesitamos medir para saber si realmente Copilot genera valor?</a:t>
            </a: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369" name="tb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370" name="tb"/>
          <p:cNvSpPr txBox="1"/>
          <p:nvPr/>
        </p:nvSpPr>
        <p:spPr>
          <a:xfrm>
            <a:off x="10433304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05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658368" y="1152144"/>
            <a:ext cx="10881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0" i="0">
                <a:solidFill>
                  <a:srgbClr val="7A7A7A"/>
                </a:solidFill>
              </a:rPr>
              <a:t>La mejora real se calcula caso a caso. Buscamos validar aproximadamente 30 % a 50 %, sin imponerlo como resultado. Mayor consumo no implica mayor valor.</a:t>
            </a:r>
          </a:p>
        </p:txBody>
      </p:sp>
      <p:sp>
        <p:nvSpPr>
          <p:cNvPr id="902" name="Rectangle 901"/>
          <p:cNvSpPr/>
          <p:nvPr/>
        </p:nvSpPr>
        <p:spPr>
          <a:xfrm>
            <a:off x="658368" y="1536192"/>
            <a:ext cx="10881360" cy="2743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Rectangle 902"/>
          <p:cNvSpPr>
            <a:spLocks/>
          </p:cNvSpPr>
          <p:nvPr/>
        </p:nvSpPr>
        <p:spPr>
          <a:xfrm>
            <a:off x="2615184" y="1664208"/>
            <a:ext cx="9144" cy="1956815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4" name="Rectangle 903"/>
          <p:cNvSpPr>
            <a:spLocks/>
          </p:cNvSpPr>
          <p:nvPr/>
        </p:nvSpPr>
        <p:spPr>
          <a:xfrm>
            <a:off x="4727448" y="1664208"/>
            <a:ext cx="9144" cy="1956815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5" name="Rectangle 904"/>
          <p:cNvSpPr/>
          <p:nvPr/>
        </p:nvSpPr>
        <p:spPr>
          <a:xfrm>
            <a:off x="8759952" y="1664208"/>
            <a:ext cx="9144" cy="1956815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TextBox 905"/>
          <p:cNvSpPr txBox="1"/>
          <p:nvPr/>
        </p:nvSpPr>
        <p:spPr>
          <a:xfrm>
            <a:off x="658368" y="166420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ED1C29"/>
                </a:solidFill>
              </a:rPr>
              <a:t>TIEMPO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8368" y="1956816"/>
            <a:ext cx="1847088" cy="1572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</a:rPr>
              <a:t>Tiempo estimado sin Copilot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</a:rPr>
              <a:t>Tiempo real con Copilot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</a:rPr>
              <a:t>Ambos expresados en horas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</a:rPr>
              <a:t>Reducción porcentual caso a caso</a:t>
            </a:r>
          </a:p>
        </p:txBody>
      </p:sp>
      <p:sp>
        <p:nvSpPr>
          <p:cNvPr id="908" name="TextBox 907"/>
          <p:cNvSpPr txBox="1">
            <a:spLocks/>
          </p:cNvSpPr>
          <p:nvPr/>
        </p:nvSpPr>
        <p:spPr>
          <a:xfrm>
            <a:off x="2743200" y="1664208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0" b="1" i="0">
                <a:solidFill>
                  <a:srgbClr val="ED1C29"/>
                </a:solidFill>
              </a:rPr>
              <a:t>ADOPCIÓN Y USO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743200" y="1956816"/>
            <a:ext cx="1874519" cy="1572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90" b="0" i="0">
                <a:solidFill>
                  <a:srgbClr val="1A1A1A"/>
                </a:solidFill>
              </a:rPr>
              <a:t>Uso efectivo por participante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90" b="0" i="0">
                <a:solidFill>
                  <a:srgbClr val="1A1A1A"/>
                </a:solidFill>
              </a:rPr>
              <a:t>Frecuencia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90" b="0" i="0">
                <a:solidFill>
                  <a:srgbClr val="1A1A1A"/>
                </a:solidFill>
              </a:rPr>
              <a:t>Créditos consumidos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90" b="0" i="0">
                <a:solidFill>
                  <a:srgbClr val="1A1A1A"/>
                </a:solidFill>
              </a:rPr>
              <a:t>Bajo o ningún uso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90" b="0" i="0">
                <a:solidFill>
                  <a:srgbClr val="1A1A1A"/>
                </a:solidFill>
              </a:rPr>
              <a:t>Una persona que no utilice la licencia también genera información útil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855464" y="1664208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40" b="1" i="0">
                <a:solidFill>
                  <a:srgbClr val="ED1C29"/>
                </a:solidFill>
              </a:rPr>
              <a:t>VALOR GENERADO</a:t>
            </a:r>
          </a:p>
        </p:txBody>
      </p:sp>
      <p:sp>
        <p:nvSpPr>
          <p:cNvPr id="911" name="TextBox 910"/>
          <p:cNvSpPr txBox="1">
            <a:spLocks/>
          </p:cNvSpPr>
          <p:nvPr/>
        </p:nvSpPr>
        <p:spPr>
          <a:xfrm>
            <a:off x="4855464" y="1956816"/>
            <a:ext cx="2084831" cy="1572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Entregable producido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Tiempo liberado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Capacidad adicional obtenida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Trabajo o prioridad adelantada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Créditos consumidos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Resultado obtenido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7077456" y="195681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19" b="1" i="0" dirty="0">
                <a:solidFill>
                  <a:srgbClr val="ED1C29"/>
                </a:solidFill>
              </a:rPr>
              <a:t>TIME TO MARKET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7077456" y="2221992"/>
            <a:ext cx="157276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80" b="0" i="0">
                <a:solidFill>
                  <a:srgbClr val="1A1A1A"/>
                </a:solidFill>
              </a:rPr>
              <a:t>Si terminó antes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80" b="0" i="0">
                <a:solidFill>
                  <a:srgbClr val="1A1A1A"/>
                </a:solidFill>
              </a:rPr>
              <a:t>Horas o días adelantados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80" b="0" i="0">
                <a:solidFill>
                  <a:srgbClr val="1A1A1A"/>
                </a:solidFill>
              </a:rPr>
              <a:t>Beneficio para negocio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780" b="0" i="0">
                <a:solidFill>
                  <a:srgbClr val="1A1A1A"/>
                </a:solidFill>
              </a:rPr>
              <a:t>Créditos + tiempo + resultado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887968" y="16642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ED1C29"/>
                </a:solidFill>
              </a:rPr>
              <a:t>CONTEXTO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887968" y="1956816"/>
            <a:ext cx="105156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Célula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Tipo de iniciativa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Tecnología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Perfil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003536" y="1956816"/>
            <a:ext cx="1536192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Arquitectura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Infraestructura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Aprovisionamiento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Seguridad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25" b="0" i="0">
                <a:solidFill>
                  <a:srgbClr val="1A1A1A"/>
                </a:solidFill>
              </a:rPr>
              <a:t>Dependencias</a:t>
            </a:r>
          </a:p>
        </p:txBody>
      </p:sp>
      <p:sp>
        <p:nvSpPr>
          <p:cNvPr id="917" name="TextBox 916"/>
          <p:cNvSpPr txBox="1">
            <a:spLocks/>
          </p:cNvSpPr>
          <p:nvPr/>
        </p:nvSpPr>
        <p:spPr>
          <a:xfrm>
            <a:off x="8887968" y="3017520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660" b="0" i="1">
                <a:solidFill>
                  <a:srgbClr val="7A7A7A"/>
                </a:solidFill>
              </a:rPr>
              <a:t>Los tiempos medidos corresponden al trabajo técnico evaluado. Arquitectura, infraestructura, aprovisionamiento, seguridad y otras dependencias pueden afectar el tiempo total de entrega.</a:t>
            </a:r>
          </a:p>
        </p:txBody>
      </p:sp>
      <p:sp>
        <p:nvSpPr>
          <p:cNvPr id="918" name="Rectangle 917"/>
          <p:cNvSpPr>
            <a:spLocks/>
          </p:cNvSpPr>
          <p:nvPr/>
        </p:nvSpPr>
        <p:spPr>
          <a:xfrm>
            <a:off x="658368" y="3730752"/>
            <a:ext cx="10881360" cy="9144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19" name="TextBox 918"/>
          <p:cNvSpPr txBox="1"/>
          <p:nvPr/>
        </p:nvSpPr>
        <p:spPr>
          <a:xfrm>
            <a:off x="658368" y="3822191"/>
            <a:ext cx="1261872" cy="132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60" b="1" i="0">
                <a:solidFill>
                  <a:srgbClr val="7A7A7A"/>
                </a:solidFill>
              </a:rPr>
              <a:t>CICLO DEL PILOTO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2011680" y="3794760"/>
            <a:ext cx="25603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ED1C29"/>
                </a:solidFill>
              </a:rPr>
              <a:t>1</a:t>
            </a:r>
          </a:p>
        </p:txBody>
      </p:sp>
      <p:sp>
        <p:nvSpPr>
          <p:cNvPr id="921" name="TextBox 920"/>
          <p:cNvSpPr txBox="1">
            <a:spLocks/>
          </p:cNvSpPr>
          <p:nvPr/>
        </p:nvSpPr>
        <p:spPr>
          <a:xfrm>
            <a:off x="2322576" y="3822191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90" b="1" i="0">
                <a:solidFill>
                  <a:srgbClr val="211915"/>
                </a:solidFill>
              </a:rPr>
              <a:t>Capacitación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3813048" y="3794760"/>
            <a:ext cx="25603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ED1C29"/>
                </a:solidFill>
              </a:rPr>
              <a:t>2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123944" y="3822191"/>
            <a:ext cx="1691640" cy="1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90" b="1" i="0">
                <a:solidFill>
                  <a:srgbClr val="211915"/>
                </a:solidFill>
              </a:rPr>
              <a:t>Activación de licencias</a:t>
            </a:r>
          </a:p>
        </p:txBody>
      </p:sp>
      <p:sp>
        <p:nvSpPr>
          <p:cNvPr id="924" name="TextBox 923"/>
          <p:cNvSpPr txBox="1">
            <a:spLocks/>
          </p:cNvSpPr>
          <p:nvPr/>
        </p:nvSpPr>
        <p:spPr>
          <a:xfrm>
            <a:off x="6071616" y="3794760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ED1C29"/>
                </a:solidFill>
              </a:rPr>
              <a:t>3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382512" y="3822191"/>
            <a:ext cx="1325880" cy="1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90" b="1" i="0">
                <a:solidFill>
                  <a:srgbClr val="211915"/>
                </a:solidFill>
              </a:rPr>
              <a:t>Acompañamiento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964424" y="3794760"/>
            <a:ext cx="25603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ED1C29"/>
                </a:solidFill>
              </a:rPr>
              <a:t>4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275320" y="3822191"/>
            <a:ext cx="960120" cy="1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90" b="1" i="0">
                <a:solidFill>
                  <a:srgbClr val="211915"/>
                </a:solidFill>
              </a:rPr>
              <a:t>Medición</a:t>
            </a:r>
          </a:p>
        </p:txBody>
      </p:sp>
      <p:sp>
        <p:nvSpPr>
          <p:cNvPr id="928" name="TextBox 927"/>
          <p:cNvSpPr txBox="1">
            <a:spLocks/>
          </p:cNvSpPr>
          <p:nvPr/>
        </p:nvSpPr>
        <p:spPr>
          <a:xfrm>
            <a:off x="9491472" y="3794760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ED1C29"/>
                </a:solidFill>
              </a:rPr>
              <a:t>5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9802368" y="382219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790" b="1" i="0">
                <a:solidFill>
                  <a:srgbClr val="211915"/>
                </a:solidFill>
              </a:rPr>
              <a:t>Consolidación de resultados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658368" y="4187952"/>
            <a:ext cx="10881360" cy="9144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TextBox 930"/>
          <p:cNvSpPr txBox="1"/>
          <p:nvPr/>
        </p:nvSpPr>
        <p:spPr>
          <a:xfrm>
            <a:off x="658368" y="4279392"/>
            <a:ext cx="10881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69" b="1" i="0">
                <a:solidFill>
                  <a:srgbClr val="7A7A7A"/>
                </a:solidFill>
              </a:rPr>
              <a:t>RESPONSABILIDADES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58368" y="452628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19" b="1" i="0">
                <a:solidFill>
                  <a:srgbClr val="211915"/>
                </a:solidFill>
              </a:rPr>
              <a:t>EQUIPO / LÍDER TÉCNICO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658368" y="4764024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</a:rPr>
              <a:t>Registrar la ejecución y los tiempos reales.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4261104" y="452628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1915"/>
                </a:solidFill>
              </a:rPr>
              <a:t>PRODUCT OWNER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4261104" y="4764024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</a:rPr>
              <a:t>Validar tiempo de referencia, prioridad, resultado e impacto en negocio.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863840" y="452628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1915"/>
                </a:solidFill>
              </a:rPr>
              <a:t>TECNOLOGÍA / EQUIPO DEL PILOTO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7863840" y="4764024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</a:rPr>
              <a:t>Seguir adopción, utilización, créditos consumidos y consolidar resultados.</a:t>
            </a:r>
          </a:p>
        </p:txBody>
      </p:sp>
      <p:sp>
        <p:nvSpPr>
          <p:cNvPr id="938" name="Rectangle 937"/>
          <p:cNvSpPr/>
          <p:nvPr/>
        </p:nvSpPr>
        <p:spPr>
          <a:xfrm>
            <a:off x="4123944" y="4507992"/>
            <a:ext cx="9144" cy="667512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9" name="Rectangle 938"/>
          <p:cNvSpPr/>
          <p:nvPr/>
        </p:nvSpPr>
        <p:spPr>
          <a:xfrm>
            <a:off x="7726679" y="4507992"/>
            <a:ext cx="9144" cy="667512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TextBox 941"/>
          <p:cNvSpPr txBox="1"/>
          <p:nvPr/>
        </p:nvSpPr>
        <p:spPr>
          <a:xfrm>
            <a:off x="859536" y="5276088"/>
            <a:ext cx="1047902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</a:rPr>
              <a:t>Las pruebas previas muestran que GitHub Copilot puede liberar capacidad técnica. No son la línea base. Durante el piloto buscamos validar, de forma conservadora, mejoras aproximadas de 30 % a 50 % y medir con datos reales el tiempo liberado, la adopción y su conversión en valor para el negocio.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UYA Colombia">
      <a:dk1>
        <a:sysClr val="windowText" lastClr="000000"/>
      </a:dk1>
      <a:lt1>
        <a:sysClr val="window" lastClr="FFFFFF"/>
      </a:lt1>
      <a:dk2>
        <a:srgbClr val="211915"/>
      </a:dk2>
      <a:lt2>
        <a:srgbClr val="F3F1F0"/>
      </a:lt2>
      <a:accent1>
        <a:srgbClr val="ED1C29"/>
      </a:accent1>
      <a:accent2>
        <a:srgbClr val="211915"/>
      </a:accent2>
      <a:accent3>
        <a:srgbClr val="7A7A7A"/>
      </a:accent3>
      <a:accent4>
        <a:srgbClr val="77C3CD"/>
      </a:accent4>
      <a:accent5>
        <a:srgbClr val="9CCB49"/>
      </a:accent5>
      <a:accent6>
        <a:srgbClr val="C9E4DC"/>
      </a:accent6>
      <a:hlink>
        <a:srgbClr val="ED1C29"/>
      </a:hlink>
      <a:folHlink>
        <a:srgbClr val="B71C2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YA Colomb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1673</Words>
  <Application>Microsoft Office PowerPoint</Application>
  <DocSecurity>0</DocSecurity>
  <PresentationFormat>Panorámica</PresentationFormat>
  <Paragraphs>226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De la productividad al valor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Ricardo Andres Leyva</cp:lastModifiedBy>
  <cp:revision>27</cp:revision>
  <dcterms:created xsi:type="dcterms:W3CDTF">2026-08-06T14:34:46Z</dcterms:created>
  <dcterms:modified xsi:type="dcterms:W3CDTF">2026-09-09T01:13:13Z</dcterms:modified>
</cp:coreProperties>
</file>