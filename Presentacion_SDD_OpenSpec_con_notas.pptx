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6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813" autoAdjust="0"/>
  </p:normalViewPr>
  <p:slideViewPr>
    <p:cSldViewPr snapToGrid="0">
      <p:cViewPr varScale="1">
        <p:scale>
          <a:sx n="122" d="100"/>
          <a:sy n="122" d="100"/>
        </p:scale>
        <p:origin x="9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~1 min · Apertura</a:t>
            </a:r>
            <a:endParaRPr dirty="0"/>
          </a:p>
          <a:p>
            <a:endParaRPr dirty="0"/>
          </a:p>
          <a:p>
            <a:r>
              <a:rPr dirty="0"/>
              <a:t>Buenos días. Hoy </a:t>
            </a:r>
            <a:r>
              <a:rPr dirty="0" err="1"/>
              <a:t>vamos</a:t>
            </a:r>
            <a:r>
              <a:rPr dirty="0"/>
              <a:t> a </a:t>
            </a:r>
            <a:r>
              <a:rPr dirty="0" err="1"/>
              <a:t>introducir</a:t>
            </a:r>
            <a:r>
              <a:rPr dirty="0"/>
              <a:t> Spec-Driven Development y 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OpenSpec</a:t>
            </a:r>
            <a:r>
              <a:rPr dirty="0"/>
              <a:t> lo </a:t>
            </a:r>
            <a:r>
              <a:rPr dirty="0" err="1"/>
              <a:t>lleva</a:t>
            </a:r>
            <a:r>
              <a:rPr dirty="0"/>
              <a:t> </a:t>
            </a:r>
            <a:r>
              <a:rPr lang="es-419" dirty="0"/>
              <a:t>al </a:t>
            </a:r>
            <a:r>
              <a:rPr dirty="0" err="1"/>
              <a:t>repositorio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La </a:t>
            </a:r>
            <a:r>
              <a:rPr dirty="0" err="1"/>
              <a:t>pregunta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guía</a:t>
            </a:r>
            <a:r>
              <a:rPr dirty="0"/>
              <a:t> la </a:t>
            </a:r>
            <a:r>
              <a:rPr dirty="0" err="1"/>
              <a:t>charla</a:t>
            </a:r>
            <a:r>
              <a:rPr dirty="0"/>
              <a:t>: </a:t>
            </a:r>
            <a:r>
              <a:rPr dirty="0" err="1"/>
              <a:t>si</a:t>
            </a:r>
            <a:r>
              <a:rPr dirty="0"/>
              <a:t> la IA </a:t>
            </a:r>
            <a:r>
              <a:rPr lang="es-419" dirty="0"/>
              <a:t>escribe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vez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rápido</a:t>
            </a:r>
            <a:r>
              <a:rPr dirty="0"/>
              <a:t>, ¿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evitamos</a:t>
            </a:r>
            <a:r>
              <a:rPr dirty="0"/>
              <a:t> </a:t>
            </a:r>
            <a:r>
              <a:rPr lang="es-419" dirty="0"/>
              <a:t>construir rápido </a:t>
            </a:r>
            <a:r>
              <a:rPr dirty="0"/>
              <a:t>la </a:t>
            </a:r>
            <a:r>
              <a:rPr lang="es-419" dirty="0"/>
              <a:t>cosa </a:t>
            </a:r>
            <a:r>
              <a:rPr dirty="0" err="1"/>
              <a:t>equivocada</a:t>
            </a:r>
            <a:r>
              <a:rPr dirty="0"/>
              <a:t>?</a:t>
            </a:r>
          </a:p>
          <a:p>
            <a:endParaRPr dirty="0"/>
          </a:p>
          <a:p>
            <a:r>
              <a:rPr lang="es-419" dirty="0"/>
              <a:t>Esta </a:t>
            </a:r>
            <a:r>
              <a:rPr dirty="0" err="1"/>
              <a:t>parte</a:t>
            </a:r>
            <a:r>
              <a:rPr dirty="0"/>
              <a:t> </a:t>
            </a:r>
            <a:r>
              <a:rPr lang="es-419" dirty="0"/>
              <a:t>es conceptual</a:t>
            </a:r>
            <a:r>
              <a:rPr dirty="0"/>
              <a:t>. </a:t>
            </a:r>
            <a:r>
              <a:rPr lang="es-MX" dirty="0"/>
              <a:t>Nada de comandos todavía: primero </a:t>
            </a:r>
            <a:r>
              <a:rPr dirty="0"/>
              <a:t>el </a:t>
            </a:r>
            <a:r>
              <a:rPr dirty="0" err="1"/>
              <a:t>modelo</a:t>
            </a:r>
            <a:r>
              <a:rPr dirty="0"/>
              <a:t> mental, </a:t>
            </a:r>
            <a:r>
              <a:rPr lang="es-419" dirty="0"/>
              <a:t>después </a:t>
            </a:r>
            <a:r>
              <a:rPr dirty="0"/>
              <a:t>el </a:t>
            </a:r>
            <a:r>
              <a:rPr lang="es-419" dirty="0"/>
              <a:t>taller práctico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~1 min 30 s · Cómo trabaja un agente de codificación</a:t>
            </a:r>
          </a:p>
          <a:p>
            <a:endParaRPr lang="es-ES"/>
          </a:p>
          <a:p>
            <a:r>
              <a:rPr lang="es-ES"/>
              <a:t>Antes de hablar de SDD necesitamos separar tres conceptos que suelen mezclarse.</a:t>
            </a:r>
          </a:p>
          <a:p>
            <a:endParaRPr lang="es-ES"/>
          </a:p>
          <a:p>
            <a:r>
              <a:rPr lang="es-ES"/>
              <a:t>El modelo es el componente de inteligencia que interpreta y genera. Por sí solo no inspecciona un repositorio ni ejecuta pruebas.</a:t>
            </a:r>
          </a:p>
          <a:p>
            <a:endParaRPr lang="es-ES"/>
          </a:p>
          <a:p>
            <a:r>
              <a:rPr lang="es-ES"/>
              <a:t>El agente es el sistema que recibe un objetivo y puede avanzar sobre él: analiza el entorno, crea un plan, utiliza herramientas, realiza cambios y observa los resultados.</a:t>
            </a:r>
          </a:p>
          <a:p>
            <a:endParaRPr lang="es-ES"/>
          </a:p>
          <a:p>
            <a:r>
              <a:rPr lang="es-ES"/>
              <a:t>Entre ambos aparece el harness. Es la capa que administra el ciclo de ejecución: prepara el contexto, conserva el estado, decide cómo se utilizan las herramientas, controla permisos y devuelve los resultados al modelo.</a:t>
            </a:r>
          </a:p>
          <a:p>
            <a:endParaRPr lang="es-ES"/>
          </a:p>
          <a:p>
            <a:r>
              <a:rPr lang="es-ES"/>
              <a:t>Por eso dos herramientas que utilizan el mismo modelo pueden comportarse de manera diferente: su harness, sus herramientas y sus restricciones no son necesariamente iguales.</a:t>
            </a:r>
          </a:p>
          <a:p>
            <a:endParaRPr lang="es-ES"/>
          </a:p>
          <a:p>
            <a:r>
              <a:rPr lang="es-ES"/>
              <a:t>Transición: pero darle herramientas al agente no garantiza que trabaje de acuerdo con las necesidades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~1 min 30 s · El agente necesita más que un prompt</a:t>
            </a:r>
          </a:p>
          <a:p>
            <a:endParaRPr lang="es-ES"/>
          </a:p>
          <a:p>
            <a:r>
              <a:rPr lang="es-ES"/>
              <a:t>Un agente con acceso al repositorio y a una terminal todavía puede producir una solución incorrecta si no conoce el contexto y las reglas del proyecto.</a:t>
            </a:r>
          </a:p>
          <a:p>
            <a:endParaRPr lang="es-ES"/>
          </a:p>
          <a:p>
            <a:r>
              <a:rPr lang="es-ES"/>
              <a:t>El contexto le explica dónde está trabajando: arquitectura, tecnologías, dependencias y decisiones existentes.</a:t>
            </a:r>
          </a:p>
          <a:p>
            <a:endParaRPr lang="es-ES"/>
          </a:p>
          <a:p>
            <a:r>
              <a:rPr lang="es-ES"/>
              <a:t>Los standards establecen cómo debe trabajar: convenciones de código, seguridad, pruebas y criterios de calidad. Aquí usamos standards en el sentido de reglas del proyecto, no únicamente como normas formales externas.</a:t>
            </a:r>
          </a:p>
          <a:p>
            <a:endParaRPr lang="es-ES"/>
          </a:p>
          <a:p>
            <a:r>
              <a:rPr lang="es-ES"/>
              <a:t>El workflow organiza las acciones y los puntos de revisión. Evita que el agente pase directamente de una idea incompleta a una implementación terminada.</a:t>
            </a:r>
          </a:p>
          <a:p>
            <a:endParaRPr lang="es-ES"/>
          </a:p>
          <a:p>
            <a:r>
              <a:rPr lang="es-ES"/>
              <a:t>Los artefactos conservan los resultados del razonamiento: requisitos, decisiones, diseño y tareas. Son lo que permite que el acuerdo sobreviva a una sesión específica.</a:t>
            </a:r>
          </a:p>
          <a:p>
            <a:endParaRPr lang="es-ES"/>
          </a:p>
          <a:p>
            <a:r>
              <a:rPr lang="es-ES"/>
              <a:t>Con esto podemos conectar con SDD: SDD estructura el acuerdo y OpenSpec lo materializa mediante artefactos y un workflow dentro del repositorio.</a:t>
            </a:r>
          </a:p>
          <a:p>
            <a:endParaRPr lang="es-ES"/>
          </a:p>
          <a:p>
            <a:r>
              <a:rPr lang="es-ES"/>
              <a:t>Transición: con este vocabulario claro, ahora sí podemos entender el problema que SDD intenta resolver: la velocidad no corrige la ambigüedad.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~2 min · El </a:t>
            </a:r>
            <a:r>
              <a:rPr dirty="0" err="1"/>
              <a:t>problema</a:t>
            </a:r>
            <a:endParaRPr dirty="0"/>
          </a:p>
          <a:p>
            <a:endParaRPr dirty="0"/>
          </a:p>
          <a:p>
            <a:r>
              <a:rPr dirty="0" err="1"/>
              <a:t>Encadenar</a:t>
            </a:r>
            <a:r>
              <a:rPr dirty="0"/>
              <a:t> las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franjas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voz</a:t>
            </a:r>
            <a:r>
              <a:rPr dirty="0"/>
              <a:t> </a:t>
            </a:r>
            <a:r>
              <a:rPr dirty="0" err="1"/>
              <a:t>alta</a:t>
            </a:r>
            <a:r>
              <a:rPr dirty="0"/>
              <a:t>: </a:t>
            </a:r>
            <a:r>
              <a:rPr dirty="0" err="1"/>
              <a:t>problema</a:t>
            </a:r>
            <a:r>
              <a:rPr dirty="0"/>
              <a:t>, </a:t>
            </a:r>
            <a:r>
              <a:rPr dirty="0" err="1"/>
              <a:t>riesgo</a:t>
            </a:r>
            <a:r>
              <a:rPr dirty="0"/>
              <a:t>, </a:t>
            </a:r>
            <a:r>
              <a:rPr dirty="0" err="1"/>
              <a:t>consecuencia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El </a:t>
            </a:r>
            <a:r>
              <a:rPr dirty="0" err="1"/>
              <a:t>problema</a:t>
            </a:r>
            <a:r>
              <a:rPr dirty="0"/>
              <a:t> no es la </a:t>
            </a:r>
            <a:r>
              <a:rPr dirty="0" err="1"/>
              <a:t>capacidad</a:t>
            </a:r>
            <a:r>
              <a:rPr dirty="0"/>
              <a:t> del </a:t>
            </a:r>
            <a:r>
              <a:rPr dirty="0" err="1"/>
              <a:t>modelo</a:t>
            </a:r>
            <a:r>
              <a:rPr dirty="0"/>
              <a:t>, es lo </a:t>
            </a:r>
            <a:r>
              <a:rPr dirty="0" err="1"/>
              <a:t>que</a:t>
            </a:r>
            <a:r>
              <a:rPr dirty="0"/>
              <a:t> no le </a:t>
            </a:r>
            <a:r>
              <a:rPr dirty="0" err="1"/>
              <a:t>dijimos</a:t>
            </a:r>
            <a:r>
              <a:rPr dirty="0"/>
              <a:t>. Cuando </a:t>
            </a:r>
            <a:r>
              <a:rPr dirty="0" err="1"/>
              <a:t>pedimos</a:t>
            </a:r>
            <a:r>
              <a:rPr dirty="0"/>
              <a:t> algo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conversación</a:t>
            </a:r>
            <a:r>
              <a:rPr dirty="0"/>
              <a:t>, </a:t>
            </a:r>
            <a:r>
              <a:rPr dirty="0" err="1"/>
              <a:t>buena</a:t>
            </a:r>
            <a:r>
              <a:rPr dirty="0"/>
              <a:t> </a:t>
            </a:r>
            <a:r>
              <a:rPr dirty="0" err="1"/>
              <a:t>parte</a:t>
            </a:r>
            <a:r>
              <a:rPr dirty="0"/>
              <a:t> de las </a:t>
            </a:r>
            <a:r>
              <a:rPr dirty="0" err="1"/>
              <a:t>restricciones</a:t>
            </a:r>
            <a:r>
              <a:rPr dirty="0"/>
              <a:t> y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criterios</a:t>
            </a:r>
            <a:r>
              <a:rPr dirty="0"/>
              <a:t> se </a:t>
            </a:r>
            <a:r>
              <a:rPr dirty="0" err="1"/>
              <a:t>queda</a:t>
            </a:r>
            <a:r>
              <a:rPr dirty="0"/>
              <a:t> </a:t>
            </a:r>
            <a:r>
              <a:rPr dirty="0" err="1"/>
              <a:t>implícita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Ahí </a:t>
            </a:r>
            <a:r>
              <a:rPr dirty="0" err="1"/>
              <a:t>aparece</a:t>
            </a:r>
            <a:r>
              <a:rPr dirty="0"/>
              <a:t> el </a:t>
            </a:r>
            <a:r>
              <a:rPr dirty="0" err="1"/>
              <a:t>riesgo</a:t>
            </a:r>
            <a:r>
              <a:rPr dirty="0"/>
              <a:t>: lo </a:t>
            </a:r>
            <a:r>
              <a:rPr dirty="0" err="1"/>
              <a:t>que</a:t>
            </a:r>
            <a:r>
              <a:rPr dirty="0"/>
              <a:t> el </a:t>
            </a:r>
            <a:r>
              <a:rPr dirty="0" err="1"/>
              <a:t>equipo</a:t>
            </a:r>
            <a:r>
              <a:rPr dirty="0"/>
              <a:t> no </a:t>
            </a:r>
            <a:r>
              <a:rPr dirty="0" err="1"/>
              <a:t>acordó</a:t>
            </a:r>
            <a:r>
              <a:rPr dirty="0"/>
              <a:t> lo termina </a:t>
            </a:r>
            <a:r>
              <a:rPr dirty="0" err="1"/>
              <a:t>decidiendo</a:t>
            </a:r>
            <a:r>
              <a:rPr dirty="0"/>
              <a:t> el </a:t>
            </a:r>
            <a:r>
              <a:rPr dirty="0" err="1"/>
              <a:t>agente</a:t>
            </a:r>
            <a:r>
              <a:rPr dirty="0"/>
              <a:t>, y </a:t>
            </a:r>
            <a:r>
              <a:rPr dirty="0" err="1"/>
              <a:t>esa</a:t>
            </a:r>
            <a:r>
              <a:rPr dirty="0"/>
              <a:t> </a:t>
            </a:r>
            <a:r>
              <a:rPr dirty="0" err="1"/>
              <a:t>decisión</a:t>
            </a:r>
            <a:r>
              <a:rPr dirty="0"/>
              <a:t> no </a:t>
            </a:r>
            <a:r>
              <a:rPr dirty="0" err="1"/>
              <a:t>queda</a:t>
            </a:r>
            <a:r>
              <a:rPr dirty="0"/>
              <a:t> </a:t>
            </a:r>
            <a:r>
              <a:rPr dirty="0" err="1"/>
              <a:t>escrita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ningún</a:t>
            </a:r>
            <a:r>
              <a:rPr dirty="0"/>
              <a:t> </a:t>
            </a:r>
            <a:r>
              <a:rPr dirty="0" err="1"/>
              <a:t>lado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La </a:t>
            </a:r>
            <a:r>
              <a:rPr dirty="0" err="1"/>
              <a:t>consecuencia</a:t>
            </a:r>
            <a:r>
              <a:rPr dirty="0"/>
              <a:t> </a:t>
            </a:r>
            <a:r>
              <a:rPr dirty="0" err="1"/>
              <a:t>llega</a:t>
            </a:r>
            <a:r>
              <a:rPr dirty="0"/>
              <a:t> </a:t>
            </a:r>
            <a:r>
              <a:rPr dirty="0" err="1"/>
              <a:t>tarde</a:t>
            </a:r>
            <a:r>
              <a:rPr dirty="0"/>
              <a:t>. </a:t>
            </a:r>
            <a:r>
              <a:rPr dirty="0" err="1"/>
              <a:t>Descubrimos</a:t>
            </a:r>
            <a:r>
              <a:rPr dirty="0"/>
              <a:t> el </a:t>
            </a:r>
            <a:r>
              <a:rPr dirty="0" err="1"/>
              <a:t>desacuerdo</a:t>
            </a:r>
            <a:r>
              <a:rPr dirty="0"/>
              <a:t> </a:t>
            </a:r>
            <a:r>
              <a:rPr dirty="0" err="1"/>
              <a:t>revisando</a:t>
            </a:r>
            <a:r>
              <a:rPr dirty="0"/>
              <a:t> </a:t>
            </a:r>
            <a:r>
              <a:rPr dirty="0" err="1"/>
              <a:t>código</a:t>
            </a:r>
            <a:r>
              <a:rPr dirty="0"/>
              <a:t>, </a:t>
            </a:r>
            <a:r>
              <a:rPr dirty="0" err="1"/>
              <a:t>que</a:t>
            </a:r>
            <a:r>
              <a:rPr dirty="0"/>
              <a:t> es el </a:t>
            </a:r>
            <a:r>
              <a:rPr dirty="0" err="1"/>
              <a:t>momento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caro</a:t>
            </a:r>
            <a:r>
              <a:rPr dirty="0"/>
              <a:t> para </a:t>
            </a:r>
            <a:r>
              <a:rPr dirty="0" err="1"/>
              <a:t>corregirlo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Cierre: la </a:t>
            </a:r>
            <a:r>
              <a:rPr dirty="0" err="1"/>
              <a:t>velocidad</a:t>
            </a:r>
            <a:r>
              <a:rPr dirty="0"/>
              <a:t> no es el </a:t>
            </a:r>
            <a:r>
              <a:rPr dirty="0" err="1"/>
              <a:t>problema</a:t>
            </a:r>
            <a:r>
              <a:rPr lang="es-419" dirty="0"/>
              <a:t>,</a:t>
            </a:r>
            <a:r>
              <a:rPr dirty="0"/>
              <a:t> la </a:t>
            </a:r>
            <a:r>
              <a:rPr dirty="0" err="1"/>
              <a:t>velocidad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intención</a:t>
            </a:r>
            <a:r>
              <a:rPr dirty="0"/>
              <a:t> </a:t>
            </a:r>
            <a:r>
              <a:rPr dirty="0" err="1"/>
              <a:t>difusa</a:t>
            </a:r>
            <a:r>
              <a:rPr dirty="0"/>
              <a:t> </a:t>
            </a:r>
            <a:r>
              <a:rPr dirty="0" err="1"/>
              <a:t>sí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~2 min · El cambio mental</a:t>
            </a:r>
          </a:p>
          <a:p>
            <a:endParaRPr/>
          </a:p>
          <a:p>
            <a:r>
              <a:t>Leer la tabla por filas, no por columnas: la comparación está en tres preguntas.</a:t>
            </a:r>
          </a:p>
          <a:p>
            <a:endParaRPr/>
          </a:p>
          <a:p>
            <a:r>
              <a:t>Dónde vive el acuerdo, cuándo se revisa y qué queda cuando terminamos.</a:t>
            </a:r>
          </a:p>
          <a:p>
            <a:endParaRPr/>
          </a:p>
          <a:p>
            <a:r>
              <a:t>El punto importante: no estamos comparando herramientas ni diciendo que el prompt directo esté mal. Para un cambio pequeño y reversible sigue siendo la mejor opción.</a:t>
            </a:r>
          </a:p>
          <a:p>
            <a:endParaRPr/>
          </a:p>
          <a:p>
            <a:r>
              <a:t>Lo que cambia es que el acuerdo deja de ser conversación y pasa a ser un texto que alguien puede leer y corregir antes de que exista el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~2 min · Qué es SDD</a:t>
            </a:r>
          </a:p>
          <a:p>
            <a:endParaRPr/>
          </a:p>
          <a:p>
            <a:r>
              <a:t>Definición corta arriba</a:t>
            </a:r>
            <a:r>
              <a:rPr lang="es-419"/>
              <a:t>, lo importante </a:t>
            </a:r>
            <a:r>
              <a:t>es la cadena</a:t>
            </a:r>
            <a:r>
              <a:rPr lang="es-419"/>
              <a:t> de cinco pasos</a:t>
            </a:r>
            <a:r>
              <a:t>.</a:t>
            </a:r>
          </a:p>
          <a:p>
            <a:endParaRPr/>
          </a:p>
          <a:p>
            <a:r>
              <a:t>Cada paso responde una pregunta distinta, y </a:t>
            </a:r>
            <a:r>
              <a:rPr lang="es-MX"/>
              <a:t>el último la formula explícitamente: ¿</a:t>
            </a:r>
            <a:r>
              <a:t>se cumplió lo acordado</a:t>
            </a:r>
            <a:r>
              <a:rPr lang="es-MX"/>
              <a:t>? Si no podemos responderla con evidencia, el acuerdo estaba incompleto</a:t>
            </a:r>
            <a:r>
              <a:t>.</a:t>
            </a:r>
          </a:p>
          <a:p>
            <a:endParaRPr/>
          </a:p>
          <a:p>
            <a:r>
              <a:rPr lang="es-419"/>
              <a:t>Separar los pasos</a:t>
            </a:r>
            <a:r>
              <a:t> evita mezclar una necesidad de negocio con una solución técnica prematura.</a:t>
            </a:r>
          </a:p>
          <a:p>
            <a:endParaRPr/>
          </a:p>
          <a:p>
            <a:r>
              <a:t>Aclarar que no es cascada: la cadena organiza el razonamiento, no congela decisiones.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~2 min · Principios</a:t>
            </a:r>
          </a:p>
          <a:p>
            <a:endParaRPr/>
          </a:p>
          <a:p>
            <a:r>
              <a:t>Cuatro ideas, una frase cada una.</a:t>
            </a:r>
          </a:p>
          <a:p>
            <a:endParaRPr/>
          </a:p>
          <a:p>
            <a:r>
              <a:t>Intención primero: empezar por el resultado esperado.</a:t>
            </a:r>
          </a:p>
          <a:p>
            <a:endParaRPr/>
          </a:p>
          <a:p>
            <a:r>
              <a:t>Fuente compartida: las decisiones viven bajo control de versiones, no en la memoria de nadie.</a:t>
            </a:r>
          </a:p>
          <a:p>
            <a:endParaRPr/>
          </a:p>
          <a:p>
            <a:r>
              <a:t>Revisión humana: el agente redacta y ejecuta, el equipo aprueba.</a:t>
            </a:r>
          </a:p>
          <a:p>
            <a:endParaRPr/>
          </a:p>
          <a:p>
            <a:r>
              <a:t>Trazabilidad: poder seguir el hilo desde un requisito hasta el código que lo implementa.</a:t>
            </a:r>
          </a:p>
          <a:p>
            <a:endParaRPr/>
          </a:p>
          <a:p>
            <a:r>
              <a:t>Y la condición de abajo: la especificación es un artefacto vivo. Actualizarla cuando aparece un hallazgo no es fallar, es hacer visible el aprendizaje.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~1 min 30 s · Cuándo usar SDD</a:t>
            </a:r>
          </a:p>
          <a:p>
            <a:endParaRPr/>
          </a:p>
          <a:p>
            <a:r>
              <a:t>Esta lámina evita el malentendido más común: que ahora todo necesita especificación.</a:t>
            </a:r>
          </a:p>
          <a:p>
            <a:endParaRPr/>
          </a:p>
          <a:p>
            <a:r>
              <a:t>Izquierda: cambios donde el costo de equivocarse es alto o el contexto debe sobrevivir a la sesión.</a:t>
            </a:r>
          </a:p>
          <a:p>
            <a:endParaRPr/>
          </a:p>
          <a:p>
            <a:r>
              <a:t>Derecha: correcciones </a:t>
            </a:r>
            <a:r>
              <a:rPr lang="es-419"/>
              <a:t>evidentes</a:t>
            </a:r>
            <a:r>
              <a:t>, ajustes reversibles, </a:t>
            </a:r>
            <a:r>
              <a:rPr lang="es-MX"/>
              <a:t>un prototipo o spike que vamos a botar, y cambios triviales cuyo alcance y criterio ya son verificables sin escribir nada</a:t>
            </a:r>
            <a:r>
              <a:t>.</a:t>
            </a:r>
            <a:endParaRPr lang="es-MX"/>
          </a:p>
          <a:p>
            <a:endParaRPr lang="es-MX"/>
          </a:p>
          <a:p>
            <a:r>
              <a:rPr lang="es-MX"/>
              <a:t>Ojo con el spike: si</a:t>
            </a:r>
            <a:r>
              <a:t> el </a:t>
            </a:r>
            <a:r>
              <a:rPr lang="es-MX"/>
              <a:t>resultado se queda en producción, ya dejó </a:t>
            </a:r>
            <a:r>
              <a:t>de </a:t>
            </a:r>
            <a:r>
              <a:rPr lang="es-MX"/>
              <a:t>ser descartable y toca escribirlo</a:t>
            </a:r>
            <a:r>
              <a:t>.</a:t>
            </a:r>
          </a:p>
          <a:p>
            <a:endParaRPr/>
          </a:p>
          <a:p>
            <a:r>
              <a:t>El criterio práctico es la comparación de costos, no una regla rígida. Si alguien duda: ¿otra persona podría retomar esto mañana sin nosotros?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~1 min 30 s · Qué es OpenSpec</a:t>
            </a:r>
          </a:p>
          <a:p>
            <a:endParaRPr/>
          </a:p>
          <a:p>
            <a:r>
              <a:rPr lang="es-419"/>
              <a:t>Una sola idea aquí: </a:t>
            </a:r>
            <a:r>
              <a:t>OpenSpec </a:t>
            </a:r>
            <a:r>
              <a:rPr lang="es-419"/>
              <a:t>baja </a:t>
            </a:r>
            <a:r>
              <a:t>SDD </a:t>
            </a:r>
            <a:r>
              <a:rPr lang="es-419"/>
              <a:t>al repositorio</a:t>
            </a:r>
            <a:r>
              <a:t>. No genera código por sí solo</a:t>
            </a:r>
            <a:r>
              <a:rPr lang="es-419"/>
              <a:t>, organiza </a:t>
            </a:r>
            <a:r>
              <a:t>el contexto que el agente usa.</a:t>
            </a:r>
          </a:p>
          <a:p>
            <a:endParaRPr/>
          </a:p>
          <a:p>
            <a:r>
              <a:t>Los tres puntos de la derecha </a:t>
            </a:r>
            <a:r>
              <a:rPr lang="es-419"/>
              <a:t>son el </a:t>
            </a:r>
            <a:r>
              <a:t>resumen </a:t>
            </a:r>
            <a:r>
              <a:rPr lang="es-419"/>
              <a:t>del </a:t>
            </a:r>
            <a:r>
              <a:t>aporte</a:t>
            </a:r>
            <a:r>
              <a:rPr lang="es-MX"/>
              <a:t>, y cada uno se sostiene solo</a:t>
            </a:r>
            <a:r>
              <a:t>: </a:t>
            </a:r>
            <a:r>
              <a:rPr lang="es-419"/>
              <a:t>la estructura es mínima</a:t>
            </a:r>
            <a:r>
              <a:t>, </a:t>
            </a:r>
            <a:r>
              <a:rPr lang="es-419"/>
              <a:t>el </a:t>
            </a:r>
            <a:r>
              <a:t>contexto sobrevive a la sesión y </a:t>
            </a:r>
            <a:r>
              <a:rPr lang="es-419"/>
              <a:t>la decisión </a:t>
            </a:r>
            <a:r>
              <a:t>sigue siendo del equipo.</a:t>
            </a:r>
          </a:p>
          <a:p>
            <a:endParaRPr/>
          </a:p>
          <a:p>
            <a:r>
              <a:rPr lang="es-419"/>
              <a:t>No entrar todavía </a:t>
            </a:r>
            <a:r>
              <a:t>en </a:t>
            </a:r>
            <a:r>
              <a:rPr lang="es-419"/>
              <a:t>cómo </a:t>
            </a:r>
            <a:r>
              <a:t>se </a:t>
            </a:r>
            <a:r>
              <a:rPr lang="es-419"/>
              <a:t>organizan specs </a:t>
            </a:r>
            <a:r>
              <a:t>y </a:t>
            </a:r>
            <a:r>
              <a:rPr lang="es-MX"/>
              <a:t>changes: eso es exactamente la lámina siguiente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~2 min · Modelo de información</a:t>
            </a:r>
          </a:p>
          <a:p>
            <a:endParaRPr/>
          </a:p>
          <a:p>
            <a:r>
              <a:rPr lang="es-419"/>
              <a:t>Recorrer el árbol </a:t>
            </a:r>
            <a:r>
              <a:t>de </a:t>
            </a:r>
            <a:r>
              <a:rPr lang="es-MX"/>
              <a:t>arriba hacia abajo, sin leerlo archivo por archivo</a:t>
            </a:r>
            <a:r>
              <a:t>.</a:t>
            </a:r>
          </a:p>
          <a:p>
            <a:endParaRPr/>
          </a:p>
          <a:p>
            <a:r>
              <a:t>specs </a:t>
            </a:r>
            <a:r>
              <a:rPr lang="es-419"/>
              <a:t>es la verdad vigente: </a:t>
            </a:r>
            <a:r>
              <a:t>cómo se comporta hoy el sistema, </a:t>
            </a:r>
            <a:r>
              <a:rPr lang="es-MX"/>
              <a:t>organizado por capacidad.</a:t>
            </a:r>
          </a:p>
          <a:p>
            <a:endParaRPr lang="es-MX"/>
          </a:p>
          <a:p>
            <a:r>
              <a:rPr lang="es-MX"/>
              <a:t>changes es lo propuesto: </a:t>
            </a:r>
            <a:r>
              <a:t>una carpeta </a:t>
            </a:r>
            <a:r>
              <a:rPr lang="es-419"/>
              <a:t>por cambio </a:t>
            </a:r>
            <a:r>
              <a:t>con </a:t>
            </a:r>
            <a:r>
              <a:rPr lang="es-419"/>
              <a:t>la propuesta</a:t>
            </a:r>
            <a:r>
              <a:t>, las delta specs, </a:t>
            </a:r>
            <a:r>
              <a:rPr lang="es-419"/>
              <a:t>el diseño </a:t>
            </a:r>
            <a:r>
              <a:t>y </a:t>
            </a:r>
            <a:r>
              <a:rPr lang="es-419"/>
              <a:t>las tareas</a:t>
            </a:r>
            <a:r>
              <a:t>.</a:t>
            </a:r>
          </a:p>
          <a:p>
            <a:endParaRPr/>
          </a:p>
          <a:p>
            <a:r>
              <a:t>Las delta specs contienen solo la diferencia</a:t>
            </a:r>
            <a:r>
              <a:rPr lang="es-419"/>
              <a:t>, no </a:t>
            </a:r>
            <a:r>
              <a:t>reescribimos la especificación </a:t>
            </a:r>
            <a:r>
              <a:rPr lang="es-419"/>
              <a:t>completa </a:t>
            </a:r>
            <a:r>
              <a:t>por cada funcionalidad.</a:t>
            </a:r>
          </a:p>
          <a:p>
            <a:endParaRPr/>
          </a:p>
          <a:p>
            <a:r>
              <a:rPr lang="es-419"/>
              <a:t>Y archive guarda </a:t>
            </a:r>
            <a:r>
              <a:t>el historial </a:t>
            </a:r>
            <a:r>
              <a:rPr lang="es-MX"/>
              <a:t>del cambio ya terminado, fechado, para poder reconstruir </a:t>
            </a:r>
            <a:r>
              <a:t>por qué llegamos ahí</a:t>
            </a:r>
            <a:r>
              <a:rPr lang="es-MX"/>
              <a:t>.</a:t>
            </a:r>
          </a:p>
          <a:p>
            <a:endParaRPr lang="es-MX"/>
          </a:p>
          <a:p>
            <a:r>
              <a:rPr lang="es-MX"/>
              <a:t>Cierre: OpenSpec describe el diff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~2 min · Flujo OPSX</a:t>
            </a:r>
          </a:p>
          <a:p>
            <a:endParaRPr/>
          </a:p>
          <a:p>
            <a:r>
              <a:t>Recorrer el ciclo una vez, sin detalle de comandos.</a:t>
            </a:r>
          </a:p>
          <a:p>
            <a:endParaRPr/>
          </a:p>
          <a:p>
            <a:r>
              <a:t>explore </a:t>
            </a:r>
            <a:r>
              <a:rPr lang="es-MX"/>
              <a:t>va punteado a propósito: es opcional, solo </a:t>
            </a:r>
            <a:r>
              <a:t>cuando la necesidad </a:t>
            </a:r>
            <a:r>
              <a:rPr lang="es-419"/>
              <a:t>todavía </a:t>
            </a:r>
            <a:r>
              <a:t>es difusa</a:t>
            </a:r>
            <a:r>
              <a:rPr lang="es-MX"/>
              <a:t>. Las otras cuatro sí forman </a:t>
            </a:r>
            <a:r>
              <a:t>el </a:t>
            </a:r>
            <a:r>
              <a:rPr lang="es-419"/>
              <a:t>ciclo</a:t>
            </a:r>
            <a:r>
              <a:t>.</a:t>
            </a:r>
          </a:p>
          <a:p>
            <a:endParaRPr/>
          </a:p>
          <a:p>
            <a:r>
              <a:t>Insistir en la flecha de retorno: si al implementar descubrimos que una decisión estaba mal, volvemos a la propuesta. Las dependencias indican qué contexto está disponible, no una secuencia irreversible.</a:t>
            </a:r>
          </a:p>
          <a:p>
            <a:endParaRPr/>
          </a:p>
          <a:p>
            <a:r>
              <a:rPr lang="es-MX"/>
              <a:t>update está aparte por una razón: no es una etapa más. Es lo que hacemos cuando cambia el entendimiento y hay que dejar los artefactos coherentes, sin tocar código. Por eso la flecha sale de apply y regresa a la planificación.</a:t>
            </a:r>
          </a:p>
          <a:p>
            <a:endParaRPr lang="es-MX"/>
          </a:p>
          <a:p>
            <a:r>
              <a:rPr lang="es-MX"/>
              <a:t>Sobre archive: cierra el cambio y, si la sincronización de las delta specs quedó pendiente, la puede hacer en ese momento.</a:t>
            </a:r>
          </a:p>
          <a:p>
            <a:endParaRPr lang="es-MX"/>
          </a:p>
          <a:p>
            <a:r>
              <a:t>Los comandos concretos</a:t>
            </a:r>
            <a:r>
              <a:rPr lang="es-MX"/>
              <a:t> y el detalle de cada acción</a:t>
            </a:r>
            <a:r>
              <a:t> los vemos en el 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~1 min · Cierre</a:t>
            </a:r>
          </a:p>
          <a:p>
            <a:endParaRPr/>
          </a:p>
          <a:p>
            <a:r>
              <a:t>Tres ideas para llevarse: acordar antes de generar, dejar la intención en el repositorio y mantener la responsabilidad en el equipo.</a:t>
            </a:r>
          </a:p>
          <a:p>
            <a:endParaRPr/>
          </a:p>
          <a:p>
            <a:r>
              <a:t>El agente acelera</a:t>
            </a:r>
            <a:r>
              <a:rPr lang="es-419"/>
              <a:t>,</a:t>
            </a:r>
            <a:r>
              <a:t> nosotros seguimos revisando, validando y aprobando.</a:t>
            </a:r>
          </a:p>
          <a:p>
            <a:endParaRPr/>
          </a:p>
          <a:p>
            <a:r>
              <a:t>En el taller tomamos una historia de usuario y la recorremos completa con OpenSpec y GitHub Copilot.</a:t>
            </a:r>
          </a:p>
          <a:p>
            <a:endParaRPr/>
          </a:p>
          <a:p>
            <a:r>
              <a:t>Pregunta de cierre: antes de pedirle a la IA que implemente, ¿qué decisiones necesitamos hacer explícitas para saber que construyó lo correcto?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07EB1B0-9209-4743-A5FD-8504D5188A2F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85800" y="658368"/>
            <a:ext cx="10789920" cy="822960"/>
          </a:xfrm>
          <a:prstGeom prst="rect">
            <a:avLst/>
          </a:prstGeom>
          <a:noFill/>
        </p:spPr>
        <p:txBody>
          <a:bodyPr wrap="square"/>
          <a:lstStyle>
            <a:lvl1pPr marL="0" indent="0">
              <a:buNone/>
              <a:defRPr/>
            </a:lvl1pPr>
          </a:lstStyle>
          <a:p>
            <a:pPr marL="0" indent="0"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119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DA7C326-F063-4B6C-AAAF-5C8667C1C18F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777240" y="2331720"/>
            <a:ext cx="7680960" cy="1737360"/>
          </a:xfrm>
          <a:prstGeom prst="rect">
            <a:avLst/>
          </a:prstGeom>
          <a:noFill/>
        </p:spPr>
        <p:txBody>
          <a:bodyPr wrap="square"/>
          <a:lstStyle>
            <a:lvl1pPr marL="0" indent="0">
              <a:buNone/>
              <a:defRPr/>
            </a:lvl1pPr>
          </a:lstStyle>
          <a:p>
            <a:pPr marL="0" indent="0"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1C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94A7FF53-E78D-4830-9BA8-B8E75FBE78D3}"/>
              </a:ext>
            </a:extLst>
          </p:cNvPr>
          <p:cNvSpPr>
            <a:spLocks noGrp="1"/>
          </p:cNvSpPr>
          <p:nvPr/>
        </p:nvSpPr>
        <p:spPr>
          <a:xfrm>
            <a:off x="822960" y="1847088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2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DESARROLLO DE SOFTWARE  ·  2026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5D9BD458-659F-4214-9D81-FF6E9AA3F414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777240" y="2331720"/>
            <a:ext cx="7680960" cy="1737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1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Spec-Driven Development</a:t>
            </a:r>
          </a:p>
          <a:p>
            <a:pPr marL="0" indent="0" algn="l">
              <a:buNone/>
            </a:pPr>
            <a:r>
              <a:rPr sz="31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con OpenSpec</a:t>
            </a:r>
          </a:p>
        </p:txBody>
      </p:sp>
      <p:sp>
        <p:nvSpPr>
          <p:cNvPr id="6" name="accent">
            <a:extLst>
              <a:ext uri="{FF2B5EF4-FFF2-40B4-BE49-F238E27FC236}">
                <a16:creationId xmlns:a16="http://schemas.microsoft.com/office/drawing/2014/main" id="{0734481B-9832-426D-830A-FBB69D420518}"/>
              </a:ext>
            </a:extLst>
          </p:cNvPr>
          <p:cNvSpPr>
            <a:spLocks noGrp="1"/>
          </p:cNvSpPr>
          <p:nvPr/>
        </p:nvSpPr>
        <p:spPr>
          <a:xfrm>
            <a:off x="822960" y="4224528"/>
            <a:ext cx="1051560" cy="54864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78C9822-7C11-461A-B4C7-8C0A464B37B4}"/>
              </a:ext>
            </a:extLst>
          </p:cNvPr>
          <p:cNvSpPr>
            <a:spLocks noGrp="1"/>
          </p:cNvSpPr>
          <p:nvPr/>
        </p:nvSpPr>
        <p:spPr>
          <a:xfrm>
            <a:off x="804672" y="4407408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550">
                <a:solidFill>
                  <a:srgbClr val="E7E2DF"/>
                </a:solidFill>
                <a:latin typeface="Calibri"/>
                <a:ea typeface="Calibri"/>
                <a:cs typeface="Calibri"/>
              </a:rPr>
              <a:t>De la intención al código verificable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3730261-8883-470D-936E-A3EE4308BDF4}"/>
              </a:ext>
            </a:extLst>
          </p:cNvPr>
          <p:cNvSpPr>
            <a:spLocks noGrp="1"/>
          </p:cNvSpPr>
          <p:nvPr/>
        </p:nvSpPr>
        <p:spPr>
          <a:xfrm>
            <a:off x="804672" y="513892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Tuya      Presentación introductoria      Ingeniería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FDE7B6D-7954-4AF2-89FA-15912E1E9C50}"/>
              </a:ext>
            </a:extLst>
          </p:cNvPr>
          <p:cNvSpPr>
            <a:spLocks noGrp="1"/>
          </p:cNvSpPr>
          <p:nvPr/>
        </p:nvSpPr>
        <p:spPr>
          <a:xfrm>
            <a:off x="8778240" y="6272784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9A928C"/>
                </a:solidFill>
                <a:latin typeface="Trebuchet MS"/>
                <a:ea typeface="Trebuchet MS"/>
                <a:cs typeface="Trebuchet MS"/>
              </a:rPr>
              <a:t>SDD  ·  OpenSpec</a:t>
            </a:r>
          </a:p>
        </p:txBody>
      </p:sp>
      <p:sp>
        <p:nvSpPr>
          <p:cNvPr id="20" name="Logo Card">
            <a:extLst>
              <a:ext uri="{FF2B5EF4-FFF2-40B4-BE49-F238E27FC236}">
                <a16:creationId xmlns:a16="http://schemas.microsoft.com/office/drawing/2014/main" id="{20EA5C85-926F-40D8-9F8F-441A18E914B8}"/>
              </a:ext>
            </a:extLst>
          </p:cNvPr>
          <p:cNvSpPr>
            <a:spLocks noGrp="1"/>
          </p:cNvSpPr>
          <p:nvPr/>
        </p:nvSpPr>
        <p:spPr>
          <a:xfrm>
            <a:off x="822960" y="470000"/>
            <a:ext cx="24384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9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60" y="660080"/>
            <a:ext cx="18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984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84048"/>
            <a:ext cx="146304" cy="14630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27" name="tb27"/>
          <p:cNvSpPr txBox="1"/>
          <p:nvPr/>
        </p:nvSpPr>
        <p:spPr>
          <a:xfrm>
            <a:off x="914400" y="36576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050" b="1" i="0" spc="120">
                <a:solidFill>
                  <a:srgbClr val="ED1C29"/>
                </a:solidFill>
              </a:rPr>
              <a:t>CÓMO TRABAJA UN AGENTE DE CODIFICACIÓN</a:t>
            </a:r>
          </a:p>
        </p:txBody>
      </p:sp>
      <p:sp>
        <p:nvSpPr>
          <p:cNvPr id="28" name="tb28"/>
          <p:cNvSpPr txBox="1"/>
          <p:nvPr/>
        </p:nvSpPr>
        <p:spPr>
          <a:xfrm>
            <a:off x="658368" y="713232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3000" b="1" i="0">
                <a:solidFill>
                  <a:srgbClr val="211915"/>
                </a:solidFill>
              </a:rPr>
              <a:t>El modelo es solo una parte del sistema</a:t>
            </a:r>
          </a:p>
        </p:txBody>
      </p:sp>
      <p:sp>
        <p:nvSpPr>
          <p:cNvPr id="40" name="objetivo"/>
          <p:cNvSpPr/>
          <p:nvPr/>
        </p:nvSpPr>
        <p:spPr>
          <a:xfrm>
            <a:off x="5029200" y="1508760"/>
            <a:ext cx="2133600" cy="356616"/>
          </a:xfrm>
          <a:prstGeom prst="rect">
            <a:avLst/>
          </a:prstGeom>
          <a:noFill/>
          <a:ln w="19050">
            <a:solidFill>
              <a:srgbClr val="211915"/>
            </a:solidFill>
          </a:ln>
        </p:spPr>
        <p:txBody>
          <a:bodyPr lIns="45720" tIns="18288" rIns="45720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100" b="1" i="0" spc="100">
                <a:solidFill>
                  <a:srgbClr val="211915"/>
                </a:solidFill>
              </a:rPr>
              <a:t>OBJETIVO</a:t>
            </a:r>
          </a:p>
        </p:txBody>
      </p:sp>
      <p:sp>
        <p:nvSpPr>
          <p:cNvPr id="41" name="flechaObjetiv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4560" y="1929384"/>
            <a:ext cx="182880" cy="182880"/>
          </a:xfrm>
          <a:prstGeom prst="downArrow">
            <a:avLst/>
          </a:prstGeom>
          <a:solidFill>
            <a:srgbClr val="ED1C29"/>
          </a:solidFill>
          <a:ln>
            <a:noFill/>
          </a:ln>
        </p:spPr>
        <p:txBody>
          <a:bodyPr lIns="0" tIns="0" rIns="0" bIns="0" anchor="ctr">
            <a:normAutofit fontScale="62500" lnSpcReduction="20000"/>
          </a:bodyPr>
          <a:lstStyle/>
          <a:p>
            <a:endParaRPr lang="es-ES"/>
          </a:p>
        </p:txBody>
      </p:sp>
      <p:sp>
        <p:nvSpPr>
          <p:cNvPr id="42" name="cajaModelo"/>
          <p:cNvSpPr/>
          <p:nvPr/>
        </p:nvSpPr>
        <p:spPr>
          <a:xfrm>
            <a:off x="1203960" y="2176272"/>
            <a:ext cx="2103120" cy="438912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45720" tIns="18288" rIns="45720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300" b="1" i="0" spc="100">
                <a:solidFill>
                  <a:srgbClr val="FFFFFF"/>
                </a:solidFill>
              </a:rPr>
              <a:t>MODELO</a:t>
            </a:r>
          </a:p>
        </p:txBody>
      </p:sp>
      <p:sp>
        <p:nvSpPr>
          <p:cNvPr id="43" name="flecha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44240" y="2304288"/>
            <a:ext cx="182880" cy="182880"/>
          </a:xfrm>
          <a:prstGeom prst="rightArrow">
            <a:avLst/>
          </a:prstGeom>
          <a:solidFill>
            <a:srgbClr val="211915"/>
          </a:solidFill>
          <a:ln>
            <a:noFill/>
          </a:ln>
        </p:spPr>
        <p:txBody>
          <a:bodyPr lIns="0" tIns="0" rIns="0" bIns="0" anchor="ctr">
            <a:normAutofit fontScale="40000" lnSpcReduction="20000"/>
          </a:bodyPr>
          <a:lstStyle/>
          <a:p>
            <a:endParaRPr lang="es-ES"/>
          </a:p>
        </p:txBody>
      </p:sp>
      <p:sp>
        <p:nvSpPr>
          <p:cNvPr id="44" name="cajaHarness"/>
          <p:cNvSpPr/>
          <p:nvPr/>
        </p:nvSpPr>
        <p:spPr>
          <a:xfrm>
            <a:off x="3764280" y="2176272"/>
            <a:ext cx="2103120" cy="438912"/>
          </a:xfrm>
          <a:prstGeom prst="rect">
            <a:avLst/>
          </a:prstGeom>
          <a:solidFill>
            <a:srgbClr val="211915"/>
          </a:solidFill>
          <a:ln>
            <a:noFill/>
          </a:ln>
        </p:spPr>
        <p:txBody>
          <a:bodyPr lIns="45720" tIns="18288" rIns="45720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300" b="1" i="0" spc="100">
                <a:solidFill>
                  <a:srgbClr val="FFFFFF"/>
                </a:solidFill>
              </a:rPr>
              <a:t>HARNESS</a:t>
            </a:r>
          </a:p>
        </p:txBody>
      </p:sp>
      <p:sp>
        <p:nvSpPr>
          <p:cNvPr id="45" name="flecha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4560" y="2304288"/>
            <a:ext cx="182880" cy="182880"/>
          </a:xfrm>
          <a:prstGeom prst="rightArrow">
            <a:avLst/>
          </a:prstGeom>
          <a:solidFill>
            <a:srgbClr val="211915"/>
          </a:solidFill>
          <a:ln>
            <a:noFill/>
          </a:ln>
        </p:spPr>
        <p:txBody>
          <a:bodyPr lIns="0" tIns="0" rIns="0" bIns="0" anchor="ctr">
            <a:normAutofit fontScale="40000" lnSpcReduction="20000"/>
          </a:bodyPr>
          <a:lstStyle/>
          <a:p>
            <a:endParaRPr lang="es-ES"/>
          </a:p>
        </p:txBody>
      </p:sp>
      <p:sp>
        <p:nvSpPr>
          <p:cNvPr id="46" name="cajaAgente"/>
          <p:cNvSpPr/>
          <p:nvPr/>
        </p:nvSpPr>
        <p:spPr>
          <a:xfrm>
            <a:off x="6324600" y="2176272"/>
            <a:ext cx="2103120" cy="438912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45720" tIns="18288" rIns="45720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300" b="1" i="0" spc="100">
                <a:solidFill>
                  <a:srgbClr val="FFFFFF"/>
                </a:solidFill>
              </a:rPr>
              <a:t>AGENTE</a:t>
            </a:r>
          </a:p>
        </p:txBody>
      </p:sp>
      <p:sp>
        <p:nvSpPr>
          <p:cNvPr id="47" name="flecha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64880" y="2304288"/>
            <a:ext cx="182880" cy="182880"/>
          </a:xfrm>
          <a:prstGeom prst="rightArrow">
            <a:avLst/>
          </a:prstGeom>
          <a:solidFill>
            <a:srgbClr val="211915"/>
          </a:solidFill>
          <a:ln>
            <a:noFill/>
          </a:ln>
        </p:spPr>
        <p:txBody>
          <a:bodyPr lIns="0" tIns="0" rIns="0" bIns="0" anchor="ctr">
            <a:normAutofit fontScale="40000" lnSpcReduction="20000"/>
          </a:bodyPr>
          <a:lstStyle/>
          <a:p>
            <a:endParaRPr lang="es-ES"/>
          </a:p>
        </p:txBody>
      </p:sp>
      <p:sp>
        <p:nvSpPr>
          <p:cNvPr id="48" name="cajaResultado"/>
          <p:cNvSpPr/>
          <p:nvPr/>
        </p:nvSpPr>
        <p:spPr>
          <a:xfrm>
            <a:off x="8884920" y="2176272"/>
            <a:ext cx="2103120" cy="438912"/>
          </a:xfrm>
          <a:prstGeom prst="rect">
            <a:avLst/>
          </a:prstGeom>
          <a:noFill/>
          <a:ln w="19050">
            <a:solidFill>
              <a:srgbClr val="211915"/>
            </a:solidFill>
          </a:ln>
        </p:spPr>
        <p:txBody>
          <a:bodyPr lIns="45720" tIns="18288" rIns="45720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300" b="1" i="0" spc="100">
                <a:solidFill>
                  <a:srgbClr val="211915"/>
                </a:solidFill>
              </a:rPr>
              <a:t>RESULTADO</a:t>
            </a:r>
          </a:p>
        </p:txBody>
      </p:sp>
      <p:sp>
        <p:nvSpPr>
          <p:cNvPr id="49" name="conectorHarnes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2124" y="2615184"/>
            <a:ext cx="27432" cy="228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 lIns="0" tIns="0" rIns="0" bIns="0" anchor="ctr">
            <a:normAutofit fontScale="92500" lnSpcReduction="20000"/>
          </a:bodyPr>
          <a:lstStyle/>
          <a:p>
            <a:endParaRPr lang="es-ES"/>
          </a:p>
        </p:txBody>
      </p:sp>
      <p:sp>
        <p:nvSpPr>
          <p:cNvPr id="50" name="tbContextoEstado"/>
          <p:cNvSpPr txBox="1"/>
          <p:nvPr/>
        </p:nvSpPr>
        <p:spPr>
          <a:xfrm>
            <a:off x="3764280" y="286512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000" b="1" i="0" spc="80">
                <a:solidFill>
                  <a:srgbClr val="7A7A7A"/>
                </a:solidFill>
              </a:rPr>
              <a:t>CONTEXTO  ·  ESTADO</a:t>
            </a:r>
          </a:p>
        </p:txBody>
      </p:sp>
      <p:sp>
        <p:nvSpPr>
          <p:cNvPr id="51" name="conectorAgen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62444" y="2615184"/>
            <a:ext cx="27432" cy="228600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0" tIns="0" rIns="0" bIns="0" anchor="ctr">
            <a:normAutofit fontScale="92500" lnSpcReduction="20000"/>
          </a:bodyPr>
          <a:lstStyle/>
          <a:p>
            <a:endParaRPr lang="es-ES"/>
          </a:p>
        </p:txBody>
      </p:sp>
      <p:sp>
        <p:nvSpPr>
          <p:cNvPr id="52" name="tbHerramientas"/>
          <p:cNvSpPr txBox="1"/>
          <p:nvPr/>
        </p:nvSpPr>
        <p:spPr>
          <a:xfrm>
            <a:off x="6324600" y="286512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000" b="1" i="0" spc="80">
                <a:solidFill>
                  <a:srgbClr val="ED1C29"/>
                </a:solidFill>
              </a:rPr>
              <a:t>HERRAMIENTAS</a:t>
            </a:r>
          </a:p>
        </p:txBody>
      </p:sp>
      <p:sp>
        <p:nvSpPr>
          <p:cNvPr id="53" name="conectorTool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62444" y="3117088"/>
            <a:ext cx="27432" cy="182880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0" tIns="0" rIns="0" bIns="0" anchor="ctr">
            <a:normAutofit fontScale="77500" lnSpcReduction="20000"/>
          </a:bodyPr>
          <a:lstStyle/>
          <a:p>
            <a:endParaRPr lang="es-ES"/>
          </a:p>
        </p:txBody>
      </p:sp>
      <p:sp>
        <p:nvSpPr>
          <p:cNvPr id="54" name="tbEntorno"/>
          <p:cNvSpPr txBox="1"/>
          <p:nvPr/>
        </p:nvSpPr>
        <p:spPr>
          <a:xfrm>
            <a:off x="5486400" y="3319272"/>
            <a:ext cx="377952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100" b="0" i="0">
                <a:solidFill>
                  <a:srgbClr val="7A7A7A"/>
                </a:solidFill>
              </a:rPr>
              <a:t>Repositorio  ·  Terminal  ·  Pruebas  ·  Git</a:t>
            </a:r>
          </a:p>
        </p:txBody>
      </p:sp>
      <p:sp>
        <p:nvSpPr>
          <p:cNvPr id="60" name="regla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114800"/>
            <a:ext cx="2500000" cy="45720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0" tIns="0" rIns="0" bIns="0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61" name="tbDef1"/>
          <p:cNvSpPr txBox="1"/>
          <p:nvPr/>
        </p:nvSpPr>
        <p:spPr>
          <a:xfrm>
            <a:off x="658368" y="4260976"/>
            <a:ext cx="2500000" cy="118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s-ES" sz="1100" b="1" i="0" spc="100">
                <a:solidFill>
                  <a:srgbClr val="ED1C29"/>
                </a:solidFill>
              </a:rPr>
              <a:t>MODELO</a:t>
            </a:r>
          </a:p>
          <a:p>
            <a:pPr algn="l">
              <a:lnSpc>
                <a:spcPct val="110000"/>
              </a:lnSpc>
            </a:pPr>
            <a:r>
              <a:rPr lang="es-ES" sz="1100" b="0" i="0">
                <a:solidFill>
                  <a:srgbClr val="7A7A7A"/>
                </a:solidFill>
              </a:rPr>
              <a:t>Componente de IA que interpreta instrucciones, razona y genera respuestas o código.</a:t>
            </a:r>
          </a:p>
        </p:txBody>
      </p:sp>
      <p:sp>
        <p:nvSpPr>
          <p:cNvPr id="62" name="regla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2688" y="4114800"/>
            <a:ext cx="2500000" cy="45720"/>
          </a:xfrm>
          <a:prstGeom prst="rect">
            <a:avLst/>
          </a:prstGeom>
          <a:solidFill>
            <a:srgbClr val="211915"/>
          </a:solidFill>
          <a:ln>
            <a:noFill/>
          </a:ln>
        </p:spPr>
        <p:txBody>
          <a:bodyPr lIns="0" tIns="0" rIns="0" bIns="0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63" name="tbDef2"/>
          <p:cNvSpPr txBox="1"/>
          <p:nvPr/>
        </p:nvSpPr>
        <p:spPr>
          <a:xfrm>
            <a:off x="3432688" y="4260976"/>
            <a:ext cx="2500000" cy="118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s-ES" sz="1100" b="1" i="0" spc="100">
                <a:solidFill>
                  <a:srgbClr val="211915"/>
                </a:solidFill>
              </a:rPr>
              <a:t>HARNESS</a:t>
            </a:r>
          </a:p>
          <a:p>
            <a:pPr algn="l">
              <a:lnSpc>
                <a:spcPct val="110000"/>
              </a:lnSpc>
            </a:pPr>
            <a:r>
              <a:rPr lang="es-ES" sz="1100" b="0" i="0">
                <a:solidFill>
                  <a:srgbClr val="7A7A7A"/>
                </a:solidFill>
              </a:rPr>
              <a:t>Capa de ejecución que administra el ciclo del agente, el contexto, el estado, las herramientas, los permisos y la retroalimentación.</a:t>
            </a:r>
          </a:p>
        </p:txBody>
      </p:sp>
      <p:sp>
        <p:nvSpPr>
          <p:cNvPr id="64" name="regla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7008" y="4114800"/>
            <a:ext cx="2500000" cy="45720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0" tIns="0" rIns="0" bIns="0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65" name="tbDef3"/>
          <p:cNvSpPr txBox="1"/>
          <p:nvPr/>
        </p:nvSpPr>
        <p:spPr>
          <a:xfrm>
            <a:off x="6207008" y="4260976"/>
            <a:ext cx="2500000" cy="118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s-ES" sz="1100" b="1" i="0" spc="100">
                <a:solidFill>
                  <a:srgbClr val="ED1C29"/>
                </a:solidFill>
              </a:rPr>
              <a:t>AGENTE</a:t>
            </a:r>
          </a:p>
          <a:p>
            <a:pPr algn="l">
              <a:lnSpc>
                <a:spcPct val="110000"/>
              </a:lnSpc>
            </a:pPr>
            <a:r>
              <a:rPr lang="es-ES" sz="1100" b="0" i="0">
                <a:solidFill>
                  <a:srgbClr val="7A7A7A"/>
                </a:solidFill>
              </a:rPr>
              <a:t>Sistema que recibe un objetivo, planifica, utiliza herramientas, ejecuta acciones y revisa resultados.</a:t>
            </a:r>
          </a:p>
        </p:txBody>
      </p:sp>
      <p:sp>
        <p:nvSpPr>
          <p:cNvPr id="66" name="regla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1328" y="4114800"/>
            <a:ext cx="2500000" cy="45720"/>
          </a:xfrm>
          <a:prstGeom prst="rect">
            <a:avLst/>
          </a:prstGeom>
          <a:solidFill>
            <a:srgbClr val="211915"/>
          </a:solidFill>
          <a:ln>
            <a:noFill/>
          </a:ln>
        </p:spPr>
        <p:txBody>
          <a:bodyPr lIns="0" tIns="0" rIns="0" bIns="0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67" name="tbDef4"/>
          <p:cNvSpPr txBox="1"/>
          <p:nvPr/>
        </p:nvSpPr>
        <p:spPr>
          <a:xfrm>
            <a:off x="8981328" y="4260976"/>
            <a:ext cx="2500000" cy="118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s-ES" sz="1100" b="1" i="0" spc="100">
                <a:solidFill>
                  <a:srgbClr val="211915"/>
                </a:solidFill>
              </a:rPr>
              <a:t>HERRAMIENTAS</a:t>
            </a:r>
          </a:p>
          <a:p>
            <a:pPr algn="l">
              <a:lnSpc>
                <a:spcPct val="110000"/>
              </a:lnSpc>
            </a:pPr>
            <a:r>
              <a:rPr lang="es-ES" sz="1100" b="0" i="0">
                <a:solidFill>
                  <a:srgbClr val="7A7A7A"/>
                </a:solidFill>
              </a:rPr>
              <a:t>Capacidades para leer y editar archivos, ejecutar comandos, correr pruebas, utilizar Git y consultar APIs.</a:t>
            </a:r>
          </a:p>
        </p:txBody>
      </p:sp>
      <p:sp>
        <p:nvSpPr>
          <p:cNvPr id="25" name="sh25"/>
          <p:cNvSpPr/>
          <p:nvPr/>
        </p:nvSpPr>
        <p:spPr>
          <a:xfrm>
            <a:off x="658368" y="5779008"/>
            <a:ext cx="10875234" cy="475488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1400" b="1" i="0" dirty="0">
                <a:solidFill>
                  <a:srgbClr val="FFFFFF"/>
                </a:solidFill>
              </a:rPr>
              <a:t>El modelo interpreta y genera, el </a:t>
            </a:r>
            <a:r>
              <a:rPr lang="es-ES" sz="1400" b="1" i="0" dirty="0" err="1">
                <a:solidFill>
                  <a:srgbClr val="FFFFFF"/>
                </a:solidFill>
              </a:rPr>
              <a:t>harness</a:t>
            </a:r>
            <a:r>
              <a:rPr lang="es-ES" sz="1400" b="1" i="0" dirty="0">
                <a:solidFill>
                  <a:srgbClr val="FFFFFF"/>
                </a:solidFill>
              </a:rPr>
              <a:t> controla la ejecución</a:t>
            </a:r>
            <a:r>
              <a:rPr lang="es-ES" sz="1400" b="1" dirty="0">
                <a:solidFill>
                  <a:srgbClr val="FFFFFF"/>
                </a:solidFill>
              </a:rPr>
              <a:t>, </a:t>
            </a:r>
            <a:r>
              <a:rPr lang="es-ES" sz="1400" b="1" i="0" dirty="0">
                <a:solidFill>
                  <a:srgbClr val="FFFFFF"/>
                </a:solidFill>
              </a:rPr>
              <a:t>el agente actúa.</a:t>
            </a:r>
          </a:p>
        </p:txBody>
      </p:sp>
      <p:sp>
        <p:nvSpPr>
          <p:cNvPr id="29" name="tb29"/>
          <p:cNvSpPr txBox="1"/>
          <p:nvPr/>
        </p:nvSpPr>
        <p:spPr>
          <a:xfrm>
            <a:off x="658368" y="627278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211915"/>
                </a:solidFill>
              </a:rPr>
              <a:t>Tuya   ·   Spec-Driven Development con OpenSpec</a:t>
            </a:r>
          </a:p>
        </p:txBody>
      </p:sp>
      <p:sp>
        <p:nvSpPr>
          <p:cNvPr id="30" name="tb30"/>
          <p:cNvSpPr txBox="1"/>
          <p:nvPr/>
        </p:nvSpPr>
        <p:spPr>
          <a:xfrm>
            <a:off x="10436322" y="627278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ED1C29"/>
                </a:solidFill>
              </a:rPr>
              <a:t>02</a:t>
            </a:r>
          </a:p>
        </p:txBody>
      </p:sp>
      <p:pic>
        <p:nvPicPr>
          <p:cNvPr id="900" name="Logo Tuya" descr="Logo corporativo Tu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2200" y="321276"/>
            <a:ext cx="6400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84048"/>
            <a:ext cx="146304" cy="14630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0" tIns="0" rIns="0" bIns="0" anchor="ctr">
            <a:normAutofit fontScale="62500" lnSpcReduction="20000"/>
          </a:bodyPr>
          <a:lstStyle/>
          <a:p>
            <a:endParaRPr lang="es-ES"/>
          </a:p>
        </p:txBody>
      </p:sp>
      <p:sp>
        <p:nvSpPr>
          <p:cNvPr id="27" name="tb27"/>
          <p:cNvSpPr txBox="1"/>
          <p:nvPr/>
        </p:nvSpPr>
        <p:spPr>
          <a:xfrm>
            <a:off x="914400" y="36576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050" b="1" i="0" spc="120">
                <a:solidFill>
                  <a:srgbClr val="ED1C29"/>
                </a:solidFill>
              </a:rPr>
              <a:t>EL AGENTE NECESITA MÁS QUE UN PROMPT</a:t>
            </a:r>
          </a:p>
        </p:txBody>
      </p:sp>
      <p:sp>
        <p:nvSpPr>
          <p:cNvPr id="28" name="tb28"/>
          <p:cNvSpPr txBox="1"/>
          <p:nvPr/>
        </p:nvSpPr>
        <p:spPr>
          <a:xfrm>
            <a:off x="658368" y="713232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3000" b="1" i="0">
                <a:solidFill>
                  <a:srgbClr val="211915"/>
                </a:solidFill>
              </a:rPr>
              <a:t>Contexto, reglas, proceso y resultados persistentes</a:t>
            </a:r>
          </a:p>
        </p:txBody>
      </p:sp>
      <p:sp>
        <p:nvSpPr>
          <p:cNvPr id="40" name="rule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645920"/>
            <a:ext cx="2450000" cy="5486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0" tIns="0" rIns="0" bIns="0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41" name="tbA"/>
          <p:cNvSpPr txBox="1"/>
          <p:nvPr/>
        </p:nvSpPr>
        <p:spPr>
          <a:xfrm>
            <a:off x="658368" y="1783080"/>
            <a:ext cx="2270000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lang="es-ES" sz="1400" b="1" i="0" spc="100">
                <a:solidFill>
                  <a:srgbClr val="211915"/>
                </a:solidFill>
              </a:rPr>
              <a:t>CONTEXTO</a:t>
            </a:r>
          </a:p>
          <a:p>
            <a:pPr algn="l">
              <a:lnSpc>
                <a:spcPct val="110000"/>
              </a:lnSpc>
            </a:pPr>
            <a:r>
              <a:rPr lang="es-ES" sz="1100" b="0" i="0">
                <a:solidFill>
                  <a:srgbClr val="7A7A7A"/>
                </a:solidFill>
              </a:rPr>
              <a:t>Código, arquitectura, dependencias, instrucciones, decisiones y especificaciones que el agente puede consultar.</a:t>
            </a:r>
          </a:p>
        </p:txBody>
      </p:sp>
      <p:sp>
        <p:nvSpPr>
          <p:cNvPr id="42" name="arrow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91928" y="2148840"/>
            <a:ext cx="182880" cy="182880"/>
          </a:xfrm>
          <a:prstGeom prst="rightArrow">
            <a:avLst/>
          </a:prstGeom>
          <a:solidFill>
            <a:srgbClr val="ED1C29"/>
          </a:solidFill>
          <a:ln>
            <a:noFill/>
          </a:ln>
        </p:spPr>
        <p:txBody>
          <a:bodyPr lIns="0" tIns="0" rIns="0" bIns="0" anchor="ctr">
            <a:normAutofit fontScale="40000" lnSpcReduction="20000"/>
          </a:bodyPr>
          <a:lstStyle/>
          <a:p>
            <a:endParaRPr lang="es-ES"/>
          </a:p>
        </p:txBody>
      </p:sp>
      <p:sp>
        <p:nvSpPr>
          <p:cNvPr id="43" name="rule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58368" y="1645920"/>
            <a:ext cx="2450000" cy="54864"/>
          </a:xfrm>
          <a:prstGeom prst="rect">
            <a:avLst/>
          </a:prstGeom>
          <a:solidFill>
            <a:srgbClr val="211915"/>
          </a:solidFill>
          <a:ln>
            <a:noFill/>
          </a:ln>
        </p:spPr>
        <p:txBody>
          <a:bodyPr lIns="0" tIns="0" rIns="0" bIns="0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44" name="tbB"/>
          <p:cNvSpPr txBox="1"/>
          <p:nvPr/>
        </p:nvSpPr>
        <p:spPr>
          <a:xfrm>
            <a:off x="3458368" y="1783080"/>
            <a:ext cx="2270000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lang="en-US" sz="1400" b="1" i="0" spc="100">
                <a:solidFill>
                  <a:srgbClr val="211915"/>
                </a:solidFill>
              </a:rPr>
              <a:t>STANDARDS / REGLAS DEL PROYECTO</a:t>
            </a:r>
          </a:p>
          <a:p>
            <a:pPr algn="l">
              <a:lnSpc>
                <a:spcPct val="110000"/>
              </a:lnSpc>
            </a:pPr>
            <a:r>
              <a:rPr lang="en-US" sz="1100" b="0" i="0">
                <a:solidFill>
                  <a:srgbClr val="7A7A7A"/>
                </a:solidFill>
              </a:rPr>
              <a:t>Reglas y convenciones del proyecto: arquitectura, estilo, seguridad, pruebas, nomenclatura y calidad.</a:t>
            </a:r>
            <a:endParaRPr lang="es-ES" sz="1100" b="0" i="0">
              <a:solidFill>
                <a:srgbClr val="7A7A7A"/>
              </a:solidFill>
            </a:endParaRPr>
          </a:p>
        </p:txBody>
      </p:sp>
      <p:sp>
        <p:nvSpPr>
          <p:cNvPr id="45" name="arrow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1928" y="2148840"/>
            <a:ext cx="182880" cy="182880"/>
          </a:xfrm>
          <a:prstGeom prst="rightArrow">
            <a:avLst/>
          </a:prstGeom>
          <a:solidFill>
            <a:srgbClr val="ED1C29"/>
          </a:solidFill>
          <a:ln>
            <a:noFill/>
          </a:ln>
        </p:spPr>
        <p:txBody>
          <a:bodyPr lIns="0" tIns="0" rIns="0" bIns="0" anchor="ctr">
            <a:normAutofit fontScale="40000" lnSpcReduction="20000"/>
          </a:bodyPr>
          <a:lstStyle/>
          <a:p>
            <a:endParaRPr lang="es-ES"/>
          </a:p>
        </p:txBody>
      </p:sp>
      <p:sp>
        <p:nvSpPr>
          <p:cNvPr id="46" name="rul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58368" y="1645920"/>
            <a:ext cx="2450000" cy="5486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0" tIns="0" rIns="0" bIns="0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47" name="tbC"/>
          <p:cNvSpPr txBox="1"/>
          <p:nvPr/>
        </p:nvSpPr>
        <p:spPr>
          <a:xfrm>
            <a:off x="6258368" y="1783080"/>
            <a:ext cx="2270000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lang="en-US" sz="1400" b="1" i="0" spc="100">
                <a:solidFill>
                  <a:srgbClr val="211915"/>
                </a:solidFill>
              </a:rPr>
              <a:t>WORKFLOW / FLUJO DE TRABAJO</a:t>
            </a:r>
          </a:p>
          <a:p>
            <a:pPr algn="l">
              <a:lnSpc>
                <a:spcPct val="110000"/>
              </a:lnSpc>
            </a:pPr>
            <a:r>
              <a:rPr lang="en-US" sz="1100" b="0" i="0">
                <a:solidFill>
                  <a:srgbClr val="7A7A7A"/>
                </a:solidFill>
              </a:rPr>
              <a:t>Secuencia de acciones, decisiones y puntos de revisión que guía el trabajo.</a:t>
            </a:r>
            <a:endParaRPr lang="es-ES" sz="1100" b="0" i="0">
              <a:solidFill>
                <a:srgbClr val="7A7A7A"/>
              </a:solidFill>
            </a:endParaRPr>
          </a:p>
        </p:txBody>
      </p:sp>
      <p:sp>
        <p:nvSpPr>
          <p:cNvPr id="48" name="arrow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91928" y="2148840"/>
            <a:ext cx="182880" cy="182880"/>
          </a:xfrm>
          <a:prstGeom prst="rightArrow">
            <a:avLst/>
          </a:prstGeom>
          <a:solidFill>
            <a:srgbClr val="ED1C29"/>
          </a:solidFill>
          <a:ln>
            <a:noFill/>
          </a:ln>
        </p:spPr>
        <p:txBody>
          <a:bodyPr lIns="0" tIns="0" rIns="0" bIns="0" anchor="ctr">
            <a:normAutofit fontScale="40000" lnSpcReduction="20000"/>
          </a:bodyPr>
          <a:lstStyle/>
          <a:p>
            <a:endParaRPr lang="es-ES"/>
          </a:p>
        </p:txBody>
      </p:sp>
      <p:sp>
        <p:nvSpPr>
          <p:cNvPr id="49" name="rul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58368" y="1645920"/>
            <a:ext cx="2450000" cy="54864"/>
          </a:xfrm>
          <a:prstGeom prst="rect">
            <a:avLst/>
          </a:prstGeom>
          <a:solidFill>
            <a:srgbClr val="211915"/>
          </a:solidFill>
          <a:ln>
            <a:noFill/>
          </a:ln>
        </p:spPr>
        <p:txBody>
          <a:bodyPr lIns="0" tIns="0" rIns="0" bIns="0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50" name="tbD"/>
          <p:cNvSpPr txBox="1"/>
          <p:nvPr/>
        </p:nvSpPr>
        <p:spPr>
          <a:xfrm>
            <a:off x="9058368" y="1783080"/>
            <a:ext cx="2270000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lang="es-ES" sz="1400" b="1" i="0" spc="100">
                <a:solidFill>
                  <a:srgbClr val="211915"/>
                </a:solidFill>
              </a:rPr>
              <a:t>ARTEFACTOS</a:t>
            </a:r>
          </a:p>
          <a:p>
            <a:pPr algn="l">
              <a:lnSpc>
                <a:spcPct val="110000"/>
              </a:lnSpc>
            </a:pPr>
            <a:r>
              <a:rPr lang="es-ES" sz="1100" b="0" i="0">
                <a:solidFill>
                  <a:srgbClr val="7A7A7A"/>
                </a:solidFill>
              </a:rPr>
              <a:t>Resultados persistentes y versionables: propuesta, requisitos, diseño, tareas, código y pruebas.</a:t>
            </a:r>
          </a:p>
        </p:txBody>
      </p:sp>
      <p:sp>
        <p:nvSpPr>
          <p:cNvPr id="55" name="bandaPreguntas"/>
          <p:cNvSpPr/>
          <p:nvPr/>
        </p:nvSpPr>
        <p:spPr>
          <a:xfrm>
            <a:off x="658368" y="3566160"/>
            <a:ext cx="10850000" cy="329184"/>
          </a:xfrm>
          <a:prstGeom prst="rect">
            <a:avLst/>
          </a:prstGeom>
          <a:solidFill>
            <a:srgbClr val="211915"/>
          </a:solidFill>
          <a:ln>
            <a:noFill/>
          </a:ln>
        </p:spPr>
        <p:txBody>
          <a:bodyPr lIns="146304" tIns="18288" rIns="146304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1000" b="1" i="0" spc="120">
                <a:solidFill>
                  <a:srgbClr val="FFFFFF"/>
                </a:solidFill>
              </a:rPr>
              <a:t>QUÉ RESPONDE CADA CONCEPTO</a:t>
            </a:r>
          </a:p>
        </p:txBody>
      </p:sp>
      <p:sp>
        <p:nvSpPr>
          <p:cNvPr id="56" name="tbQ1"/>
          <p:cNvSpPr txBox="1"/>
          <p:nvPr/>
        </p:nvSpPr>
        <p:spPr>
          <a:xfrm>
            <a:off x="658368" y="4160520"/>
            <a:ext cx="2450000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s-ES" sz="1000" b="1" i="0" spc="100">
                <a:solidFill>
                  <a:srgbClr val="ED1C29"/>
                </a:solidFill>
              </a:rPr>
              <a:t>CONTEXTO</a:t>
            </a:r>
          </a:p>
          <a:p>
            <a:pPr algn="l">
              <a:lnSpc>
                <a:spcPct val="100000"/>
              </a:lnSpc>
            </a:pPr>
            <a:r>
              <a:rPr lang="es-ES" sz="1400" b="1" i="0">
                <a:solidFill>
                  <a:srgbClr val="211915"/>
                </a:solidFill>
              </a:rPr>
              <a:t>¿Qué necesita saber?</a:t>
            </a:r>
          </a:p>
        </p:txBody>
      </p:sp>
      <p:sp>
        <p:nvSpPr>
          <p:cNvPr id="57" name="tbQ2"/>
          <p:cNvSpPr txBox="1"/>
          <p:nvPr/>
        </p:nvSpPr>
        <p:spPr>
          <a:xfrm>
            <a:off x="3458368" y="4160520"/>
            <a:ext cx="2450000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s-ES" sz="1000" b="1" i="0" spc="100">
                <a:solidFill>
                  <a:srgbClr val="ED1C29"/>
                </a:solidFill>
              </a:rPr>
              <a:t>STANDARDS</a:t>
            </a:r>
          </a:p>
          <a:p>
            <a:pPr algn="l">
              <a:lnSpc>
                <a:spcPct val="100000"/>
              </a:lnSpc>
            </a:pPr>
            <a:r>
              <a:rPr lang="es-ES" sz="1400" b="1" i="0">
                <a:solidFill>
                  <a:srgbClr val="211915"/>
                </a:solidFill>
              </a:rPr>
              <a:t>¿Qué reglas debe respetar?</a:t>
            </a:r>
          </a:p>
        </p:txBody>
      </p:sp>
      <p:sp>
        <p:nvSpPr>
          <p:cNvPr id="58" name="tbQ3"/>
          <p:cNvSpPr txBox="1"/>
          <p:nvPr/>
        </p:nvSpPr>
        <p:spPr>
          <a:xfrm>
            <a:off x="6258368" y="4160520"/>
            <a:ext cx="2450000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s-ES" sz="1000" b="1" i="0" spc="100">
                <a:solidFill>
                  <a:srgbClr val="ED1C29"/>
                </a:solidFill>
              </a:rPr>
              <a:t>WORKFLOW</a:t>
            </a:r>
          </a:p>
          <a:p>
            <a:pPr algn="l">
              <a:lnSpc>
                <a:spcPct val="100000"/>
              </a:lnSpc>
            </a:pPr>
            <a:r>
              <a:rPr lang="es-ES" sz="1400" b="1" i="0">
                <a:solidFill>
                  <a:srgbClr val="211915"/>
                </a:solidFill>
              </a:rPr>
              <a:t>¿Cómo debe avanzar?</a:t>
            </a:r>
          </a:p>
        </p:txBody>
      </p:sp>
      <p:sp>
        <p:nvSpPr>
          <p:cNvPr id="59" name="tbQ4"/>
          <p:cNvSpPr txBox="1"/>
          <p:nvPr/>
        </p:nvSpPr>
        <p:spPr>
          <a:xfrm>
            <a:off x="9058368" y="4160520"/>
            <a:ext cx="2450000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s-ES" sz="1000" b="1" i="0" spc="100">
                <a:solidFill>
                  <a:srgbClr val="ED1C29"/>
                </a:solidFill>
              </a:rPr>
              <a:t>ARTEFACTOS</a:t>
            </a:r>
          </a:p>
          <a:p>
            <a:pPr algn="l">
              <a:lnSpc>
                <a:spcPct val="100000"/>
              </a:lnSpc>
            </a:pPr>
            <a:r>
              <a:rPr lang="es-ES" sz="1400" b="1" i="0">
                <a:solidFill>
                  <a:srgbClr val="211915"/>
                </a:solidFill>
              </a:rPr>
              <a:t>¿Qué debe quedar registrado?</a:t>
            </a:r>
          </a:p>
        </p:txBody>
      </p:sp>
      <p:sp>
        <p:nvSpPr>
          <p:cNvPr id="25" name="sh25"/>
          <p:cNvSpPr/>
          <p:nvPr/>
        </p:nvSpPr>
        <p:spPr>
          <a:xfrm>
            <a:off x="658368" y="5779008"/>
            <a:ext cx="10875234" cy="475488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1400" b="1" i="0" dirty="0">
                <a:solidFill>
                  <a:srgbClr val="FFFFFF"/>
                </a:solidFill>
              </a:rPr>
              <a:t>SDD estructura el acuerdo que guía al agente, </a:t>
            </a:r>
            <a:r>
              <a:rPr lang="es-ES" sz="1400" b="1" i="0" dirty="0" err="1">
                <a:solidFill>
                  <a:srgbClr val="FFFFFF"/>
                </a:solidFill>
              </a:rPr>
              <a:t>OpenSpec</a:t>
            </a:r>
            <a:r>
              <a:rPr lang="es-ES" sz="1400" b="1" i="0" dirty="0">
                <a:solidFill>
                  <a:srgbClr val="FFFFFF"/>
                </a:solidFill>
              </a:rPr>
              <a:t> convierte ese acuerdo en un </a:t>
            </a:r>
            <a:r>
              <a:rPr lang="es-ES" sz="1400" b="1" i="0" dirty="0" err="1">
                <a:solidFill>
                  <a:srgbClr val="FFFFFF"/>
                </a:solidFill>
              </a:rPr>
              <a:t>workflow</a:t>
            </a:r>
            <a:r>
              <a:rPr lang="es-ES" sz="1400" b="1" i="0" dirty="0">
                <a:solidFill>
                  <a:srgbClr val="FFFFFF"/>
                </a:solidFill>
              </a:rPr>
              <a:t> y en artefactos dentro del repositorio.</a:t>
            </a:r>
          </a:p>
        </p:txBody>
      </p:sp>
      <p:sp>
        <p:nvSpPr>
          <p:cNvPr id="29" name="tb29"/>
          <p:cNvSpPr txBox="1"/>
          <p:nvPr/>
        </p:nvSpPr>
        <p:spPr>
          <a:xfrm>
            <a:off x="658368" y="627278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211915"/>
                </a:solidFill>
              </a:rPr>
              <a:t>Tuya   ·   Spec-Driven Development con OpenSpec</a:t>
            </a:r>
          </a:p>
        </p:txBody>
      </p:sp>
      <p:sp>
        <p:nvSpPr>
          <p:cNvPr id="30" name="tb30"/>
          <p:cNvSpPr txBox="1"/>
          <p:nvPr/>
        </p:nvSpPr>
        <p:spPr>
          <a:xfrm>
            <a:off x="10436322" y="627278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ED1C29"/>
                </a:solidFill>
              </a:rPr>
              <a:t>03</a:t>
            </a:r>
          </a:p>
        </p:txBody>
      </p:sp>
      <p:pic>
        <p:nvPicPr>
          <p:cNvPr id="900" name="Logo Tuya" descr="Logo corporativo Tu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2200" y="321276"/>
            <a:ext cx="6400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26"/>
          <p:cNvSpPr/>
          <p:nvPr/>
        </p:nvSpPr>
        <p:spPr>
          <a:xfrm>
            <a:off x="658368" y="384048"/>
            <a:ext cx="146304" cy="14630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27" name="tb27"/>
          <p:cNvSpPr txBox="1"/>
          <p:nvPr/>
        </p:nvSpPr>
        <p:spPr>
          <a:xfrm>
            <a:off x="914400" y="36576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050" b="1" i="0" spc="120" dirty="0">
                <a:solidFill>
                  <a:srgbClr val="ED1C29"/>
                </a:solidFill>
              </a:rPr>
              <a:t>POR QUÉ HABLAR DE SDD</a:t>
            </a:r>
          </a:p>
        </p:txBody>
      </p:sp>
      <p:sp>
        <p:nvSpPr>
          <p:cNvPr id="28" name="tb28"/>
          <p:cNvSpPr txBox="1"/>
          <p:nvPr/>
        </p:nvSpPr>
        <p:spPr>
          <a:xfrm>
            <a:off x="658368" y="713232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3000" b="1" i="0" dirty="0">
                <a:solidFill>
                  <a:srgbClr val="211915"/>
                </a:solidFill>
              </a:rPr>
              <a:t>La velocidad no corrige la ambigüedad</a:t>
            </a:r>
          </a:p>
        </p:txBody>
      </p:sp>
      <p:sp>
        <p:nvSpPr>
          <p:cNvPr id="11" name="sh11"/>
          <p:cNvSpPr/>
          <p:nvPr/>
        </p:nvSpPr>
        <p:spPr>
          <a:xfrm>
            <a:off x="658368" y="1719072"/>
            <a:ext cx="54864" cy="914400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/>
          </a:bodyPr>
          <a:lstStyle/>
          <a:p>
            <a:endParaRPr lang="es-ES"/>
          </a:p>
        </p:txBody>
      </p:sp>
      <p:sp>
        <p:nvSpPr>
          <p:cNvPr id="12" name="tb12"/>
          <p:cNvSpPr txBox="1"/>
          <p:nvPr/>
        </p:nvSpPr>
        <p:spPr>
          <a:xfrm>
            <a:off x="969264" y="174650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000" b="1" i="0" spc="100" dirty="0">
                <a:solidFill>
                  <a:srgbClr val="ED1C29"/>
                </a:solidFill>
              </a:rPr>
              <a:t>PROBLEMA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969264" y="202082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600" b="1" i="0" dirty="0">
                <a:solidFill>
                  <a:srgbClr val="211915"/>
                </a:solidFill>
              </a:rPr>
              <a:t>La intención llega incompleta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5596128" y="1810512"/>
            <a:ext cx="5394960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00" b="0" i="0" dirty="0">
                <a:solidFill>
                  <a:srgbClr val="7A7A7A"/>
                </a:solidFill>
              </a:rPr>
              <a:t>Pedimos una funcionalidad en una conversación, las restricciones y los criterios se quedan implícitos.</a:t>
            </a:r>
          </a:p>
        </p:txBody>
      </p:sp>
      <p:sp>
        <p:nvSpPr>
          <p:cNvPr id="15" name="sh15"/>
          <p:cNvSpPr/>
          <p:nvPr/>
        </p:nvSpPr>
        <p:spPr>
          <a:xfrm>
            <a:off x="704088" y="2770632"/>
            <a:ext cx="310896" cy="274320"/>
          </a:xfrm>
          <a:prstGeom prst="downArrow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16" name="sh16"/>
          <p:cNvSpPr/>
          <p:nvPr/>
        </p:nvSpPr>
        <p:spPr>
          <a:xfrm>
            <a:off x="658368" y="3200400"/>
            <a:ext cx="54864" cy="914400"/>
          </a:xfrm>
          <a:prstGeom prst="rect">
            <a:avLst/>
          </a:prstGeom>
          <a:solidFill>
            <a:srgbClr val="211915"/>
          </a:solidFill>
          <a:ln>
            <a:noFill/>
          </a:ln>
        </p:spPr>
        <p:txBody>
          <a:bodyPr lIns="146304" tIns="73152" rIns="146304" bIns="73152" anchor="ctr">
            <a:normAutofit/>
          </a:bodyPr>
          <a:lstStyle/>
          <a:p>
            <a:endParaRPr lang="es-ES"/>
          </a:p>
        </p:txBody>
      </p:sp>
      <p:sp>
        <p:nvSpPr>
          <p:cNvPr id="17" name="tb17"/>
          <p:cNvSpPr txBox="1"/>
          <p:nvPr/>
        </p:nvSpPr>
        <p:spPr>
          <a:xfrm>
            <a:off x="969264" y="32278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000" b="1" i="0" spc="100" dirty="0">
                <a:solidFill>
                  <a:srgbClr val="7A7A7A"/>
                </a:solidFill>
              </a:rPr>
              <a:t>RIESGO</a:t>
            </a:r>
          </a:p>
        </p:txBody>
      </p:sp>
      <p:sp>
        <p:nvSpPr>
          <p:cNvPr id="18" name="tb18"/>
          <p:cNvSpPr txBox="1"/>
          <p:nvPr/>
        </p:nvSpPr>
        <p:spPr>
          <a:xfrm>
            <a:off x="969264" y="350215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600" b="1" i="0" dirty="0">
                <a:solidFill>
                  <a:srgbClr val="211915"/>
                </a:solidFill>
              </a:rPr>
              <a:t>El agente completa los vacíos</a:t>
            </a:r>
          </a:p>
        </p:txBody>
      </p:sp>
      <p:sp>
        <p:nvSpPr>
          <p:cNvPr id="19" name="tb19"/>
          <p:cNvSpPr txBox="1"/>
          <p:nvPr/>
        </p:nvSpPr>
        <p:spPr>
          <a:xfrm>
            <a:off x="5596128" y="3291840"/>
            <a:ext cx="5394960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00" b="0" i="0" dirty="0">
                <a:solidFill>
                  <a:srgbClr val="7A7A7A"/>
                </a:solidFill>
              </a:rPr>
              <a:t>Lo que el equipo no acordó lo decide el modelo, y esa decisión no queda registrada en ninguna parte.</a:t>
            </a:r>
          </a:p>
        </p:txBody>
      </p:sp>
      <p:sp>
        <p:nvSpPr>
          <p:cNvPr id="20" name="sh20"/>
          <p:cNvSpPr/>
          <p:nvPr/>
        </p:nvSpPr>
        <p:spPr>
          <a:xfrm>
            <a:off x="704088" y="4251960"/>
            <a:ext cx="310896" cy="274320"/>
          </a:xfrm>
          <a:prstGeom prst="downArrow">
            <a:avLst/>
          </a:prstGeom>
          <a:solidFill>
            <a:srgbClr val="211915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21" name="sh21"/>
          <p:cNvSpPr/>
          <p:nvPr/>
        </p:nvSpPr>
        <p:spPr>
          <a:xfrm>
            <a:off x="658368" y="4681728"/>
            <a:ext cx="54864" cy="9144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 lIns="146304" tIns="73152" rIns="146304" bIns="73152" anchor="ctr">
            <a:normAutofit/>
          </a:bodyPr>
          <a:lstStyle/>
          <a:p>
            <a:endParaRPr lang="es-ES"/>
          </a:p>
        </p:txBody>
      </p:sp>
      <p:sp>
        <p:nvSpPr>
          <p:cNvPr id="22" name="tb22"/>
          <p:cNvSpPr txBox="1"/>
          <p:nvPr/>
        </p:nvSpPr>
        <p:spPr>
          <a:xfrm>
            <a:off x="969264" y="47091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000" b="1" i="0" spc="100" dirty="0">
                <a:solidFill>
                  <a:srgbClr val="7A7A7A"/>
                </a:solidFill>
              </a:rPr>
              <a:t>CONSECUENCIA</a:t>
            </a:r>
          </a:p>
        </p:txBody>
      </p:sp>
      <p:sp>
        <p:nvSpPr>
          <p:cNvPr id="23" name="tb23"/>
          <p:cNvSpPr txBox="1"/>
          <p:nvPr/>
        </p:nvSpPr>
        <p:spPr>
          <a:xfrm>
            <a:off x="969264" y="498348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600" b="1" i="0" dirty="0">
                <a:solidFill>
                  <a:srgbClr val="211915"/>
                </a:solidFill>
              </a:rPr>
              <a:t>La desalineación aparece tarde</a:t>
            </a:r>
          </a:p>
        </p:txBody>
      </p:sp>
      <p:sp>
        <p:nvSpPr>
          <p:cNvPr id="24" name="tb24"/>
          <p:cNvSpPr txBox="1"/>
          <p:nvPr/>
        </p:nvSpPr>
        <p:spPr>
          <a:xfrm>
            <a:off x="5596128" y="4773168"/>
            <a:ext cx="5394960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00" b="0" i="0" dirty="0">
                <a:solidFill>
                  <a:srgbClr val="7A7A7A"/>
                </a:solidFill>
              </a:rPr>
              <a:t>El desacuerdo se descubre cuando ya existe código, cuando corregirlo cuesta mucho más.</a:t>
            </a:r>
          </a:p>
        </p:txBody>
      </p:sp>
      <p:sp>
        <p:nvSpPr>
          <p:cNvPr id="25" name="sh25"/>
          <p:cNvSpPr/>
          <p:nvPr/>
        </p:nvSpPr>
        <p:spPr>
          <a:xfrm>
            <a:off x="658368" y="5779008"/>
            <a:ext cx="10875234" cy="475488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1400" b="1" i="0" dirty="0">
                <a:solidFill>
                  <a:srgbClr val="FFFFFF"/>
                </a:solidFill>
              </a:rPr>
              <a:t>Más velocidad sobre una intención difusa solo acelera el retrabajo.</a:t>
            </a:r>
          </a:p>
        </p:txBody>
      </p:sp>
      <p:sp>
        <p:nvSpPr>
          <p:cNvPr id="29" name="tb29"/>
          <p:cNvSpPr txBox="1"/>
          <p:nvPr/>
        </p:nvSpPr>
        <p:spPr>
          <a:xfrm>
            <a:off x="658368" y="627278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900" b="1" i="0" dirty="0">
                <a:solidFill>
                  <a:srgbClr val="211915"/>
                </a:solidFill>
              </a:rPr>
              <a:t>Tuya   ·   Spec-Driven Development con OpenSpec</a:t>
            </a:r>
          </a:p>
        </p:txBody>
      </p:sp>
      <p:sp>
        <p:nvSpPr>
          <p:cNvPr id="30" name="tb30"/>
          <p:cNvSpPr txBox="1"/>
          <p:nvPr/>
        </p:nvSpPr>
        <p:spPr>
          <a:xfrm>
            <a:off x="10436322" y="627278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ED1C29"/>
                </a:solidFill>
              </a:rPr>
              <a:t>04</a:t>
            </a:r>
            <a:endParaRPr lang="es-ES" sz="900" b="1" i="0" dirty="0">
              <a:solidFill>
                <a:srgbClr val="ED1C29"/>
              </a:solidFill>
            </a:endParaRPr>
          </a:p>
        </p:txBody>
      </p:sp>
      <p:pic>
        <p:nvPicPr>
          <p:cNvPr id="900" name="Logo Tu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2200" y="321276"/>
            <a:ext cx="6400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47"/>
          <p:cNvSpPr/>
          <p:nvPr/>
        </p:nvSpPr>
        <p:spPr>
          <a:xfrm>
            <a:off x="658368" y="384048"/>
            <a:ext cx="146304" cy="14630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48" name="tb48"/>
          <p:cNvSpPr txBox="1"/>
          <p:nvPr/>
        </p:nvSpPr>
        <p:spPr>
          <a:xfrm>
            <a:off x="914400" y="36576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050" b="1" i="0" spc="120" dirty="0">
                <a:solidFill>
                  <a:srgbClr val="ED1C29"/>
                </a:solidFill>
              </a:rPr>
              <a:t>EL CAMBIO MENTAL</a:t>
            </a:r>
          </a:p>
        </p:txBody>
      </p:sp>
      <p:sp>
        <p:nvSpPr>
          <p:cNvPr id="49" name="tb49"/>
          <p:cNvSpPr txBox="1"/>
          <p:nvPr/>
        </p:nvSpPr>
        <p:spPr>
          <a:xfrm>
            <a:off x="658368" y="713232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3000" b="1" i="0" dirty="0">
                <a:solidFill>
                  <a:srgbClr val="211915"/>
                </a:solidFill>
              </a:rPr>
              <a:t>Del prompt directo a una especificación revisable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658368" y="157276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50" b="0" i="1" dirty="0">
                <a:solidFill>
                  <a:srgbClr val="7A7A7A"/>
                </a:solidFill>
              </a:rPr>
              <a:t>La diferencia no es la herramienta, es dónde queda el acuerdo.</a:t>
            </a:r>
          </a:p>
        </p:txBody>
      </p:sp>
      <p:sp>
        <p:nvSpPr>
          <p:cNvPr id="32" name="sh32"/>
          <p:cNvSpPr/>
          <p:nvPr/>
        </p:nvSpPr>
        <p:spPr>
          <a:xfrm>
            <a:off x="658368" y="1993392"/>
            <a:ext cx="5209017" cy="420624"/>
          </a:xfrm>
          <a:prstGeom prst="rect">
            <a:avLst/>
          </a:prstGeom>
          <a:solidFill>
            <a:srgbClr val="F3F1F0"/>
          </a:solidFill>
          <a:ln>
            <a:noFill/>
          </a:ln>
        </p:spPr>
        <p:txBody>
          <a:bodyPr lIns="146304" tIns="73152" rIns="146304" bIns="73152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00" b="1" i="0" spc="100" dirty="0">
                <a:solidFill>
                  <a:srgbClr val="211915"/>
                </a:solidFill>
              </a:rPr>
              <a:t>PROMPT DIRECTO</a:t>
            </a:r>
          </a:p>
        </p:txBody>
      </p:sp>
      <p:sp>
        <p:nvSpPr>
          <p:cNvPr id="33" name="sh33"/>
          <p:cNvSpPr/>
          <p:nvPr/>
        </p:nvSpPr>
        <p:spPr>
          <a:xfrm>
            <a:off x="6324585" y="1993392"/>
            <a:ext cx="5209017" cy="42062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00" b="1" i="0" spc="100" dirty="0">
                <a:solidFill>
                  <a:srgbClr val="FFFFFF"/>
                </a:solidFill>
              </a:rPr>
              <a:t>SPEC-DRIVEN DEVELOPMENT</a:t>
            </a:r>
          </a:p>
        </p:txBody>
      </p:sp>
      <p:sp>
        <p:nvSpPr>
          <p:cNvPr id="34" name="tb34"/>
          <p:cNvSpPr txBox="1"/>
          <p:nvPr/>
        </p:nvSpPr>
        <p:spPr>
          <a:xfrm>
            <a:off x="658368" y="2615184"/>
            <a:ext cx="5209017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950" b="1" i="0" spc="90" dirty="0">
                <a:solidFill>
                  <a:srgbClr val="7A7A7A"/>
                </a:solidFill>
              </a:rPr>
              <a:t>DÓNDE VIVE EL ACUERDO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658368" y="2871216"/>
            <a:ext cx="5209017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300" b="0" i="0" dirty="0">
                <a:solidFill>
                  <a:srgbClr val="211915"/>
                </a:solidFill>
              </a:rPr>
              <a:t>En el chat de la sesión.</a:t>
            </a:r>
          </a:p>
        </p:txBody>
      </p:sp>
      <p:sp>
        <p:nvSpPr>
          <p:cNvPr id="36" name="tb36"/>
          <p:cNvSpPr txBox="1"/>
          <p:nvPr/>
        </p:nvSpPr>
        <p:spPr>
          <a:xfrm>
            <a:off x="6324585" y="2871216"/>
            <a:ext cx="5209017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300" b="1" i="0" dirty="0">
                <a:solidFill>
                  <a:srgbClr val="211915"/>
                </a:solidFill>
              </a:rPr>
              <a:t>En el repositorio, junto al código.</a:t>
            </a:r>
          </a:p>
        </p:txBody>
      </p:sp>
      <p:sp>
        <p:nvSpPr>
          <p:cNvPr id="37" name="sh37"/>
          <p:cNvSpPr/>
          <p:nvPr/>
        </p:nvSpPr>
        <p:spPr>
          <a:xfrm>
            <a:off x="658368" y="3547872"/>
            <a:ext cx="10875234" cy="10973"/>
          </a:xfrm>
          <a:prstGeom prst="rect">
            <a:avLst/>
          </a:prstGeom>
          <a:solidFill>
            <a:srgbClr val="E3E0DE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38" name="tb38"/>
          <p:cNvSpPr txBox="1"/>
          <p:nvPr/>
        </p:nvSpPr>
        <p:spPr>
          <a:xfrm>
            <a:off x="658368" y="3758184"/>
            <a:ext cx="5209017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950" b="1" i="0" spc="90" dirty="0">
                <a:solidFill>
                  <a:srgbClr val="7A7A7A"/>
                </a:solidFill>
              </a:rPr>
              <a:t>CUÁNDO SE REVISA</a:t>
            </a:r>
          </a:p>
        </p:txBody>
      </p:sp>
      <p:sp>
        <p:nvSpPr>
          <p:cNvPr id="39" name="tb39"/>
          <p:cNvSpPr txBox="1"/>
          <p:nvPr/>
        </p:nvSpPr>
        <p:spPr>
          <a:xfrm>
            <a:off x="658368" y="4014216"/>
            <a:ext cx="5209017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300" b="0" i="0" dirty="0">
                <a:solidFill>
                  <a:srgbClr val="211915"/>
                </a:solidFill>
              </a:rPr>
              <a:t>Después de generar el código.</a:t>
            </a:r>
          </a:p>
        </p:txBody>
      </p:sp>
      <p:sp>
        <p:nvSpPr>
          <p:cNvPr id="40" name="tb40"/>
          <p:cNvSpPr txBox="1"/>
          <p:nvPr/>
        </p:nvSpPr>
        <p:spPr>
          <a:xfrm>
            <a:off x="6324585" y="4014216"/>
            <a:ext cx="5209017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300" b="1" i="0" dirty="0">
                <a:solidFill>
                  <a:srgbClr val="211915"/>
                </a:solidFill>
              </a:rPr>
              <a:t>Antes de implementar, sobre un texto corto.</a:t>
            </a:r>
          </a:p>
        </p:txBody>
      </p:sp>
      <p:sp>
        <p:nvSpPr>
          <p:cNvPr id="41" name="sh41"/>
          <p:cNvSpPr/>
          <p:nvPr/>
        </p:nvSpPr>
        <p:spPr>
          <a:xfrm>
            <a:off x="658368" y="4690872"/>
            <a:ext cx="10875234" cy="10973"/>
          </a:xfrm>
          <a:prstGeom prst="rect">
            <a:avLst/>
          </a:prstGeom>
          <a:solidFill>
            <a:srgbClr val="E3E0DE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42" name="tb42"/>
          <p:cNvSpPr txBox="1"/>
          <p:nvPr/>
        </p:nvSpPr>
        <p:spPr>
          <a:xfrm>
            <a:off x="658368" y="4901184"/>
            <a:ext cx="5209017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950" b="1" i="0" spc="90" dirty="0">
                <a:solidFill>
                  <a:srgbClr val="7A7A7A"/>
                </a:solidFill>
              </a:rPr>
              <a:t>QUÉ QUEDA AL TERMINAR</a:t>
            </a:r>
          </a:p>
        </p:txBody>
      </p:sp>
      <p:sp>
        <p:nvSpPr>
          <p:cNvPr id="43" name="tb43"/>
          <p:cNvSpPr txBox="1"/>
          <p:nvPr/>
        </p:nvSpPr>
        <p:spPr>
          <a:xfrm>
            <a:off x="658368" y="5157216"/>
            <a:ext cx="5209017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300" b="0" i="0" dirty="0">
                <a:solidFill>
                  <a:srgbClr val="211915"/>
                </a:solidFill>
              </a:rPr>
              <a:t>Un resultado sin su razonamiento.</a:t>
            </a:r>
          </a:p>
        </p:txBody>
      </p:sp>
      <p:sp>
        <p:nvSpPr>
          <p:cNvPr id="44" name="tb44"/>
          <p:cNvSpPr txBox="1"/>
          <p:nvPr/>
        </p:nvSpPr>
        <p:spPr>
          <a:xfrm>
            <a:off x="6324585" y="5157216"/>
            <a:ext cx="5209017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300" b="1" i="0" dirty="0">
                <a:solidFill>
                  <a:srgbClr val="211915"/>
                </a:solidFill>
              </a:rPr>
              <a:t>Requisitos, decisiones y trazabilidad.</a:t>
            </a:r>
          </a:p>
        </p:txBody>
      </p:sp>
      <p:sp>
        <p:nvSpPr>
          <p:cNvPr id="45" name="sh45"/>
          <p:cNvSpPr/>
          <p:nvPr/>
        </p:nvSpPr>
        <p:spPr>
          <a:xfrm>
            <a:off x="658368" y="5833872"/>
            <a:ext cx="10875234" cy="10973"/>
          </a:xfrm>
          <a:prstGeom prst="rect">
            <a:avLst/>
          </a:prstGeom>
          <a:solidFill>
            <a:srgbClr val="E3E0DE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46" name="tb46"/>
          <p:cNvSpPr txBox="1"/>
          <p:nvPr/>
        </p:nvSpPr>
        <p:spPr>
          <a:xfrm>
            <a:off x="658368" y="5897880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00" b="0" i="1" dirty="0">
                <a:solidFill>
                  <a:srgbClr val="7A7A7A"/>
                </a:solidFill>
              </a:rPr>
              <a:t>El prompt directo sigue siendo suficiente para cambios pequeños y reversibles.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658368" y="627278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900" b="1" i="0" dirty="0">
                <a:solidFill>
                  <a:srgbClr val="211915"/>
                </a:solidFill>
              </a:rPr>
              <a:t>Tuya   ·   Spec-Driven Development con OpenSpec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10436322" y="627278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ED1C29"/>
                </a:solidFill>
              </a:rPr>
              <a:t>05</a:t>
            </a:r>
            <a:endParaRPr lang="es-ES" sz="900" b="1" i="0" dirty="0">
              <a:solidFill>
                <a:srgbClr val="ED1C29"/>
              </a:solidFill>
            </a:endParaRPr>
          </a:p>
        </p:txBody>
      </p:sp>
      <p:pic>
        <p:nvPicPr>
          <p:cNvPr id="900" name="Logo Tu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2200" y="321276"/>
            <a:ext cx="6400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73"/>
          <p:cNvSpPr/>
          <p:nvPr/>
        </p:nvSpPr>
        <p:spPr>
          <a:xfrm>
            <a:off x="658368" y="384048"/>
            <a:ext cx="146304" cy="14630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74" name="tb74"/>
          <p:cNvSpPr txBox="1"/>
          <p:nvPr/>
        </p:nvSpPr>
        <p:spPr>
          <a:xfrm>
            <a:off x="914400" y="36576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050" b="1" i="0" spc="120" dirty="0">
                <a:solidFill>
                  <a:srgbClr val="ED1C29"/>
                </a:solidFill>
              </a:rPr>
              <a:t>QUÉ ES SPEC-DRIVEN DEVELOPMENT</a:t>
            </a:r>
          </a:p>
        </p:txBody>
      </p:sp>
      <p:sp>
        <p:nvSpPr>
          <p:cNvPr id="75" name="tb75"/>
          <p:cNvSpPr txBox="1"/>
          <p:nvPr/>
        </p:nvSpPr>
        <p:spPr>
          <a:xfrm>
            <a:off x="658368" y="713232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3000" b="1" i="0" dirty="0">
                <a:solidFill>
                  <a:srgbClr val="211915"/>
                </a:solidFill>
              </a:rPr>
              <a:t>Primero se acuerda qué construir</a:t>
            </a:r>
          </a:p>
        </p:txBody>
      </p:sp>
      <p:sp>
        <p:nvSpPr>
          <p:cNvPr id="52" name="sh52"/>
          <p:cNvSpPr/>
          <p:nvPr/>
        </p:nvSpPr>
        <p:spPr>
          <a:xfrm>
            <a:off x="658368" y="1627632"/>
            <a:ext cx="10875234" cy="786384"/>
          </a:xfrm>
          <a:prstGeom prst="rect">
            <a:avLst/>
          </a:prstGeom>
          <a:solidFill>
            <a:srgbClr val="F3F1F0"/>
          </a:solidFill>
          <a:ln>
            <a:noFill/>
          </a:ln>
        </p:spPr>
        <p:txBody>
          <a:bodyPr lIns="274320" tIns="73152" rIns="274320" bIns="73152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450" b="1" i="0" dirty="0">
                <a:solidFill>
                  <a:srgbClr val="211915"/>
                </a:solidFill>
              </a:rPr>
              <a:t>SDD expresa la intención, las restricciones y los criterios de aceptación en artefactos que guían la implementación y su validación.</a:t>
            </a:r>
          </a:p>
        </p:txBody>
      </p:sp>
      <p:sp>
        <p:nvSpPr>
          <p:cNvPr id="53" name="sh53"/>
          <p:cNvSpPr/>
          <p:nvPr/>
        </p:nvSpPr>
        <p:spPr>
          <a:xfrm>
            <a:off x="658368" y="3017520"/>
            <a:ext cx="1867808" cy="5486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54" name="tb54"/>
          <p:cNvSpPr txBox="1"/>
          <p:nvPr/>
        </p:nvSpPr>
        <p:spPr>
          <a:xfrm>
            <a:off x="658368" y="3291840"/>
            <a:ext cx="1867808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100" b="1" i="0" dirty="0">
                <a:solidFill>
                  <a:srgbClr val="ED1C29"/>
                </a:solidFill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550" b="1" i="0" dirty="0">
                <a:solidFill>
                  <a:srgbClr val="211915"/>
                </a:solidFill>
              </a:rPr>
              <a:t>Intención</a:t>
            </a:r>
          </a:p>
        </p:txBody>
      </p:sp>
      <p:sp>
        <p:nvSpPr>
          <p:cNvPr id="55" name="tb55"/>
          <p:cNvSpPr txBox="1"/>
          <p:nvPr/>
        </p:nvSpPr>
        <p:spPr>
          <a:xfrm>
            <a:off x="658368" y="4023360"/>
            <a:ext cx="1867808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150" b="0" i="0" dirty="0">
                <a:solidFill>
                  <a:srgbClr val="7A7A7A"/>
                </a:solidFill>
              </a:rPr>
              <a:t>Qué problema y qué alcance.</a:t>
            </a:r>
          </a:p>
        </p:txBody>
      </p:sp>
      <p:sp>
        <p:nvSpPr>
          <p:cNvPr id="56" name="sh56"/>
          <p:cNvSpPr/>
          <p:nvPr/>
        </p:nvSpPr>
        <p:spPr>
          <a:xfrm>
            <a:off x="2617616" y="3474720"/>
            <a:ext cx="219456" cy="201168"/>
          </a:xfrm>
          <a:prstGeom prst="rightArrow">
            <a:avLst/>
          </a:prstGeom>
          <a:solidFill>
            <a:srgbClr val="C9C4C1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57" name="sh57"/>
          <p:cNvSpPr/>
          <p:nvPr/>
        </p:nvSpPr>
        <p:spPr>
          <a:xfrm>
            <a:off x="2910224" y="3017520"/>
            <a:ext cx="1867808" cy="54864"/>
          </a:xfrm>
          <a:prstGeom prst="rect">
            <a:avLst/>
          </a:prstGeom>
          <a:solidFill>
            <a:srgbClr val="211915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58" name="tb58"/>
          <p:cNvSpPr txBox="1"/>
          <p:nvPr/>
        </p:nvSpPr>
        <p:spPr>
          <a:xfrm>
            <a:off x="2910224" y="3291840"/>
            <a:ext cx="1867808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100" b="1" i="0" dirty="0">
                <a:solidFill>
                  <a:srgbClr val="ED1C29"/>
                </a:solidFill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550" b="1" i="0" dirty="0">
                <a:solidFill>
                  <a:srgbClr val="211915"/>
                </a:solidFill>
              </a:rPr>
              <a:t>Requisitos</a:t>
            </a:r>
          </a:p>
        </p:txBody>
      </p:sp>
      <p:sp>
        <p:nvSpPr>
          <p:cNvPr id="59" name="tb59"/>
          <p:cNvSpPr txBox="1"/>
          <p:nvPr/>
        </p:nvSpPr>
        <p:spPr>
          <a:xfrm>
            <a:off x="2910224" y="4023360"/>
            <a:ext cx="1867808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150" b="0" i="0" dirty="0">
                <a:solidFill>
                  <a:srgbClr val="7A7A7A"/>
                </a:solidFill>
              </a:rPr>
              <a:t>Qué comportamiento esperamos.</a:t>
            </a:r>
          </a:p>
        </p:txBody>
      </p:sp>
      <p:sp>
        <p:nvSpPr>
          <p:cNvPr id="60" name="sh60"/>
          <p:cNvSpPr/>
          <p:nvPr/>
        </p:nvSpPr>
        <p:spPr>
          <a:xfrm>
            <a:off x="4869473" y="3474720"/>
            <a:ext cx="219456" cy="201168"/>
          </a:xfrm>
          <a:prstGeom prst="rightArrow">
            <a:avLst/>
          </a:prstGeom>
          <a:solidFill>
            <a:srgbClr val="C9C4C1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61" name="sh61"/>
          <p:cNvSpPr/>
          <p:nvPr/>
        </p:nvSpPr>
        <p:spPr>
          <a:xfrm>
            <a:off x="5162081" y="3017520"/>
            <a:ext cx="1867808" cy="54864"/>
          </a:xfrm>
          <a:prstGeom prst="rect">
            <a:avLst/>
          </a:prstGeom>
          <a:solidFill>
            <a:srgbClr val="211915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62" name="tb62"/>
          <p:cNvSpPr txBox="1"/>
          <p:nvPr/>
        </p:nvSpPr>
        <p:spPr>
          <a:xfrm>
            <a:off x="5162081" y="3291840"/>
            <a:ext cx="1867808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100" b="1" i="0" dirty="0">
                <a:solidFill>
                  <a:srgbClr val="ED1C29"/>
                </a:solidFill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550" b="1" i="0" dirty="0">
                <a:solidFill>
                  <a:srgbClr val="211915"/>
                </a:solidFill>
              </a:rPr>
              <a:t>Diseño</a:t>
            </a:r>
          </a:p>
        </p:txBody>
      </p:sp>
      <p:sp>
        <p:nvSpPr>
          <p:cNvPr id="63" name="tb63"/>
          <p:cNvSpPr txBox="1"/>
          <p:nvPr/>
        </p:nvSpPr>
        <p:spPr>
          <a:xfrm>
            <a:off x="5162081" y="4023360"/>
            <a:ext cx="1867808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150" b="0" i="0" dirty="0">
                <a:solidFill>
                  <a:srgbClr val="7A7A7A"/>
                </a:solidFill>
              </a:rPr>
              <a:t>Cómo se resuelve técnicamente.</a:t>
            </a:r>
          </a:p>
        </p:txBody>
      </p:sp>
      <p:sp>
        <p:nvSpPr>
          <p:cNvPr id="64" name="sh64"/>
          <p:cNvSpPr/>
          <p:nvPr/>
        </p:nvSpPr>
        <p:spPr>
          <a:xfrm>
            <a:off x="7121329" y="3474720"/>
            <a:ext cx="219456" cy="201168"/>
          </a:xfrm>
          <a:prstGeom prst="rightArrow">
            <a:avLst/>
          </a:prstGeom>
          <a:solidFill>
            <a:srgbClr val="C9C4C1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65" name="sh65"/>
          <p:cNvSpPr/>
          <p:nvPr/>
        </p:nvSpPr>
        <p:spPr>
          <a:xfrm>
            <a:off x="7413937" y="3017520"/>
            <a:ext cx="1867808" cy="54864"/>
          </a:xfrm>
          <a:prstGeom prst="rect">
            <a:avLst/>
          </a:prstGeom>
          <a:solidFill>
            <a:srgbClr val="211915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66" name="tb66"/>
          <p:cNvSpPr txBox="1"/>
          <p:nvPr/>
        </p:nvSpPr>
        <p:spPr>
          <a:xfrm>
            <a:off x="7413937" y="3291840"/>
            <a:ext cx="1867808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100" b="1" i="0" dirty="0">
                <a:solidFill>
                  <a:srgbClr val="ED1C29"/>
                </a:solidFill>
              </a:rPr>
              <a:t>04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550" b="1" i="0" dirty="0">
                <a:solidFill>
                  <a:srgbClr val="211915"/>
                </a:solidFill>
              </a:rPr>
              <a:t>Tareas</a:t>
            </a:r>
          </a:p>
        </p:txBody>
      </p:sp>
      <p:sp>
        <p:nvSpPr>
          <p:cNvPr id="67" name="tb67"/>
          <p:cNvSpPr txBox="1"/>
          <p:nvPr/>
        </p:nvSpPr>
        <p:spPr>
          <a:xfrm>
            <a:off x="7413937" y="4023360"/>
            <a:ext cx="1867808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150" b="0" i="0" dirty="0">
                <a:solidFill>
                  <a:srgbClr val="7A7A7A"/>
                </a:solidFill>
              </a:rPr>
              <a:t>Qué trabajo concreto implica.</a:t>
            </a:r>
          </a:p>
        </p:txBody>
      </p:sp>
      <p:sp>
        <p:nvSpPr>
          <p:cNvPr id="68" name="sh68"/>
          <p:cNvSpPr/>
          <p:nvPr/>
        </p:nvSpPr>
        <p:spPr>
          <a:xfrm>
            <a:off x="9373185" y="3474720"/>
            <a:ext cx="219456" cy="201168"/>
          </a:xfrm>
          <a:prstGeom prst="rightArrow">
            <a:avLst/>
          </a:prstGeom>
          <a:solidFill>
            <a:srgbClr val="C9C4C1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69" name="sh69"/>
          <p:cNvSpPr/>
          <p:nvPr/>
        </p:nvSpPr>
        <p:spPr>
          <a:xfrm>
            <a:off x="9665793" y="3017520"/>
            <a:ext cx="1867808" cy="5486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70" name="tb70"/>
          <p:cNvSpPr txBox="1"/>
          <p:nvPr/>
        </p:nvSpPr>
        <p:spPr>
          <a:xfrm>
            <a:off x="9665793" y="3291840"/>
            <a:ext cx="1867808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100" b="1" i="0" dirty="0">
                <a:solidFill>
                  <a:srgbClr val="ED1C29"/>
                </a:solidFill>
              </a:rPr>
              <a:t>05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550" b="1" i="0" dirty="0">
                <a:solidFill>
                  <a:srgbClr val="211915"/>
                </a:solidFill>
              </a:rPr>
              <a:t>Validación</a:t>
            </a:r>
          </a:p>
        </p:txBody>
      </p:sp>
      <p:sp>
        <p:nvSpPr>
          <p:cNvPr id="71" name="tb71"/>
          <p:cNvSpPr txBox="1"/>
          <p:nvPr/>
        </p:nvSpPr>
        <p:spPr>
          <a:xfrm>
            <a:off x="9665793" y="4023360"/>
            <a:ext cx="1867808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150" b="0" i="0">
                <a:solidFill>
                  <a:srgbClr val="7A7A7A"/>
                </a:solidFill>
              </a:rPr>
              <a:t>¿</a:t>
            </a:r>
            <a:r>
              <a:rPr lang="es-ES" sz="1150" b="0" i="0" dirty="0">
                <a:solidFill>
                  <a:srgbClr val="7A7A7A"/>
                </a:solidFill>
              </a:rPr>
              <a:t>Se cumplió lo acordado</a:t>
            </a:r>
            <a:r>
              <a:rPr lang="es-ES" sz="1150" b="0" i="0">
                <a:solidFill>
                  <a:srgbClr val="7A7A7A"/>
                </a:solidFill>
              </a:rPr>
              <a:t>?</a:t>
            </a:r>
            <a:endParaRPr lang="es-ES" sz="1150" b="0" i="0" dirty="0">
              <a:solidFill>
                <a:srgbClr val="7A7A7A"/>
              </a:solidFill>
            </a:endParaRPr>
          </a:p>
        </p:txBody>
      </p:sp>
      <p:sp>
        <p:nvSpPr>
          <p:cNvPr id="72" name="tb72"/>
          <p:cNvSpPr txBox="1"/>
          <p:nvPr/>
        </p:nvSpPr>
        <p:spPr>
          <a:xfrm>
            <a:off x="658368" y="51206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50" b="0" i="1" dirty="0">
                <a:solidFill>
                  <a:srgbClr val="7A7A7A"/>
                </a:solidFill>
              </a:rPr>
              <a:t>La cadena importa más que el documento: cada paso reduce una incertidumbre distinta.</a:t>
            </a:r>
          </a:p>
        </p:txBody>
      </p:sp>
      <p:sp>
        <p:nvSpPr>
          <p:cNvPr id="76" name="tb76"/>
          <p:cNvSpPr txBox="1"/>
          <p:nvPr/>
        </p:nvSpPr>
        <p:spPr>
          <a:xfrm>
            <a:off x="658368" y="627278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900" b="1" i="0" dirty="0">
                <a:solidFill>
                  <a:srgbClr val="211915"/>
                </a:solidFill>
              </a:rPr>
              <a:t>Tuya   ·   Spec-Driven Development con OpenSpec</a:t>
            </a:r>
          </a:p>
        </p:txBody>
      </p:sp>
      <p:sp>
        <p:nvSpPr>
          <p:cNvPr id="77" name="tb77"/>
          <p:cNvSpPr txBox="1"/>
          <p:nvPr/>
        </p:nvSpPr>
        <p:spPr>
          <a:xfrm>
            <a:off x="10436322" y="627278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ED1C29"/>
                </a:solidFill>
              </a:rPr>
              <a:t>06</a:t>
            </a:r>
            <a:endParaRPr lang="es-ES" sz="900" b="1" i="0" dirty="0">
              <a:solidFill>
                <a:srgbClr val="ED1C29"/>
              </a:solidFill>
            </a:endParaRPr>
          </a:p>
        </p:txBody>
      </p:sp>
      <p:pic>
        <p:nvPicPr>
          <p:cNvPr id="900" name="Logo Tu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2200" y="321276"/>
            <a:ext cx="6400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95"/>
          <p:cNvSpPr/>
          <p:nvPr/>
        </p:nvSpPr>
        <p:spPr>
          <a:xfrm>
            <a:off x="658368" y="384048"/>
            <a:ext cx="146304" cy="14630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96" name="tb96"/>
          <p:cNvSpPr txBox="1"/>
          <p:nvPr/>
        </p:nvSpPr>
        <p:spPr>
          <a:xfrm>
            <a:off x="914400" y="36576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050" b="1" i="0" spc="120" dirty="0">
                <a:solidFill>
                  <a:srgbClr val="ED1C29"/>
                </a:solidFill>
              </a:rPr>
              <a:t>PRINCIPIOS</a:t>
            </a:r>
          </a:p>
        </p:txBody>
      </p:sp>
      <p:sp>
        <p:nvSpPr>
          <p:cNvPr id="97" name="tb97"/>
          <p:cNvSpPr txBox="1"/>
          <p:nvPr/>
        </p:nvSpPr>
        <p:spPr>
          <a:xfrm>
            <a:off x="658368" y="713232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3000" b="1" i="0" dirty="0">
                <a:solidFill>
                  <a:srgbClr val="211915"/>
                </a:solidFill>
              </a:rPr>
              <a:t>Cuatro reglas que sostienen el enfoque</a:t>
            </a:r>
          </a:p>
        </p:txBody>
      </p:sp>
      <p:sp>
        <p:nvSpPr>
          <p:cNvPr id="78" name="sh78"/>
          <p:cNvSpPr/>
          <p:nvPr/>
        </p:nvSpPr>
        <p:spPr>
          <a:xfrm>
            <a:off x="658368" y="1783080"/>
            <a:ext cx="5186157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E"/>
            </a:solidFill>
          </a:ln>
        </p:spPr>
        <p:txBody>
          <a:bodyPr lIns="146304" tIns="73152" rIns="146304" bIns="73152" anchor="ctr">
            <a:normAutofit/>
          </a:bodyPr>
          <a:lstStyle/>
          <a:p>
            <a:endParaRPr lang="es-ES"/>
          </a:p>
        </p:txBody>
      </p:sp>
      <p:sp>
        <p:nvSpPr>
          <p:cNvPr id="79" name="tb79"/>
          <p:cNvSpPr txBox="1"/>
          <p:nvPr/>
        </p:nvSpPr>
        <p:spPr>
          <a:xfrm>
            <a:off x="1042416" y="2093976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2600" b="1" i="0" dirty="0">
                <a:solidFill>
                  <a:srgbClr val="F09FA5"/>
                </a:solidFill>
              </a:rPr>
              <a:t>01</a:t>
            </a:r>
          </a:p>
        </p:txBody>
      </p:sp>
      <p:sp>
        <p:nvSpPr>
          <p:cNvPr id="80" name="tb80"/>
          <p:cNvSpPr txBox="1"/>
          <p:nvPr/>
        </p:nvSpPr>
        <p:spPr>
          <a:xfrm>
            <a:off x="1801368" y="2112264"/>
            <a:ext cx="3631677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700" b="1" i="0" dirty="0">
                <a:solidFill>
                  <a:srgbClr val="211915"/>
                </a:solidFill>
              </a:rPr>
              <a:t>Intención primero</a:t>
            </a:r>
          </a:p>
        </p:txBody>
      </p:sp>
      <p:sp>
        <p:nvSpPr>
          <p:cNvPr id="81" name="tb81"/>
          <p:cNvSpPr txBox="1"/>
          <p:nvPr/>
        </p:nvSpPr>
        <p:spPr>
          <a:xfrm>
            <a:off x="1801368" y="2569464"/>
            <a:ext cx="3631677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00" b="0" i="0" dirty="0">
                <a:solidFill>
                  <a:srgbClr val="7A7A7A"/>
                </a:solidFill>
              </a:rPr>
              <a:t>Empezar por el resultado esperado, no por el código.</a:t>
            </a:r>
          </a:p>
        </p:txBody>
      </p:sp>
      <p:sp>
        <p:nvSpPr>
          <p:cNvPr id="82" name="sh82"/>
          <p:cNvSpPr/>
          <p:nvPr/>
        </p:nvSpPr>
        <p:spPr>
          <a:xfrm>
            <a:off x="6347445" y="1783080"/>
            <a:ext cx="5186157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E"/>
            </a:solidFill>
          </a:ln>
        </p:spPr>
        <p:txBody>
          <a:bodyPr lIns="146304" tIns="73152" rIns="146304" bIns="73152" anchor="ctr">
            <a:normAutofit/>
          </a:bodyPr>
          <a:lstStyle/>
          <a:p>
            <a:endParaRPr lang="es-ES"/>
          </a:p>
        </p:txBody>
      </p:sp>
      <p:sp>
        <p:nvSpPr>
          <p:cNvPr id="83" name="tb83"/>
          <p:cNvSpPr txBox="1"/>
          <p:nvPr/>
        </p:nvSpPr>
        <p:spPr>
          <a:xfrm>
            <a:off x="6731493" y="2093976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2600" b="1" i="0" dirty="0">
                <a:solidFill>
                  <a:srgbClr val="F09FA5"/>
                </a:solidFill>
              </a:rPr>
              <a:t>02</a:t>
            </a:r>
          </a:p>
        </p:txBody>
      </p:sp>
      <p:sp>
        <p:nvSpPr>
          <p:cNvPr id="84" name="tb84"/>
          <p:cNvSpPr txBox="1"/>
          <p:nvPr/>
        </p:nvSpPr>
        <p:spPr>
          <a:xfrm>
            <a:off x="7490445" y="2112264"/>
            <a:ext cx="3631677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700" b="1" i="0" dirty="0">
                <a:solidFill>
                  <a:srgbClr val="211915"/>
                </a:solidFill>
              </a:rPr>
              <a:t>Fuente compartida</a:t>
            </a:r>
          </a:p>
        </p:txBody>
      </p:sp>
      <p:sp>
        <p:nvSpPr>
          <p:cNvPr id="85" name="tb85"/>
          <p:cNvSpPr txBox="1"/>
          <p:nvPr/>
        </p:nvSpPr>
        <p:spPr>
          <a:xfrm>
            <a:off x="7490445" y="2569464"/>
            <a:ext cx="3631677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00" b="0" i="0" dirty="0">
                <a:solidFill>
                  <a:srgbClr val="7A7A7A"/>
                </a:solidFill>
              </a:rPr>
              <a:t>Las decisiones viven junto al código y bajo versión.</a:t>
            </a:r>
          </a:p>
        </p:txBody>
      </p:sp>
      <p:sp>
        <p:nvSpPr>
          <p:cNvPr id="86" name="sh86"/>
          <p:cNvSpPr/>
          <p:nvPr/>
        </p:nvSpPr>
        <p:spPr>
          <a:xfrm>
            <a:off x="658368" y="3703320"/>
            <a:ext cx="5186157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E"/>
            </a:solidFill>
          </a:ln>
        </p:spPr>
        <p:txBody>
          <a:bodyPr lIns="146304" tIns="73152" rIns="146304" bIns="73152" anchor="ctr">
            <a:normAutofit/>
          </a:bodyPr>
          <a:lstStyle/>
          <a:p>
            <a:endParaRPr lang="es-ES"/>
          </a:p>
        </p:txBody>
      </p:sp>
      <p:sp>
        <p:nvSpPr>
          <p:cNvPr id="87" name="tb87"/>
          <p:cNvSpPr txBox="1"/>
          <p:nvPr/>
        </p:nvSpPr>
        <p:spPr>
          <a:xfrm>
            <a:off x="1042416" y="4014216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2600" b="1" i="0" dirty="0">
                <a:solidFill>
                  <a:srgbClr val="F09FA5"/>
                </a:solidFill>
              </a:rPr>
              <a:t>03</a:t>
            </a:r>
          </a:p>
        </p:txBody>
      </p:sp>
      <p:sp>
        <p:nvSpPr>
          <p:cNvPr id="88" name="tb88"/>
          <p:cNvSpPr txBox="1"/>
          <p:nvPr/>
        </p:nvSpPr>
        <p:spPr>
          <a:xfrm>
            <a:off x="1801368" y="4032504"/>
            <a:ext cx="3631677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700" b="1" i="0" dirty="0">
                <a:solidFill>
                  <a:srgbClr val="211915"/>
                </a:solidFill>
              </a:rPr>
              <a:t>Revisión humana</a:t>
            </a:r>
          </a:p>
        </p:txBody>
      </p:sp>
      <p:sp>
        <p:nvSpPr>
          <p:cNvPr id="89" name="tb89"/>
          <p:cNvSpPr txBox="1"/>
          <p:nvPr/>
        </p:nvSpPr>
        <p:spPr>
          <a:xfrm>
            <a:off x="1801368" y="4489704"/>
            <a:ext cx="3631677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00" b="0" i="0" dirty="0">
                <a:solidFill>
                  <a:srgbClr val="7A7A7A"/>
                </a:solidFill>
              </a:rPr>
              <a:t>El equipo aprueba, el agente ejecuta.</a:t>
            </a:r>
          </a:p>
        </p:txBody>
      </p:sp>
      <p:sp>
        <p:nvSpPr>
          <p:cNvPr id="90" name="sh90"/>
          <p:cNvSpPr/>
          <p:nvPr/>
        </p:nvSpPr>
        <p:spPr>
          <a:xfrm>
            <a:off x="6347445" y="3703320"/>
            <a:ext cx="5186157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E"/>
            </a:solidFill>
          </a:ln>
        </p:spPr>
        <p:txBody>
          <a:bodyPr lIns="146304" tIns="73152" rIns="146304" bIns="73152" anchor="ctr">
            <a:normAutofit/>
          </a:bodyPr>
          <a:lstStyle/>
          <a:p>
            <a:endParaRPr lang="es-ES"/>
          </a:p>
        </p:txBody>
      </p:sp>
      <p:sp>
        <p:nvSpPr>
          <p:cNvPr id="91" name="tb91"/>
          <p:cNvSpPr txBox="1"/>
          <p:nvPr/>
        </p:nvSpPr>
        <p:spPr>
          <a:xfrm>
            <a:off x="6731493" y="4014216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2600" b="1" i="0" dirty="0">
                <a:solidFill>
                  <a:srgbClr val="F09FA5"/>
                </a:solidFill>
              </a:rPr>
              <a:t>04</a:t>
            </a:r>
          </a:p>
        </p:txBody>
      </p:sp>
      <p:sp>
        <p:nvSpPr>
          <p:cNvPr id="92" name="tb92"/>
          <p:cNvSpPr txBox="1"/>
          <p:nvPr/>
        </p:nvSpPr>
        <p:spPr>
          <a:xfrm>
            <a:off x="7490445" y="4032504"/>
            <a:ext cx="3631677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700" b="1" i="0" dirty="0">
                <a:solidFill>
                  <a:srgbClr val="211915"/>
                </a:solidFill>
              </a:rPr>
              <a:t>Trazabilidad</a:t>
            </a:r>
          </a:p>
        </p:txBody>
      </p:sp>
      <p:sp>
        <p:nvSpPr>
          <p:cNvPr id="93" name="tb93"/>
          <p:cNvSpPr txBox="1"/>
          <p:nvPr/>
        </p:nvSpPr>
        <p:spPr>
          <a:xfrm>
            <a:off x="7490445" y="4489704"/>
            <a:ext cx="3631677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00" b="0" i="0" dirty="0">
                <a:solidFill>
                  <a:srgbClr val="7A7A7A"/>
                </a:solidFill>
              </a:rPr>
              <a:t>Se puede seguir el hilo entre requisito, decisión y resultado.</a:t>
            </a:r>
          </a:p>
        </p:txBody>
      </p:sp>
      <p:sp>
        <p:nvSpPr>
          <p:cNvPr id="94" name="tb94"/>
          <p:cNvSpPr txBox="1"/>
          <p:nvPr/>
        </p:nvSpPr>
        <p:spPr>
          <a:xfrm>
            <a:off x="658368" y="562356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50" b="0" i="1" dirty="0">
                <a:solidFill>
                  <a:srgbClr val="7A7A7A"/>
                </a:solidFill>
              </a:rPr>
              <a:t>Y una condición: la especificación es un artefacto vivo. Cambiarla cuando aparece un hallazgo es parte del método.</a:t>
            </a:r>
          </a:p>
        </p:txBody>
      </p:sp>
      <p:sp>
        <p:nvSpPr>
          <p:cNvPr id="98" name="tb98"/>
          <p:cNvSpPr txBox="1"/>
          <p:nvPr/>
        </p:nvSpPr>
        <p:spPr>
          <a:xfrm>
            <a:off x="658368" y="627278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900" b="1" i="0" dirty="0">
                <a:solidFill>
                  <a:srgbClr val="211915"/>
                </a:solidFill>
              </a:rPr>
              <a:t>Tuya   ·   Spec-Driven Development con OpenSpec</a:t>
            </a:r>
          </a:p>
        </p:txBody>
      </p:sp>
      <p:sp>
        <p:nvSpPr>
          <p:cNvPr id="99" name="tb99"/>
          <p:cNvSpPr txBox="1"/>
          <p:nvPr/>
        </p:nvSpPr>
        <p:spPr>
          <a:xfrm>
            <a:off x="10436322" y="627278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ED1C29"/>
                </a:solidFill>
              </a:rPr>
              <a:t>07</a:t>
            </a:r>
            <a:endParaRPr lang="es-ES" sz="900" b="1" i="0" dirty="0">
              <a:solidFill>
                <a:srgbClr val="ED1C29"/>
              </a:solidFill>
            </a:endParaRPr>
          </a:p>
        </p:txBody>
      </p:sp>
      <p:pic>
        <p:nvPicPr>
          <p:cNvPr id="900" name="Logo Tu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2200" y="321276"/>
            <a:ext cx="6400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123"/>
          <p:cNvSpPr/>
          <p:nvPr/>
        </p:nvSpPr>
        <p:spPr>
          <a:xfrm>
            <a:off x="658368" y="384048"/>
            <a:ext cx="146304" cy="14630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124" name="tb124"/>
          <p:cNvSpPr txBox="1"/>
          <p:nvPr/>
        </p:nvSpPr>
        <p:spPr>
          <a:xfrm>
            <a:off x="914400" y="36576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050" b="1" i="0" spc="120" dirty="0">
                <a:solidFill>
                  <a:srgbClr val="ED1C29"/>
                </a:solidFill>
              </a:rPr>
              <a:t>CUÁNDO USAR SDD</a:t>
            </a:r>
          </a:p>
        </p:txBody>
      </p:sp>
      <p:sp>
        <p:nvSpPr>
          <p:cNvPr id="125" name="tb125"/>
          <p:cNvSpPr txBox="1"/>
          <p:nvPr/>
        </p:nvSpPr>
        <p:spPr>
          <a:xfrm>
            <a:off x="658368" y="713232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3000" b="1" i="0" dirty="0">
                <a:solidFill>
                  <a:srgbClr val="211915"/>
                </a:solidFill>
              </a:rPr>
              <a:t>No todo cambio necesita una especificación</a:t>
            </a:r>
          </a:p>
        </p:txBody>
      </p:sp>
      <p:sp>
        <p:nvSpPr>
          <p:cNvPr id="100" name="sh100"/>
          <p:cNvSpPr/>
          <p:nvPr/>
        </p:nvSpPr>
        <p:spPr>
          <a:xfrm>
            <a:off x="658368" y="1691640"/>
            <a:ext cx="5209017" cy="3657600"/>
          </a:xfrm>
          <a:prstGeom prst="rect">
            <a:avLst/>
          </a:prstGeom>
          <a:solidFill>
            <a:srgbClr val="FBE9EA"/>
          </a:solidFill>
          <a:ln>
            <a:noFill/>
          </a:ln>
        </p:spPr>
        <p:txBody>
          <a:bodyPr lIns="146304" tIns="73152" rIns="146304" bIns="73152" anchor="ctr">
            <a:normAutofit/>
          </a:bodyPr>
          <a:lstStyle/>
          <a:p>
            <a:endParaRPr lang="es-ES"/>
          </a:p>
        </p:txBody>
      </p:sp>
      <p:sp>
        <p:nvSpPr>
          <p:cNvPr id="101" name="sh101"/>
          <p:cNvSpPr/>
          <p:nvPr/>
        </p:nvSpPr>
        <p:spPr>
          <a:xfrm>
            <a:off x="6324585" y="1691640"/>
            <a:ext cx="5209017" cy="3657600"/>
          </a:xfrm>
          <a:prstGeom prst="rect">
            <a:avLst/>
          </a:prstGeom>
          <a:solidFill>
            <a:srgbClr val="F3F1F0"/>
          </a:solidFill>
          <a:ln>
            <a:noFill/>
          </a:ln>
        </p:spPr>
        <p:txBody>
          <a:bodyPr lIns="146304" tIns="73152" rIns="146304" bIns="73152" anchor="ctr">
            <a:normAutofit/>
          </a:bodyPr>
          <a:lstStyle/>
          <a:p>
            <a:endParaRPr lang="es-ES"/>
          </a:p>
        </p:txBody>
      </p:sp>
      <p:sp>
        <p:nvSpPr>
          <p:cNvPr id="102" name="sh102"/>
          <p:cNvSpPr/>
          <p:nvPr/>
        </p:nvSpPr>
        <p:spPr>
          <a:xfrm>
            <a:off x="658368" y="1691640"/>
            <a:ext cx="5209017" cy="50292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103" name="sh103"/>
          <p:cNvSpPr/>
          <p:nvPr/>
        </p:nvSpPr>
        <p:spPr>
          <a:xfrm>
            <a:off x="6324585" y="1691640"/>
            <a:ext cx="5209017" cy="50292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104" name="tb104"/>
          <p:cNvSpPr txBox="1"/>
          <p:nvPr/>
        </p:nvSpPr>
        <p:spPr>
          <a:xfrm>
            <a:off x="1069848" y="2011680"/>
            <a:ext cx="4386057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00" b="1" i="0" spc="120" dirty="0">
                <a:solidFill>
                  <a:srgbClr val="ED1C29"/>
                </a:solidFill>
              </a:rPr>
              <a:t>APORTA MÁS</a:t>
            </a:r>
          </a:p>
        </p:txBody>
      </p:sp>
      <p:sp>
        <p:nvSpPr>
          <p:cNvPr id="105" name="tb105"/>
          <p:cNvSpPr txBox="1"/>
          <p:nvPr/>
        </p:nvSpPr>
        <p:spPr>
          <a:xfrm>
            <a:off x="6736065" y="2011680"/>
            <a:ext cx="4386057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00" b="1" i="0" spc="120" dirty="0">
                <a:solidFill>
                  <a:srgbClr val="7A7A7A"/>
                </a:solidFill>
              </a:rPr>
              <a:t>APORTA MENOS</a:t>
            </a:r>
          </a:p>
        </p:txBody>
      </p:sp>
      <p:sp>
        <p:nvSpPr>
          <p:cNvPr id="106" name="sh106"/>
          <p:cNvSpPr/>
          <p:nvPr/>
        </p:nvSpPr>
        <p:spPr>
          <a:xfrm>
            <a:off x="1069848" y="2642616"/>
            <a:ext cx="146304" cy="146304"/>
          </a:xfrm>
          <a:prstGeom prst="ellipse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107" name="tb107"/>
          <p:cNvSpPr txBox="1"/>
          <p:nvPr/>
        </p:nvSpPr>
        <p:spPr>
          <a:xfrm>
            <a:off x="1435608" y="2560320"/>
            <a:ext cx="4020297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400" b="1" i="0" dirty="0">
                <a:solidFill>
                  <a:srgbClr val="211915"/>
                </a:solidFill>
              </a:rPr>
              <a:t>Nueva funcionalidad</a:t>
            </a:r>
          </a:p>
        </p:txBody>
      </p:sp>
      <p:sp>
        <p:nvSpPr>
          <p:cNvPr id="108" name="sh108"/>
          <p:cNvSpPr/>
          <p:nvPr/>
        </p:nvSpPr>
        <p:spPr>
          <a:xfrm>
            <a:off x="6736065" y="2688336"/>
            <a:ext cx="164592" cy="45720"/>
          </a:xfrm>
          <a:prstGeom prst="rect">
            <a:avLst/>
          </a:prstGeom>
          <a:solidFill>
            <a:srgbClr val="B9B4B1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109" name="tb109"/>
          <p:cNvSpPr txBox="1"/>
          <p:nvPr/>
        </p:nvSpPr>
        <p:spPr>
          <a:xfrm>
            <a:off x="7101825" y="2560320"/>
            <a:ext cx="4020297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400" b="0" i="0" dirty="0">
                <a:solidFill>
                  <a:srgbClr val="7A7A7A"/>
                </a:solidFill>
              </a:rPr>
              <a:t>Corrección puntual y evidente</a:t>
            </a:r>
          </a:p>
        </p:txBody>
      </p:sp>
      <p:sp>
        <p:nvSpPr>
          <p:cNvPr id="110" name="sh110"/>
          <p:cNvSpPr/>
          <p:nvPr/>
        </p:nvSpPr>
        <p:spPr>
          <a:xfrm>
            <a:off x="1069848" y="3300984"/>
            <a:ext cx="146304" cy="146304"/>
          </a:xfrm>
          <a:prstGeom prst="ellipse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111" name="tb111"/>
          <p:cNvSpPr txBox="1"/>
          <p:nvPr/>
        </p:nvSpPr>
        <p:spPr>
          <a:xfrm>
            <a:off x="1435608" y="3218688"/>
            <a:ext cx="4020297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400" b="1" i="0" dirty="0">
                <a:solidFill>
                  <a:srgbClr val="211915"/>
                </a:solidFill>
              </a:rPr>
              <a:t>Cambios de comportamiento</a:t>
            </a:r>
          </a:p>
        </p:txBody>
      </p:sp>
      <p:sp>
        <p:nvSpPr>
          <p:cNvPr id="112" name="sh112"/>
          <p:cNvSpPr/>
          <p:nvPr/>
        </p:nvSpPr>
        <p:spPr>
          <a:xfrm>
            <a:off x="6736065" y="3346704"/>
            <a:ext cx="164592" cy="45720"/>
          </a:xfrm>
          <a:prstGeom prst="rect">
            <a:avLst/>
          </a:prstGeom>
          <a:solidFill>
            <a:srgbClr val="B9B4B1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113" name="tb113"/>
          <p:cNvSpPr txBox="1"/>
          <p:nvPr/>
        </p:nvSpPr>
        <p:spPr>
          <a:xfrm>
            <a:off x="7101825" y="3218688"/>
            <a:ext cx="4020297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400" b="0" i="0" dirty="0">
                <a:solidFill>
                  <a:srgbClr val="7A7A7A"/>
                </a:solidFill>
              </a:rPr>
              <a:t>Ajuste menor y reversible</a:t>
            </a:r>
          </a:p>
        </p:txBody>
      </p:sp>
      <p:sp>
        <p:nvSpPr>
          <p:cNvPr id="114" name="sh114"/>
          <p:cNvSpPr/>
          <p:nvPr/>
        </p:nvSpPr>
        <p:spPr>
          <a:xfrm>
            <a:off x="1069848" y="3959352"/>
            <a:ext cx="146304" cy="146304"/>
          </a:xfrm>
          <a:prstGeom prst="ellipse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115" name="tb115"/>
          <p:cNvSpPr txBox="1"/>
          <p:nvPr/>
        </p:nvSpPr>
        <p:spPr>
          <a:xfrm>
            <a:off x="1435608" y="3877056"/>
            <a:ext cx="4020297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400" b="1" i="0" dirty="0">
                <a:solidFill>
                  <a:srgbClr val="211915"/>
                </a:solidFill>
              </a:rPr>
              <a:t>Refactor relevante</a:t>
            </a:r>
          </a:p>
        </p:txBody>
      </p:sp>
      <p:sp>
        <p:nvSpPr>
          <p:cNvPr id="116" name="sh116"/>
          <p:cNvSpPr/>
          <p:nvPr/>
        </p:nvSpPr>
        <p:spPr>
          <a:xfrm>
            <a:off x="6736065" y="4005072"/>
            <a:ext cx="164592" cy="45720"/>
          </a:xfrm>
          <a:prstGeom prst="rect">
            <a:avLst/>
          </a:prstGeom>
          <a:solidFill>
            <a:srgbClr val="B9B4B1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117" name="tb117"/>
          <p:cNvSpPr txBox="1"/>
          <p:nvPr/>
        </p:nvSpPr>
        <p:spPr>
          <a:xfrm>
            <a:off x="7101825" y="3877056"/>
            <a:ext cx="4020297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400" b="0" i="0">
                <a:solidFill>
                  <a:srgbClr val="7A7A7A"/>
                </a:solidFill>
              </a:rPr>
              <a:t>Prototipo o spike descartable</a:t>
            </a:r>
            <a:endParaRPr lang="es-ES" sz="1400" b="0" i="0" dirty="0">
              <a:solidFill>
                <a:srgbClr val="7A7A7A"/>
              </a:solidFill>
            </a:endParaRPr>
          </a:p>
        </p:txBody>
      </p:sp>
      <p:sp>
        <p:nvSpPr>
          <p:cNvPr id="118" name="sh118"/>
          <p:cNvSpPr/>
          <p:nvPr/>
        </p:nvSpPr>
        <p:spPr>
          <a:xfrm>
            <a:off x="1069848" y="4617720"/>
            <a:ext cx="146304" cy="146304"/>
          </a:xfrm>
          <a:prstGeom prst="ellipse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119" name="tb119"/>
          <p:cNvSpPr txBox="1"/>
          <p:nvPr/>
        </p:nvSpPr>
        <p:spPr>
          <a:xfrm>
            <a:off x="1435608" y="4535424"/>
            <a:ext cx="4020297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400" b="1" i="0" dirty="0">
                <a:solidFill>
                  <a:srgbClr val="211915"/>
                </a:solidFill>
              </a:rPr>
              <a:t>Decisiones arquitectónicas</a:t>
            </a:r>
          </a:p>
        </p:txBody>
      </p:sp>
      <p:sp>
        <p:nvSpPr>
          <p:cNvPr id="120" name="sh120"/>
          <p:cNvSpPr/>
          <p:nvPr/>
        </p:nvSpPr>
        <p:spPr>
          <a:xfrm>
            <a:off x="6736065" y="4663440"/>
            <a:ext cx="164592" cy="45720"/>
          </a:xfrm>
          <a:prstGeom prst="rect">
            <a:avLst/>
          </a:prstGeom>
          <a:solidFill>
            <a:srgbClr val="B9B4B1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121" name="tb121"/>
          <p:cNvSpPr txBox="1"/>
          <p:nvPr/>
        </p:nvSpPr>
        <p:spPr>
          <a:xfrm>
            <a:off x="7101825" y="4535424"/>
            <a:ext cx="4020297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400" b="0" i="0">
                <a:solidFill>
                  <a:srgbClr val="7A7A7A"/>
                </a:solidFill>
              </a:rPr>
              <a:t>Cambio trivial con alcance y criterio verificable</a:t>
            </a:r>
            <a:endParaRPr lang="es-ES" sz="1400" b="0" i="0" dirty="0">
              <a:solidFill>
                <a:srgbClr val="7A7A7A"/>
              </a:solidFill>
            </a:endParaRPr>
          </a:p>
        </p:txBody>
      </p:sp>
      <p:sp>
        <p:nvSpPr>
          <p:cNvPr id="122" name="tb122"/>
          <p:cNvSpPr txBox="1"/>
          <p:nvPr/>
        </p:nvSpPr>
        <p:spPr>
          <a:xfrm>
            <a:off x="658368" y="55778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50" b="0" i="1" dirty="0">
                <a:solidFill>
                  <a:srgbClr val="7A7A7A"/>
                </a:solidFill>
              </a:rPr>
              <a:t>El criterio es simple: cuánto cuesta equivocarse frente a cuánto cuesta escribir el acuerdo.</a:t>
            </a:r>
          </a:p>
        </p:txBody>
      </p:sp>
      <p:sp>
        <p:nvSpPr>
          <p:cNvPr id="126" name="tb126"/>
          <p:cNvSpPr txBox="1"/>
          <p:nvPr/>
        </p:nvSpPr>
        <p:spPr>
          <a:xfrm>
            <a:off x="658368" y="627278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900" b="1" i="0" dirty="0">
                <a:solidFill>
                  <a:srgbClr val="211915"/>
                </a:solidFill>
              </a:rPr>
              <a:t>Tuya   ·   Spec-Driven Development con OpenSpec</a:t>
            </a:r>
          </a:p>
        </p:txBody>
      </p:sp>
      <p:sp>
        <p:nvSpPr>
          <p:cNvPr id="127" name="tb127"/>
          <p:cNvSpPr txBox="1"/>
          <p:nvPr/>
        </p:nvSpPr>
        <p:spPr>
          <a:xfrm>
            <a:off x="10436322" y="627278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ED1C29"/>
                </a:solidFill>
              </a:rPr>
              <a:t>08</a:t>
            </a:r>
            <a:endParaRPr lang="es-ES" sz="900" b="1" i="0" dirty="0">
              <a:solidFill>
                <a:srgbClr val="ED1C29"/>
              </a:solidFill>
            </a:endParaRPr>
          </a:p>
        </p:txBody>
      </p:sp>
      <p:pic>
        <p:nvPicPr>
          <p:cNvPr id="900" name="Logo Tu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2200" y="321276"/>
            <a:ext cx="6400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138"/>
          <p:cNvSpPr/>
          <p:nvPr/>
        </p:nvSpPr>
        <p:spPr>
          <a:xfrm>
            <a:off x="658368" y="384048"/>
            <a:ext cx="146304" cy="14630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139" name="tb139"/>
          <p:cNvSpPr txBox="1"/>
          <p:nvPr/>
        </p:nvSpPr>
        <p:spPr>
          <a:xfrm>
            <a:off x="914400" y="36576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050" b="1" i="0" spc="120" dirty="0">
                <a:solidFill>
                  <a:srgbClr val="ED1C29"/>
                </a:solidFill>
              </a:rPr>
              <a:t>QUÉ ES OPENSPEC</a:t>
            </a:r>
          </a:p>
        </p:txBody>
      </p:sp>
      <p:sp>
        <p:nvSpPr>
          <p:cNvPr id="140" name="tb140"/>
          <p:cNvSpPr txBox="1"/>
          <p:nvPr/>
        </p:nvSpPr>
        <p:spPr>
          <a:xfrm>
            <a:off x="658368" y="713232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3000" b="1" i="0" dirty="0">
                <a:solidFill>
                  <a:srgbClr val="211915"/>
                </a:solidFill>
              </a:rPr>
              <a:t>OpenSpec lleva SDD al repositorio</a:t>
            </a:r>
          </a:p>
        </p:txBody>
      </p:sp>
      <p:sp>
        <p:nvSpPr>
          <p:cNvPr id="128" name="sh128"/>
          <p:cNvSpPr/>
          <p:nvPr/>
        </p:nvSpPr>
        <p:spPr>
          <a:xfrm>
            <a:off x="658368" y="1691640"/>
            <a:ext cx="4892040" cy="3566160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457200" tIns="73152" rIns="457200" bIns="73152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900" b="1" i="0">
                <a:solidFill>
                  <a:srgbClr val="FFFFFF"/>
                </a:solidFill>
              </a:rPr>
              <a:t>OpenSpec </a:t>
            </a:r>
            <a:r>
              <a:rPr lang="es-ES" sz="1900" b="1" i="0" dirty="0">
                <a:solidFill>
                  <a:srgbClr val="FFFFFF"/>
                </a:solidFill>
              </a:rPr>
              <a:t>organiza cada cambio en </a:t>
            </a:r>
            <a:r>
              <a:rPr lang="es-ES" sz="1900" b="1" i="0">
                <a:solidFill>
                  <a:srgbClr val="FFFFFF"/>
                </a:solidFill>
              </a:rPr>
              <a:t>artefactos Markdown </a:t>
            </a:r>
            <a:r>
              <a:rPr lang="es-ES" sz="1900" b="1" i="0" dirty="0">
                <a:solidFill>
                  <a:srgbClr val="FFFFFF"/>
                </a:solidFill>
              </a:rPr>
              <a:t>que el equipo revisa y el agente </a:t>
            </a:r>
            <a:r>
              <a:rPr lang="es-ES" sz="1900" b="1" i="0">
                <a:solidFill>
                  <a:srgbClr val="FFFFFF"/>
                </a:solidFill>
              </a:rPr>
              <a:t>utiliza</a:t>
            </a:r>
            <a:r>
              <a:rPr lang="es-ES" sz="1900" b="1" i="0" dirty="0">
                <a:solidFill>
                  <a:srgbClr val="FFFFFF"/>
                </a:solidFill>
              </a:rPr>
              <a:t> como contexto.</a:t>
            </a:r>
          </a:p>
        </p:txBody>
      </p:sp>
      <p:sp>
        <p:nvSpPr>
          <p:cNvPr id="129" name="tb129"/>
          <p:cNvSpPr txBox="1"/>
          <p:nvPr/>
        </p:nvSpPr>
        <p:spPr>
          <a:xfrm>
            <a:off x="6099048" y="1783080"/>
            <a:ext cx="543455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600" b="1" i="0" dirty="0">
                <a:solidFill>
                  <a:srgbClr val="211915"/>
                </a:solidFill>
              </a:rPr>
              <a:t>Estructura </a:t>
            </a:r>
            <a:r>
              <a:rPr lang="es-ES" sz="1600" b="1" i="0">
                <a:solidFill>
                  <a:srgbClr val="211915"/>
                </a:solidFill>
              </a:rPr>
              <a:t>ligera</a:t>
            </a:r>
            <a:endParaRPr lang="es-ES" sz="1600" b="1" i="0" dirty="0">
              <a:solidFill>
                <a:srgbClr val="211915"/>
              </a:solidFill>
            </a:endParaRPr>
          </a:p>
        </p:txBody>
      </p:sp>
      <p:sp>
        <p:nvSpPr>
          <p:cNvPr id="130" name="tb130"/>
          <p:cNvSpPr txBox="1"/>
          <p:nvPr/>
        </p:nvSpPr>
        <p:spPr>
          <a:xfrm>
            <a:off x="6099048" y="2167128"/>
            <a:ext cx="5434554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00" b="0" i="0" dirty="0">
                <a:solidFill>
                  <a:srgbClr val="7A7A7A"/>
                </a:solidFill>
              </a:rPr>
              <a:t>Una carpeta por cambio, </a:t>
            </a:r>
            <a:r>
              <a:rPr lang="es-ES" sz="1200" b="0" i="0">
                <a:solidFill>
                  <a:srgbClr val="7A7A7A"/>
                </a:solidFill>
              </a:rPr>
              <a:t>sin proceso pesado</a:t>
            </a:r>
            <a:r>
              <a:rPr lang="es-ES" sz="1200" b="0" i="0" dirty="0">
                <a:solidFill>
                  <a:srgbClr val="7A7A7A"/>
                </a:solidFill>
              </a:rPr>
              <a:t>.</a:t>
            </a:r>
          </a:p>
        </p:txBody>
      </p:sp>
      <p:sp>
        <p:nvSpPr>
          <p:cNvPr id="131" name="sh131"/>
          <p:cNvSpPr/>
          <p:nvPr/>
        </p:nvSpPr>
        <p:spPr>
          <a:xfrm>
            <a:off x="6099048" y="2880360"/>
            <a:ext cx="5434554" cy="10973"/>
          </a:xfrm>
          <a:prstGeom prst="rect">
            <a:avLst/>
          </a:prstGeom>
          <a:solidFill>
            <a:srgbClr val="E3E0DE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132" name="tb132"/>
          <p:cNvSpPr txBox="1"/>
          <p:nvPr/>
        </p:nvSpPr>
        <p:spPr>
          <a:xfrm>
            <a:off x="6099048" y="3017520"/>
            <a:ext cx="543455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600" b="1" i="0" dirty="0">
                <a:solidFill>
                  <a:srgbClr val="211915"/>
                </a:solidFill>
              </a:rPr>
              <a:t>Contexto </a:t>
            </a:r>
            <a:r>
              <a:rPr lang="es-ES" sz="1600" b="1" i="0">
                <a:solidFill>
                  <a:srgbClr val="211915"/>
                </a:solidFill>
              </a:rPr>
              <a:t>persistente</a:t>
            </a:r>
            <a:endParaRPr lang="es-ES" sz="1600" b="1" i="0" dirty="0">
              <a:solidFill>
                <a:srgbClr val="211915"/>
              </a:solidFill>
            </a:endParaRPr>
          </a:p>
        </p:txBody>
      </p:sp>
      <p:sp>
        <p:nvSpPr>
          <p:cNvPr id="133" name="tb133"/>
          <p:cNvSpPr txBox="1"/>
          <p:nvPr/>
        </p:nvSpPr>
        <p:spPr>
          <a:xfrm>
            <a:off x="6099048" y="3401568"/>
            <a:ext cx="5434554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00" b="0" i="0" dirty="0">
                <a:solidFill>
                  <a:srgbClr val="7A7A7A"/>
                </a:solidFill>
              </a:rPr>
              <a:t>El agente retoma el trabajo sin reconstruir la conversación.</a:t>
            </a:r>
          </a:p>
        </p:txBody>
      </p:sp>
      <p:sp>
        <p:nvSpPr>
          <p:cNvPr id="134" name="sh134"/>
          <p:cNvSpPr/>
          <p:nvPr/>
        </p:nvSpPr>
        <p:spPr>
          <a:xfrm>
            <a:off x="6099048" y="4114800"/>
            <a:ext cx="5434554" cy="10973"/>
          </a:xfrm>
          <a:prstGeom prst="rect">
            <a:avLst/>
          </a:prstGeom>
          <a:solidFill>
            <a:srgbClr val="E3E0DE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135" name="tb135"/>
          <p:cNvSpPr txBox="1"/>
          <p:nvPr/>
        </p:nvSpPr>
        <p:spPr>
          <a:xfrm>
            <a:off x="6099048" y="4251960"/>
            <a:ext cx="543455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600" b="1" i="0">
                <a:solidFill>
                  <a:srgbClr val="211915"/>
                </a:solidFill>
              </a:rPr>
              <a:t>Control</a:t>
            </a:r>
            <a:r>
              <a:rPr lang="es-ES" sz="1600" b="1" i="0" dirty="0">
                <a:solidFill>
                  <a:srgbClr val="211915"/>
                </a:solidFill>
              </a:rPr>
              <a:t> del equipo</a:t>
            </a:r>
          </a:p>
        </p:txBody>
      </p:sp>
      <p:sp>
        <p:nvSpPr>
          <p:cNvPr id="136" name="tb136"/>
          <p:cNvSpPr txBox="1"/>
          <p:nvPr/>
        </p:nvSpPr>
        <p:spPr>
          <a:xfrm>
            <a:off x="6099048" y="4636008"/>
            <a:ext cx="5434554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00" b="0" i="0" dirty="0">
                <a:solidFill>
                  <a:srgbClr val="7A7A7A"/>
                </a:solidFill>
              </a:rPr>
              <a:t>El equipo revisa y aprueba, la herramienta no decide.</a:t>
            </a:r>
          </a:p>
        </p:txBody>
      </p:sp>
      <p:sp>
        <p:nvSpPr>
          <p:cNvPr id="137" name="tb137"/>
          <p:cNvSpPr txBox="1"/>
          <p:nvPr/>
        </p:nvSpPr>
        <p:spPr>
          <a:xfrm>
            <a:off x="658368" y="55778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50" b="0" i="1">
                <a:solidFill>
                  <a:srgbClr val="7A7A7A"/>
                </a:solidFill>
              </a:rPr>
              <a:t>El detalle de specs y changes lo vemos </a:t>
            </a:r>
            <a:r>
              <a:rPr lang="es-ES" sz="1250" b="0" i="1" dirty="0">
                <a:solidFill>
                  <a:srgbClr val="7A7A7A"/>
                </a:solidFill>
              </a:rPr>
              <a:t>en </a:t>
            </a:r>
            <a:r>
              <a:rPr lang="es-ES" sz="1250" b="0" i="1">
                <a:solidFill>
                  <a:srgbClr val="7A7A7A"/>
                </a:solidFill>
              </a:rPr>
              <a:t>la siguiente lámina</a:t>
            </a:r>
            <a:r>
              <a:rPr lang="es-ES" sz="1250" b="0" i="1" dirty="0">
                <a:solidFill>
                  <a:srgbClr val="7A7A7A"/>
                </a:solidFill>
              </a:rPr>
              <a:t>.</a:t>
            </a:r>
          </a:p>
        </p:txBody>
      </p:sp>
      <p:sp>
        <p:nvSpPr>
          <p:cNvPr id="141" name="tb141"/>
          <p:cNvSpPr txBox="1"/>
          <p:nvPr/>
        </p:nvSpPr>
        <p:spPr>
          <a:xfrm>
            <a:off x="658368" y="627278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900" b="1" i="0" dirty="0">
                <a:solidFill>
                  <a:srgbClr val="211915"/>
                </a:solidFill>
              </a:rPr>
              <a:t>Tuya   ·   Spec-Driven Development con OpenSpec</a:t>
            </a:r>
          </a:p>
        </p:txBody>
      </p:sp>
      <p:sp>
        <p:nvSpPr>
          <p:cNvPr id="142" name="tb142"/>
          <p:cNvSpPr txBox="1"/>
          <p:nvPr/>
        </p:nvSpPr>
        <p:spPr>
          <a:xfrm>
            <a:off x="10436322" y="627278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ED1C29"/>
                </a:solidFill>
              </a:rPr>
              <a:t>09</a:t>
            </a:r>
            <a:endParaRPr lang="es-ES" sz="900" b="1" i="0" dirty="0">
              <a:solidFill>
                <a:srgbClr val="ED1C29"/>
              </a:solidFill>
            </a:endParaRPr>
          </a:p>
        </p:txBody>
      </p:sp>
      <p:pic>
        <p:nvPicPr>
          <p:cNvPr id="900" name="Logo Tu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2200" y="321276"/>
            <a:ext cx="6400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167"/>
          <p:cNvSpPr/>
          <p:nvPr/>
        </p:nvSpPr>
        <p:spPr>
          <a:xfrm>
            <a:off x="658368" y="384048"/>
            <a:ext cx="146304" cy="14630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168" name="tb168"/>
          <p:cNvSpPr txBox="1"/>
          <p:nvPr/>
        </p:nvSpPr>
        <p:spPr>
          <a:xfrm>
            <a:off x="914400" y="36576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050" b="1" i="0" spc="120" dirty="0">
                <a:solidFill>
                  <a:srgbClr val="ED1C29"/>
                </a:solidFill>
              </a:rPr>
              <a:t>MODELO DE INFORMACIÓN</a:t>
            </a:r>
          </a:p>
        </p:txBody>
      </p:sp>
      <p:sp>
        <p:nvSpPr>
          <p:cNvPr id="169" name="tb169"/>
          <p:cNvSpPr txBox="1"/>
          <p:nvPr/>
        </p:nvSpPr>
        <p:spPr>
          <a:xfrm>
            <a:off x="658368" y="713232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3000" b="1" i="0" dirty="0">
                <a:solidFill>
                  <a:srgbClr val="211915"/>
                </a:solidFill>
              </a:rPr>
              <a:t>La verdad vigente y el cambio propuesto viven separados</a:t>
            </a:r>
          </a:p>
        </p:txBody>
      </p:sp>
      <p:sp>
        <p:nvSpPr>
          <p:cNvPr id="143" name="sh143"/>
          <p:cNvSpPr/>
          <p:nvPr/>
        </p:nvSpPr>
        <p:spPr>
          <a:xfrm>
            <a:off x="658368" y="1645920"/>
            <a:ext cx="5623560" cy="3703320"/>
          </a:xfrm>
          <a:prstGeom prst="rect">
            <a:avLst/>
          </a:prstGeom>
          <a:solidFill>
            <a:srgbClr val="FAF8F7"/>
          </a:solidFill>
          <a:ln w="12700">
            <a:solidFill>
              <a:srgbClr val="E3E0DE"/>
            </a:solidFill>
          </a:ln>
        </p:spPr>
        <p:txBody>
          <a:bodyPr lIns="146304" tIns="73152" rIns="146304" bIns="73152" anchor="ctr">
            <a:normAutofit/>
          </a:bodyPr>
          <a:lstStyle/>
          <a:p>
            <a:endParaRPr lang="es-ES"/>
          </a:p>
        </p:txBody>
      </p:sp>
      <p:sp>
        <p:nvSpPr>
          <p:cNvPr id="144" name="tb144"/>
          <p:cNvSpPr txBox="1"/>
          <p:nvPr/>
        </p:nvSpPr>
        <p:spPr>
          <a:xfrm>
            <a:off x="1069848" y="1920240"/>
            <a:ext cx="4754880" cy="274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lang="es-ES" sz="1250" b="1" i="0" dirty="0">
                <a:solidFill>
                  <a:srgbClr val="ED1C29"/>
                </a:solidFill>
                <a:latin typeface="Consolas"/>
              </a:rPr>
              <a:t>openspec/</a:t>
            </a:r>
            <a:endParaRPr lang="es-ES" sz="1250" b="1" i="0">
              <a:solidFill>
                <a:srgbClr val="ED1C29"/>
              </a:solidFill>
              <a:latin typeface="Consolas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lang="es-ES" sz="1250" b="1" i="0">
                <a:solidFill>
                  <a:srgbClr val="211915"/>
                </a:solidFill>
                <a:latin typeface="Consolas"/>
              </a:rPr>
              <a:t>├── specs/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lang="es-ES" sz="1250" b="0" i="0">
                <a:solidFill>
                  <a:srgbClr val="211915"/>
                </a:solidFill>
                <a:latin typeface="Consolas"/>
              </a:rPr>
              <a:t>│   └── &lt;capacidad&gt;/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lang="es-ES" sz="1250" b="0" i="0">
                <a:solidFill>
                  <a:srgbClr val="211915"/>
                </a:solidFill>
                <a:latin typeface="Consolas"/>
              </a:rPr>
              <a:t>│       └── spec.md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lang="es-ES" sz="1250" b="1" i="0">
                <a:solidFill>
                  <a:srgbClr val="211915"/>
                </a:solidFill>
                <a:latin typeface="Consolas"/>
              </a:rPr>
              <a:t>└── changes/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lang="es-ES" sz="1250" b="0" i="0">
                <a:solidFill>
                  <a:srgbClr val="211915"/>
                </a:solidFill>
                <a:latin typeface="Consolas"/>
              </a:rPr>
              <a:t>    ├── &lt;cambio&gt;/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lang="es-ES" sz="1250" b="0" i="0">
                <a:solidFill>
                  <a:srgbClr val="211915"/>
                </a:solidFill>
                <a:latin typeface="Consolas"/>
              </a:rPr>
              <a:t>    │   ├── proposal.md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lang="es-ES" sz="1250" b="0" i="0">
                <a:solidFill>
                  <a:srgbClr val="211915"/>
                </a:solidFill>
                <a:latin typeface="Consolas"/>
              </a:rPr>
              <a:t>    │   ├── specs/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lang="es-ES" sz="1250" b="0" i="0">
                <a:solidFill>
                  <a:srgbClr val="211915"/>
                </a:solidFill>
                <a:latin typeface="Consolas"/>
              </a:rPr>
              <a:t>    │   ├── design.md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lang="es-ES" sz="1250" b="0" i="0">
                <a:solidFill>
                  <a:srgbClr val="211915"/>
                </a:solidFill>
                <a:latin typeface="Consolas"/>
              </a:rPr>
              <a:t>    │   └── tasks.md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lang="es-ES" sz="1250" b="0" i="0">
                <a:solidFill>
                  <a:srgbClr val="7A7A7A"/>
                </a:solidFill>
                <a:latin typeface="Consolas"/>
              </a:rPr>
              <a:t>    └── archive/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lang="es-ES" sz="1250" b="0" i="0">
                <a:solidFill>
                  <a:srgbClr val="7A7A7A"/>
                </a:solidFill>
                <a:latin typeface="Consolas"/>
              </a:rPr>
              <a:t>        └── &lt;fecha&gt;-&lt;cambio&gt;/</a:t>
            </a:r>
          </a:p>
        </p:txBody>
      </p:sp>
      <p:sp>
        <p:nvSpPr>
          <p:cNvPr id="154" name="sh154"/>
          <p:cNvSpPr/>
          <p:nvPr/>
        </p:nvSpPr>
        <p:spPr>
          <a:xfrm>
            <a:off x="6784848" y="1645920"/>
            <a:ext cx="4748754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E"/>
            </a:solidFill>
          </a:ln>
        </p:spPr>
        <p:txBody>
          <a:bodyPr lIns="146304" tIns="73152" rIns="146304" bIns="73152" anchor="ctr">
            <a:normAutofit/>
          </a:bodyPr>
          <a:lstStyle/>
          <a:p>
            <a:endParaRPr lang="es-ES"/>
          </a:p>
        </p:txBody>
      </p:sp>
      <p:sp>
        <p:nvSpPr>
          <p:cNvPr id="155" name="sh155"/>
          <p:cNvSpPr/>
          <p:nvPr/>
        </p:nvSpPr>
        <p:spPr>
          <a:xfrm>
            <a:off x="6784848" y="1645920"/>
            <a:ext cx="50292" cy="1133856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/>
          </a:bodyPr>
          <a:lstStyle/>
          <a:p>
            <a:endParaRPr lang="es-ES"/>
          </a:p>
        </p:txBody>
      </p:sp>
      <p:sp>
        <p:nvSpPr>
          <p:cNvPr id="156" name="tb156"/>
          <p:cNvSpPr txBox="1"/>
          <p:nvPr/>
        </p:nvSpPr>
        <p:spPr>
          <a:xfrm>
            <a:off x="7104888" y="1865376"/>
            <a:ext cx="4108674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300" b="1" i="0" dirty="0">
                <a:solidFill>
                  <a:srgbClr val="211915"/>
                </a:solidFill>
              </a:rPr>
              <a:t>specs/  ·  la verdad vigente</a:t>
            </a:r>
          </a:p>
        </p:txBody>
      </p:sp>
      <p:sp>
        <p:nvSpPr>
          <p:cNvPr id="157" name="tb157"/>
          <p:cNvSpPr txBox="1"/>
          <p:nvPr/>
        </p:nvSpPr>
        <p:spPr>
          <a:xfrm>
            <a:off x="7104888" y="2212848"/>
            <a:ext cx="4108674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150" b="0" i="0" dirty="0">
                <a:solidFill>
                  <a:srgbClr val="7A7A7A"/>
                </a:solidFill>
              </a:rPr>
              <a:t>Describe cómo se comporta hoy el sistema, organizado por capacidad.</a:t>
            </a:r>
          </a:p>
        </p:txBody>
      </p:sp>
      <p:sp>
        <p:nvSpPr>
          <p:cNvPr id="158" name="sh158"/>
          <p:cNvSpPr/>
          <p:nvPr/>
        </p:nvSpPr>
        <p:spPr>
          <a:xfrm>
            <a:off x="6784848" y="2935224"/>
            <a:ext cx="4748754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E"/>
            </a:solidFill>
          </a:ln>
        </p:spPr>
        <p:txBody>
          <a:bodyPr lIns="146304" tIns="73152" rIns="146304" bIns="73152" anchor="ctr">
            <a:normAutofit/>
          </a:bodyPr>
          <a:lstStyle/>
          <a:p>
            <a:endParaRPr lang="es-ES"/>
          </a:p>
        </p:txBody>
      </p:sp>
      <p:sp>
        <p:nvSpPr>
          <p:cNvPr id="159" name="sh159"/>
          <p:cNvSpPr/>
          <p:nvPr/>
        </p:nvSpPr>
        <p:spPr>
          <a:xfrm>
            <a:off x="6784848" y="2935224"/>
            <a:ext cx="50292" cy="1133856"/>
          </a:xfrm>
          <a:prstGeom prst="rect">
            <a:avLst/>
          </a:prstGeom>
          <a:solidFill>
            <a:srgbClr val="211915"/>
          </a:solidFill>
          <a:ln>
            <a:noFill/>
          </a:ln>
        </p:spPr>
        <p:txBody>
          <a:bodyPr lIns="146304" tIns="73152" rIns="146304" bIns="73152" anchor="ctr">
            <a:normAutofit/>
          </a:bodyPr>
          <a:lstStyle/>
          <a:p>
            <a:endParaRPr lang="es-ES"/>
          </a:p>
        </p:txBody>
      </p:sp>
      <p:sp>
        <p:nvSpPr>
          <p:cNvPr id="160" name="tb160"/>
          <p:cNvSpPr txBox="1"/>
          <p:nvPr/>
        </p:nvSpPr>
        <p:spPr>
          <a:xfrm>
            <a:off x="7104888" y="3154680"/>
            <a:ext cx="4108674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300" b="1" i="0" dirty="0">
                <a:solidFill>
                  <a:srgbClr val="211915"/>
                </a:solidFill>
              </a:rPr>
              <a:t>changes/&lt;cambio&gt;/  ·  la propuesta</a:t>
            </a:r>
          </a:p>
        </p:txBody>
      </p:sp>
      <p:sp>
        <p:nvSpPr>
          <p:cNvPr id="161" name="tb161"/>
          <p:cNvSpPr txBox="1"/>
          <p:nvPr/>
        </p:nvSpPr>
        <p:spPr>
          <a:xfrm>
            <a:off x="7104888" y="3502152"/>
            <a:ext cx="4108674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150" b="0" i="0" dirty="0">
                <a:solidFill>
                  <a:srgbClr val="7A7A7A"/>
                </a:solidFill>
              </a:rPr>
              <a:t>Solo el delta: qué se agrega, modifica o elimina, con su diseño y sus tareas.</a:t>
            </a:r>
          </a:p>
        </p:txBody>
      </p:sp>
      <p:sp>
        <p:nvSpPr>
          <p:cNvPr id="162" name="sh162"/>
          <p:cNvSpPr/>
          <p:nvPr/>
        </p:nvSpPr>
        <p:spPr>
          <a:xfrm>
            <a:off x="6784848" y="4224528"/>
            <a:ext cx="4748754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E"/>
            </a:solidFill>
          </a:ln>
        </p:spPr>
        <p:txBody>
          <a:bodyPr lIns="146304" tIns="73152" rIns="146304" bIns="73152" anchor="ctr">
            <a:normAutofit/>
          </a:bodyPr>
          <a:lstStyle/>
          <a:p>
            <a:endParaRPr lang="es-ES"/>
          </a:p>
        </p:txBody>
      </p:sp>
      <p:sp>
        <p:nvSpPr>
          <p:cNvPr id="163" name="sh163"/>
          <p:cNvSpPr/>
          <p:nvPr/>
        </p:nvSpPr>
        <p:spPr>
          <a:xfrm>
            <a:off x="6784848" y="4224528"/>
            <a:ext cx="50292" cy="1133856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 lIns="146304" tIns="73152" rIns="146304" bIns="73152" anchor="ctr">
            <a:normAutofit/>
          </a:bodyPr>
          <a:lstStyle/>
          <a:p>
            <a:endParaRPr lang="es-ES"/>
          </a:p>
        </p:txBody>
      </p:sp>
      <p:sp>
        <p:nvSpPr>
          <p:cNvPr id="164" name="tb164"/>
          <p:cNvSpPr txBox="1"/>
          <p:nvPr/>
        </p:nvSpPr>
        <p:spPr>
          <a:xfrm>
            <a:off x="7104888" y="4443984"/>
            <a:ext cx="4108674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300" b="1" i="0" dirty="0">
                <a:solidFill>
                  <a:srgbClr val="211915"/>
                </a:solidFill>
              </a:rPr>
              <a:t>archive/  ·  la memoria</a:t>
            </a:r>
          </a:p>
        </p:txBody>
      </p:sp>
      <p:sp>
        <p:nvSpPr>
          <p:cNvPr id="165" name="tb165"/>
          <p:cNvSpPr txBox="1"/>
          <p:nvPr/>
        </p:nvSpPr>
        <p:spPr>
          <a:xfrm>
            <a:off x="7104888" y="4791456"/>
            <a:ext cx="4108674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150" b="0" i="0" dirty="0">
                <a:solidFill>
                  <a:srgbClr val="7A7A7A"/>
                </a:solidFill>
              </a:rPr>
              <a:t>Al archivar, el delta se incorpora a specs y el cambio se conserva completo.</a:t>
            </a:r>
          </a:p>
        </p:txBody>
      </p:sp>
      <p:sp>
        <p:nvSpPr>
          <p:cNvPr id="166" name="tb166"/>
          <p:cNvSpPr txBox="1"/>
          <p:nvPr/>
        </p:nvSpPr>
        <p:spPr>
          <a:xfrm>
            <a:off x="658368" y="55778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50" b="0" i="1" dirty="0">
                <a:solidFill>
                  <a:srgbClr val="7A7A7A"/>
                </a:solidFill>
              </a:rPr>
              <a:t>OpenSpec describe el diff, no reescribe el sistema completo en cada cambio.</a:t>
            </a:r>
          </a:p>
        </p:txBody>
      </p:sp>
      <p:sp>
        <p:nvSpPr>
          <p:cNvPr id="170" name="tb170"/>
          <p:cNvSpPr txBox="1"/>
          <p:nvPr/>
        </p:nvSpPr>
        <p:spPr>
          <a:xfrm>
            <a:off x="658368" y="627278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900" b="1" i="0" dirty="0">
                <a:solidFill>
                  <a:srgbClr val="211915"/>
                </a:solidFill>
              </a:rPr>
              <a:t>Tuya   ·   Spec-Driven Development con OpenSpec</a:t>
            </a:r>
          </a:p>
        </p:txBody>
      </p:sp>
      <p:sp>
        <p:nvSpPr>
          <p:cNvPr id="171" name="tb171"/>
          <p:cNvSpPr txBox="1"/>
          <p:nvPr/>
        </p:nvSpPr>
        <p:spPr>
          <a:xfrm>
            <a:off x="10436322" y="627278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ED1C29"/>
                </a:solidFill>
              </a:rPr>
              <a:t>10</a:t>
            </a:r>
            <a:endParaRPr lang="es-ES" sz="900" b="1" i="0" dirty="0">
              <a:solidFill>
                <a:srgbClr val="ED1C29"/>
              </a:solidFill>
            </a:endParaRPr>
          </a:p>
        </p:txBody>
      </p:sp>
      <p:pic>
        <p:nvPicPr>
          <p:cNvPr id="900" name="Logo Tu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2200" y="321276"/>
            <a:ext cx="6400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192"/>
          <p:cNvSpPr/>
          <p:nvPr/>
        </p:nvSpPr>
        <p:spPr>
          <a:xfrm>
            <a:off x="658368" y="384048"/>
            <a:ext cx="146304" cy="14630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193" name="tb193"/>
          <p:cNvSpPr txBox="1"/>
          <p:nvPr/>
        </p:nvSpPr>
        <p:spPr>
          <a:xfrm>
            <a:off x="914400" y="36576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050" b="1" i="0" spc="120" dirty="0">
                <a:solidFill>
                  <a:srgbClr val="ED1C29"/>
                </a:solidFill>
              </a:rPr>
              <a:t>FLUJO OPSX</a:t>
            </a:r>
          </a:p>
        </p:txBody>
      </p:sp>
      <p:sp>
        <p:nvSpPr>
          <p:cNvPr id="194" name="tb194"/>
          <p:cNvSpPr txBox="1"/>
          <p:nvPr/>
        </p:nvSpPr>
        <p:spPr>
          <a:xfrm>
            <a:off x="658368" y="713232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3000" b="1" i="0" dirty="0">
                <a:solidFill>
                  <a:srgbClr val="211915"/>
                </a:solidFill>
              </a:rPr>
              <a:t>Un ciclo, no una secuencia irreversible</a:t>
            </a:r>
          </a:p>
        </p:txBody>
      </p:sp>
      <p:sp>
        <p:nvSpPr>
          <p:cNvPr id="172" name="sh172"/>
          <p:cNvSpPr/>
          <p:nvPr/>
        </p:nvSpPr>
        <p:spPr>
          <a:xfrm>
            <a:off x="1874520" y="1984248"/>
            <a:ext cx="5303520" cy="3383280"/>
          </a:xfrm>
          <a:prstGeom prst="donut">
            <a:avLst>
              <a:gd name="adj" fmla="val 3200"/>
            </a:avLst>
          </a:prstGeom>
          <a:solidFill>
            <a:srgbClr val="F3F1F0"/>
          </a:solidFill>
          <a:ln>
            <a:noFill/>
          </a:ln>
        </p:spPr>
        <p:txBody>
          <a:bodyPr lIns="146304" tIns="73152" rIns="146304" bIns="73152" anchor="ctr">
            <a:normAutofit/>
          </a:bodyPr>
          <a:lstStyle/>
          <a:p>
            <a:endParaRPr lang="es-ES"/>
          </a:p>
        </p:txBody>
      </p:sp>
      <p:sp>
        <p:nvSpPr>
          <p:cNvPr id="173" name="sh173"/>
          <p:cNvSpPr/>
          <p:nvPr/>
        </p:nvSpPr>
        <p:spPr>
          <a:xfrm>
            <a:off x="3931920" y="1664208"/>
            <a:ext cx="118872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D1C29"/>
            </a:solidFill>
            <a:prstDash val="dash"/>
          </a:ln>
        </p:spPr>
        <p:txBody>
          <a:bodyPr lIns="45720" tIns="73152" rIns="45720" bIns="73152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1250" b="1" i="0" dirty="0">
                <a:solidFill>
                  <a:srgbClr val="ED1C29"/>
                </a:solidFill>
              </a:rPr>
              <a:t>explore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1250" b="1" i="0">
                <a:solidFill>
                  <a:srgbClr val="ED1C29"/>
                </a:solidFill>
              </a:rPr>
              <a:t>aclarar (opcional)</a:t>
            </a:r>
            <a:endParaRPr lang="es-ES" sz="850" b="0" i="0" dirty="0">
              <a:solidFill>
                <a:srgbClr val="7A7A7A"/>
              </a:solidFill>
            </a:endParaRPr>
          </a:p>
        </p:txBody>
      </p:sp>
      <p:sp>
        <p:nvSpPr>
          <p:cNvPr id="174" name="sh174"/>
          <p:cNvSpPr/>
          <p:nvPr/>
        </p:nvSpPr>
        <p:spPr>
          <a:xfrm>
            <a:off x="6193000" y="2643552"/>
            <a:ext cx="118872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D1C29"/>
            </a:solidFill>
          </a:ln>
        </p:spPr>
        <p:txBody>
          <a:bodyPr lIns="45720" tIns="73152" rIns="45720" bIns="73152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1250" b="1" i="0" dirty="0">
                <a:solidFill>
                  <a:srgbClr val="ED1C29"/>
                </a:solidFill>
              </a:rPr>
              <a:t>propose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850" b="0" i="0" dirty="0">
                <a:solidFill>
                  <a:srgbClr val="7A7A7A"/>
                </a:solidFill>
              </a:rPr>
              <a:t>crear el cambio</a:t>
            </a:r>
          </a:p>
        </p:txBody>
      </p:sp>
      <p:sp>
        <p:nvSpPr>
          <p:cNvPr id="175" name="sh175"/>
          <p:cNvSpPr/>
          <p:nvPr/>
        </p:nvSpPr>
        <p:spPr>
          <a:xfrm>
            <a:off x="5329344" y="4228164"/>
            <a:ext cx="118872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D1C29"/>
            </a:solidFill>
          </a:ln>
        </p:spPr>
        <p:txBody>
          <a:bodyPr lIns="45720" tIns="73152" rIns="45720" bIns="73152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1250" b="1" i="0" dirty="0">
                <a:solidFill>
                  <a:srgbClr val="ED1C29"/>
                </a:solidFill>
              </a:rPr>
              <a:t>apply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850" b="0" i="0" dirty="0">
                <a:solidFill>
                  <a:srgbClr val="7A7A7A"/>
                </a:solidFill>
              </a:rPr>
              <a:t>implementar</a:t>
            </a:r>
          </a:p>
        </p:txBody>
      </p:sp>
      <p:sp>
        <p:nvSpPr>
          <p:cNvPr id="176" name="sh176"/>
          <p:cNvSpPr/>
          <p:nvPr/>
        </p:nvSpPr>
        <p:spPr>
          <a:xfrm>
            <a:off x="2534496" y="4228164"/>
            <a:ext cx="118872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D1C29"/>
            </a:solidFill>
          </a:ln>
        </p:spPr>
        <p:txBody>
          <a:bodyPr lIns="45720" tIns="73152" rIns="45720" bIns="73152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1250" b="1" i="0" dirty="0">
                <a:solidFill>
                  <a:srgbClr val="ED1C29"/>
                </a:solidFill>
              </a:rPr>
              <a:t>sync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850" b="0" i="0" dirty="0">
                <a:solidFill>
                  <a:srgbClr val="7A7A7A"/>
                </a:solidFill>
              </a:rPr>
              <a:t>actualizar specs</a:t>
            </a:r>
          </a:p>
        </p:txBody>
      </p:sp>
      <p:sp>
        <p:nvSpPr>
          <p:cNvPr id="177" name="sh177"/>
          <p:cNvSpPr/>
          <p:nvPr/>
        </p:nvSpPr>
        <p:spPr>
          <a:xfrm>
            <a:off x="1670840" y="2643552"/>
            <a:ext cx="118872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D1C29"/>
            </a:solidFill>
          </a:ln>
        </p:spPr>
        <p:txBody>
          <a:bodyPr lIns="45720" tIns="73152" rIns="45720" bIns="73152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1250" b="1" i="0" dirty="0">
                <a:solidFill>
                  <a:srgbClr val="ED1C29"/>
                </a:solidFill>
              </a:rPr>
              <a:t>archive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850" b="0" i="0" dirty="0">
                <a:solidFill>
                  <a:srgbClr val="7A7A7A"/>
                </a:solidFill>
              </a:rPr>
              <a:t>cerrar</a:t>
            </a:r>
          </a:p>
        </p:txBody>
      </p:sp>
      <p:sp>
        <p:nvSpPr>
          <p:cNvPr id="178" name="sh178"/>
          <p:cNvSpPr/>
          <p:nvPr/>
        </p:nvSpPr>
        <p:spPr>
          <a:xfrm>
            <a:off x="4352544" y="1353312"/>
            <a:ext cx="347472" cy="347472"/>
          </a:xfrm>
          <a:prstGeom prst="ellipse">
            <a:avLst/>
          </a:prstGeom>
          <a:solidFill>
            <a:srgbClr val="ED1C29"/>
          </a:solidFill>
          <a:ln>
            <a:noFill/>
          </a:ln>
        </p:spPr>
        <p:txBody>
          <a:bodyPr lIns="18288" tIns="73152" rIns="18288" bIns="73152" anchor="ctr">
            <a:normAutofit fontScale="62500" lnSpcReduction="2000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1100" b="1" i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9" name="sh179"/>
          <p:cNvSpPr/>
          <p:nvPr/>
        </p:nvSpPr>
        <p:spPr>
          <a:xfrm>
            <a:off x="7331795" y="2925065"/>
            <a:ext cx="347472" cy="347472"/>
          </a:xfrm>
          <a:prstGeom prst="ellipse">
            <a:avLst/>
          </a:prstGeom>
          <a:solidFill>
            <a:srgbClr val="ED1C29"/>
          </a:solidFill>
          <a:ln>
            <a:noFill/>
          </a:ln>
        </p:spPr>
        <p:txBody>
          <a:bodyPr lIns="18288" tIns="73152" rIns="18288" bIns="73152" anchor="ctr">
            <a:normAutofit fontScale="62500" lnSpcReduction="2000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1100" b="1" i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0" name="sh180"/>
          <p:cNvSpPr/>
          <p:nvPr/>
        </p:nvSpPr>
        <p:spPr>
          <a:xfrm>
            <a:off x="6315481" y="5112811"/>
            <a:ext cx="347472" cy="347472"/>
          </a:xfrm>
          <a:prstGeom prst="ellipse">
            <a:avLst/>
          </a:prstGeom>
          <a:solidFill>
            <a:srgbClr val="ED1C29"/>
          </a:solidFill>
          <a:ln>
            <a:noFill/>
          </a:ln>
        </p:spPr>
        <p:txBody>
          <a:bodyPr lIns="18288" tIns="73152" rIns="18288" bIns="73152" anchor="ctr">
            <a:normAutofit fontScale="62500" lnSpcReduction="2000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1100" b="1" i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1" name="sh181"/>
          <p:cNvSpPr/>
          <p:nvPr/>
        </p:nvSpPr>
        <p:spPr>
          <a:xfrm>
            <a:off x="2389607" y="5112811"/>
            <a:ext cx="347472" cy="347472"/>
          </a:xfrm>
          <a:prstGeom prst="ellipse">
            <a:avLst/>
          </a:prstGeom>
          <a:solidFill>
            <a:srgbClr val="ED1C29"/>
          </a:solidFill>
          <a:ln>
            <a:noFill/>
          </a:ln>
        </p:spPr>
        <p:txBody>
          <a:bodyPr lIns="18288" tIns="73152" rIns="18288" bIns="73152" anchor="ctr">
            <a:normAutofit fontScale="62500" lnSpcReduction="2000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1100" b="1" i="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2" name="sh182"/>
          <p:cNvSpPr/>
          <p:nvPr/>
        </p:nvSpPr>
        <p:spPr>
          <a:xfrm>
            <a:off x="1373293" y="2925065"/>
            <a:ext cx="347472" cy="347472"/>
          </a:xfrm>
          <a:prstGeom prst="ellipse">
            <a:avLst/>
          </a:prstGeom>
          <a:solidFill>
            <a:srgbClr val="ED1C29"/>
          </a:solidFill>
          <a:ln>
            <a:noFill/>
          </a:ln>
        </p:spPr>
        <p:txBody>
          <a:bodyPr lIns="18288" tIns="73152" rIns="18288" bIns="73152" anchor="ctr">
            <a:normAutofit fontScale="62500" lnSpcReduction="2000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1100" b="1" i="0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3" name="tb183"/>
          <p:cNvSpPr txBox="1"/>
          <p:nvPr/>
        </p:nvSpPr>
        <p:spPr>
          <a:xfrm>
            <a:off x="3154680" y="3401568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2000" b="1" i="0" dirty="0">
                <a:solidFill>
                  <a:srgbClr val="211915"/>
                </a:solidFill>
              </a:rPr>
              <a:t>OPSX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1100" b="0" i="1" dirty="0">
                <a:solidFill>
                  <a:srgbClr val="7A7A7A"/>
                </a:solidFill>
              </a:rPr>
              <a:t>el ciclo puede repetirse</a:t>
            </a:r>
          </a:p>
        </p:txBody>
      </p:sp>
      <p:sp>
        <p:nvSpPr>
          <p:cNvPr id="184" name="tb184"/>
          <p:cNvSpPr txBox="1"/>
          <p:nvPr/>
        </p:nvSpPr>
        <p:spPr>
          <a:xfrm>
            <a:off x="8229600" y="1737360"/>
            <a:ext cx="3304002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000" b="1" i="0" spc="110" dirty="0">
                <a:solidFill>
                  <a:srgbClr val="ED1C29"/>
                </a:solidFill>
              </a:rPr>
              <a:t>CÓMO SE RECORRE</a:t>
            </a:r>
          </a:p>
        </p:txBody>
      </p:sp>
      <p:sp>
        <p:nvSpPr>
          <p:cNvPr id="185" name="tb185"/>
          <p:cNvSpPr txBox="1"/>
          <p:nvPr/>
        </p:nvSpPr>
        <p:spPr>
          <a:xfrm>
            <a:off x="8229600" y="2240280"/>
            <a:ext cx="3304002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400" b="1" i="0" dirty="0">
                <a:solidFill>
                  <a:srgbClr val="211915"/>
                </a:solidFill>
              </a:rPr>
              <a:t>No es una escalera</a:t>
            </a:r>
          </a:p>
        </p:txBody>
      </p:sp>
      <p:sp>
        <p:nvSpPr>
          <p:cNvPr id="186" name="tb186"/>
          <p:cNvSpPr txBox="1"/>
          <p:nvPr/>
        </p:nvSpPr>
        <p:spPr>
          <a:xfrm>
            <a:off x="8229600" y="2569464"/>
            <a:ext cx="3304002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150" b="0" i="0" dirty="0">
                <a:solidFill>
                  <a:srgbClr val="7A7A7A"/>
                </a:solidFill>
              </a:rPr>
              <a:t>Un hallazgo en apply puede devolvernos a propose sin romper nada.</a:t>
            </a:r>
          </a:p>
        </p:txBody>
      </p:sp>
      <p:sp>
        <p:nvSpPr>
          <p:cNvPr id="187" name="tb187"/>
          <p:cNvSpPr txBox="1"/>
          <p:nvPr/>
        </p:nvSpPr>
        <p:spPr>
          <a:xfrm>
            <a:off x="8229600" y="3429000"/>
            <a:ext cx="3304002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400" b="1" i="0" dirty="0">
                <a:solidFill>
                  <a:srgbClr val="211915"/>
                </a:solidFill>
              </a:rPr>
              <a:t>explore es opcional</a:t>
            </a:r>
          </a:p>
        </p:txBody>
      </p:sp>
      <p:sp>
        <p:nvSpPr>
          <p:cNvPr id="188" name="tb188"/>
          <p:cNvSpPr txBox="1"/>
          <p:nvPr/>
        </p:nvSpPr>
        <p:spPr>
          <a:xfrm>
            <a:off x="8229600" y="3758184"/>
            <a:ext cx="3304002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150" b="0" i="0" dirty="0">
                <a:solidFill>
                  <a:srgbClr val="7A7A7A"/>
                </a:solidFill>
              </a:rPr>
              <a:t>Se usa cuando la necesidad todavía es difusa.</a:t>
            </a:r>
          </a:p>
        </p:txBody>
      </p:sp>
      <p:sp>
        <p:nvSpPr>
          <p:cNvPr id="189" name="tb189"/>
          <p:cNvSpPr txBox="1"/>
          <p:nvPr/>
        </p:nvSpPr>
        <p:spPr>
          <a:xfrm>
            <a:off x="8229600" y="4617720"/>
            <a:ext cx="3304002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400" b="1" i="0">
                <a:solidFill>
                  <a:srgbClr val="211915"/>
                </a:solidFill>
              </a:rPr>
              <a:t>Cierre del</a:t>
            </a:r>
            <a:r>
              <a:rPr lang="es-ES" sz="1400" b="1" i="0" dirty="0">
                <a:solidFill>
                  <a:srgbClr val="211915"/>
                </a:solidFill>
              </a:rPr>
              <a:t> </a:t>
            </a:r>
            <a:r>
              <a:rPr lang="es-ES" sz="1400" b="1" i="0">
                <a:solidFill>
                  <a:srgbClr val="211915"/>
                </a:solidFill>
              </a:rPr>
              <a:t>cambio</a:t>
            </a:r>
            <a:endParaRPr lang="es-ES" sz="1400" b="1" i="0" dirty="0">
              <a:solidFill>
                <a:srgbClr val="211915"/>
              </a:solidFill>
            </a:endParaRPr>
          </a:p>
        </p:txBody>
      </p:sp>
      <p:sp>
        <p:nvSpPr>
          <p:cNvPr id="190" name="tb190"/>
          <p:cNvSpPr txBox="1"/>
          <p:nvPr/>
        </p:nvSpPr>
        <p:spPr>
          <a:xfrm>
            <a:off x="8229600" y="4946904"/>
            <a:ext cx="3304002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150" b="0" i="0">
                <a:solidFill>
                  <a:srgbClr val="7A7A7A"/>
                </a:solidFill>
              </a:rPr>
              <a:t>Archive cierra el cambio y puede </a:t>
            </a:r>
            <a:r>
              <a:rPr lang="es-ES" sz="1150" b="0" i="0" dirty="0">
                <a:solidFill>
                  <a:srgbClr val="7A7A7A"/>
                </a:solidFill>
              </a:rPr>
              <a:t>sincronizar </a:t>
            </a:r>
            <a:r>
              <a:rPr lang="es-ES" sz="1150" b="0" i="0">
                <a:solidFill>
                  <a:srgbClr val="7A7A7A"/>
                </a:solidFill>
              </a:rPr>
              <a:t>las delta specs si todavía no se ha hecho</a:t>
            </a:r>
            <a:r>
              <a:rPr lang="es-ES" sz="1150" b="0" i="0" dirty="0">
                <a:solidFill>
                  <a:srgbClr val="7A7A7A"/>
                </a:solidFill>
              </a:rPr>
              <a:t>.</a:t>
            </a:r>
          </a:p>
        </p:txBody>
      </p:sp>
      <p:sp>
        <p:nvSpPr>
          <p:cNvPr id="191" name="tb191"/>
          <p:cNvSpPr txBox="1"/>
          <p:nvPr/>
        </p:nvSpPr>
        <p:spPr>
          <a:xfrm>
            <a:off x="8229600" y="5532120"/>
            <a:ext cx="3304002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50" b="0" i="1" dirty="0">
                <a:solidFill>
                  <a:srgbClr val="7A7A7A"/>
                </a:solidFill>
              </a:rPr>
              <a:t>Los comandos y el detalle de cada acción los veremos en el taller.</a:t>
            </a:r>
          </a:p>
        </p:txBody>
      </p:sp>
      <p:sp>
        <p:nvSpPr>
          <p:cNvPr id="195" name="tb195"/>
          <p:cNvSpPr txBox="1"/>
          <p:nvPr/>
        </p:nvSpPr>
        <p:spPr>
          <a:xfrm>
            <a:off x="658368" y="627278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900" b="1" i="0" dirty="0">
                <a:solidFill>
                  <a:srgbClr val="211915"/>
                </a:solidFill>
              </a:rPr>
              <a:t>Tuya   ·   Spec-Driven Development con OpenSpec</a:t>
            </a:r>
          </a:p>
        </p:txBody>
      </p:sp>
      <p:sp>
        <p:nvSpPr>
          <p:cNvPr id="196" name="tb196"/>
          <p:cNvSpPr txBox="1"/>
          <p:nvPr/>
        </p:nvSpPr>
        <p:spPr>
          <a:xfrm>
            <a:off x="10436322" y="627278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ED1C29"/>
                </a:solidFill>
              </a:rPr>
              <a:t>11</a:t>
            </a:r>
            <a:endParaRPr lang="es-ES" sz="900" b="1" i="0" dirty="0">
              <a:solidFill>
                <a:srgbClr val="ED1C29"/>
              </a:solidFill>
            </a:endParaRPr>
          </a:p>
        </p:txBody>
      </p:sp>
      <p:pic>
        <p:nvPicPr>
          <p:cNvPr id="900" name="Logo Tu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2200" y="321276"/>
            <a:ext cx="640080" cy="320040"/>
          </a:xfrm>
          <a:prstGeom prst="rect">
            <a:avLst/>
          </a:prstGeom>
        </p:spPr>
      </p:pic>
      <p:sp>
        <p:nvSpPr>
          <p:cNvPr id="201" name="shUpdate"/>
          <p:cNvSpPr/>
          <p:nvPr/>
        </p:nvSpPr>
        <p:spPr>
          <a:xfrm>
            <a:off x="6250000" y="5455000"/>
            <a:ext cx="1750000" cy="470000"/>
          </a:xfrm>
          <a:prstGeom prst="roundRect">
            <a:avLst>
              <a:gd name="adj" fmla="val 50000"/>
            </a:avLst>
          </a:prstGeom>
          <a:solidFill>
            <a:srgbClr val="ED1C29"/>
          </a:solidFill>
          <a:ln w="1270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lang="es-ES" sz="1200" b="1" i="0">
                <a:solidFill>
                  <a:srgbClr val="FFFFFF"/>
                </a:solidFill>
                <a:latin typeface="Aptos"/>
              </a:rPr>
              <a:t>update</a:t>
            </a:r>
          </a:p>
        </p:txBody>
      </p:sp>
      <p:sp>
        <p:nvSpPr>
          <p:cNvPr id="202" name="tbUpdate"/>
          <p:cNvSpPr txBox="1"/>
          <p:nvPr/>
        </p:nvSpPr>
        <p:spPr>
          <a:xfrm>
            <a:off x="2500000" y="5560000"/>
            <a:ext cx="335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lang="es-ES" sz="800" b="1" i="0">
                <a:solidFill>
                  <a:srgbClr val="ED1C29"/>
                </a:solidFill>
                <a:latin typeface="Aptos"/>
              </a:rPr>
              <a:t>ACCIÓN TRANSVERSAL</a:t>
            </a:r>
          </a:p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lang="es-ES" sz="900" b="0" i="0">
                <a:solidFill>
                  <a:srgbClr val="211915"/>
                </a:solidFill>
                <a:latin typeface="Aptos"/>
              </a:rPr>
              <a:t>Mantiene coherentes los artefactos cuando cambia el entendimiento, sin modificar código.</a:t>
            </a:r>
          </a:p>
        </p:txBody>
      </p:sp>
      <p:cxnSp>
        <p:nvCxnSpPr>
          <p:cNvPr id="203" name="cnUpdate1"/>
          <p:cNvCxnSpPr/>
          <p:nvPr/>
        </p:nvCxnSpPr>
        <p:spPr>
          <a:xfrm>
            <a:off x="6000000" y="5450000"/>
            <a:ext cx="240000" cy="200000"/>
          </a:xfrm>
          <a:prstGeom prst="straightConnector1">
            <a:avLst/>
          </a:prstGeom>
          <a:ln w="19050">
            <a:solidFill>
              <a:srgbClr val="7A7A7A"/>
            </a:solidFill>
            <a:prstDash val="dash"/>
            <a:tailEnd type="triangle"/>
          </a:ln>
        </p:spPr>
      </p:cxnSp>
      <p:cxnSp>
        <p:nvCxnSpPr>
          <p:cNvPr id="204" name="cnUpdate2"/>
          <p:cNvCxnSpPr/>
          <p:nvPr/>
        </p:nvCxnSpPr>
        <p:spPr>
          <a:xfrm flipH="1" flipV="1">
            <a:off x="6950000" y="3950000"/>
            <a:ext cx="175000" cy="1505000"/>
          </a:xfrm>
          <a:prstGeom prst="straightConnector1">
            <a:avLst/>
          </a:prstGeom>
          <a:ln w="19050">
            <a:solidFill>
              <a:srgbClr val="7A7A7A"/>
            </a:solidFill>
            <a:prstDash val="dash"/>
            <a:tailEnd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210"/>
          <p:cNvSpPr/>
          <p:nvPr/>
        </p:nvSpPr>
        <p:spPr>
          <a:xfrm>
            <a:off x="658368" y="384048"/>
            <a:ext cx="146304" cy="14630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211" name="tb211"/>
          <p:cNvSpPr txBox="1"/>
          <p:nvPr/>
        </p:nvSpPr>
        <p:spPr>
          <a:xfrm>
            <a:off x="914400" y="36576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050" b="1" i="0" spc="120" dirty="0">
                <a:solidFill>
                  <a:srgbClr val="ED1C29"/>
                </a:solidFill>
              </a:rPr>
              <a:t>CIERRE</a:t>
            </a:r>
          </a:p>
        </p:txBody>
      </p:sp>
      <p:sp>
        <p:nvSpPr>
          <p:cNvPr id="212" name="tb212"/>
          <p:cNvSpPr txBox="1"/>
          <p:nvPr/>
        </p:nvSpPr>
        <p:spPr>
          <a:xfrm>
            <a:off x="658368" y="713232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3000" b="1" i="0" dirty="0">
                <a:solidFill>
                  <a:srgbClr val="211915"/>
                </a:solidFill>
              </a:rPr>
              <a:t>Qué nos llevamos</a:t>
            </a:r>
          </a:p>
        </p:txBody>
      </p:sp>
      <p:sp>
        <p:nvSpPr>
          <p:cNvPr id="197" name="tb197"/>
          <p:cNvSpPr txBox="1"/>
          <p:nvPr/>
        </p:nvSpPr>
        <p:spPr>
          <a:xfrm>
            <a:off x="658368" y="1920240"/>
            <a:ext cx="3320278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4200" b="1" i="0" dirty="0">
                <a:solidFill>
                  <a:srgbClr val="F09FA5"/>
                </a:solidFill>
              </a:rPr>
              <a:t>01</a:t>
            </a:r>
          </a:p>
        </p:txBody>
      </p:sp>
      <p:sp>
        <p:nvSpPr>
          <p:cNvPr id="198" name="sh198"/>
          <p:cNvSpPr/>
          <p:nvPr/>
        </p:nvSpPr>
        <p:spPr>
          <a:xfrm>
            <a:off x="658368" y="2697480"/>
            <a:ext cx="822960" cy="45720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199" name="tb199"/>
          <p:cNvSpPr txBox="1"/>
          <p:nvPr/>
        </p:nvSpPr>
        <p:spPr>
          <a:xfrm>
            <a:off x="658368" y="2971800"/>
            <a:ext cx="3320278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800" b="1" i="0" dirty="0">
                <a:solidFill>
                  <a:srgbClr val="211915"/>
                </a:solidFill>
              </a:rPr>
              <a:t>Acordar antes de generar</a:t>
            </a:r>
          </a:p>
        </p:txBody>
      </p:sp>
      <p:sp>
        <p:nvSpPr>
          <p:cNvPr id="200" name="tb200"/>
          <p:cNvSpPr txBox="1"/>
          <p:nvPr/>
        </p:nvSpPr>
        <p:spPr>
          <a:xfrm>
            <a:off x="658368" y="3794760"/>
            <a:ext cx="3320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50" b="0" i="0" dirty="0">
                <a:solidFill>
                  <a:srgbClr val="7A7A7A"/>
                </a:solidFill>
              </a:rPr>
              <a:t>La ambigüedad se corrige en un texto corto, no en el código ya escrito.</a:t>
            </a:r>
          </a:p>
        </p:txBody>
      </p:sp>
      <p:sp>
        <p:nvSpPr>
          <p:cNvPr id="201" name="tb201"/>
          <p:cNvSpPr txBox="1"/>
          <p:nvPr/>
        </p:nvSpPr>
        <p:spPr>
          <a:xfrm>
            <a:off x="4435846" y="1920240"/>
            <a:ext cx="3320278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4200" b="1" i="0" dirty="0">
                <a:solidFill>
                  <a:srgbClr val="F09FA5"/>
                </a:solidFill>
              </a:rPr>
              <a:t>02</a:t>
            </a:r>
          </a:p>
        </p:txBody>
      </p:sp>
      <p:sp>
        <p:nvSpPr>
          <p:cNvPr id="202" name="sh202"/>
          <p:cNvSpPr/>
          <p:nvPr/>
        </p:nvSpPr>
        <p:spPr>
          <a:xfrm>
            <a:off x="4435846" y="2697480"/>
            <a:ext cx="822960" cy="45720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203" name="tb203"/>
          <p:cNvSpPr txBox="1"/>
          <p:nvPr/>
        </p:nvSpPr>
        <p:spPr>
          <a:xfrm>
            <a:off x="4435846" y="2971800"/>
            <a:ext cx="3320278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800" b="1" i="0" dirty="0">
                <a:solidFill>
                  <a:srgbClr val="211915"/>
                </a:solidFill>
              </a:rPr>
              <a:t>El repositorio guarda la intención</a:t>
            </a:r>
          </a:p>
        </p:txBody>
      </p:sp>
      <p:sp>
        <p:nvSpPr>
          <p:cNvPr id="204" name="tb204"/>
          <p:cNvSpPr txBox="1"/>
          <p:nvPr/>
        </p:nvSpPr>
        <p:spPr>
          <a:xfrm>
            <a:off x="4435846" y="3794760"/>
            <a:ext cx="3320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50" b="0" i="0" dirty="0">
                <a:solidFill>
                  <a:srgbClr val="7A7A7A"/>
                </a:solidFill>
              </a:rPr>
              <a:t>specs y changes conservan lo que decidimos y por qué.</a:t>
            </a:r>
          </a:p>
        </p:txBody>
      </p:sp>
      <p:sp>
        <p:nvSpPr>
          <p:cNvPr id="205" name="tb205"/>
          <p:cNvSpPr txBox="1"/>
          <p:nvPr/>
        </p:nvSpPr>
        <p:spPr>
          <a:xfrm>
            <a:off x="8213324" y="1920240"/>
            <a:ext cx="3320278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4200" b="1" i="0" dirty="0">
                <a:solidFill>
                  <a:srgbClr val="F09FA5"/>
                </a:solidFill>
              </a:rPr>
              <a:t>03</a:t>
            </a:r>
          </a:p>
        </p:txBody>
      </p:sp>
      <p:sp>
        <p:nvSpPr>
          <p:cNvPr id="206" name="sh206"/>
          <p:cNvSpPr/>
          <p:nvPr/>
        </p:nvSpPr>
        <p:spPr>
          <a:xfrm>
            <a:off x="8213324" y="2697480"/>
            <a:ext cx="822960" cy="45720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146304" tIns="73152" rIns="146304" bIns="73152" anchor="ctr">
            <a:normAutofit fontScale="25000" lnSpcReduction="20000"/>
          </a:bodyPr>
          <a:lstStyle/>
          <a:p>
            <a:endParaRPr lang="es-ES"/>
          </a:p>
        </p:txBody>
      </p:sp>
      <p:sp>
        <p:nvSpPr>
          <p:cNvPr id="207" name="tb207"/>
          <p:cNvSpPr txBox="1"/>
          <p:nvPr/>
        </p:nvSpPr>
        <p:spPr>
          <a:xfrm>
            <a:off x="8213324" y="2971800"/>
            <a:ext cx="3320278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800" b="1" i="0" dirty="0">
                <a:solidFill>
                  <a:srgbClr val="211915"/>
                </a:solidFill>
              </a:rPr>
              <a:t>La responsabilidad sigue siendo nuestra</a:t>
            </a:r>
          </a:p>
        </p:txBody>
      </p:sp>
      <p:sp>
        <p:nvSpPr>
          <p:cNvPr id="208" name="tb208"/>
          <p:cNvSpPr txBox="1"/>
          <p:nvPr/>
        </p:nvSpPr>
        <p:spPr>
          <a:xfrm>
            <a:off x="8213324" y="3794760"/>
            <a:ext cx="3320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250" b="0" i="0" dirty="0">
                <a:solidFill>
                  <a:srgbClr val="7A7A7A"/>
                </a:solidFill>
              </a:rPr>
              <a:t>El agente acelera, el equipo revisa, valida y aprueba.</a:t>
            </a:r>
          </a:p>
        </p:txBody>
      </p:sp>
      <p:sp>
        <p:nvSpPr>
          <p:cNvPr id="209" name="sh209"/>
          <p:cNvSpPr/>
          <p:nvPr/>
        </p:nvSpPr>
        <p:spPr>
          <a:xfrm>
            <a:off x="658368" y="5166360"/>
            <a:ext cx="10875234" cy="777240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txBody>
          <a:bodyPr lIns="411480" tIns="73152" rIns="411480" bIns="73152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1500" b="1" i="0" dirty="0">
                <a:solidFill>
                  <a:srgbClr val="FFFFFF"/>
                </a:solidFill>
              </a:rPr>
              <a:t>A continuación, el taller: tomamos una historia de usuario y la recorremos con OpenSpec y GitHub Copilot.</a:t>
            </a:r>
          </a:p>
        </p:txBody>
      </p:sp>
      <p:sp>
        <p:nvSpPr>
          <p:cNvPr id="213" name="tb213"/>
          <p:cNvSpPr txBox="1"/>
          <p:nvPr/>
        </p:nvSpPr>
        <p:spPr>
          <a:xfrm>
            <a:off x="658368" y="627278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ES" sz="900" b="1" i="0" dirty="0">
                <a:solidFill>
                  <a:srgbClr val="211915"/>
                </a:solidFill>
              </a:rPr>
              <a:t>Tuya   ·   Spec-Driven Development con OpenSpec</a:t>
            </a:r>
          </a:p>
        </p:txBody>
      </p:sp>
      <p:sp>
        <p:nvSpPr>
          <p:cNvPr id="214" name="tb214"/>
          <p:cNvSpPr txBox="1"/>
          <p:nvPr/>
        </p:nvSpPr>
        <p:spPr>
          <a:xfrm>
            <a:off x="10436322" y="627278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s-ES" sz="900" b="1" i="0">
                <a:solidFill>
                  <a:srgbClr val="ED1C29"/>
                </a:solidFill>
              </a:rPr>
              <a:t>12</a:t>
            </a:r>
            <a:endParaRPr lang="es-ES" sz="900" b="1" i="0" dirty="0">
              <a:solidFill>
                <a:srgbClr val="ED1C29"/>
              </a:solidFill>
            </a:endParaRPr>
          </a:p>
        </p:txBody>
      </p:sp>
      <p:pic>
        <p:nvPicPr>
          <p:cNvPr id="900" name="Logo Tu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2200" y="321276"/>
            <a:ext cx="640080" cy="320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UYA Colombia">
      <a:dk1>
        <a:sysClr val="windowText" lastClr="000000"/>
      </a:dk1>
      <a:lt1>
        <a:sysClr val="window" lastClr="FFFFFF"/>
      </a:lt1>
      <a:dk2>
        <a:srgbClr val="211915"/>
      </a:dk2>
      <a:lt2>
        <a:srgbClr val="F3F1F0"/>
      </a:lt2>
      <a:accent1>
        <a:srgbClr val="ED1C29"/>
      </a:accent1>
      <a:accent2>
        <a:srgbClr val="211915"/>
      </a:accent2>
      <a:accent3>
        <a:srgbClr val="7A7A7A"/>
      </a:accent3>
      <a:accent4>
        <a:srgbClr val="77C3CD"/>
      </a:accent4>
      <a:accent5>
        <a:srgbClr val="9CCB49"/>
      </a:accent5>
      <a:accent6>
        <a:srgbClr val="C9E4DC"/>
      </a:accent6>
      <a:hlink>
        <a:srgbClr val="ED1C29"/>
      </a:hlink>
      <a:folHlink>
        <a:srgbClr val="B71C2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UYA Colombi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TUYA Colombia">
      <a:dk1>
        <a:sysClr val="windowText" lastClr="000000"/>
      </a:dk1>
      <a:lt1>
        <a:sysClr val="window" lastClr="FFFFFF"/>
      </a:lt1>
      <a:dk2>
        <a:srgbClr val="211915"/>
      </a:dk2>
      <a:lt2>
        <a:srgbClr val="F3F1F0"/>
      </a:lt2>
      <a:accent1>
        <a:srgbClr val="ED1C29"/>
      </a:accent1>
      <a:accent2>
        <a:srgbClr val="211915"/>
      </a:accent2>
      <a:accent3>
        <a:srgbClr val="7A7A7A"/>
      </a:accent3>
      <a:accent4>
        <a:srgbClr val="77C3CD"/>
      </a:accent4>
      <a:accent5>
        <a:srgbClr val="9CCB49"/>
      </a:accent5>
      <a:accent6>
        <a:srgbClr val="C9E4DC"/>
      </a:accent6>
      <a:hlink>
        <a:srgbClr val="ED1C29"/>
      </a:hlink>
      <a:folHlink>
        <a:srgbClr val="B71C2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UYA Colombi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2588</Words>
  <Application>Microsoft Office PowerPoint</Application>
  <DocSecurity>0</DocSecurity>
  <PresentationFormat>Panorámica</PresentationFormat>
  <Paragraphs>344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Consolas</vt:lpstr>
      <vt:lpstr>Trebuchet MS</vt:lpstr>
      <vt:lpstr>Office Theme</vt:lpstr>
      <vt:lpstr>Spec-Driven Development con OpenSpec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Ricardo Andres Leyva</cp:lastModifiedBy>
  <cp:revision>6</cp:revision>
  <dcterms:created xsi:type="dcterms:W3CDTF">2026-08-06T14:34:46Z</dcterms:created>
  <dcterms:modified xsi:type="dcterms:W3CDTF">2026-08-06T18:56:59Z</dcterms:modified>
</cp:coreProperties>
</file>